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  <p:sldId id="260" r:id="rId7"/>
    <p:sldId id="296" r:id="rId8"/>
    <p:sldId id="295" r:id="rId9"/>
    <p:sldId id="261" r:id="rId10"/>
    <p:sldId id="262" r:id="rId11"/>
    <p:sldId id="263" r:id="rId12"/>
    <p:sldId id="292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97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315" r:id="rId31"/>
    <p:sldId id="316" r:id="rId32"/>
    <p:sldId id="294" r:id="rId33"/>
    <p:sldId id="280" r:id="rId34"/>
    <p:sldId id="288" r:id="rId35"/>
    <p:sldId id="289" r:id="rId36"/>
    <p:sldId id="283" r:id="rId37"/>
    <p:sldId id="284" r:id="rId38"/>
    <p:sldId id="311" r:id="rId39"/>
    <p:sldId id="312" r:id="rId40"/>
    <p:sldId id="298" r:id="rId41"/>
    <p:sldId id="313" r:id="rId42"/>
    <p:sldId id="290" r:id="rId43"/>
    <p:sldId id="291" r:id="rId44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3D3D62-20B4-2D79-B606-6A831C205B00}" v="390" dt="2026-02-10T12:28:32.2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C5A5A31-008A-455A-A304-298BD8675B6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C0181BC-8C66-4F67-83FB-DF82D354820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FC7B466-57F8-47EE-8204-9BE34F3CA586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48FCFF9-53B7-49A2-978E-0B1F9B937FDE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C43F3F8-6DD0-42FA-B7D9-8D7D3DC0EC40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684000" y="584640"/>
            <a:ext cx="5478840" cy="528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2C75DC3-B023-41D0-902A-EB967C4E9122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C5762C6-3DAA-4B42-A01D-CC2241EBFE6E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66848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213DCC3-47B8-4218-A1BF-2882760D30AC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46D4CE8-35C7-4742-B80B-7F844C48C3D9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84000" y="398520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2D7C317-733D-43F0-B3FB-F63B1E3E10A1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66848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6A7AB45-FDB8-4702-875F-D71072428246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331308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594216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68400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331308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594216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9042D01-B955-4538-A506-1170ABA29C55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5831C43-C268-42D3-BA93-B78790023CA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1151FB0-50E4-4297-9918-82B10C7C8C5A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DF3A2F3-DCCE-4EE1-BBA7-14F90071FF0A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53A8154-A9E8-4FA2-ABB1-62EE10FC9324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62F2E6B-13D2-44BA-817C-4CC6099ACE30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684000" y="584640"/>
            <a:ext cx="5478840" cy="528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914CD54-AAC5-4920-9485-A8DDF41716DD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A481CF0-41FE-42D1-94E3-7971AB876F53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/>
          </p:nvPr>
        </p:nvSpPr>
        <p:spPr>
          <a:xfrm>
            <a:off x="466848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457D798-6574-43A7-9D4D-B7651AB3EB1B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59D455A-4762-4168-861F-C40C7C4D8D8E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84000" y="398520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E41DF19-351B-4051-AC30-AA1234E20970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/>
          </p:nvPr>
        </p:nvSpPr>
        <p:spPr>
          <a:xfrm>
            <a:off x="466848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48DF206-7024-4EAE-9913-5E3FF978CA2C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331308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594216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68400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/>
          </p:nvPr>
        </p:nvSpPr>
        <p:spPr>
          <a:xfrm>
            <a:off x="331308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/>
          </p:nvPr>
        </p:nvSpPr>
        <p:spPr>
          <a:xfrm>
            <a:off x="594216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85EAA0E-89AD-49E3-A2D6-74ADC285E694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8"/>
          <p:cNvPicPr/>
          <p:nvPr/>
        </p:nvPicPr>
        <p:blipFill>
          <a:blip r:embed="rId14"/>
          <a:stretch/>
        </p:blipFill>
        <p:spPr>
          <a:xfrm>
            <a:off x="6678000" y="352800"/>
            <a:ext cx="2008800" cy="928440"/>
          </a:xfrm>
          <a:prstGeom prst="rect">
            <a:avLst/>
          </a:prstGeom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46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Titelmasterformat durch Klicken bearbeiten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683640" y="6386400"/>
            <a:ext cx="213336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FSS 2024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7405920" y="6134400"/>
            <a:ext cx="105408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6A53203-3339-465F-AF72-164003408C3F}" type="slidenum">
              <a:rPr lang="de-DE" sz="1200" b="0" strike="noStrike" spc="-1">
                <a:solidFill>
                  <a:srgbClr val="003056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pic>
        <p:nvPicPr>
          <p:cNvPr id="5" name="Grafik 7"/>
          <p:cNvPicPr/>
          <p:nvPr/>
        </p:nvPicPr>
        <p:blipFill>
          <a:blip r:embed="rId15"/>
          <a:srcRect t="12590" b="25700"/>
          <a:stretch/>
        </p:blipFill>
        <p:spPr>
          <a:xfrm>
            <a:off x="0" y="2058840"/>
            <a:ext cx="9143640" cy="3761640"/>
          </a:xfrm>
          <a:prstGeom prst="rect">
            <a:avLst/>
          </a:prstGeom>
          <a:ln w="0">
            <a:noFill/>
          </a:ln>
        </p:spPr>
      </p:pic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strike="noStrike" spc="-1">
                <a:solidFill>
                  <a:srgbClr val="003056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rgbClr val="003056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rgbClr val="003056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600" b="0" strike="noStrike" spc="-1">
                <a:solidFill>
                  <a:srgbClr val="003056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3056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3056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3056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rafik 8"/>
          <p:cNvPicPr/>
          <p:nvPr/>
        </p:nvPicPr>
        <p:blipFill>
          <a:blip r:embed="rId14"/>
          <a:stretch/>
        </p:blipFill>
        <p:spPr>
          <a:xfrm>
            <a:off x="6678000" y="352800"/>
            <a:ext cx="2008800" cy="92844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Titelmasterformat durch Klicken bearbeiten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3056"/>
              </a:buClr>
              <a:buFont typeface="Arial"/>
              <a:buChar char="•"/>
            </a:pPr>
            <a:r>
              <a:rPr lang="de-DE" sz="2400" b="0" strike="noStrike" spc="-1">
                <a:solidFill>
                  <a:srgbClr val="003056"/>
                </a:solidFill>
                <a:latin typeface="Calibri"/>
              </a:rPr>
              <a:t>Formatvorlagen des Textmasters bearbeiten</a:t>
            </a:r>
          </a:p>
          <a:p>
            <a:pPr marL="743040" lvl="1" indent="-28584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–"/>
            </a:pPr>
            <a:r>
              <a:rPr lang="de-DE" sz="2000" b="0" strike="noStrike" spc="-1">
                <a:solidFill>
                  <a:srgbClr val="003056"/>
                </a:solidFill>
                <a:latin typeface="Calibri"/>
              </a:rPr>
              <a:t>Zweite Ebene</a:t>
            </a:r>
          </a:p>
          <a:p>
            <a:pPr marL="1143000" lvl="2" indent="-2286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de-DE" sz="1800" b="0" strike="noStrike" spc="-1">
                <a:solidFill>
                  <a:srgbClr val="003056"/>
                </a:solidFill>
                <a:latin typeface="Calibri"/>
              </a:rPr>
              <a:t>Dritte Ebene</a:t>
            </a:r>
          </a:p>
          <a:p>
            <a:pPr marL="1600200" lvl="3" indent="-2286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–"/>
            </a:pPr>
            <a:r>
              <a:rPr lang="de-DE" sz="1600" b="0" strike="noStrike" spc="-1">
                <a:solidFill>
                  <a:srgbClr val="003056"/>
                </a:solidFill>
                <a:latin typeface="Calibri"/>
              </a:rPr>
              <a:t>Vierte Ebene</a:t>
            </a:r>
          </a:p>
          <a:p>
            <a:pPr marL="2057400" lvl="4" indent="-2286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»"/>
            </a:pPr>
            <a:r>
              <a:rPr lang="de-DE" sz="1600" b="0" strike="noStrike" spc="-1">
                <a:solidFill>
                  <a:srgbClr val="003056"/>
                </a:solidFill>
                <a:latin typeface="Calibri"/>
              </a:rPr>
              <a:t>Fünfte Ebene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dt" idx="4"/>
          </p:nvPr>
        </p:nvSpPr>
        <p:spPr>
          <a:xfrm>
            <a:off x="683640" y="6386400"/>
            <a:ext cx="213336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5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6"/>
          </p:nvPr>
        </p:nvSpPr>
        <p:spPr>
          <a:xfrm>
            <a:off x="7405920" y="6134400"/>
            <a:ext cx="105408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F874E2C-CDAF-44FC-97C1-305D3366F5FE}" type="slidenum">
              <a:rPr lang="de-DE" sz="1200" b="0" strike="noStrike" spc="-1">
                <a:solidFill>
                  <a:srgbClr val="003056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s://www.uni-mannheim.de/dws/people/researchers/postdoctoral-research-fellows/daniel-ruffinelli/" TargetMode="Externa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uni-mannheim.de/dws/people/professors/prof-dr-simone-paolo-ponzetto/" TargetMode="Externa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seweb.ucsd.edu/~nnakashole/teaching/eisenstein-nov18.pdf" TargetMode="External"/><Relationship Id="rId2" Type="http://schemas.openxmlformats.org/officeDocument/2006/relationships/hyperlink" Target="https://web.stanford.edu/~jurafsky/slp3/" TargetMode="Externa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width.ai/post/4-long-text-summarization-methods" TargetMode="Externa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techcrunch.com/2019/07/16/%20grammarly-goes-beyond-grammar/" TargetMode="Externa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incompleteideas.net/IncIdeas/BitterLesson.html" TargetMode="Externa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trel.ai/en/blog/nlp-syntax-and-sematic-analysis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trel.ai/en/blog/nlp-syntax-and-sematic-analysis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emini.google.com/?hl=de" TargetMode="External"/><Relationship Id="rId2" Type="http://schemas.openxmlformats.org/officeDocument/2006/relationships/hyperlink" Target="https://openai.com/blog/chatgpt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deepseek.com/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wired.co.uk/article/chatgpt-writing-tips" TargetMode="Externa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hyperlink" Target="https://aiforfolks.com/how-to-do-tables-in-chatgpt/" TargetMode="Externa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tanyamarleytsui/coding-with-chatgpt-b50ab3fcb45f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aiindex.stanford.edu/wp-content/uploads/2024/05/HAI_AI-Index-Report-2024.pdf" TargetMode="External"/><Relationship Id="rId2" Type="http://schemas.openxmlformats.org/officeDocument/2006/relationships/hyperlink" Target="https://learn.microsoft.com/en-us/azure/ai-services/openai/concepts/models?tabs=global-standard%2Cstandard-chat-completions#gpt-4-and-gpt-4-turbo-models" TargetMode="Externa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46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2400" b="1" strike="noStrike" spc="-1">
                <a:solidFill>
                  <a:srgbClr val="003056"/>
                </a:solidFill>
                <a:latin typeface="Calibri"/>
              </a:rPr>
              <a:t>Advanced Methods in Text Analytics</a:t>
            </a:r>
            <a:endParaRPr lang="de-DE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ubTitle"/>
          </p:nvPr>
        </p:nvSpPr>
        <p:spPr>
          <a:xfrm>
            <a:off x="684000" y="1051200"/>
            <a:ext cx="5478840" cy="39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3000" b="1" strike="noStrike" spc="-1" err="1">
                <a:solidFill>
                  <a:srgbClr val="003056"/>
                </a:solidFill>
                <a:latin typeface="Calibri"/>
              </a:rPr>
              <a:t>Introduction</a:t>
            </a:r>
            <a:endParaRPr lang="de-DE" sz="3000" b="1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pos="0" algn="l"/>
              </a:tabLst>
            </a:pPr>
            <a:endParaRPr lang="de-DE" sz="3000" b="1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ftr" idx="7"/>
          </p:nvPr>
        </p:nvSpPr>
        <p:spPr>
          <a:xfrm>
            <a:off x="684000" y="6134400"/>
            <a:ext cx="2966837" cy="48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err="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5F5A562-47DE-41ED-A4B6-9D3F5C9A83BC}" type="slidenum">
              <a:t>1</a:t>
            </a:fld>
            <a:endParaRPr/>
          </a:p>
        </p:txBody>
      </p:sp>
      <p:pic>
        <p:nvPicPr>
          <p:cNvPr id="2" name="Picture 1" descr="A grey and black sign with a person in a circle&#10;&#10;AI-generated content may be incorrect.">
            <a:extLst>
              <a:ext uri="{FF2B5EF4-FFF2-40B4-BE49-F238E27FC236}">
                <a16:creationId xmlns:a16="http://schemas.microsoft.com/office/drawing/2014/main" id="{A6EB16EE-C50D-9D48-8E6B-5D8EC6E31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309" y="5976378"/>
            <a:ext cx="1342465" cy="4857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682AD7-232E-1FE6-8B66-ED09608E2651}"/>
              </a:ext>
            </a:extLst>
          </p:cNvPr>
          <p:cNvSpPr txBox="1"/>
          <p:nvPr/>
        </p:nvSpPr>
        <p:spPr>
          <a:xfrm>
            <a:off x="3999178" y="6089113"/>
            <a:ext cx="414385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spc="-1" dirty="0">
                <a:solidFill>
                  <a:srgbClr val="003056"/>
                </a:solidFill>
                <a:latin typeface="Calibri"/>
                <a:hlinkClick r:id="rId3"/>
              </a:rPr>
              <a:t>Licensed under Creative Commons Attribution 4.0 International</a:t>
            </a:r>
            <a:endParaRPr lang="en-US" sz="1200" spc="-1" dirty="0">
              <a:solidFill>
                <a:srgbClr val="00305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Hello!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684360" y="1052640"/>
            <a:ext cx="7775640" cy="499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tabLst>
                <a:tab pos="0" algn="l"/>
              </a:tabLst>
            </a:pPr>
            <a:r>
              <a:rPr lang="en-GB" sz="2000" spc="-1" dirty="0">
                <a:solidFill>
                  <a:srgbClr val="003056"/>
                </a:solidFill>
                <a:latin typeface="Calibri"/>
                <a:cs typeface="Calibri"/>
                <a:hlinkClick r:id="rId2"/>
              </a:rPr>
              <a:t>Daniel Ruffinelli</a:t>
            </a:r>
            <a:r>
              <a:rPr lang="en-GB" sz="2000" spc="-1" dirty="0">
                <a:solidFill>
                  <a:srgbClr val="003056"/>
                </a:solidFill>
                <a:latin typeface="Calibri"/>
                <a:cs typeface="Calibri"/>
              </a:rPr>
              <a:t> (</a:t>
            </a:r>
            <a:r>
              <a:rPr lang="en-GB" sz="2000" spc="-1" dirty="0" err="1">
                <a:solidFill>
                  <a:srgbClr val="003056"/>
                </a:solidFill>
                <a:latin typeface="Calibri"/>
                <a:cs typeface="Calibri"/>
              </a:rPr>
              <a:t>PostDoc</a:t>
            </a:r>
            <a:r>
              <a:rPr lang="en-GB" sz="2000" spc="-1" dirty="0">
                <a:solidFill>
                  <a:srgbClr val="003056"/>
                </a:solidFill>
                <a:latin typeface="Calibri"/>
                <a:cs typeface="Calibri"/>
              </a:rPr>
              <a:t>) </a:t>
            </a:r>
            <a:endParaRPr lang="de-DE" sz="2000" spc="-1" dirty="0">
              <a:solidFill>
                <a:srgbClr val="003056"/>
              </a:solidFill>
              <a:latin typeface="Calibri"/>
              <a:cs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GB" sz="1800" spc="-1" dirty="0">
                <a:solidFill>
                  <a:srgbClr val="003056"/>
                </a:solidFill>
                <a:latin typeface="Calibri"/>
                <a:cs typeface="Calibri"/>
              </a:rPr>
              <a:t>Got a PhD with Prof. Rainer Gemulla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GB" sz="1800" spc="-1" dirty="0">
                <a:solidFill>
                  <a:srgbClr val="003056"/>
                </a:solidFill>
                <a:latin typeface="Calibri"/>
                <a:cs typeface="Calibri"/>
              </a:rPr>
              <a:t>Research focus </a:t>
            </a:r>
            <a:r>
              <a:rPr lang="en-GB" sz="1800" i="1" spc="-1" dirty="0">
                <a:solidFill>
                  <a:srgbClr val="003056"/>
                </a:solidFill>
                <a:latin typeface="Calibri"/>
                <a:cs typeface="Calibri"/>
              </a:rPr>
              <a:t>was </a:t>
            </a:r>
            <a:r>
              <a:rPr lang="en-GB" sz="1800" spc="-1" dirty="0">
                <a:solidFill>
                  <a:srgbClr val="003056"/>
                </a:solidFill>
                <a:latin typeface="Calibri"/>
                <a:cs typeface="Calibri"/>
              </a:rPr>
              <a:t>machine learning applied </a:t>
            </a:r>
          </a:p>
          <a:p>
            <a:pPr marL="457200" lvl="1" indent="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None/>
              <a:tabLst>
                <a:tab pos="0" algn="l"/>
              </a:tabLst>
            </a:pPr>
            <a:r>
              <a:rPr lang="en-GB" sz="1800" spc="-1" dirty="0">
                <a:solidFill>
                  <a:srgbClr val="003056"/>
                </a:solidFill>
                <a:latin typeface="Calibri"/>
                <a:cs typeface="Calibri"/>
              </a:rPr>
              <a:t>      to knowledge graphs</a:t>
            </a:r>
            <a:endParaRPr lang="en-GB" dirty="0"/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,Sans-Serif"/>
              <a:buChar char="•"/>
              <a:tabLst>
                <a:tab pos="0" algn="l"/>
              </a:tabLst>
            </a:pPr>
            <a:r>
              <a:rPr lang="en-GB" sz="1800" spc="-1" dirty="0">
                <a:solidFill>
                  <a:srgbClr val="003056"/>
                </a:solidFill>
                <a:latin typeface="Calibri"/>
                <a:cs typeface="Arial"/>
              </a:rPr>
              <a:t>Experience with ML research, ML/DL teaching</a:t>
            </a:r>
            <a:endParaRPr lang="de-DE" sz="1800" spc="-1" dirty="0">
              <a:solidFill>
                <a:srgbClr val="003056"/>
              </a:solidFill>
              <a:latin typeface="Calibri"/>
              <a:cs typeface="Arial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GB" sz="1800" i="1" spc="-1" dirty="0">
                <a:solidFill>
                  <a:srgbClr val="003056"/>
                </a:solidFill>
                <a:latin typeface="Calibri"/>
                <a:cs typeface="Calibri"/>
              </a:rPr>
              <a:t>Now </a:t>
            </a:r>
            <a:r>
              <a:rPr lang="en-GB" sz="1800" spc="-1" dirty="0">
                <a:solidFill>
                  <a:srgbClr val="003056"/>
                </a:solidFill>
                <a:latin typeface="Calibri"/>
                <a:cs typeface="Calibri"/>
              </a:rPr>
              <a:t>doing </a:t>
            </a:r>
            <a:r>
              <a:rPr lang="en-GB" sz="1800" spc="-1" dirty="0" err="1">
                <a:solidFill>
                  <a:srgbClr val="003056"/>
                </a:solidFill>
                <a:latin typeface="Calibri"/>
                <a:cs typeface="Calibri"/>
              </a:rPr>
              <a:t>PostDoc</a:t>
            </a:r>
            <a:r>
              <a:rPr lang="en-GB" sz="1800" spc="-1" dirty="0">
                <a:solidFill>
                  <a:srgbClr val="003056"/>
                </a:solidFill>
                <a:latin typeface="Calibri"/>
                <a:cs typeface="Calibri"/>
              </a:rPr>
              <a:t> in NLP with Prof. Simone </a:t>
            </a:r>
            <a:r>
              <a:rPr lang="en-GB" sz="1800" spc="-1" dirty="0" err="1">
                <a:solidFill>
                  <a:srgbClr val="003056"/>
                </a:solidFill>
                <a:latin typeface="Calibri"/>
                <a:cs typeface="Calibri"/>
              </a:rPr>
              <a:t>Ponzetto</a:t>
            </a:r>
            <a:r>
              <a:rPr lang="en-GB" sz="1800" spc="-1" dirty="0">
                <a:solidFill>
                  <a:srgbClr val="003056"/>
                </a:solidFill>
                <a:latin typeface="Calibri"/>
                <a:cs typeface="Calibri"/>
              </a:rPr>
              <a:t> 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GB" sz="1800" spc="-1" dirty="0">
                <a:solidFill>
                  <a:srgbClr val="003056"/>
                </a:solidFill>
                <a:latin typeface="Calibri"/>
                <a:cs typeface="Calibri"/>
              </a:rPr>
              <a:t>I will handle all lectures and all tutorials in this course</a:t>
            </a:r>
            <a:endParaRPr lang="de-DE" sz="1800" spc="-1" dirty="0">
              <a:solidFill>
                <a:srgbClr val="003056"/>
              </a:solidFill>
              <a:latin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tabLst>
                <a:tab pos="0" algn="l"/>
              </a:tabLst>
            </a:pPr>
            <a:endParaRPr lang="en-GB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tabLst>
                <a:tab pos="0" algn="l"/>
              </a:tabLst>
            </a:pPr>
            <a:r>
              <a:rPr lang="en-GB" sz="2000" b="1" spc="-1" dirty="0">
                <a:solidFill>
                  <a:srgbClr val="003056"/>
                </a:solidFill>
                <a:latin typeface="Calibri"/>
                <a:cs typeface="Calibri"/>
              </a:rPr>
              <a:t>Focus Group: </a:t>
            </a:r>
            <a:r>
              <a:rPr lang="en-GB" sz="2000" spc="-1" dirty="0">
                <a:solidFill>
                  <a:srgbClr val="003056"/>
                </a:solidFill>
                <a:latin typeface="Calibri"/>
                <a:cs typeface="Calibri"/>
              </a:rPr>
              <a:t>Natural Language Processing and Information Retrieval </a:t>
            </a:r>
            <a:endParaRPr lang="de-DE" sz="2000" spc="-1">
              <a:solidFill>
                <a:srgbClr val="003056"/>
              </a:solidFill>
              <a:latin typeface="Calibri"/>
              <a:cs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GB" sz="1800" spc="-1" dirty="0">
                <a:solidFill>
                  <a:srgbClr val="003056"/>
                </a:solidFill>
                <a:latin typeface="Calibri"/>
                <a:cs typeface="Calibri"/>
              </a:rPr>
              <a:t>We offer the Information Retrieval course in Winter semesters </a:t>
            </a: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endParaRPr lang="en-GB" sz="1800" spc="-1" dirty="0">
              <a:solidFill>
                <a:srgbClr val="003056"/>
              </a:solidFill>
              <a:latin typeface="Calibri"/>
              <a:cs typeface="Calibri"/>
            </a:endParaRPr>
          </a:p>
        </p:txBody>
      </p:sp>
      <p:pic>
        <p:nvPicPr>
          <p:cNvPr id="91" name="Picture 6"/>
          <p:cNvPicPr/>
          <p:nvPr/>
        </p:nvPicPr>
        <p:blipFill>
          <a:blip r:embed="rId3"/>
          <a:stretch/>
        </p:blipFill>
        <p:spPr>
          <a:xfrm>
            <a:off x="7178916" y="1261417"/>
            <a:ext cx="1276200" cy="165600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090447E-FF6C-4F57-9500-47D251D3BE35}" type="slidenum">
              <a:t>2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GB" sz="3000" b="1" strike="noStrike" spc="-1">
                <a:solidFill>
                  <a:srgbClr val="003056"/>
                </a:solidFill>
                <a:latin typeface="Calibri"/>
              </a:rPr>
              <a:t>When do we meet? 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Lectures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1" strike="noStrike" spc="-1" dirty="0">
                <a:solidFill>
                  <a:srgbClr val="003056"/>
                </a:solidFill>
                <a:latin typeface="Calibri"/>
              </a:rPr>
              <a:t>When:</a:t>
            </a: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Tuesdays </a:t>
            </a: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at 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13:45 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1" strike="noStrike" spc="-1" dirty="0">
                <a:solidFill>
                  <a:srgbClr val="003056"/>
                </a:solidFill>
                <a:latin typeface="Calibri"/>
              </a:rPr>
              <a:t>Where:</a:t>
            </a: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A5 6</a:t>
            </a: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, Room 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C014 </a:t>
            </a:r>
            <a:endParaRPr lang="de-DE" sz="1800" spc="-1" dirty="0">
              <a:solidFill>
                <a:srgbClr val="003056"/>
              </a:solidFill>
              <a:latin typeface="Calibri"/>
            </a:endParaRPr>
          </a:p>
          <a:p>
            <a:pPr marL="28575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Tutorials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1" strike="noStrike" spc="-1" dirty="0">
                <a:solidFill>
                  <a:srgbClr val="003056"/>
                </a:solidFill>
                <a:latin typeface="Calibri"/>
              </a:rPr>
              <a:t>When:</a:t>
            </a: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Wednesdays at </a:t>
            </a: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8:30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 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1" strike="noStrike" spc="-1" dirty="0">
                <a:solidFill>
                  <a:srgbClr val="003056"/>
                </a:solidFill>
                <a:latin typeface="Calibri"/>
              </a:rPr>
              <a:t>Where:</a:t>
            </a: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A5 6</a:t>
            </a: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, Room 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C014 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1" strike="noStrike" spc="-1" dirty="0">
                <a:solidFill>
                  <a:srgbClr val="003056"/>
                </a:solidFill>
                <a:latin typeface="Calibri"/>
              </a:rPr>
              <a:t>First tutorial </a:t>
            </a:r>
            <a:r>
              <a:rPr lang="en-GB" sz="2000" b="1" spc="-1" dirty="0">
                <a:solidFill>
                  <a:srgbClr val="FF0000"/>
                </a:solidFill>
                <a:latin typeface="Calibri"/>
              </a:rPr>
              <a:t>tomorrow (Feb. 11th)</a:t>
            </a:r>
            <a:endParaRPr lang="de-DE" sz="2000" b="0" strike="noStrike" spc="-1" dirty="0">
              <a:solidFill>
                <a:srgbClr val="FF0000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Basic Python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 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Basic </a:t>
            </a:r>
            <a:r>
              <a:rPr lang="en-GB" sz="1800" b="0" strike="noStrike" spc="-1" err="1">
                <a:solidFill>
                  <a:srgbClr val="003056"/>
                </a:solidFill>
                <a:latin typeface="Calibri"/>
              </a:rPr>
              <a:t>PyTorch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 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 dirty="0">
                <a:solidFill>
                  <a:srgbClr val="003056"/>
                </a:solidFill>
                <a:latin typeface="Calibri"/>
              </a:rPr>
              <a:t>Feel free to skip it if you're already familiar with these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8276C0C-C5F4-45B8-B5E3-4ADAE4DE36AF}" type="slidenum">
              <a:t>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GB" sz="3000" b="1" strike="noStrike" spc="-1">
                <a:solidFill>
                  <a:srgbClr val="003056"/>
                </a:solidFill>
                <a:latin typeface="Calibri"/>
              </a:rPr>
              <a:t>About</a:t>
            </a:r>
            <a:r>
              <a:rPr lang="en-GB" sz="1800" b="1" strike="noStrike" spc="-1">
                <a:solidFill>
                  <a:srgbClr val="FFFFF2"/>
                </a:solidFill>
                <a:latin typeface="CMSSBX10"/>
              </a:rPr>
              <a:t> </a:t>
            </a:r>
            <a:r>
              <a:rPr lang="en-GB" sz="3000" b="1" strike="noStrike" spc="-1">
                <a:solidFill>
                  <a:srgbClr val="003056"/>
                </a:solidFill>
                <a:latin typeface="Calibri"/>
              </a:rPr>
              <a:t>this course (1) 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ftr" idx="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Follow-up from IS 661 Text Analytics by Prof. Strohmeier</a:t>
            </a:r>
            <a:r>
              <a:rPr lang="en-GB" sz="2000" spc="-1" dirty="0">
                <a:solidFill>
                  <a:srgbClr val="003056"/>
                </a:solidFill>
                <a:latin typeface="Calibri"/>
              </a:rPr>
              <a:t> 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We might briefly cover some concepts from that course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But we generally assume the content in that course is known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 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1" strike="noStrike" spc="-1">
                <a:solidFill>
                  <a:srgbClr val="003056"/>
                </a:solidFill>
                <a:latin typeface="Calibri"/>
              </a:rPr>
              <a:t>Official </a:t>
            </a:r>
            <a:r>
              <a:rPr lang="en-GB" sz="2000" b="1" spc="-1">
                <a:solidFill>
                  <a:srgbClr val="003056"/>
                </a:solidFill>
                <a:latin typeface="Calibri"/>
              </a:rPr>
              <a:t>requirements</a:t>
            </a:r>
            <a:r>
              <a:rPr lang="en-GB" sz="2000" b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of this course: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GB" sz="1800" spc="-1">
                <a:solidFill>
                  <a:srgbClr val="003056"/>
                </a:solidFill>
                <a:latin typeface="Calibri"/>
              </a:rPr>
              <a:t>Basic: linear</a:t>
            </a: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 algebra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, probability theory, calculus (basic = BSc level)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Having finished one of the following courses: Text Analytics (TA), Machine </a:t>
            </a:r>
            <a:r>
              <a:rPr lang="en-GB" sz="1800" b="0" strike="noStrike" spc="-1">
                <a:solidFill>
                  <a:srgbClr val="003056"/>
                </a:solidFill>
                <a:latin typeface="Calibri"/>
              </a:rPr>
              <a:t>Learning (ML) or Deep Learning (DL)</a:t>
            </a:r>
            <a:r>
              <a:rPr lang="en-GB" sz="1800" spc="-1">
                <a:solidFill>
                  <a:srgbClr val="003056"/>
                </a:solidFill>
                <a:latin typeface="Calibri"/>
              </a:rPr>
              <a:t> (mostly one of the latter two)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GB" sz="2000" b="1" spc="-1" dirty="0">
                <a:solidFill>
                  <a:srgbClr val="003056"/>
                </a:solidFill>
                <a:latin typeface="Calibri"/>
              </a:rPr>
              <a:t>Examples of knowledge assumed/required for this course:</a:t>
            </a: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GB" sz="1800" b="1" spc="-1" dirty="0">
                <a:solidFill>
                  <a:srgbClr val="003056"/>
                </a:solidFill>
                <a:latin typeface="Calibri"/>
              </a:rPr>
              <a:t>How ML models are trained 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(i.e. the basic training loop, which we will ask you to implement at some point in this course), plus algorithms like  </a:t>
            </a:r>
            <a:r>
              <a:rPr lang="en-GB" sz="1800" b="1" spc="-1" dirty="0">
                <a:solidFill>
                  <a:srgbClr val="003056"/>
                </a:solidFill>
                <a:latin typeface="Calibri"/>
              </a:rPr>
              <a:t>gradient-descent 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and the use of </a:t>
            </a:r>
            <a:r>
              <a:rPr lang="en-GB" sz="1800" b="1" spc="-1" dirty="0">
                <a:solidFill>
                  <a:srgbClr val="003056"/>
                </a:solidFill>
                <a:latin typeface="Calibri"/>
              </a:rPr>
              <a:t>optimizers</a:t>
            </a: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GB" sz="1800" b="1" spc="-1" dirty="0">
                <a:solidFill>
                  <a:srgbClr val="003056"/>
                </a:solidFill>
                <a:latin typeface="Calibri"/>
              </a:rPr>
              <a:t>How ML models are evaluated 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(i.e. the evaluation loop, which you will be asked to implement as well), metrics like </a:t>
            </a:r>
            <a:r>
              <a:rPr lang="en-GB" sz="1800" b="1" spc="-1" dirty="0">
                <a:solidFill>
                  <a:srgbClr val="003056"/>
                </a:solidFill>
                <a:latin typeface="Calibri"/>
              </a:rPr>
              <a:t>accuracy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, </a:t>
            </a:r>
            <a:r>
              <a:rPr lang="en-GB" sz="1800" b="1" spc="-1" dirty="0">
                <a:solidFill>
                  <a:srgbClr val="003056"/>
                </a:solidFill>
                <a:latin typeface="Calibri"/>
              </a:rPr>
              <a:t>precision, recall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, etc.</a:t>
            </a:r>
            <a:endParaRPr lang="en-GB" dirty="0"/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Additionally: you will need to </a:t>
            </a:r>
            <a:r>
              <a:rPr lang="en-GB" sz="2000" b="1" strike="noStrike" spc="-1" dirty="0">
                <a:solidFill>
                  <a:srgbClr val="003056"/>
                </a:solidFill>
                <a:latin typeface="Calibri"/>
              </a:rPr>
              <a:t>code in Python/</a:t>
            </a:r>
            <a:r>
              <a:rPr lang="en-GB" sz="2000" b="1" strike="noStrike" spc="-1" dirty="0" err="1">
                <a:solidFill>
                  <a:srgbClr val="003056"/>
                </a:solidFill>
                <a:latin typeface="Calibri"/>
              </a:rPr>
              <a:t>PyTorch</a:t>
            </a:r>
            <a:r>
              <a:rPr lang="en-GB" sz="2000" b="1" spc="-1" dirty="0">
                <a:solidFill>
                  <a:srgbClr val="003056"/>
                </a:solidFill>
                <a:latin typeface="Calibri"/>
              </a:rPr>
              <a:t> </a:t>
            </a:r>
            <a:endParaRPr lang="de-DE" sz="2000" b="1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We provide a brief introduction in the first tutorial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 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GB" sz="20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8E471DD-B31C-480B-9C8C-BF619505C307}" type="slidenum">
              <a:t>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0" dur="500"/>
                                        <p:tgtEl>
                                          <p:spTgt spid="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3" dur="500"/>
                                        <p:tgtEl>
                                          <p:spTgt spid="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GB" sz="3000" b="1" strike="noStrike" spc="-1">
                <a:solidFill>
                  <a:srgbClr val="003056"/>
                </a:solidFill>
                <a:latin typeface="Calibri"/>
              </a:rPr>
              <a:t>About this course (2) 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ftr" idx="10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8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1" strike="noStrike" spc="-1" dirty="0">
                <a:solidFill>
                  <a:srgbClr val="003056"/>
                </a:solidFill>
                <a:latin typeface="Calibri"/>
              </a:rPr>
              <a:t>What you will learn: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Fundamentals of 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Deep Learning</a:t>
            </a: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 for Natural Language Processing (NLP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 dirty="0">
                <a:solidFill>
                  <a:srgbClr val="003056"/>
                </a:solidFill>
                <a:latin typeface="Calibri"/>
              </a:rPr>
              <a:t>Concepts/methods in latest developments in NLP research 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In other words, state-of-the-art methods for NLP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 </a:t>
            </a:r>
            <a:r>
              <a:rPr lang="en-GB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(active field!)</a:t>
            </a:r>
            <a:endParaRPr lang="de-DE" sz="1800" spc="-1" dirty="0">
              <a:solidFill>
                <a:srgbClr val="003056"/>
              </a:solidFill>
              <a:latin typeface="Calibri"/>
            </a:endParaRPr>
          </a:p>
          <a:p>
            <a:pPr marL="28575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This should allow you to: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Understand large language models (LLMs) “under the hood”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 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Read NLP research papers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 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 dirty="0">
                <a:solidFill>
                  <a:srgbClr val="003056"/>
                </a:solidFill>
                <a:latin typeface="Calibri"/>
              </a:rPr>
              <a:t>Potentially work</a:t>
            </a: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 in NLP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/AI</a:t>
            </a: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 engineering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 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There will be </a:t>
            </a:r>
            <a:r>
              <a:rPr lang="en-GB" sz="2000" b="1" strike="noStrike" spc="-1" dirty="0">
                <a:solidFill>
                  <a:srgbClr val="003056"/>
                </a:solidFill>
                <a:latin typeface="Calibri"/>
              </a:rPr>
              <a:t>some overlap with ML/DL courses</a:t>
            </a:r>
            <a:r>
              <a:rPr lang="en-GB" sz="2000" spc="-1" dirty="0">
                <a:solidFill>
                  <a:srgbClr val="003056"/>
                </a:solidFill>
                <a:latin typeface="Calibri"/>
              </a:rPr>
              <a:t> 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In general, basic ML/DL is repeated in many courses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 (unavoidable)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We’ll point out when this is so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We’ll try to keep it to a minimum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But this is NOT a replacement for ML/DL courses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 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 dirty="0">
                <a:solidFill>
                  <a:srgbClr val="003056"/>
                </a:solidFill>
                <a:latin typeface="Calibri"/>
              </a:rPr>
              <a:t>We</a:t>
            </a: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 encourage all of you to take those courses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 </a:t>
            </a:r>
          </a:p>
          <a:p>
            <a:pPr marL="285750" indent="-3429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1" spc="-1" dirty="0">
                <a:solidFill>
                  <a:srgbClr val="003056"/>
                </a:solidFill>
                <a:latin typeface="Calibri"/>
              </a:rPr>
              <a:t>(1) Intuition and (2) mathematical details are equally important here!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12E848C-7F01-4411-8A6D-7C933B310B05}" type="slidenum">
              <a:t>5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6" dur="500"/>
                                        <p:tgtEl>
                                          <p:spTgt spid="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7" dur="500"/>
                                        <p:tgtEl>
                                          <p:spTgt spid="1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0" dur="500"/>
                                        <p:tgtEl>
                                          <p:spTgt spid="1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1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8" dur="500"/>
                                        <p:tgtEl>
                                          <p:spTgt spid="1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1" dur="500"/>
                                        <p:tgtEl>
                                          <p:spTgt spid="10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4" dur="500"/>
                                        <p:tgtEl>
                                          <p:spTgt spid="10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7" dur="500"/>
                                        <p:tgtEl>
                                          <p:spTgt spid="10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0" dur="500"/>
                                        <p:tgtEl>
                                          <p:spTgt spid="10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5" dur="500"/>
                                        <p:tgtEl>
                                          <p:spTgt spid="10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79975-0B46-A8C9-05B5-10C691714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>
            <a:extLst>
              <a:ext uri="{FF2B5EF4-FFF2-40B4-BE49-F238E27FC236}">
                <a16:creationId xmlns:a16="http://schemas.microsoft.com/office/drawing/2014/main" id="{FCD46E31-148E-9191-00A4-7A55A7D61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GB" sz="3000" b="1" strike="noStrike" spc="-1" dirty="0">
                <a:solidFill>
                  <a:srgbClr val="003056"/>
                </a:solidFill>
                <a:latin typeface="Calibri"/>
              </a:rPr>
              <a:t>About this course (</a:t>
            </a:r>
            <a:r>
              <a:rPr lang="en-GB" sz="3000" b="1" spc="-1" dirty="0">
                <a:solidFill>
                  <a:srgbClr val="003056"/>
                </a:solidFill>
                <a:latin typeface="Calibri"/>
              </a:rPr>
              <a:t>3</a:t>
            </a:r>
            <a:r>
              <a:rPr lang="en-GB" sz="3000" b="1" strike="noStrike" spc="-1" dirty="0">
                <a:solidFill>
                  <a:srgbClr val="003056"/>
                </a:solidFill>
                <a:latin typeface="Calibri"/>
              </a:rPr>
              <a:t>) </a:t>
            </a:r>
            <a:endParaRPr lang="de-DE" sz="3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2">
            <a:extLst>
              <a:ext uri="{FF2B5EF4-FFF2-40B4-BE49-F238E27FC236}">
                <a16:creationId xmlns:a16="http://schemas.microsoft.com/office/drawing/2014/main" id="{7850DB97-DDB6-7973-2569-38A7BAC731B5}"/>
              </a:ext>
            </a:extLst>
          </p:cNvPr>
          <p:cNvSpPr>
            <a:spLocks noGrp="1"/>
          </p:cNvSpPr>
          <p:nvPr>
            <p:ph type="ftr" idx="10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00" name="PlaceHolder 3">
            <a:extLst>
              <a:ext uri="{FF2B5EF4-FFF2-40B4-BE49-F238E27FC236}">
                <a16:creationId xmlns:a16="http://schemas.microsoft.com/office/drawing/2014/main" id="{99EEFEA4-8123-18BB-9ABB-FCA79154DA34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43000"/>
            <a:ext cx="7775640" cy="48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1" spc="-1" dirty="0">
                <a:solidFill>
                  <a:srgbClr val="003056"/>
                </a:solidFill>
                <a:latin typeface="Calibri"/>
              </a:rPr>
              <a:t>I tend to speak very fast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 dirty="0">
                <a:solidFill>
                  <a:srgbClr val="003056"/>
                </a:solidFill>
                <a:latin typeface="Calibri"/>
              </a:rPr>
              <a:t>This is not good for teaching!</a:t>
            </a:r>
            <a:endParaRPr lang="de-DE" sz="1800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 dirty="0">
                <a:solidFill>
                  <a:srgbClr val="003056"/>
                </a:solidFill>
                <a:latin typeface="Calibri"/>
              </a:rPr>
              <a:t>Raise your hand and politely ask me to slow me down if necessary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 dirty="0">
                <a:solidFill>
                  <a:srgbClr val="003056"/>
                </a:solidFill>
                <a:latin typeface="Calibri"/>
              </a:rPr>
              <a:t>This works well in practice</a:t>
            </a:r>
          </a:p>
          <a:p>
            <a:pPr marL="28575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spc="-1" dirty="0">
                <a:solidFill>
                  <a:srgbClr val="003056"/>
                </a:solidFill>
                <a:latin typeface="Calibri"/>
              </a:rPr>
              <a:t>The course has quite a bit of content</a:t>
            </a:r>
            <a:endParaRPr lang="en-GB" sz="2200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 dirty="0">
                <a:solidFill>
                  <a:srgbClr val="003056"/>
                </a:solidFill>
                <a:latin typeface="Calibri"/>
              </a:rPr>
              <a:t>14 weeks: 13 lectures + Final QA (or optional lecture, finishing last lecture)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 dirty="0">
                <a:solidFill>
                  <a:srgbClr val="003056"/>
                </a:solidFill>
                <a:latin typeface="Calibri"/>
              </a:rPr>
              <a:t>Exercises almost every week</a:t>
            </a:r>
          </a:p>
          <a:p>
            <a:pPr marL="28575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1" spc="-1" dirty="0">
                <a:solidFill>
                  <a:srgbClr val="003056"/>
                </a:solidFill>
                <a:latin typeface="Calibri"/>
              </a:rPr>
              <a:t>Main challenge:</a:t>
            </a:r>
            <a:r>
              <a:rPr lang="en-GB" sz="2000" spc="-1" dirty="0">
                <a:solidFill>
                  <a:srgbClr val="003056"/>
                </a:solidFill>
                <a:latin typeface="Calibri"/>
              </a:rPr>
              <a:t> strike a balance between delivering </a:t>
            </a:r>
            <a:r>
              <a:rPr lang="en-GB" sz="2000" i="1" spc="-1" dirty="0">
                <a:solidFill>
                  <a:srgbClr val="003056"/>
                </a:solidFill>
                <a:latin typeface="Calibri"/>
              </a:rPr>
              <a:t>all of the content </a:t>
            </a:r>
            <a:r>
              <a:rPr lang="en-GB" sz="2000" spc="-1" dirty="0">
                <a:solidFill>
                  <a:srgbClr val="003056"/>
                </a:solidFill>
                <a:latin typeface="Calibri"/>
              </a:rPr>
              <a:t>and delivering it </a:t>
            </a:r>
            <a:r>
              <a:rPr lang="en-GB" sz="2000" i="1" spc="-1" dirty="0">
                <a:solidFill>
                  <a:srgbClr val="003056"/>
                </a:solidFill>
                <a:latin typeface="Calibri"/>
              </a:rPr>
              <a:t>with clarity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 dirty="0">
                <a:solidFill>
                  <a:srgbClr val="003056"/>
                </a:solidFill>
                <a:latin typeface="Calibri"/>
              </a:rPr>
              <a:t>This is why taking requirement courses is important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 dirty="0">
                <a:solidFill>
                  <a:srgbClr val="003056"/>
                </a:solidFill>
                <a:latin typeface="Calibri"/>
              </a:rPr>
              <a:t>If you haven't, clarity of the content may suffer</a:t>
            </a:r>
          </a:p>
          <a:p>
            <a:pPr marL="28575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GB" sz="20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28575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GB" sz="2000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GB" sz="1600" spc="-1" dirty="0">
              <a:solidFill>
                <a:srgbClr val="003056"/>
              </a:solidFill>
              <a:latin typeface="Calibri"/>
            </a:endParaRPr>
          </a:p>
          <a:p>
            <a:pPr marL="28575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GB" sz="2000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705A1FF1-8E3A-5EF9-9EDC-EDBAA67F1CAA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12E848C-7F01-4411-8A6D-7C933B310B05}" type="slidenum"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974781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6" dur="500"/>
                                        <p:tgtEl>
                                          <p:spTgt spid="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7" dur="500"/>
                                        <p:tgtEl>
                                          <p:spTgt spid="1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1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1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8" dur="500"/>
                                        <p:tgtEl>
                                          <p:spTgt spid="1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GB" sz="3000" b="1" spc="-1" dirty="0">
                <a:solidFill>
                  <a:srgbClr val="003056"/>
                </a:solidFill>
                <a:latin typeface="Calibri"/>
              </a:rPr>
              <a:t>Course Logistics</a:t>
            </a:r>
            <a:endParaRPr lang="de-DE" sz="3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ftr" idx="10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80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1" spc="-1" dirty="0">
                <a:solidFill>
                  <a:srgbClr val="003056"/>
                </a:solidFill>
                <a:latin typeface="Calibri"/>
              </a:rPr>
              <a:t>Final grade:</a:t>
            </a:r>
            <a:r>
              <a:rPr lang="en-GB" sz="2000" spc="-1" dirty="0">
                <a:solidFill>
                  <a:srgbClr val="003056"/>
                </a:solidFill>
                <a:latin typeface="Calibri"/>
              </a:rPr>
              <a:t> </a:t>
            </a:r>
            <a:endParaRPr lang="en-US"/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 dirty="0">
                <a:solidFill>
                  <a:srgbClr val="003056"/>
                </a:solidFill>
                <a:latin typeface="Calibri"/>
              </a:rPr>
              <a:t>100% of the grade comes from the final exam</a:t>
            </a:r>
            <a:endParaRPr lang="en-GB" sz="1800" dirty="0"/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1" spc="-1" dirty="0">
                <a:solidFill>
                  <a:srgbClr val="003056"/>
                </a:solidFill>
                <a:latin typeface="Calibri"/>
              </a:rPr>
              <a:t>Lectures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1" spc="-1" dirty="0">
                <a:solidFill>
                  <a:srgbClr val="003056"/>
                </a:solidFill>
                <a:latin typeface="Calibri"/>
              </a:rPr>
              <a:t>Goal: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 to introduce and discuss concepts and methods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1" spc="-1" dirty="0">
                <a:solidFill>
                  <a:srgbClr val="003056"/>
                </a:solidFill>
                <a:latin typeface="Calibri"/>
              </a:rPr>
              <a:t>Format: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 references provided in last slide of each set of lecture slides, useful references linked </a:t>
            </a:r>
            <a:r>
              <a:rPr lang="en-GB" sz="1800" spc="-1" dirty="0">
                <a:solidFill>
                  <a:srgbClr val="003056"/>
                </a:solidFill>
                <a:latin typeface="Calibri"/>
                <a:hlinkClick r:id="rId2"/>
              </a:rPr>
              <a:t>like this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 throughout the course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1" spc="-1" dirty="0">
                <a:solidFill>
                  <a:srgbClr val="003056"/>
                </a:solidFill>
                <a:latin typeface="Calibri"/>
              </a:rPr>
              <a:t>Tutorials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1" spc="-1" dirty="0">
                <a:solidFill>
                  <a:srgbClr val="003056"/>
                </a:solidFill>
                <a:latin typeface="Calibri"/>
              </a:rPr>
              <a:t>Goal: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 support lectures with deeper dives into same or new but related concepts/methods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1" spc="-1" dirty="0">
                <a:solidFill>
                  <a:srgbClr val="003056"/>
                </a:solidFill>
                <a:latin typeface="Calibri"/>
              </a:rPr>
              <a:t>Format: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 released one week, </a:t>
            </a:r>
            <a:r>
              <a:rPr lang="en-GB" sz="1800" b="1" spc="-1" dirty="0">
                <a:solidFill>
                  <a:srgbClr val="003056"/>
                </a:solidFill>
                <a:latin typeface="Calibri"/>
              </a:rPr>
              <a:t>you work on it at home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, solutions are discussed the week after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GB" sz="1800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12E848C-7F01-4411-8A6D-7C933B310B05}" type="slidenum"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2047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3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GB" sz="3000" b="1" strike="noStrike" spc="-1">
                <a:solidFill>
                  <a:srgbClr val="003056"/>
                </a:solidFill>
                <a:latin typeface="Calibri"/>
              </a:rPr>
              <a:t>Tentative List of Topics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684000" y="1124640"/>
            <a:ext cx="7775640" cy="469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spc="-1" dirty="0">
                <a:solidFill>
                  <a:srgbClr val="003056"/>
                </a:solidFill>
                <a:latin typeface="Calibri"/>
              </a:rPr>
              <a:t>Most of </a:t>
            </a:r>
            <a:r>
              <a:rPr lang="en-GB" sz="2000" b="1" spc="-1" dirty="0">
                <a:solidFill>
                  <a:srgbClr val="003056"/>
                </a:solidFill>
                <a:latin typeface="Calibri"/>
              </a:rPr>
              <a:t>our focus </a:t>
            </a:r>
            <a:r>
              <a:rPr lang="en-GB" sz="2000" spc="-1" dirty="0">
                <a:solidFill>
                  <a:srgbClr val="003056"/>
                </a:solidFill>
                <a:latin typeface="Calibri"/>
              </a:rPr>
              <a:t>is on </a:t>
            </a:r>
            <a:r>
              <a:rPr lang="en-GB" sz="2000" b="1" i="1" spc="-1" dirty="0">
                <a:solidFill>
                  <a:srgbClr val="003056"/>
                </a:solidFill>
                <a:latin typeface="Calibri"/>
              </a:rPr>
              <a:t>methods</a:t>
            </a:r>
            <a:r>
              <a:rPr lang="en-GB" sz="2000" b="1" spc="-1" dirty="0">
                <a:solidFill>
                  <a:srgbClr val="003056"/>
                </a:solidFill>
                <a:latin typeface="Calibri"/>
              </a:rPr>
              <a:t> </a:t>
            </a:r>
            <a:endParaRPr lang="de-DE" sz="2000" b="1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 dirty="0">
                <a:solidFill>
                  <a:srgbClr val="003056"/>
                </a:solidFill>
                <a:latin typeface="Calibri"/>
              </a:rPr>
              <a:t>Basics </a:t>
            </a: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of ML and DL, feed-forward neural networks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 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 dirty="0">
                <a:solidFill>
                  <a:srgbClr val="003056"/>
                </a:solidFill>
                <a:latin typeface="Calibri"/>
              </a:rPr>
              <a:t>Word </a:t>
            </a: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representations, static and contextual, pre-training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 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 dirty="0">
                <a:solidFill>
                  <a:srgbClr val="003056"/>
                </a:solidFill>
                <a:latin typeface="Calibri"/>
              </a:rPr>
              <a:t>Recurrent </a:t>
            </a: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neural networks, attention</a:t>
            </a:r>
          </a:p>
          <a:p>
            <a:pPr marL="74295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 dirty="0">
                <a:solidFill>
                  <a:srgbClr val="003056"/>
                </a:solidFill>
                <a:latin typeface="Calibri"/>
              </a:rPr>
              <a:t>Transformers</a:t>
            </a:r>
            <a:endParaRPr lang="de-DE" sz="1800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Tokenization</a:t>
            </a:r>
            <a:endParaRPr lang="en-GB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 dirty="0">
                <a:solidFill>
                  <a:srgbClr val="003056"/>
                </a:solidFill>
                <a:latin typeface="Calibri"/>
              </a:rPr>
              <a:t>Transfer learning (pre-training + fine-tuning)</a:t>
            </a:r>
          </a:p>
          <a:p>
            <a:pPr marL="74295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 dirty="0">
                <a:solidFill>
                  <a:srgbClr val="003056"/>
                </a:solidFill>
                <a:latin typeface="Calibri"/>
              </a:rPr>
              <a:t>Large language models (LLMs): architecture, tuning, applications</a:t>
            </a:r>
          </a:p>
          <a:p>
            <a:pPr marL="74295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NLP Applications (LLM evaluation, common tasks)</a:t>
            </a:r>
          </a:p>
          <a:p>
            <a:pPr marL="74295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Multilingual NLP</a:t>
            </a:r>
            <a:endParaRPr lang="en-GB" sz="1800" spc="-1" dirty="0">
              <a:solidFill>
                <a:srgbClr val="003056"/>
              </a:solidFill>
              <a:latin typeface="Calibri"/>
              <a:cs typeface="Arial"/>
            </a:endParaRPr>
          </a:p>
          <a:p>
            <a:pPr marL="74295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 dirty="0">
                <a:solidFill>
                  <a:srgbClr val="003056"/>
                </a:solidFill>
                <a:latin typeface="Calibri"/>
                <a:cs typeface="Arial"/>
              </a:rPr>
              <a:t>Optional lectures: state-space models, reasoning LLMs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1" spc="-1" dirty="0">
                <a:solidFill>
                  <a:srgbClr val="003056"/>
                </a:solidFill>
                <a:latin typeface="Calibri"/>
              </a:rPr>
              <a:t>Less focus on tasks</a:t>
            </a:r>
            <a:r>
              <a:rPr lang="en-GB" sz="2000" spc="-1" dirty="0">
                <a:solidFill>
                  <a:srgbClr val="003056"/>
                </a:solidFill>
                <a:latin typeface="Calibri"/>
              </a:rPr>
              <a:t> (we discuss some of them when needed)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Language </a:t>
            </a:r>
            <a:r>
              <a:rPr lang="en-GB" sz="1800" spc="-1" dirty="0" err="1">
                <a:solidFill>
                  <a:srgbClr val="003056"/>
                </a:solidFill>
                <a:latin typeface="Calibri"/>
              </a:rPr>
              <a:t>modeling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 (discussed extensively throughout the course)</a:t>
            </a:r>
            <a:endParaRPr lang="de-DE" sz="1800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 dirty="0">
                <a:solidFill>
                  <a:srgbClr val="003056"/>
                </a:solidFill>
                <a:latin typeface="Calibri"/>
              </a:rPr>
              <a:t>We may discuss Machine Translation, Question</a:t>
            </a: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 Answering</a:t>
            </a:r>
          </a:p>
          <a:p>
            <a:pPr marL="74295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endParaRPr lang="en-GB" sz="1600" b="0" strike="noStrike" spc="-1" dirty="0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</a:pPr>
            <a:endParaRPr lang="de-DE" sz="24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ftr" idx="1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59A41BE-AA99-4195-BBB7-3180EBBD283F}" type="slidenum">
              <a:t>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strike="noStrike" spc="-1">
                <a:solidFill>
                  <a:srgbClr val="003056"/>
                </a:solidFill>
                <a:latin typeface="Calibri"/>
              </a:rPr>
              <a:t>Reference Books </a:t>
            </a:r>
            <a:br>
              <a:rPr sz="3000"/>
            </a:b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84000" y="1340640"/>
            <a:ext cx="7775640" cy="4475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Speech and Language Processing (3rd ed. draft) by </a:t>
            </a:r>
            <a:r>
              <a:rPr lang="en-GB" sz="2000" b="0" strike="noStrike" spc="-1" err="1">
                <a:solidFill>
                  <a:srgbClr val="003056"/>
                </a:solidFill>
                <a:latin typeface="Calibri"/>
              </a:rPr>
              <a:t>Jurafsky</a:t>
            </a: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 and </a:t>
            </a:r>
            <a:r>
              <a:rPr lang="en-GB" sz="2000" spc="-1" dirty="0">
                <a:solidFill>
                  <a:srgbClr val="003056"/>
                </a:solidFill>
                <a:latin typeface="Calibri"/>
              </a:rPr>
              <a:t>Martin</a:t>
            </a:r>
            <a:endParaRPr lang="de-DE" sz="1800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u="sng" spc="-1" dirty="0">
                <a:solidFill>
                  <a:srgbClr val="0000FF"/>
                </a:solidFill>
                <a:latin typeface="Calibri"/>
                <a:hlinkClick r:id="rId2"/>
              </a:rPr>
              <a:t>https</a:t>
            </a:r>
            <a:r>
              <a:rPr lang="en-GB" sz="1800" b="0" u="sng" strike="noStrike" spc="-1" dirty="0">
                <a:solidFill>
                  <a:srgbClr val="0000FF"/>
                </a:solidFill>
                <a:uFillTx/>
                <a:latin typeface="Calibri"/>
                <a:hlinkClick r:id="rId2"/>
              </a:rPr>
              <a:t>://web.stanford.edu/~jurafsky/slp3/</a:t>
            </a:r>
            <a:r>
              <a:rPr lang="en-GB" sz="1800" u="sng" spc="-1" dirty="0">
                <a:solidFill>
                  <a:srgbClr val="0000FF"/>
                </a:solidFill>
                <a:latin typeface="Calibri"/>
                <a:hlinkClick r:id="rId2"/>
              </a:rPr>
              <a:t> 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NLP, An ML perspective, Zhang et al.</a:t>
            </a:r>
            <a:r>
              <a:rPr lang="en-GB" sz="2000" spc="-1" dirty="0">
                <a:solidFill>
                  <a:srgbClr val="003056"/>
                </a:solidFill>
                <a:latin typeface="Calibri"/>
              </a:rPr>
              <a:t> </a:t>
            </a:r>
            <a:endParaRPr lang="de-DE" sz="1800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Online access via the University library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 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NLP by Eisenstein et al.</a:t>
            </a:r>
            <a:r>
              <a:rPr lang="en-GB" sz="2000" spc="-1" dirty="0">
                <a:solidFill>
                  <a:srgbClr val="003056"/>
                </a:solidFill>
                <a:latin typeface="Calibri"/>
              </a:rPr>
              <a:t>             </a:t>
            </a:r>
            <a:endParaRPr lang="de-DE" sz="1800" spc="-1" dirty="0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GB" sz="1800" b="0" u="sng" strike="noStrike" spc="-1" dirty="0">
                <a:solidFill>
                  <a:srgbClr val="0000FF"/>
                </a:solidFill>
                <a:uFillTx/>
                <a:latin typeface="Calibri"/>
                <a:hlinkClick r:id="rId3"/>
              </a:rPr>
              <a:t>https://cseweb.ucsd.edu/~nnakashole/teaching/eisenstein-nov18.pdf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  <a:tabLst>
                <a:tab pos="0" algn="l"/>
              </a:tabLst>
            </a:pPr>
            <a:r>
              <a:rPr lang="en-GB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Most of the content in 2nd half of the course comes from papers released in last 5 years or so</a:t>
            </a:r>
            <a:endParaRPr lang="en-GB" sz="2000" spc="-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>
                <a:tab pos="0" algn="l"/>
              </a:tabLst>
            </a:pPr>
            <a:r>
              <a:rPr lang="en-GB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They will be referenced via links in these slides</a:t>
            </a:r>
            <a:endParaRPr lang="en-GB" dirty="0"/>
          </a:p>
          <a:p>
            <a:pPr marL="342900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endParaRPr lang="en-GB" sz="2200" u="sng" spc="-1" dirty="0">
              <a:solidFill>
                <a:srgbClr val="0000FF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ftr" idx="1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74B696C-473E-49F5-990F-73C3771F030B}" type="slidenum"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Outline </a:t>
            </a:r>
            <a:br>
              <a:rPr sz="3000"/>
            </a:b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ftr" idx="13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spc="-1" dirty="0">
              <a:solidFill>
                <a:srgbClr val="003056"/>
              </a:solidFill>
              <a:latin typeface="Calibri"/>
            </a:endParaRPr>
          </a:p>
          <a:p>
            <a:pPr>
              <a:buNone/>
              <a:tabLst>
                <a:tab pos="0" algn="l"/>
              </a:tabLst>
            </a:pPr>
            <a:r>
              <a:rPr lang="en-GB" sz="24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What is Text Analytics? </a:t>
            </a:r>
            <a:endParaRPr lang="de-DE" sz="24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 dirty="0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GB" sz="24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What is Ad</a:t>
            </a:r>
            <a:r>
              <a:rPr lang="en-GB" sz="24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vanced Text Analytics</a:t>
            </a:r>
            <a:r>
              <a:rPr lang="en-GB" sz="24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? </a:t>
            </a:r>
            <a:endParaRPr lang="de-DE" dirty="0"/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 dirty="0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GB" sz="24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Recap:</a:t>
            </a:r>
            <a:r>
              <a:rPr lang="en-GB" sz="24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Basic NLP Concepts</a:t>
            </a:r>
            <a:endParaRPr lang="en-GB" sz="24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C052CC2-0280-4288-93A0-B1700DC63700}" type="slidenum">
              <a:t>10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3000"/>
            </a:b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ftr" idx="13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en-GB" sz="2400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en-GB" sz="2400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en-GB" sz="2400" spc="-1">
              <a:solidFill>
                <a:srgbClr val="003056"/>
              </a:solidFill>
              <a:latin typeface="Calibri"/>
            </a:endParaRPr>
          </a:p>
          <a:p>
            <a:pPr algn="ctr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GB" sz="4000" b="1" strike="noStrike" spc="-1" dirty="0">
                <a:solidFill>
                  <a:srgbClr val="003056"/>
                </a:solidFill>
                <a:latin typeface="Calibri"/>
              </a:rPr>
              <a:t>What is </a:t>
            </a:r>
            <a:r>
              <a:rPr lang="en-GB" sz="4000" b="1" spc="-1" dirty="0">
                <a:solidFill>
                  <a:srgbClr val="003056"/>
                </a:solidFill>
                <a:latin typeface="Calibri"/>
              </a:rPr>
              <a:t>Text Analytics</a:t>
            </a:r>
            <a:r>
              <a:rPr lang="en-GB" sz="4000" b="1" strike="noStrike" spc="-1" dirty="0">
                <a:solidFill>
                  <a:srgbClr val="003056"/>
                </a:solidFill>
                <a:latin typeface="Calibri"/>
              </a:rPr>
              <a:t>?</a:t>
            </a:r>
            <a:r>
              <a:rPr lang="en-GB" sz="4000" b="1" spc="-1" dirty="0">
                <a:solidFill>
                  <a:srgbClr val="003056"/>
                </a:solidFill>
                <a:latin typeface="Calibri"/>
              </a:rPr>
              <a:t> </a:t>
            </a:r>
            <a:endParaRPr lang="de-DE" sz="4000" b="1" strike="noStrike" spc="-1" dirty="0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C052CC2-0280-4288-93A0-B1700DC63700}" type="slidenum"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6403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Natural Language Processing </a:t>
            </a:r>
            <a:br>
              <a:rPr sz="3000"/>
            </a:br>
            <a:br>
              <a:rPr sz="3000"/>
            </a:br>
            <a:br>
              <a:rPr sz="3000"/>
            </a:b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ftr" idx="14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19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1" strike="noStrike" spc="-1">
                <a:solidFill>
                  <a:srgbClr val="003056"/>
                </a:solidFill>
                <a:latin typeface="Calibri"/>
              </a:rPr>
              <a:t>Eisenstein: </a:t>
            </a:r>
            <a:r>
              <a:rPr lang="en-GB" sz="2000" b="0" strike="noStrike" spc="-1">
                <a:solidFill>
                  <a:srgbClr val="003056"/>
                </a:solidFill>
                <a:latin typeface="Calibri"/>
              </a:rPr>
              <a:t>set of methods for making human language accessible to computers. 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1" strike="noStrike" spc="-1">
                <a:solidFill>
                  <a:srgbClr val="003056"/>
                </a:solidFill>
                <a:latin typeface="Calibri"/>
              </a:rPr>
              <a:t>Zhang and Teng: </a:t>
            </a:r>
            <a:r>
              <a:rPr lang="en-GB" sz="2000" b="0" strike="noStrike" spc="-1">
                <a:solidFill>
                  <a:srgbClr val="003056"/>
                </a:solidFill>
                <a:latin typeface="Calibri"/>
              </a:rPr>
              <a:t>the study of automatically processing or synthesizing human languages. 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1" strike="noStrike" spc="-1">
                <a:solidFill>
                  <a:srgbClr val="003056"/>
                </a:solidFill>
                <a:latin typeface="Calibri"/>
              </a:rPr>
              <a:t>Generally:</a:t>
            </a:r>
            <a:r>
              <a:rPr lang="en-GB" sz="2000" b="0" strike="noStrike" spc="-1">
                <a:solidFill>
                  <a:srgbClr val="003056"/>
                </a:solidFill>
                <a:latin typeface="Calibri"/>
              </a:rPr>
              <a:t> interdisciplinary area, e.g. some linguistics, some computer science, some machine learning.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003056"/>
                </a:solidFill>
                <a:latin typeface="Calibri"/>
              </a:rPr>
              <a:t>Similar/related terms: 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1" strike="noStrike" spc="-1">
                <a:solidFill>
                  <a:srgbClr val="003056"/>
                </a:solidFill>
                <a:latin typeface="Calibri"/>
              </a:rPr>
              <a:t>Computational linguistics: </a:t>
            </a:r>
            <a:r>
              <a:rPr lang="en-GB" sz="1800" b="0" strike="noStrike" spc="-1">
                <a:solidFill>
                  <a:srgbClr val="003056"/>
                </a:solidFill>
                <a:latin typeface="Calibri"/>
              </a:rPr>
              <a:t>main focus is language, not computational methods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1" strike="noStrike" spc="-1">
                <a:solidFill>
                  <a:srgbClr val="003056"/>
                </a:solidFill>
                <a:latin typeface="Calibri"/>
              </a:rPr>
              <a:t>Speech processing: </a:t>
            </a:r>
            <a:r>
              <a:rPr lang="en-GB" sz="1800" b="0" strike="noStrike" spc="-1">
                <a:solidFill>
                  <a:srgbClr val="003056"/>
                </a:solidFill>
                <a:latin typeface="Calibri"/>
              </a:rPr>
              <a:t>main focus is processing audio into text 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1" strike="noStrike" spc="-1">
                <a:solidFill>
                  <a:srgbClr val="003056"/>
                </a:solidFill>
                <a:latin typeface="Calibri"/>
              </a:rPr>
              <a:t>Text Analytics: </a:t>
            </a:r>
            <a:r>
              <a:rPr lang="en-GB" sz="1800" b="0" strike="noStrike" spc="-1">
                <a:solidFill>
                  <a:srgbClr val="003056"/>
                </a:solidFill>
                <a:latin typeface="Calibri"/>
              </a:rPr>
              <a:t>drawing value from text (we treat it as synonym to NLP) 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10F24DD-1FB1-44E8-A425-5E9D34A035A4}" type="slidenum">
              <a:t>12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" dur="500"/>
                                        <p:tgtEl>
                                          <p:spTgt spid="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7" dur="500"/>
                                        <p:tgtEl>
                                          <p:spTgt spid="1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2" dur="500"/>
                                        <p:tgtEl>
                                          <p:spTgt spid="1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5" dur="500"/>
                                        <p:tgtEl>
                                          <p:spTgt spid="1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8" dur="500"/>
                                        <p:tgtEl>
                                          <p:spTgt spid="1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1" dur="500"/>
                                        <p:tgtEl>
                                          <p:spTgt spid="1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Challenges </a:t>
            </a:r>
            <a:br>
              <a:rPr sz="3000"/>
            </a:br>
            <a:br>
              <a:rPr sz="3000"/>
            </a:b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ftr" idx="15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19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003056"/>
                </a:solidFill>
                <a:latin typeface="Calibri"/>
              </a:rPr>
              <a:t>Started in the 1950s as part of artificial intelligence research 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>
                <a:solidFill>
                  <a:srgbClr val="003056"/>
                </a:solidFill>
                <a:latin typeface="Calibri"/>
              </a:rPr>
              <a:t>Initially thought to be easy, challenges quickly emerged 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1" strike="noStrike" spc="-1">
                <a:solidFill>
                  <a:srgbClr val="003056"/>
                </a:solidFill>
                <a:latin typeface="Calibri"/>
              </a:rPr>
              <a:t>Main challenge: </a:t>
            </a:r>
            <a:r>
              <a:rPr lang="en-GB" sz="2000" b="0" strike="noStrike" spc="-1">
                <a:solidFill>
                  <a:srgbClr val="003056"/>
                </a:solidFill>
                <a:latin typeface="Calibri"/>
              </a:rPr>
              <a:t>ambiguity in language 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003056"/>
                </a:solidFill>
                <a:latin typeface="Calibri"/>
              </a:rPr>
              <a:t>Semantic ambiguity: “They can fish here.” 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280" lvl="1" indent="-34308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AutoNum type="arabicPeriod"/>
            </a:pPr>
            <a:r>
              <a:rPr lang="en-GB" sz="1800" b="0" strike="noStrike" spc="-1">
                <a:solidFill>
                  <a:srgbClr val="003056"/>
                </a:solidFill>
                <a:latin typeface="Calibri"/>
              </a:rPr>
              <a:t>They are allowed to fish in that location. 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280" lvl="1" indent="-34308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AutoNum type="arabicPeriod"/>
            </a:pPr>
            <a:r>
              <a:rPr lang="en-GB" sz="1800" b="0" strike="noStrike" spc="-1">
                <a:solidFill>
                  <a:srgbClr val="003056"/>
                </a:solidFill>
                <a:latin typeface="Calibri"/>
              </a:rPr>
              <a:t>They put fish in cans in that location. 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003056"/>
                </a:solidFill>
                <a:latin typeface="Calibri"/>
              </a:rPr>
              <a:t>Lexical ambiguity: “L’avocat est juste lá.”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>
                <a:solidFill>
                  <a:srgbClr val="003056"/>
                </a:solidFill>
                <a:latin typeface="Calibri"/>
              </a:rPr>
              <a:t>Is the </a:t>
            </a:r>
            <a:r>
              <a:rPr lang="en-GB" sz="1800" b="0" i="1" strike="noStrike" spc="-1">
                <a:solidFill>
                  <a:srgbClr val="003056"/>
                </a:solidFill>
                <a:latin typeface="Calibri"/>
              </a:rPr>
              <a:t>lawyer</a:t>
            </a:r>
            <a:r>
              <a:rPr lang="en-GB" sz="1800" b="0" strike="noStrike" spc="-1">
                <a:solidFill>
                  <a:srgbClr val="003056"/>
                </a:solidFill>
                <a:latin typeface="Calibri"/>
              </a:rPr>
              <a:t> right there? 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>
                <a:solidFill>
                  <a:srgbClr val="003056"/>
                </a:solidFill>
                <a:latin typeface="Calibri"/>
              </a:rPr>
              <a:t>Or is the </a:t>
            </a:r>
            <a:r>
              <a:rPr lang="en-GB" sz="1800" b="0" i="1" strike="noStrike" spc="-1">
                <a:solidFill>
                  <a:srgbClr val="003056"/>
                </a:solidFill>
                <a:latin typeface="Calibri"/>
              </a:rPr>
              <a:t>avocado</a:t>
            </a:r>
            <a:r>
              <a:rPr lang="en-GB" sz="1800" b="0" strike="noStrike" spc="-1">
                <a:solidFill>
                  <a:srgbClr val="003056"/>
                </a:solidFill>
                <a:latin typeface="Calibri"/>
              </a:rPr>
              <a:t> right there? 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003056"/>
                </a:solidFill>
                <a:latin typeface="Calibri"/>
              </a:rPr>
              <a:t>Named entity ambiguity: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>
                <a:solidFill>
                  <a:srgbClr val="003056"/>
                </a:solidFill>
                <a:latin typeface="Calibri"/>
              </a:rPr>
              <a:t>“Michael Jordan is the Miles Davis of machine learning.” 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>
                <a:solidFill>
                  <a:srgbClr val="003056"/>
                </a:solidFill>
                <a:latin typeface="Calibri"/>
              </a:rPr>
              <a:t>Who? The basketball player or the professor at UC Berkeley? 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1" strike="noStrike" spc="-1">
                <a:solidFill>
                  <a:srgbClr val="003056"/>
                </a:solidFill>
                <a:latin typeface="Calibri"/>
              </a:rPr>
              <a:t>Other challenges:</a:t>
            </a:r>
            <a:r>
              <a:rPr lang="en-GB" sz="1800" b="0" strike="noStrike" spc="-1">
                <a:solidFill>
                  <a:srgbClr val="003056"/>
                </a:solidFill>
                <a:latin typeface="Calibri"/>
              </a:rPr>
              <a:t> idioms, e.g. he is “out of his mind”; multilingualism, e.g. many “low-resource” languages; basic knowledge not given in text 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0410092-02F0-4D7A-83F3-49092FE567B0}" type="slidenum">
              <a:t>13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0" dur="500"/>
                                        <p:tgtEl>
                                          <p:spTgt spid="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3" dur="500"/>
                                        <p:tgtEl>
                                          <p:spTgt spid="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1" dur="500"/>
                                        <p:tgtEl>
                                          <p:spTgt spid="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4" dur="500"/>
                                        <p:tgtEl>
                                          <p:spTgt spid="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7" dur="500"/>
                                        <p:tgtEl>
                                          <p:spTgt spid="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2" dur="500"/>
                                        <p:tgtEl>
                                          <p:spTgt spid="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5" dur="500"/>
                                        <p:tgtEl>
                                          <p:spTgt spid="1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8" dur="500"/>
                                        <p:tgtEl>
                                          <p:spTgt spid="1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3" dur="500"/>
                                        <p:tgtEl>
                                          <p:spTgt spid="1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NLP Tasks </a:t>
            </a:r>
            <a:br>
              <a:rPr sz="3000"/>
            </a:br>
            <a:br>
              <a:rPr sz="3000"/>
            </a:br>
            <a:br>
              <a:rPr sz="3000"/>
            </a:b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ftr" idx="16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19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NLP is a broad area that studies a </a:t>
            </a:r>
            <a:r>
              <a:rPr lang="en-GB" sz="2000" b="1" strike="noStrike" spc="-1" dirty="0">
                <a:solidFill>
                  <a:srgbClr val="003056"/>
                </a:solidFill>
                <a:latin typeface="Calibri"/>
              </a:rPr>
              <a:t>wide range of tasks. 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Some examples of NLP tasks: 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Question answering (QA) 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>
                <a:solidFill>
                  <a:srgbClr val="003056"/>
                </a:solidFill>
                <a:latin typeface="Calibri"/>
              </a:rPr>
              <a:t>Machine translation</a:t>
            </a:r>
            <a:r>
              <a:rPr lang="en-GB" sz="1800" spc="-1">
                <a:solidFill>
                  <a:srgbClr val="003056"/>
                </a:solidFill>
                <a:latin typeface="Calibri"/>
              </a:rPr>
              <a:t> (MT)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Text summarization 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Assisted writing 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Useful to distinguish them by their inputs and outputs 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9FC15FC-9563-4CF2-B579-3F5D623CBAE5}" type="slidenum">
              <a:t>14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" dur="500"/>
                                        <p:tgtEl>
                                          <p:spTgt spid="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1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1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trike="noStrike" spc="-1" dirty="0">
                <a:solidFill>
                  <a:srgbClr val="003056"/>
                </a:solidFill>
                <a:latin typeface="Calibri"/>
              </a:rPr>
              <a:t>Question </a:t>
            </a:r>
            <a:r>
              <a:rPr lang="de-DE" sz="3000" b="1" strike="noStrike" spc="-1" dirty="0" err="1">
                <a:solidFill>
                  <a:srgbClr val="003056"/>
                </a:solidFill>
                <a:latin typeface="Calibri"/>
              </a:rPr>
              <a:t>Answering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(QA)</a:t>
            </a:r>
            <a:r>
              <a:rPr lang="en-GB" sz="1800" b="1" strike="noStrike" spc="-1" dirty="0">
                <a:solidFill>
                  <a:srgbClr val="FFFFF2"/>
                </a:solidFill>
                <a:latin typeface="CMSSBX10"/>
              </a:rPr>
              <a:t>Machine Translation </a:t>
            </a:r>
            <a:br>
              <a:rPr sz="3000" dirty="0"/>
            </a:br>
            <a:r>
              <a:rPr lang="de-DE" sz="3000" b="1" strike="noStrike" spc="-1" dirty="0">
                <a:solidFill>
                  <a:srgbClr val="003056"/>
                </a:solidFill>
                <a:latin typeface="Calibri"/>
              </a:rPr>
              <a:t> </a:t>
            </a:r>
            <a:br>
              <a:rPr sz="3000" dirty="0"/>
            </a:br>
            <a:br>
              <a:rPr sz="3000" dirty="0"/>
            </a:br>
            <a:br>
              <a:rPr sz="3000" dirty="0"/>
            </a:br>
            <a:br>
              <a:rPr sz="3000" dirty="0"/>
            </a:b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ftr" idx="17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pic>
        <p:nvPicPr>
          <p:cNvPr id="121" name="Content Placeholder 6"/>
          <p:cNvPicPr/>
          <p:nvPr/>
        </p:nvPicPr>
        <p:blipFill>
          <a:blip r:embed="rId2"/>
          <a:stretch/>
        </p:blipFill>
        <p:spPr>
          <a:xfrm>
            <a:off x="1377360" y="1261080"/>
            <a:ext cx="6051960" cy="447192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006885C-58E2-4F2E-B632-4E62CAB2F784}" type="slidenum"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 dirty="0" err="1">
                <a:solidFill>
                  <a:srgbClr val="003056"/>
                </a:solidFill>
                <a:latin typeface="Calibri"/>
              </a:rPr>
              <a:t>Machine</a:t>
            </a:r>
            <a:r>
              <a:rPr lang="de-DE" sz="3000" b="1" strike="noStrike" spc="-1" dirty="0">
                <a:solidFill>
                  <a:srgbClr val="003056"/>
                </a:solidFill>
                <a:latin typeface="Calibri"/>
              </a:rPr>
              <a:t> Translation 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(MT)</a:t>
            </a:r>
            <a:br>
              <a:rPr sz="3000" dirty="0"/>
            </a:br>
            <a:r>
              <a:rPr lang="en-GB" sz="1800" b="1" strike="noStrike" spc="-1" dirty="0">
                <a:solidFill>
                  <a:srgbClr val="FFFFF2"/>
                </a:solidFill>
                <a:latin typeface="CMSSBX10"/>
              </a:rPr>
              <a:t>Machine Translation </a:t>
            </a:r>
            <a:br>
              <a:rPr sz="3000" dirty="0"/>
            </a:br>
            <a:r>
              <a:rPr lang="de-DE" sz="3000" b="1" strike="noStrike" spc="-1" dirty="0">
                <a:solidFill>
                  <a:srgbClr val="003056"/>
                </a:solidFill>
                <a:latin typeface="Calibri"/>
              </a:rPr>
              <a:t> </a:t>
            </a:r>
            <a:br>
              <a:rPr sz="3000" dirty="0"/>
            </a:br>
            <a:br>
              <a:rPr sz="3000" dirty="0"/>
            </a:br>
            <a:br>
              <a:rPr sz="3000" dirty="0"/>
            </a:br>
            <a:br>
              <a:rPr sz="3000" dirty="0"/>
            </a:b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ftr" idx="1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pic>
        <p:nvPicPr>
          <p:cNvPr id="124" name="Content Placeholder 10"/>
          <p:cNvPicPr/>
          <p:nvPr/>
        </p:nvPicPr>
        <p:blipFill>
          <a:blip r:embed="rId2"/>
          <a:stretch/>
        </p:blipFill>
        <p:spPr>
          <a:xfrm>
            <a:off x="723240" y="1688400"/>
            <a:ext cx="7697520" cy="383328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ED23040-1A53-4E82-8E39-F9A4737C0574}" type="slidenum"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Text Summarization </a:t>
            </a:r>
            <a:br>
              <a:rPr sz="3000"/>
            </a:b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3000"/>
            </a:br>
            <a:r>
              <a:rPr lang="en-GB" sz="1800" b="1" strike="noStrike" spc="-1">
                <a:solidFill>
                  <a:srgbClr val="FFFFF2"/>
                </a:solidFill>
                <a:latin typeface="CMSSBX10"/>
              </a:rPr>
              <a:t>Machine Translation </a:t>
            </a:r>
            <a:br>
              <a:rPr sz="3000"/>
            </a:b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3000"/>
            </a:br>
            <a:br>
              <a:rPr sz="3000"/>
            </a:br>
            <a:br>
              <a:rPr sz="3000"/>
            </a:br>
            <a:br>
              <a:rPr sz="3000"/>
            </a:b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ftr" idx="1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/>
          </p:nvPr>
        </p:nvSpPr>
        <p:spPr>
          <a:xfrm>
            <a:off x="7113600" y="4786200"/>
            <a:ext cx="1172880" cy="34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GB" sz="1400" b="0" u="sng" strike="noStrike" spc="-1">
                <a:solidFill>
                  <a:srgbClr val="0000FF"/>
                </a:solidFill>
                <a:uFillTx/>
                <a:latin typeface="CMSS10"/>
                <a:hlinkClick r:id="rId2"/>
              </a:rPr>
              <a:t>Image source</a:t>
            </a:r>
            <a:endParaRPr lang="de-DE" sz="14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128" name="Picture 8"/>
          <p:cNvPicPr/>
          <p:nvPr/>
        </p:nvPicPr>
        <p:blipFill>
          <a:blip r:embed="rId3"/>
          <a:stretch/>
        </p:blipFill>
        <p:spPr>
          <a:xfrm>
            <a:off x="446040" y="1460880"/>
            <a:ext cx="8085960" cy="333936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C3DF274-62C4-4CE1-85CE-C461D96FA41B}" type="slidenum"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Assisted Writing </a:t>
            </a:r>
            <a:br>
              <a:rPr sz="3000"/>
            </a:b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3000"/>
            </a:b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3000"/>
            </a:br>
            <a:r>
              <a:rPr lang="en-GB" sz="1800" b="1" strike="noStrike" spc="-1">
                <a:solidFill>
                  <a:srgbClr val="FFFFF2"/>
                </a:solidFill>
                <a:latin typeface="CMSSBX10"/>
              </a:rPr>
              <a:t>Machine Translation </a:t>
            </a:r>
            <a:br>
              <a:rPr sz="3000"/>
            </a:b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3000"/>
            </a:br>
            <a:br>
              <a:rPr sz="3000"/>
            </a:br>
            <a:br>
              <a:rPr sz="3000"/>
            </a:br>
            <a:br>
              <a:rPr sz="3000"/>
            </a:b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ftr" idx="20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/>
          </p:nvPr>
        </p:nvSpPr>
        <p:spPr>
          <a:xfrm>
            <a:off x="7000920" y="4929120"/>
            <a:ext cx="1458720" cy="34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GB" sz="1400" b="0" u="sng" strike="noStrike" spc="-1">
                <a:solidFill>
                  <a:srgbClr val="0000FF"/>
                </a:solidFill>
                <a:uFillTx/>
                <a:latin typeface="CMSS10"/>
                <a:hlinkClick r:id="rId2"/>
              </a:rPr>
              <a:t>Image source</a:t>
            </a:r>
            <a:r>
              <a:rPr lang="en-GB" sz="1400" b="0" strike="noStrike" spc="-1">
                <a:solidFill>
                  <a:srgbClr val="003056"/>
                </a:solidFill>
                <a:latin typeface="CMSS10"/>
              </a:rPr>
              <a:t> </a:t>
            </a:r>
            <a:endParaRPr lang="de-DE" sz="14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132" name="Picture 7"/>
          <p:cNvPicPr/>
          <p:nvPr/>
        </p:nvPicPr>
        <p:blipFill>
          <a:blip r:embed="rId3"/>
          <a:stretch/>
        </p:blipFill>
        <p:spPr>
          <a:xfrm>
            <a:off x="1127520" y="1285200"/>
            <a:ext cx="6944400" cy="365724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FB34E0E-CCE8-4F52-8D2E-400065986390}" type="slidenum"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The Role of Machine Learning in NLP </a:t>
            </a:r>
            <a:br>
              <a:rPr sz="3000"/>
            </a:b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3000"/>
            </a:br>
            <a:br>
              <a:rPr sz="3000"/>
            </a:br>
            <a:br>
              <a:rPr sz="3000"/>
            </a:b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ftr" idx="2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19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Current NLP </a:t>
            </a:r>
            <a:r>
              <a:rPr lang="en-GB" sz="2000" b="1" strike="noStrike" spc="-1" dirty="0">
                <a:solidFill>
                  <a:srgbClr val="003056"/>
                </a:solidFill>
                <a:latin typeface="Calibri"/>
              </a:rPr>
              <a:t>methods rely almost exclusively on </a:t>
            </a:r>
            <a:r>
              <a:rPr lang="en-GB" sz="2000" b="1" spc="-1" dirty="0">
                <a:solidFill>
                  <a:srgbClr val="003056"/>
                </a:solidFill>
                <a:latin typeface="Calibri"/>
              </a:rPr>
              <a:t>ML </a:t>
            </a:r>
            <a:r>
              <a:rPr lang="en-GB" sz="2000" b="1" strike="noStrike" spc="-1" dirty="0">
                <a:solidFill>
                  <a:srgbClr val="003056"/>
                </a:solidFill>
                <a:latin typeface="Calibri"/>
              </a:rPr>
              <a:t>techniques</a:t>
            </a: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 to solve tasks. 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ML (specifically, Deep Learning) allows complex solutions to be </a:t>
            </a:r>
            <a:r>
              <a:rPr lang="en-GB" sz="2000" spc="-1" dirty="0">
                <a:solidFill>
                  <a:srgbClr val="003056"/>
                </a:solidFill>
                <a:latin typeface="Calibri"/>
              </a:rPr>
              <a:t>built</a:t>
            </a: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 from training on large amounts of data and without requiring knowledge about linguistics 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However, there are </a:t>
            </a:r>
            <a:r>
              <a:rPr lang="en-GB" sz="2000" b="1" strike="noStrike" spc="-1" dirty="0">
                <a:solidFill>
                  <a:srgbClr val="003056"/>
                </a:solidFill>
                <a:latin typeface="Calibri"/>
              </a:rPr>
              <a:t>fundamental </a:t>
            </a:r>
            <a:r>
              <a:rPr lang="en-GB" sz="2000" b="1" spc="-1" dirty="0">
                <a:solidFill>
                  <a:srgbClr val="003056"/>
                </a:solidFill>
                <a:latin typeface="Calibri"/>
              </a:rPr>
              <a:t>characteristics</a:t>
            </a:r>
            <a:r>
              <a:rPr lang="en-GB" sz="2000" b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GB" sz="2000" b="1" spc="-1" dirty="0">
                <a:solidFill>
                  <a:srgbClr val="003056"/>
                </a:solidFill>
                <a:latin typeface="Calibri"/>
              </a:rPr>
              <a:t>in</a:t>
            </a:r>
            <a:r>
              <a:rPr lang="en-GB" sz="2000" b="1" strike="noStrike" spc="-1" dirty="0">
                <a:solidFill>
                  <a:srgbClr val="003056"/>
                </a:solidFill>
                <a:latin typeface="Calibri"/>
              </a:rPr>
              <a:t> NLP 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Text data is discrete, unlike audio or images.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1143000" lvl="2" indent="-2286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600" b="0" strike="noStrike" spc="-1" dirty="0">
                <a:solidFill>
                  <a:srgbClr val="003056"/>
                </a:solidFill>
                <a:latin typeface="Calibri"/>
              </a:rPr>
              <a:t>But new words are constantly created</a:t>
            </a:r>
            <a:endParaRPr lang="de-DE" sz="1600" b="0" strike="noStrike" spc="-1">
              <a:solidFill>
                <a:srgbClr val="003056"/>
              </a:solidFill>
              <a:latin typeface="Calibri"/>
            </a:endParaRPr>
          </a:p>
          <a:p>
            <a:pPr marL="1143000" lvl="2" indent="-2286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600" b="0" strike="noStrike" spc="-1" dirty="0">
                <a:solidFill>
                  <a:srgbClr val="003056"/>
                </a:solidFill>
                <a:latin typeface="Calibri"/>
              </a:rPr>
              <a:t>And word distribution is highly skewed, meaning it’s challenging for algorithms  to be robust on less frequent words. </a:t>
            </a:r>
            <a:endParaRPr lang="de-DE" sz="16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Language is compositional.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1143000" lvl="2" indent="-2286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600" b="0" strike="noStrike" spc="-1" dirty="0">
                <a:solidFill>
                  <a:srgbClr val="003056"/>
                </a:solidFill>
                <a:latin typeface="Calibri"/>
              </a:rPr>
              <a:t>Meaning units such as words can be combined to create new phrases with new meanings </a:t>
            </a:r>
            <a:endParaRPr lang="de-DE" sz="16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6F247F7-D381-4028-A13D-E8685850E07A}" type="slidenum">
              <a:t>19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" dur="500"/>
                                        <p:tgtEl>
                                          <p:spTgt spid="1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7" dur="500"/>
                                        <p:tgtEl>
                                          <p:spTgt spid="1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0" dur="500"/>
                                        <p:tgtEl>
                                          <p:spTgt spid="1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3" dur="500"/>
                                        <p:tgtEl>
                                          <p:spTgt spid="1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1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1" dur="500"/>
                                        <p:tgtEl>
                                          <p:spTgt spid="1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4" dur="500"/>
                                        <p:tgtEl>
                                          <p:spTgt spid="1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26400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NLP Tasks from a ML Perspective </a:t>
            </a:r>
            <a:br>
              <a:rPr sz="2600"/>
            </a:br>
            <a:br>
              <a:rPr sz="2600"/>
            </a:br>
            <a:br>
              <a:rPr sz="2600"/>
            </a:b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ftr" idx="2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57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From an ML perspective, there are fewer types of NLP tasks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Based on output of task: 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1" strike="noStrike" spc="-1" dirty="0">
                <a:solidFill>
                  <a:srgbClr val="003056"/>
                </a:solidFill>
                <a:latin typeface="Calibri"/>
              </a:rPr>
              <a:t>Classification:</a:t>
            </a: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 model produces categorical output, e.g. one of few possible sentiments, one of thousands of possible words 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1" strike="noStrike" spc="-1" dirty="0">
                <a:solidFill>
                  <a:srgbClr val="003056"/>
                </a:solidFill>
                <a:latin typeface="Calibri"/>
              </a:rPr>
              <a:t>Structured prediction:</a:t>
            </a: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 model produces structures with inter-related substructures, e.g. POS-tagging and dependency parsing 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1" strike="noStrike" spc="-1" dirty="0">
                <a:solidFill>
                  <a:srgbClr val="003056"/>
                </a:solidFill>
                <a:latin typeface="Calibri"/>
              </a:rPr>
              <a:t>Regression:</a:t>
            </a: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 model produces real-valued prediction, e.g. automatic essay scoring 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Based on training data: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1" strike="noStrike" spc="-1" dirty="0">
                <a:solidFill>
                  <a:srgbClr val="003056"/>
                </a:solidFill>
                <a:latin typeface="Calibri"/>
              </a:rPr>
              <a:t>Unsupervised: 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unlabelled</a:t>
            </a: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 training data 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1" strike="noStrike" spc="-1" dirty="0">
                <a:solidFill>
                  <a:srgbClr val="003056"/>
                </a:solidFill>
                <a:latin typeface="Calibri"/>
              </a:rPr>
              <a:t>Supervised: 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labelled</a:t>
            </a: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 training data 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1" strike="noStrike" spc="-1" dirty="0">
                <a:solidFill>
                  <a:srgbClr val="003056"/>
                </a:solidFill>
                <a:latin typeface="Calibri"/>
              </a:rPr>
              <a:t>Self-supervised: </a:t>
            </a: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in-between both 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B9DC74B-E991-4B85-A749-5B6A3D2AAC79}" type="slidenum">
              <a:t>20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" dur="500"/>
                                        <p:tgtEl>
                                          <p:spTgt spid="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1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1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1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3B35D-0AF2-A08C-6AB0-F6E914F5C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>
            <a:extLst>
              <a:ext uri="{FF2B5EF4-FFF2-40B4-BE49-F238E27FC236}">
                <a16:creationId xmlns:a16="http://schemas.microsoft.com/office/drawing/2014/main" id="{1F690D5C-0CF1-1463-35A2-3FC519231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3000"/>
            </a:b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PlaceHolder 2">
            <a:extLst>
              <a:ext uri="{FF2B5EF4-FFF2-40B4-BE49-F238E27FC236}">
                <a16:creationId xmlns:a16="http://schemas.microsoft.com/office/drawing/2014/main" id="{E4100513-8B51-FAD1-B28F-0A36631405AE}"/>
              </a:ext>
            </a:extLst>
          </p:cNvPr>
          <p:cNvSpPr>
            <a:spLocks noGrp="1"/>
          </p:cNvSpPr>
          <p:nvPr>
            <p:ph type="ftr" idx="13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09" name="PlaceHolder 3">
            <a:extLst>
              <a:ext uri="{FF2B5EF4-FFF2-40B4-BE49-F238E27FC236}">
                <a16:creationId xmlns:a16="http://schemas.microsoft.com/office/drawing/2014/main" id="{C1785E18-7F5B-8798-7777-B8CED561416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en-GB" sz="2400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en-GB" sz="2400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en-GB" sz="2400" spc="-1">
              <a:solidFill>
                <a:srgbClr val="003056"/>
              </a:solidFill>
              <a:latin typeface="Calibri"/>
            </a:endParaRPr>
          </a:p>
          <a:p>
            <a:pPr algn="ctr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GB" sz="4000" b="1" strike="noStrike" spc="-1" dirty="0">
                <a:solidFill>
                  <a:srgbClr val="003056"/>
                </a:solidFill>
                <a:latin typeface="Calibri"/>
              </a:rPr>
              <a:t>What is </a:t>
            </a:r>
            <a:r>
              <a:rPr lang="en-GB" sz="4000" b="1" spc="-1" dirty="0">
                <a:solidFill>
                  <a:srgbClr val="003056"/>
                </a:solidFill>
                <a:latin typeface="Calibri"/>
              </a:rPr>
              <a:t>A</a:t>
            </a:r>
            <a:r>
              <a:rPr lang="en-GB" sz="4000" b="1" i="1" spc="-1" dirty="0">
                <a:solidFill>
                  <a:srgbClr val="003056"/>
                </a:solidFill>
                <a:latin typeface="Calibri"/>
              </a:rPr>
              <a:t>dvanced T</a:t>
            </a:r>
            <a:r>
              <a:rPr lang="en-GB" sz="4000" b="1" spc="-1" dirty="0">
                <a:solidFill>
                  <a:srgbClr val="003056"/>
                </a:solidFill>
                <a:latin typeface="Calibri"/>
              </a:rPr>
              <a:t>ext Analytics</a:t>
            </a:r>
            <a:r>
              <a:rPr lang="en-GB" sz="4000" b="1" strike="noStrike" spc="-1" dirty="0">
                <a:solidFill>
                  <a:srgbClr val="003056"/>
                </a:solidFill>
                <a:latin typeface="Calibri"/>
              </a:rPr>
              <a:t>?</a:t>
            </a:r>
            <a:r>
              <a:rPr lang="en-GB" sz="4000" b="1" spc="-1" dirty="0">
                <a:solidFill>
                  <a:srgbClr val="003056"/>
                </a:solidFill>
                <a:latin typeface="Calibri"/>
              </a:rPr>
              <a:t> </a:t>
            </a:r>
            <a:endParaRPr lang="de-DE" sz="4000" b="1" strike="noStrike" spc="-1" dirty="0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BC3AE743-C0CA-769B-3F7B-0FE12B1EFC78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C052CC2-0280-4288-93A0-B1700DC63700}" type="slidenum"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142416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26400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GB" sz="3000" b="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Traditional vs Modern NLP</a:t>
            </a:r>
          </a:p>
          <a:p>
            <a:pPr>
              <a:lnSpc>
                <a:spcPct val="100000"/>
              </a:lnSpc>
              <a:buNone/>
            </a:pPr>
            <a:endParaRPr lang="de-DE" sz="2600" b="0" strike="noStrike" dirty="0"/>
          </a:p>
        </p:txBody>
      </p:sp>
      <p:sp>
        <p:nvSpPr>
          <p:cNvPr id="140" name="PlaceHolder 2"/>
          <p:cNvSpPr>
            <a:spLocks noGrp="1"/>
          </p:cNvSpPr>
          <p:nvPr>
            <p:ph type="ftr" idx="23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/>
          </p:nvPr>
        </p:nvSpPr>
        <p:spPr>
          <a:xfrm>
            <a:off x="684000" y="1215000"/>
            <a:ext cx="7775640" cy="4847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The term </a:t>
            </a:r>
            <a:r>
              <a:rPr lang="en-GB" sz="2000" b="0" i="1" strike="noStrike" spc="-1" dirty="0">
                <a:solidFill>
                  <a:srgbClr val="003056"/>
                </a:solidFill>
                <a:latin typeface="Calibri"/>
              </a:rPr>
              <a:t>advanced</a:t>
            </a: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 mostly refers to methods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Most state-of-the-art methods today share similar foundations in deep learning 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285750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spc="-1" dirty="0">
                <a:solidFill>
                  <a:srgbClr val="003056"/>
                </a:solidFill>
                <a:latin typeface="Calibri"/>
              </a:rPr>
              <a:t>NLP has been through a revolution in the past decade.</a:t>
            </a: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 dirty="0">
                <a:solidFill>
                  <a:srgbClr val="003056"/>
                </a:solidFill>
                <a:latin typeface="Calibri"/>
              </a:rPr>
              <a:t>Mostly driven by deep learning technology</a:t>
            </a: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Similar revolutions have taken place in Computer Vision and Speech Processing</a:t>
            </a:r>
            <a:endParaRPr lang="en-GB" sz="18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1" strike="noStrike" spc="-1" dirty="0">
                <a:solidFill>
                  <a:srgbClr val="003056"/>
                </a:solidFill>
                <a:latin typeface="Calibri"/>
              </a:rPr>
              <a:t>Traditional methods: </a:t>
            </a: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relied on expert knowledge manually injected into automated solutions, e.g. structures encoded into regular expressions 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1" strike="noStrike" spc="-1" dirty="0">
                <a:solidFill>
                  <a:srgbClr val="003056"/>
                </a:solidFill>
                <a:latin typeface="Calibri"/>
              </a:rPr>
              <a:t>Modern NLP methods: </a:t>
            </a: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big-data and high compute power allowed deep learning solutions to largely out-perform traditional methods in all NLP tasks without requiring expert knowledge (see </a:t>
            </a:r>
            <a:r>
              <a:rPr lang="en-GB" sz="2000" b="0" u="sng" strike="noStrike" spc="-1" dirty="0">
                <a:solidFill>
                  <a:srgbClr val="0000FF"/>
                </a:solidFill>
                <a:uFillTx/>
                <a:latin typeface="Calibri"/>
                <a:hlinkClick r:id="rId2"/>
              </a:rPr>
              <a:t>The Bitter Lesson</a:t>
            </a: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) 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433A885-274E-4027-AE9E-08F735BC7560}" type="slidenum">
              <a:t>22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1" dur="500"/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26400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Traditional NLP </a:t>
            </a:r>
            <a:br>
              <a:rPr sz="2600"/>
            </a:br>
            <a:r>
              <a:rPr lang="de-DE" sz="26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2600"/>
            </a:br>
            <a:br>
              <a:rPr sz="2600"/>
            </a:br>
            <a:br>
              <a:rPr sz="2600"/>
            </a:br>
            <a:br>
              <a:rPr sz="2600"/>
            </a:br>
            <a:endParaRPr lang="de-DE" sz="26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ftr" idx="24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/>
          </p:nvPr>
        </p:nvSpPr>
        <p:spPr>
          <a:xfrm>
            <a:off x="684000" y="3643200"/>
            <a:ext cx="7775640" cy="2418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Relied heavily on pre-processing methods, feature engineering</a:t>
            </a:r>
            <a:r>
              <a:rPr lang="en-GB" sz="2000" spc="-1" dirty="0">
                <a:solidFill>
                  <a:srgbClr val="003056"/>
                </a:solidFill>
                <a:latin typeface="Calibri"/>
              </a:rPr>
              <a:t> 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Pre-processing </a:t>
            </a:r>
            <a:r>
              <a:rPr lang="en-GB" sz="2000" spc="-1" dirty="0">
                <a:solidFill>
                  <a:srgbClr val="003056"/>
                </a:solidFill>
                <a:latin typeface="Calibri"/>
              </a:rPr>
              <a:t>may drop</a:t>
            </a: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 useful information, e.g. punctuation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Feature engineering required expensive expert knowledge</a:t>
            </a:r>
            <a:r>
              <a:rPr lang="en-GB" sz="2000" spc="-1" dirty="0">
                <a:solidFill>
                  <a:srgbClr val="003056"/>
                </a:solidFill>
                <a:latin typeface="Calibri"/>
              </a:rPr>
              <a:t> 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spc="-1" dirty="0">
                <a:solidFill>
                  <a:srgbClr val="003056"/>
                </a:solidFill>
                <a:latin typeface="Calibri"/>
              </a:rPr>
              <a:t>Steps were often task-dependent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1" spc="-1" dirty="0">
                <a:solidFill>
                  <a:srgbClr val="003056"/>
                </a:solidFill>
                <a:latin typeface="Calibri"/>
              </a:rPr>
              <a:t>Important:</a:t>
            </a: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 some of this experience could become useful again</a:t>
            </a:r>
            <a:r>
              <a:rPr lang="en-GB" sz="2000" spc="-1" dirty="0">
                <a:solidFill>
                  <a:srgbClr val="003056"/>
                </a:solidFill>
                <a:latin typeface="Calibri"/>
              </a:rPr>
              <a:t> 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145" name="Picture 6"/>
          <p:cNvPicPr/>
          <p:nvPr/>
        </p:nvPicPr>
        <p:blipFill>
          <a:blip r:embed="rId2"/>
          <a:stretch/>
        </p:blipFill>
        <p:spPr>
          <a:xfrm>
            <a:off x="52560" y="1099440"/>
            <a:ext cx="8983440" cy="2257560"/>
          </a:xfrm>
          <a:prstGeom prst="rect">
            <a:avLst/>
          </a:prstGeom>
          <a:ln w="0">
            <a:noFill/>
          </a:ln>
        </p:spPr>
      </p:pic>
      <p:sp>
        <p:nvSpPr>
          <p:cNvPr id="146" name="Textfeld 8"/>
          <p:cNvSpPr/>
          <p:nvPr/>
        </p:nvSpPr>
        <p:spPr>
          <a:xfrm>
            <a:off x="7572240" y="3286080"/>
            <a:ext cx="121392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GB" sz="1400" b="0" u="sng" strike="noStrike" spc="-1">
                <a:solidFill>
                  <a:srgbClr val="0000FF"/>
                </a:solidFill>
                <a:uFillTx/>
                <a:latin typeface="Calibri"/>
                <a:hlinkClick r:id="rId3"/>
              </a:rPr>
              <a:t>Image source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30BD11B-BF75-4954-98EB-4C653C533E5E}" type="slidenum">
              <a:t>23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6" dur="500"/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26400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Modern NLP</a:t>
            </a:r>
            <a:r>
              <a:rPr lang="de-DE" sz="26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2600"/>
            </a:br>
            <a:r>
              <a:rPr lang="de-DE" sz="26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2600"/>
            </a:br>
            <a:r>
              <a:rPr lang="de-DE" sz="26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2600"/>
            </a:br>
            <a:br>
              <a:rPr sz="2600"/>
            </a:br>
            <a:br>
              <a:rPr sz="2600"/>
            </a:br>
            <a:br>
              <a:rPr sz="2600"/>
            </a:br>
            <a:endParaRPr lang="de-DE" sz="26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ftr" idx="25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/>
          </p:nvPr>
        </p:nvSpPr>
        <p:spPr>
          <a:xfrm>
            <a:off x="684000" y="3839040"/>
            <a:ext cx="7775640" cy="20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Deep learning techniques based on learning </a:t>
            </a:r>
            <a:r>
              <a:rPr lang="en-GB" sz="2000" b="1" strike="noStrike" spc="-1" dirty="0">
                <a:solidFill>
                  <a:srgbClr val="003056"/>
                </a:solidFill>
                <a:latin typeface="Calibri"/>
              </a:rPr>
              <a:t>generally useful representations of words </a:t>
            </a: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(tokens), which are then used in several different types of downstream applications </a:t>
            </a:r>
            <a:r>
              <a:rPr lang="en-GB" sz="2000" spc="-1" dirty="0">
                <a:solidFill>
                  <a:srgbClr val="003056"/>
                </a:solidFill>
                <a:latin typeface="Calibri"/>
              </a:rPr>
              <a:t>(QA, MT, etc.)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1" spc="-1" dirty="0">
                <a:solidFill>
                  <a:srgbClr val="003056"/>
                </a:solidFill>
                <a:latin typeface="Calibri"/>
              </a:rPr>
              <a:t>General intuition:</a:t>
            </a:r>
            <a:r>
              <a:rPr lang="en-GB" sz="2000" spc="-1" dirty="0">
                <a:solidFill>
                  <a:srgbClr val="003056"/>
                </a:solidFill>
                <a:latin typeface="Calibri"/>
              </a:rPr>
              <a:t> learned</a:t>
            </a: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 representations encode meaning of words 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003056"/>
                </a:solidFill>
                <a:latin typeface="Calibri"/>
              </a:rPr>
              <a:t>Training such representations </a:t>
            </a:r>
            <a:r>
              <a:rPr lang="en-GB" sz="2000" spc="-1">
                <a:solidFill>
                  <a:srgbClr val="003056"/>
                </a:solidFill>
                <a:latin typeface="Calibri"/>
              </a:rPr>
              <a:t>is</a:t>
            </a:r>
            <a:r>
              <a:rPr lang="en-GB" sz="2000" b="0" strike="noStrike" spc="-1">
                <a:solidFill>
                  <a:srgbClr val="003056"/>
                </a:solidFill>
                <a:latin typeface="Calibri"/>
              </a:rPr>
              <a:t> prohibitively expensive </a:t>
            </a:r>
            <a:r>
              <a:rPr lang="en-GB" sz="2000" spc="-1">
                <a:solidFill>
                  <a:srgbClr val="003056"/>
                </a:solidFill>
                <a:latin typeface="Calibri"/>
              </a:rPr>
              <a:t>(more later)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150" name="Picture 7"/>
          <p:cNvPicPr/>
          <p:nvPr/>
        </p:nvPicPr>
        <p:blipFill>
          <a:blip r:embed="rId2"/>
          <a:stretch/>
        </p:blipFill>
        <p:spPr>
          <a:xfrm>
            <a:off x="364320" y="1143000"/>
            <a:ext cx="8414640" cy="2171160"/>
          </a:xfrm>
          <a:prstGeom prst="rect">
            <a:avLst/>
          </a:prstGeom>
          <a:ln w="0">
            <a:noFill/>
          </a:ln>
        </p:spPr>
      </p:pic>
      <p:sp>
        <p:nvSpPr>
          <p:cNvPr id="151" name="Textfeld 8"/>
          <p:cNvSpPr/>
          <p:nvPr/>
        </p:nvSpPr>
        <p:spPr>
          <a:xfrm>
            <a:off x="7572240" y="3429000"/>
            <a:ext cx="121392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GB" sz="1400" b="0" u="sng" strike="noStrike" spc="-1">
                <a:solidFill>
                  <a:srgbClr val="0000FF"/>
                </a:solidFill>
                <a:uFillTx/>
                <a:latin typeface="Calibri"/>
                <a:hlinkClick r:id="rId3"/>
              </a:rPr>
              <a:t>Image source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72D5575-89A2-46EF-99AB-A2E26A28EC17}" type="slidenum">
              <a:t>24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" dur="500"/>
                                        <p:tgtEl>
                                          <p:spTgt spid="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7" dur="500"/>
                                        <p:tgtEl>
                                          <p:spTgt spid="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26400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ChatGPT and Other LLMs </a:t>
            </a:r>
            <a:br>
              <a:rPr sz="2600"/>
            </a:br>
            <a:br>
              <a:rPr sz="2600"/>
            </a:br>
            <a:r>
              <a:rPr lang="de-DE" sz="26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2600"/>
            </a:br>
            <a:r>
              <a:rPr lang="de-DE" sz="26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2600"/>
            </a:br>
            <a:br>
              <a:rPr sz="2600"/>
            </a:br>
            <a:br>
              <a:rPr sz="2600"/>
            </a:br>
            <a:br>
              <a:rPr sz="2600"/>
            </a:br>
            <a:endParaRPr lang="de-DE" sz="26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ftr" idx="26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684000" y="1190880"/>
            <a:ext cx="7775640" cy="487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u="sng" strike="noStrike" spc="-1" dirty="0">
                <a:solidFill>
                  <a:srgbClr val="0000FF"/>
                </a:solidFill>
                <a:uFillTx/>
                <a:latin typeface="Calibri"/>
                <a:hlinkClick r:id="rId2"/>
              </a:rPr>
              <a:t>ChatGPT</a:t>
            </a: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 and similar models, e.g. </a:t>
            </a:r>
            <a:r>
              <a:rPr lang="en-GB" sz="2000" b="0" u="sng" strike="noStrike" spc="-1" dirty="0">
                <a:solidFill>
                  <a:srgbClr val="0000FF"/>
                </a:solidFill>
                <a:uFillTx/>
                <a:latin typeface="Calibri"/>
                <a:hlinkClick r:id="rId3"/>
              </a:rPr>
              <a:t>Google’s </a:t>
            </a:r>
            <a:r>
              <a:rPr lang="en-GB" sz="2000" u="sng" spc="-1" dirty="0">
                <a:solidFill>
                  <a:srgbClr val="0000FF"/>
                </a:solidFill>
                <a:latin typeface="Calibri"/>
                <a:hlinkClick r:id="rId3"/>
              </a:rPr>
              <a:t>Gemini</a:t>
            </a:r>
            <a:r>
              <a:rPr lang="en-GB" sz="2000" spc="-1" dirty="0">
                <a:solidFill>
                  <a:srgbClr val="003056"/>
                </a:solidFill>
                <a:latin typeface="Calibri"/>
              </a:rPr>
              <a:t> and </a:t>
            </a:r>
            <a:r>
              <a:rPr lang="en-GB" sz="2000" spc="-1" dirty="0">
                <a:solidFill>
                  <a:srgbClr val="003056"/>
                </a:solidFill>
                <a:latin typeface="Calibri"/>
                <a:hlinkClick r:id="rId4"/>
              </a:rPr>
              <a:t>DeepSeek</a:t>
            </a:r>
            <a:r>
              <a:rPr lang="en-GB" sz="2000" spc="-1" dirty="0">
                <a:solidFill>
                  <a:srgbClr val="003056"/>
                </a:solidFill>
                <a:latin typeface="Calibri"/>
              </a:rPr>
              <a:t>, are</a:t>
            </a: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 examples of the success of Deep Learning and the progress of NLP solutions</a:t>
            </a:r>
            <a:r>
              <a:rPr lang="en-GB" sz="2000" spc="-1" dirty="0">
                <a:solidFill>
                  <a:srgbClr val="003056"/>
                </a:solidFill>
                <a:latin typeface="Calibri"/>
              </a:rPr>
              <a:t> 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79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These models are </a:t>
            </a:r>
            <a:r>
              <a:rPr lang="en-GB" sz="2000" b="1" strike="noStrike" spc="-1" dirty="0">
                <a:solidFill>
                  <a:srgbClr val="003056"/>
                </a:solidFill>
                <a:latin typeface="Calibri"/>
              </a:rPr>
              <a:t>chatbots</a:t>
            </a: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 based on </a:t>
            </a:r>
            <a:r>
              <a:rPr lang="en-GB" sz="2000" b="1" strike="noStrike" spc="-1" dirty="0">
                <a:solidFill>
                  <a:srgbClr val="003056"/>
                </a:solidFill>
                <a:latin typeface="Calibri"/>
              </a:rPr>
              <a:t>large language models</a:t>
            </a:r>
            <a:r>
              <a:rPr lang="en-GB" sz="2000" b="1" spc="-1" dirty="0">
                <a:solidFill>
                  <a:srgbClr val="003056"/>
                </a:solidFill>
                <a:latin typeface="Calibri"/>
              </a:rPr>
              <a:t> (LLMs)</a:t>
            </a:r>
            <a:r>
              <a:rPr lang="en-GB" sz="2000" spc="-1" dirty="0">
                <a:solidFill>
                  <a:srgbClr val="003056"/>
                </a:solidFill>
                <a:latin typeface="Calibri"/>
              </a:rPr>
              <a:t>,</a:t>
            </a: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 in turn based on the </a:t>
            </a:r>
            <a:r>
              <a:rPr lang="en-GB" sz="2000" b="1" strike="noStrike" spc="-1" dirty="0">
                <a:solidFill>
                  <a:srgbClr val="003056"/>
                </a:solidFill>
                <a:latin typeface="Calibri"/>
              </a:rPr>
              <a:t>transformer architecture</a:t>
            </a: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 and trained with manually designed </a:t>
            </a:r>
            <a:r>
              <a:rPr lang="en-GB" sz="2000" b="1" strike="noStrike" spc="-1" dirty="0">
                <a:solidFill>
                  <a:srgbClr val="003056"/>
                </a:solidFill>
                <a:latin typeface="Calibri"/>
              </a:rPr>
              <a:t>training </a:t>
            </a:r>
            <a:r>
              <a:rPr lang="en-GB" sz="2000" b="1" spc="-1" dirty="0">
                <a:solidFill>
                  <a:srgbClr val="003056"/>
                </a:solidFill>
                <a:latin typeface="Calibri"/>
              </a:rPr>
              <a:t>objectives</a:t>
            </a:r>
            <a:endParaRPr lang="de-DE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79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1" spc="-1" dirty="0">
                <a:solidFill>
                  <a:srgbClr val="003056"/>
                </a:solidFill>
                <a:latin typeface="Calibri"/>
              </a:rPr>
              <a:t>In</a:t>
            </a:r>
            <a:r>
              <a:rPr lang="en-GB" sz="2000" b="1" strike="noStrike" spc="-1" dirty="0">
                <a:solidFill>
                  <a:srgbClr val="003056"/>
                </a:solidFill>
                <a:latin typeface="Calibri"/>
              </a:rPr>
              <a:t> this course, we will cover:</a:t>
            </a:r>
            <a:r>
              <a:rPr lang="en-GB" sz="2000" b="1" spc="-1" dirty="0">
                <a:solidFill>
                  <a:srgbClr val="003056"/>
                </a:solidFill>
                <a:latin typeface="Calibri"/>
              </a:rPr>
              <a:t> </a:t>
            </a:r>
            <a:endParaRPr lang="de-DE" sz="2000" b="1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How these models are designed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 to learn representations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How these models are trained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 to learn representations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How these models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/representations</a:t>
            </a: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 are used in downstream applications</a:t>
            </a:r>
            <a:r>
              <a:rPr lang="en-GB" sz="2000" spc="-1" dirty="0">
                <a:solidFill>
                  <a:srgbClr val="003056"/>
                </a:solidFill>
                <a:latin typeface="Calibri"/>
              </a:rPr>
              <a:t> 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 dirty="0">
                <a:solidFill>
                  <a:srgbClr val="003056"/>
                </a:solidFill>
                <a:latin typeface="Calibri"/>
              </a:rPr>
              <a:t>In short, </a:t>
            </a:r>
            <a:r>
              <a:rPr lang="en-GB" sz="1800" b="1" spc="-1" dirty="0">
                <a:solidFill>
                  <a:srgbClr val="003056"/>
                </a:solidFill>
                <a:latin typeface="Calibri"/>
              </a:rPr>
              <a:t>how LLMs work internally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Some of the abilities of these models are remarkable!</a:t>
            </a:r>
            <a:r>
              <a:rPr lang="en-GB" sz="2000" spc="-1" dirty="0">
                <a:solidFill>
                  <a:srgbClr val="003056"/>
                </a:solidFill>
                <a:latin typeface="Calibri"/>
              </a:rPr>
              <a:t> 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Let’s go over some of them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 </a:t>
            </a:r>
            <a:endParaRPr lang="de-DE" sz="1800" spc="-1">
              <a:solidFill>
                <a:srgbClr val="003056"/>
              </a:solidFill>
              <a:latin typeface="Calibri"/>
            </a:endParaRPr>
          </a:p>
          <a:p>
            <a:pPr marL="457200" lvl="1" indent="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None/>
            </a:pPr>
            <a:endParaRPr lang="en-GB" sz="18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E00BAD7-A8E8-430E-9FBF-295BAB35511C}" type="slidenum">
              <a:t>25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" dur="500"/>
                                        <p:tgtEl>
                                          <p:spTgt spid="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7" dur="500"/>
                                        <p:tgtEl>
                                          <p:spTgt spid="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0" dur="500"/>
                                        <p:tgtEl>
                                          <p:spTgt spid="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3" dur="500"/>
                                        <p:tgtEl>
                                          <p:spTgt spid="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1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1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4" dur="500"/>
                                        <p:tgtEl>
                                          <p:spTgt spid="1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7" dur="500"/>
                                        <p:tgtEl>
                                          <p:spTgt spid="1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26400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ChatGPT for Writing</a:t>
            </a:r>
            <a:br>
              <a:rPr sz="2600"/>
            </a:br>
            <a:br>
              <a:rPr sz="2600"/>
            </a:br>
            <a:r>
              <a:rPr lang="de-DE" sz="26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2600"/>
            </a:br>
            <a:r>
              <a:rPr lang="de-DE" sz="26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2600"/>
            </a:br>
            <a:br>
              <a:rPr sz="2600"/>
            </a:br>
            <a:br>
              <a:rPr sz="2600"/>
            </a:br>
            <a:br>
              <a:rPr sz="2600"/>
            </a:br>
            <a:endParaRPr lang="de-DE" sz="26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ftr" idx="27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7399080" y="5357880"/>
            <a:ext cx="1029960" cy="353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GB" sz="1400" b="0" u="sng" strike="noStrike" spc="-1">
                <a:solidFill>
                  <a:srgbClr val="0000FF"/>
                </a:solidFill>
                <a:uFillTx/>
                <a:latin typeface="Calibri"/>
                <a:hlinkClick r:id="rId2"/>
              </a:rPr>
              <a:t>Image source</a:t>
            </a:r>
            <a:r>
              <a:rPr lang="en-GB" sz="2000" b="0" u="sng" strike="noStrike" spc="-1">
                <a:solidFill>
                  <a:srgbClr val="0000FF"/>
                </a:solidFill>
                <a:uFillTx/>
                <a:latin typeface="Calibri"/>
                <a:hlinkClick r:id="rId2"/>
              </a:rPr>
              <a:t> 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158" name="Picture 6"/>
          <p:cNvPicPr/>
          <p:nvPr/>
        </p:nvPicPr>
        <p:blipFill>
          <a:blip r:embed="rId3"/>
          <a:stretch/>
        </p:blipFill>
        <p:spPr>
          <a:xfrm>
            <a:off x="915840" y="1175040"/>
            <a:ext cx="7472520" cy="425664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6E544C0-25D9-4508-B85F-D6B075AB86C2}" type="slidenum"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26400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ChatGPT for Creating Tables </a:t>
            </a:r>
            <a:br>
              <a:rPr sz="2600"/>
            </a:br>
            <a:r>
              <a:rPr lang="de-DE" sz="26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2600"/>
            </a:br>
            <a:r>
              <a:rPr lang="de-DE" sz="26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2600"/>
            </a:br>
            <a:br>
              <a:rPr sz="2600"/>
            </a:br>
            <a:br>
              <a:rPr sz="2600"/>
            </a:br>
            <a:br>
              <a:rPr sz="2600"/>
            </a:br>
            <a:endParaRPr lang="de-DE" sz="26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ftr" idx="2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/>
          </p:nvPr>
        </p:nvSpPr>
        <p:spPr>
          <a:xfrm>
            <a:off x="7429680" y="5286240"/>
            <a:ext cx="1029960" cy="28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GB" sz="1400" b="0" u="sng" strike="noStrike" spc="-1">
                <a:solidFill>
                  <a:srgbClr val="0000FF"/>
                </a:solidFill>
                <a:uFillTx/>
                <a:latin typeface="Calibri"/>
                <a:hlinkClick r:id="rId2"/>
              </a:rPr>
              <a:t>Image source </a:t>
            </a:r>
            <a:endParaRPr lang="de-DE" sz="1400" b="0" strike="noStrike" spc="-1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162" name="Picture 7"/>
          <p:cNvPicPr/>
          <p:nvPr/>
        </p:nvPicPr>
        <p:blipFill>
          <a:blip r:embed="rId3"/>
          <a:stretch/>
        </p:blipFill>
        <p:spPr>
          <a:xfrm>
            <a:off x="687600" y="1397520"/>
            <a:ext cx="7772040" cy="387360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ECFA043-9678-4248-A58F-31B87718107D}" type="slidenum"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26400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ChatGPT for Coding</a:t>
            </a:r>
            <a:r>
              <a:rPr lang="de-DE" sz="26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2600"/>
            </a:br>
            <a:br>
              <a:rPr sz="2600"/>
            </a:br>
            <a:br>
              <a:rPr sz="2600"/>
            </a:br>
            <a:r>
              <a:rPr lang="de-DE" sz="26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2600"/>
            </a:br>
            <a:r>
              <a:rPr lang="de-DE" sz="26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2600"/>
            </a:br>
            <a:br>
              <a:rPr sz="2600"/>
            </a:br>
            <a:br>
              <a:rPr sz="2600"/>
            </a:br>
            <a:br>
              <a:rPr sz="2600"/>
            </a:br>
            <a:endParaRPr lang="de-DE" sz="26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ftr" idx="2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pic>
        <p:nvPicPr>
          <p:cNvPr id="166" name="Picture 7"/>
          <p:cNvPicPr/>
          <p:nvPr/>
        </p:nvPicPr>
        <p:blipFill>
          <a:blip r:embed="rId2"/>
          <a:stretch/>
        </p:blipFill>
        <p:spPr>
          <a:xfrm>
            <a:off x="1771200" y="1224000"/>
            <a:ext cx="5371920" cy="436464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D677EAB-D667-4DD7-A55E-21EA9387F885}" type="slidenum">
              <a:t>28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476D9D-83B2-DE6D-E2F4-2A5BF83D0E50}"/>
              </a:ext>
            </a:extLst>
          </p:cNvPr>
          <p:cNvSpPr txBox="1"/>
          <p:nvPr/>
        </p:nvSpPr>
        <p:spPr>
          <a:xfrm>
            <a:off x="5949187" y="5583043"/>
            <a:ext cx="130584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hlinkClick r:id="rId3"/>
              </a:rPr>
              <a:t>Image source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27C7E-AD0C-1F7E-2E15-3AC3C6534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>
            <a:extLst>
              <a:ext uri="{FF2B5EF4-FFF2-40B4-BE49-F238E27FC236}">
                <a16:creationId xmlns:a16="http://schemas.microsoft.com/office/drawing/2014/main" id="{0149195C-5101-A401-ED4D-B676D0400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626400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Perplexity AI for Search</a:t>
            </a:r>
            <a:endParaRPr lang="en-US"/>
          </a:p>
        </p:txBody>
      </p:sp>
      <p:sp>
        <p:nvSpPr>
          <p:cNvPr id="168" name="PlaceHolder 2">
            <a:extLst>
              <a:ext uri="{FF2B5EF4-FFF2-40B4-BE49-F238E27FC236}">
                <a16:creationId xmlns:a16="http://schemas.microsoft.com/office/drawing/2014/main" id="{D5CF0A1E-7E2B-35BD-18B8-94498C5A044B}"/>
              </a:ext>
            </a:extLst>
          </p:cNvPr>
          <p:cNvSpPr>
            <a:spLocks noGrp="1"/>
          </p:cNvSpPr>
          <p:nvPr>
            <p:ph type="ftr" idx="30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69" name="PlaceHolder 3">
            <a:extLst>
              <a:ext uri="{FF2B5EF4-FFF2-40B4-BE49-F238E27FC236}">
                <a16:creationId xmlns:a16="http://schemas.microsoft.com/office/drawing/2014/main" id="{1A3E4254-E908-9691-BDFC-7FAC6801A24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215000"/>
            <a:ext cx="7775640" cy="4847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GB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GB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GB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GB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GB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GB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GB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GB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GB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GB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GB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spc="-1">
                <a:solidFill>
                  <a:srgbClr val="003056"/>
                </a:solidFill>
                <a:latin typeface="Calibri"/>
              </a:rPr>
              <a:t>Search with AI (dialogue interface)</a:t>
            </a: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>
                <a:solidFill>
                  <a:srgbClr val="003056"/>
                </a:solidFill>
                <a:latin typeface="Calibri"/>
              </a:rPr>
              <a:t>Has access to very recent data, e.g. Euronews article is from day before</a:t>
            </a: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>
                <a:solidFill>
                  <a:srgbClr val="003056"/>
                </a:solidFill>
                <a:latin typeface="Calibri"/>
              </a:rPr>
              <a:t>But not perfect, e.g. note confusion about current German Chancellor </a:t>
            </a:r>
            <a:endParaRPr lang="en-GB" sz="1800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D3271ADA-BEBF-3DAA-717A-7CA7E4D2FBCC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6C6E99D-D3DE-4684-9D8D-72A7449BCD5A}" type="slidenum">
              <a:t>29</a:t>
            </a:fld>
            <a:endParaRPr/>
          </a:p>
        </p:txBody>
      </p:sp>
      <p:pic>
        <p:nvPicPr>
          <p:cNvPr id="2" name="Picture 1" descr="A screenshot of a black and white page&#10;&#10;AI-generated content may be incorrect.">
            <a:extLst>
              <a:ext uri="{FF2B5EF4-FFF2-40B4-BE49-F238E27FC236}">
                <a16:creationId xmlns:a16="http://schemas.microsoft.com/office/drawing/2014/main" id="{4F8E6F83-2FDD-0277-2F55-A267769E0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987" y="1213351"/>
            <a:ext cx="6296025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5925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367AD-0DFB-92C4-37A2-D3416D636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>
            <a:extLst>
              <a:ext uri="{FF2B5EF4-FFF2-40B4-BE49-F238E27FC236}">
                <a16:creationId xmlns:a16="http://schemas.microsoft.com/office/drawing/2014/main" id="{4C3F199E-7F76-7321-C45E-8D024FD7D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626400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The AI Stack</a:t>
            </a:r>
            <a:endParaRPr lang="en-US"/>
          </a:p>
        </p:txBody>
      </p:sp>
      <p:sp>
        <p:nvSpPr>
          <p:cNvPr id="168" name="PlaceHolder 2">
            <a:extLst>
              <a:ext uri="{FF2B5EF4-FFF2-40B4-BE49-F238E27FC236}">
                <a16:creationId xmlns:a16="http://schemas.microsoft.com/office/drawing/2014/main" id="{8980DB95-98C7-C4D1-FC18-9A525C908E28}"/>
              </a:ext>
            </a:extLst>
          </p:cNvPr>
          <p:cNvSpPr>
            <a:spLocks noGrp="1"/>
          </p:cNvSpPr>
          <p:nvPr>
            <p:ph type="ftr" idx="30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69" name="PlaceHolder 3">
            <a:extLst>
              <a:ext uri="{FF2B5EF4-FFF2-40B4-BE49-F238E27FC236}">
                <a16:creationId xmlns:a16="http://schemas.microsoft.com/office/drawing/2014/main" id="{4BEB63B8-BE5D-DDCC-F998-0FA5CF0431D2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215000"/>
            <a:ext cx="7775640" cy="4847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GB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GB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GB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GB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GB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GB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GB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GB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GB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GB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GB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GB" sz="20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spc="-1">
                <a:solidFill>
                  <a:srgbClr val="003056"/>
                </a:solidFill>
                <a:latin typeface="Calibri"/>
              </a:rPr>
              <a:t>In this course, we focus on that LLM component</a:t>
            </a:r>
            <a:endParaRPr lang="de-DE" sz="2400" spc="-1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>
                <a:solidFill>
                  <a:srgbClr val="003056"/>
                </a:solidFill>
                <a:latin typeface="Calibri"/>
              </a:rPr>
              <a:t>How it works, how it's used, it's role in this stack</a:t>
            </a:r>
            <a:endParaRPr lang="en-GB" sz="18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A2EACD5E-D264-1A26-E23B-930C9EDDC9C9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6C6E99D-D3DE-4684-9D8D-72A7449BCD5A}" type="slidenum">
              <a:t>30</a:t>
            </a:fld>
            <a:endParaRPr/>
          </a:p>
        </p:txBody>
      </p:sp>
      <p:pic>
        <p:nvPicPr>
          <p:cNvPr id="2" name="Picture 1" descr="A black screen with arrows and text&#10;&#10;AI-generated content may be incorrect.">
            <a:extLst>
              <a:ext uri="{FF2B5EF4-FFF2-40B4-BE49-F238E27FC236}">
                <a16:creationId xmlns:a16="http://schemas.microsoft.com/office/drawing/2014/main" id="{E9F39EF5-5D33-0F15-E310-56C635CBD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483" y="1143616"/>
            <a:ext cx="3349650" cy="407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397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03072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3000"/>
            </a:b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ftr" idx="13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en-GB" sz="2400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en-GB" sz="2400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en-GB" sz="2400" spc="-1">
              <a:solidFill>
                <a:srgbClr val="003056"/>
              </a:solidFill>
              <a:latin typeface="Calibri"/>
            </a:endParaRPr>
          </a:p>
          <a:p>
            <a:pPr algn="ctr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GB" sz="4000" b="1" spc="-1" dirty="0">
                <a:solidFill>
                  <a:srgbClr val="003056"/>
                </a:solidFill>
                <a:latin typeface="Calibri"/>
              </a:rPr>
              <a:t>Recap: Basic NLP Concepts</a:t>
            </a:r>
            <a:endParaRPr lang="en-GB" sz="4000" b="1" strike="noStrike" spc="-1" dirty="0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C052CC2-0280-4288-93A0-B1700DC63700}" type="slidenum"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23707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26400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Contents of Text Analytics Course </a:t>
            </a:r>
            <a:br>
              <a:rPr sz="2600"/>
            </a:br>
            <a:r>
              <a:rPr lang="de-DE" sz="26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2600"/>
            </a:br>
            <a:br>
              <a:rPr sz="2600"/>
            </a:br>
            <a:br>
              <a:rPr sz="2600"/>
            </a:br>
            <a:r>
              <a:rPr lang="de-DE" sz="26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2600"/>
            </a:br>
            <a:r>
              <a:rPr lang="de-DE" sz="26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2600"/>
            </a:br>
            <a:br>
              <a:rPr sz="2600"/>
            </a:br>
            <a:br>
              <a:rPr sz="2600"/>
            </a:br>
            <a:br>
              <a:rPr sz="2600"/>
            </a:br>
            <a:endParaRPr lang="de-DE" sz="26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ftr" idx="30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/>
          </p:nvPr>
        </p:nvSpPr>
        <p:spPr>
          <a:xfrm>
            <a:off x="684000" y="1215000"/>
            <a:ext cx="7775640" cy="4847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Basic concepts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Basic text processing, e.g. stemming, segmentation, tokenization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, normalization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 dirty="0">
                <a:solidFill>
                  <a:srgbClr val="003056"/>
                </a:solidFill>
                <a:latin typeface="Calibri"/>
              </a:rPr>
              <a:t>Basic concepts: similarity</a:t>
            </a: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, relatedness, disambiguation 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Language </a:t>
            </a:r>
            <a:r>
              <a:rPr lang="en-GB" sz="2000" spc="-1" dirty="0" err="1">
                <a:solidFill>
                  <a:srgbClr val="003056"/>
                </a:solidFill>
                <a:latin typeface="Calibri"/>
              </a:rPr>
              <a:t>modeling</a:t>
            </a: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, POS tagging Intro to ML, DL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Word senses, word embeddings 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1" strike="noStrike" spc="-1" dirty="0">
                <a:solidFill>
                  <a:srgbClr val="003056"/>
                </a:solidFill>
                <a:latin typeface="Calibri"/>
              </a:rPr>
              <a:t>Today: 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Quick recap of 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some important</a:t>
            </a: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 concepts</a:t>
            </a: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1" strike="noStrike" spc="-1" dirty="0">
                <a:solidFill>
                  <a:srgbClr val="003056"/>
                </a:solidFill>
                <a:latin typeface="Calibri"/>
              </a:rPr>
              <a:t>Part of next few lectures: 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Recap the rest as needed 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No recap is exhaustive 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Again, we assume either the TA, ML or DL course 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6C6E99D-D3DE-4684-9D8D-72A7449BCD5A}" type="slidenum">
              <a:t>32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6" dur="500"/>
                                        <p:tgtEl>
                                          <p:spTgt spid="1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9" dur="500"/>
                                        <p:tgtEl>
                                          <p:spTgt spid="1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1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7" dur="500"/>
                                        <p:tgtEl>
                                          <p:spTgt spid="1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1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1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0" dur="500"/>
                                        <p:tgtEl>
                                          <p:spTgt spid="1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3" dur="500"/>
                                        <p:tgtEl>
                                          <p:spTgt spid="1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26400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Similarity and Relatedness </a:t>
            </a:r>
            <a:br>
              <a:rPr sz="2600"/>
            </a:br>
            <a:br>
              <a:rPr sz="2600"/>
            </a:br>
            <a:br>
              <a:rPr sz="2600"/>
            </a:br>
            <a:br>
              <a:rPr sz="2600"/>
            </a:br>
            <a:br>
              <a:rPr sz="2600"/>
            </a:br>
            <a:r>
              <a:rPr lang="de-DE" sz="26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2600"/>
            </a:br>
            <a:r>
              <a:rPr lang="de-DE" sz="26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2600"/>
            </a:br>
            <a:br>
              <a:rPr sz="2600"/>
            </a:br>
            <a:br>
              <a:rPr sz="2600"/>
            </a:br>
            <a:r>
              <a:rPr lang="de-DE" sz="26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2600"/>
            </a:br>
            <a:r>
              <a:rPr lang="de-DE" sz="26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2600"/>
            </a:br>
            <a:br>
              <a:rPr sz="2600"/>
            </a:br>
            <a:br>
              <a:rPr sz="2600"/>
            </a:br>
            <a:br>
              <a:rPr sz="2600"/>
            </a:br>
            <a:endParaRPr lang="de-DE" sz="26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ftr" idx="3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/>
          </p:nvPr>
        </p:nvSpPr>
        <p:spPr>
          <a:xfrm>
            <a:off x="684000" y="1124640"/>
            <a:ext cx="7775640" cy="49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Concept of </a:t>
            </a:r>
            <a:r>
              <a:rPr lang="en-GB" sz="2000" b="1" strike="noStrike" spc="-1" dirty="0">
                <a:solidFill>
                  <a:srgbClr val="003056"/>
                </a:solidFill>
                <a:latin typeface="Calibri"/>
              </a:rPr>
              <a:t>similarity</a:t>
            </a: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GB" sz="2000" b="0" i="1" strike="noStrike" spc="-1" dirty="0">
                <a:solidFill>
                  <a:srgbClr val="003056"/>
                </a:solidFill>
                <a:latin typeface="Calibri"/>
              </a:rPr>
              <a:t>very useful</a:t>
            </a: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 in many NLP tasks 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1" strike="noStrike" spc="-1" dirty="0">
                <a:solidFill>
                  <a:srgbClr val="003056"/>
                </a:solidFill>
                <a:latin typeface="Calibri"/>
              </a:rPr>
              <a:t>Question:</a:t>
            </a: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 How to define/measure similarity? 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Edit distance? E.g. typo </a:t>
            </a:r>
            <a:r>
              <a:rPr lang="en-GB" sz="1800" b="0" i="1" strike="noStrike" spc="-1" dirty="0" err="1">
                <a:solidFill>
                  <a:srgbClr val="003056"/>
                </a:solidFill>
                <a:latin typeface="Calibri"/>
              </a:rPr>
              <a:t>graffe</a:t>
            </a:r>
            <a:r>
              <a:rPr lang="en-GB" sz="1800" b="0" i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closest to </a:t>
            </a:r>
            <a:r>
              <a:rPr lang="en-GB" sz="1800" b="0" i="1" strike="noStrike" spc="-1" dirty="0">
                <a:solidFill>
                  <a:srgbClr val="003056"/>
                </a:solidFill>
                <a:latin typeface="Calibri"/>
              </a:rPr>
              <a:t>giraffe</a:t>
            </a: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 than </a:t>
            </a:r>
            <a:r>
              <a:rPr lang="en-GB" sz="1800" b="0" i="1" strike="noStrike" spc="-1" dirty="0">
                <a:solidFill>
                  <a:srgbClr val="003056"/>
                </a:solidFill>
                <a:latin typeface="Calibri"/>
              </a:rPr>
              <a:t>grail 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A data base of synonyms? 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Synonymity is usually a yes/no question.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Is similarity that simple?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There are other types of relations between words 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E.g. went is </a:t>
            </a:r>
            <a:r>
              <a:rPr lang="en-GB" sz="1800" b="0" i="1" strike="noStrike" spc="-1" dirty="0">
                <a:solidFill>
                  <a:srgbClr val="003056"/>
                </a:solidFill>
                <a:latin typeface="Calibri"/>
              </a:rPr>
              <a:t>derived from </a:t>
            </a: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go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This more generally refers to </a:t>
            </a:r>
            <a:r>
              <a:rPr lang="en-GB" sz="1800" b="1" strike="noStrike" spc="-1" dirty="0">
                <a:solidFill>
                  <a:srgbClr val="003056"/>
                </a:solidFill>
                <a:latin typeface="Calibri"/>
              </a:rPr>
              <a:t>word relatedness 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Are all semantically related words similar?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1" strike="noStrike" spc="-1" dirty="0">
                <a:solidFill>
                  <a:srgbClr val="003056"/>
                </a:solidFill>
                <a:latin typeface="Calibri"/>
              </a:rPr>
              <a:t>Similarity:</a:t>
            </a: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 can substitute one word for the other 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1" strike="noStrike" spc="-1" dirty="0">
                <a:solidFill>
                  <a:srgbClr val="003056"/>
                </a:solidFill>
                <a:latin typeface="Calibri"/>
              </a:rPr>
              <a:t>Relatedness:</a:t>
            </a: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 semantic correlation, but not interchangeable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 (more general)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Further, do we measure similarity between words or senses? 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1" strike="noStrike" spc="-1" dirty="0">
                <a:solidFill>
                  <a:srgbClr val="003056"/>
                </a:solidFill>
                <a:latin typeface="Calibri"/>
              </a:rPr>
              <a:t>Word:</a:t>
            </a: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 Bass 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1" strike="noStrike" spc="-1" dirty="0">
                <a:solidFill>
                  <a:srgbClr val="003056"/>
                </a:solidFill>
                <a:latin typeface="Calibri"/>
              </a:rPr>
              <a:t>Sense 1: </a:t>
            </a: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type of fish; </a:t>
            </a:r>
            <a:r>
              <a:rPr lang="en-GB" sz="1800" b="1" strike="noStrike" spc="-1" dirty="0">
                <a:solidFill>
                  <a:srgbClr val="003056"/>
                </a:solidFill>
                <a:latin typeface="Calibri"/>
              </a:rPr>
              <a:t>Sense 2:</a:t>
            </a: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 musical instrument 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98F5D7B-84D8-457D-99A4-79F867652CC1}" type="slidenum">
              <a:t>33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" dur="500"/>
                                        <p:tgtEl>
                                          <p:spTgt spid="1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1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3" dur="500"/>
                                        <p:tgtEl>
                                          <p:spTgt spid="1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1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1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1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1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0" dur="500"/>
                                        <p:tgtEl>
                                          <p:spTgt spid="1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3" dur="500"/>
                                        <p:tgtEl>
                                          <p:spTgt spid="1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6" dur="500"/>
                                        <p:tgtEl>
                                          <p:spTgt spid="19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1" dur="500"/>
                                        <p:tgtEl>
                                          <p:spTgt spid="19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4" dur="500"/>
                                        <p:tgtEl>
                                          <p:spTgt spid="19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7" dur="500"/>
                                        <p:tgtEl>
                                          <p:spTgt spid="19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26400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Word Sense Disambiguation </a:t>
            </a:r>
            <a:br>
              <a:rPr sz="2600"/>
            </a:br>
            <a:r>
              <a:rPr lang="de-DE" sz="26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2600"/>
            </a:br>
            <a:br>
              <a:rPr sz="2600"/>
            </a:br>
            <a:br>
              <a:rPr sz="2600"/>
            </a:br>
            <a:br>
              <a:rPr sz="2600"/>
            </a:br>
            <a:br>
              <a:rPr sz="2600"/>
            </a:br>
            <a:r>
              <a:rPr lang="de-DE" sz="26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2600"/>
            </a:br>
            <a:r>
              <a:rPr lang="de-DE" sz="26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2600"/>
            </a:br>
            <a:br>
              <a:rPr sz="2600"/>
            </a:br>
            <a:br>
              <a:rPr sz="2600"/>
            </a:br>
            <a:r>
              <a:rPr lang="de-DE" sz="26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2600"/>
            </a:br>
            <a:r>
              <a:rPr lang="de-DE" sz="26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2600"/>
            </a:br>
            <a:br>
              <a:rPr sz="2600"/>
            </a:br>
            <a:br>
              <a:rPr sz="2600"/>
            </a:br>
            <a:br>
              <a:rPr sz="2600"/>
            </a:br>
            <a:endParaRPr lang="de-DE" sz="26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ftr" idx="3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/>
          </p:nvPr>
        </p:nvSpPr>
        <p:spPr>
          <a:xfrm>
            <a:off x="684000" y="1124640"/>
            <a:ext cx="7775640" cy="49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1" strike="noStrike" spc="-1" dirty="0">
                <a:solidFill>
                  <a:srgbClr val="003056"/>
                </a:solidFill>
                <a:latin typeface="Calibri"/>
              </a:rPr>
              <a:t>Identifying</a:t>
            </a: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 intended </a:t>
            </a:r>
            <a:r>
              <a:rPr lang="en-GB" sz="2000" b="1" strike="noStrike" spc="-1" dirty="0">
                <a:solidFill>
                  <a:srgbClr val="003056"/>
                </a:solidFill>
                <a:latin typeface="Calibri"/>
              </a:rPr>
              <a:t>sense</a:t>
            </a: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 of each word in a document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“Drunk gets nine years in violin case”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Is it a violin case? Or a legal case? 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003056"/>
                </a:solidFill>
                <a:latin typeface="Calibri"/>
              </a:rPr>
              <a:t>Sense is a property of lemmas</a:t>
            </a:r>
            <a:r>
              <a:rPr lang="en-GB" sz="2000" spc="-1">
                <a:solidFill>
                  <a:srgbClr val="003056"/>
                </a:solidFill>
                <a:latin typeface="Calibri"/>
              </a:rPr>
              <a:t> (roughly, roots of words),</a:t>
            </a:r>
            <a:r>
              <a:rPr lang="en-GB" sz="2000" b="0" strike="noStrike" spc="-1">
                <a:solidFill>
                  <a:srgbClr val="003056"/>
                </a:solidFill>
                <a:latin typeface="Calibri"/>
              </a:rPr>
              <a:t> not </a:t>
            </a:r>
            <a:r>
              <a:rPr lang="en-GB" sz="2000" spc="-1">
                <a:solidFill>
                  <a:srgbClr val="003056"/>
                </a:solidFill>
                <a:latin typeface="Calibri"/>
              </a:rPr>
              <a:t>of </a:t>
            </a:r>
            <a:r>
              <a:rPr lang="en-GB" sz="2000" b="0" strike="noStrike" spc="-1">
                <a:solidFill>
                  <a:srgbClr val="003056"/>
                </a:solidFill>
                <a:latin typeface="Calibri"/>
              </a:rPr>
              <a:t>words</a:t>
            </a:r>
            <a:r>
              <a:rPr lang="en-GB" sz="2000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GB" sz="2000" spc="-1" dirty="0">
                <a:solidFill>
                  <a:srgbClr val="003056"/>
                </a:solidFill>
                <a:latin typeface="Calibri"/>
              </a:rPr>
              <a:t>themselves</a:t>
            </a:r>
            <a:endParaRPr lang="en-GB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Word sense disambiguation is thus: 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Identify lemma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Choose correct sense 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1" strike="noStrike" spc="-1" dirty="0">
                <a:solidFill>
                  <a:srgbClr val="003056"/>
                </a:solidFill>
                <a:latin typeface="Calibri"/>
              </a:rPr>
              <a:t>How often do words have many senses? 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1" strike="noStrike" spc="-1" dirty="0">
                <a:solidFill>
                  <a:srgbClr val="003056"/>
                </a:solidFill>
                <a:latin typeface="Calibri"/>
              </a:rPr>
              <a:t>WordNet</a:t>
            </a:r>
            <a:r>
              <a:rPr lang="en-GB" sz="1800" b="1" spc="-1" dirty="0">
                <a:solidFill>
                  <a:srgbClr val="003056"/>
                </a:solidFill>
                <a:latin typeface="Calibri"/>
              </a:rPr>
              <a:t>: </a:t>
            </a:r>
            <a:r>
              <a:rPr lang="en-GB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big manual effort to encode sense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 as knowledge</a:t>
            </a: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 base 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of sets of synonyms (</a:t>
            </a:r>
            <a:r>
              <a:rPr lang="en-GB" sz="1800" spc="-1" dirty="0" err="1">
                <a:solidFill>
                  <a:srgbClr val="003056"/>
                </a:solidFill>
                <a:latin typeface="Calibri"/>
              </a:rPr>
              <a:t>synsets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)</a:t>
            </a:r>
            <a:endParaRPr lang="de-DE" sz="1800" spc="-1" dirty="0">
              <a:solidFill>
                <a:srgbClr val="003056"/>
              </a:solidFill>
              <a:latin typeface="Calibri"/>
            </a:endParaRPr>
          </a:p>
          <a:p>
            <a:pPr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Example: 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Wordnet has 8</a:t>
            </a: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 distinct senses for the word bass </a:t>
            </a:r>
            <a:endParaRPr lang="de-DE" sz="1800" spc="-1" dirty="0">
              <a:solidFill>
                <a:srgbClr val="003056"/>
              </a:solidFill>
              <a:latin typeface="Calibri"/>
            </a:endParaRPr>
          </a:p>
          <a:p>
            <a:pPr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Also contains other types of relations between </a:t>
            </a:r>
            <a:r>
              <a:rPr lang="en-GB" sz="1800" b="0" strike="noStrike" spc="-1" dirty="0" err="1">
                <a:solidFill>
                  <a:srgbClr val="003056"/>
                </a:solidFill>
                <a:latin typeface="Calibri"/>
              </a:rPr>
              <a:t>synsets</a:t>
            </a: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, e.g. antonym, hyponym, hypernym, meronym, etc. 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So</a:t>
            </a:r>
            <a:r>
              <a:rPr lang="en-GB" sz="2000" spc="-1" dirty="0">
                <a:solidFill>
                  <a:srgbClr val="003056"/>
                </a:solidFill>
                <a:latin typeface="Calibri"/>
              </a:rPr>
              <a:t>,</a:t>
            </a: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 task is not trivial! 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A7F7216-58BB-4867-A09E-DEEDEBC415C5}" type="slidenum">
              <a:t>34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2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2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2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3" dur="500"/>
                                        <p:tgtEl>
                                          <p:spTgt spid="2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2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2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4" dur="500"/>
                                        <p:tgtEl>
                                          <p:spTgt spid="2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7" dur="500"/>
                                        <p:tgtEl>
                                          <p:spTgt spid="2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0" dur="500"/>
                                        <p:tgtEl>
                                          <p:spTgt spid="20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3" dur="500"/>
                                        <p:tgtEl>
                                          <p:spTgt spid="20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8" dur="500"/>
                                        <p:tgtEl>
                                          <p:spTgt spid="20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26400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 dirty="0" err="1">
                <a:solidFill>
                  <a:srgbClr val="003056"/>
                </a:solidFill>
                <a:latin typeface="Calibri"/>
              </a:rPr>
              <a:t>Tokenization</a:t>
            </a:r>
            <a:r>
              <a:rPr lang="de-DE" sz="3000" b="1" strike="noStrike" spc="-1" dirty="0">
                <a:solidFill>
                  <a:srgbClr val="003056"/>
                </a:solidFill>
                <a:latin typeface="Calibri"/>
              </a:rPr>
              <a:t> (1)</a:t>
            </a:r>
            <a:r>
              <a:rPr lang="de-DE" sz="2600" b="1" strike="noStrike" spc="-1" dirty="0">
                <a:solidFill>
                  <a:srgbClr val="003056"/>
                </a:solidFill>
                <a:latin typeface="Calibri"/>
              </a:rPr>
              <a:t> </a:t>
            </a:r>
            <a:br>
              <a:rPr sz="2600" dirty="0"/>
            </a:br>
            <a:r>
              <a:rPr lang="de-DE" sz="2600" b="1" strike="noStrike" spc="-1" dirty="0">
                <a:solidFill>
                  <a:srgbClr val="003056"/>
                </a:solidFill>
                <a:latin typeface="Calibri"/>
              </a:rPr>
              <a:t> </a:t>
            </a:r>
            <a:br>
              <a:rPr sz="2600" dirty="0"/>
            </a:br>
            <a:br>
              <a:rPr sz="2600" dirty="0"/>
            </a:br>
            <a:r>
              <a:rPr lang="de-DE" sz="2600" b="1" strike="noStrike" spc="-1" dirty="0">
                <a:solidFill>
                  <a:srgbClr val="003056"/>
                </a:solidFill>
                <a:latin typeface="Calibri"/>
              </a:rPr>
              <a:t> </a:t>
            </a:r>
            <a:br>
              <a:rPr sz="2600" dirty="0"/>
            </a:br>
            <a:r>
              <a:rPr lang="de-DE" sz="2600" b="1" strike="noStrike" spc="-1" dirty="0">
                <a:solidFill>
                  <a:srgbClr val="003056"/>
                </a:solidFill>
                <a:latin typeface="Calibri"/>
              </a:rPr>
              <a:t> </a:t>
            </a:r>
            <a:br>
              <a:rPr sz="2600" dirty="0"/>
            </a:br>
            <a:br>
              <a:rPr sz="2600" dirty="0"/>
            </a:br>
            <a:br>
              <a:rPr sz="2600" dirty="0"/>
            </a:br>
            <a:r>
              <a:rPr lang="de-DE" sz="2600" b="1" strike="noStrike" spc="-1" dirty="0">
                <a:solidFill>
                  <a:srgbClr val="003056"/>
                </a:solidFill>
                <a:latin typeface="Calibri"/>
              </a:rPr>
              <a:t> </a:t>
            </a:r>
            <a:br>
              <a:rPr sz="2600" dirty="0"/>
            </a:br>
            <a:r>
              <a:rPr lang="de-DE" sz="2600" b="1" strike="noStrike" spc="-1" dirty="0">
                <a:solidFill>
                  <a:srgbClr val="003056"/>
                </a:solidFill>
                <a:latin typeface="Calibri"/>
              </a:rPr>
              <a:t> </a:t>
            </a:r>
            <a:br>
              <a:rPr sz="2600" dirty="0"/>
            </a:br>
            <a:br>
              <a:rPr sz="2600" dirty="0"/>
            </a:br>
            <a:br>
              <a:rPr sz="2600" dirty="0"/>
            </a:br>
            <a:br>
              <a:rPr sz="2600" dirty="0"/>
            </a:br>
            <a:endParaRPr lang="de-DE" sz="26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ftr" idx="33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 dirty="0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 dirty="0">
              <a:latin typeface="Times New Roman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/>
          </p:nvPr>
        </p:nvSpPr>
        <p:spPr>
          <a:xfrm>
            <a:off x="684000" y="1215000"/>
            <a:ext cx="7775640" cy="473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1" strike="noStrike" spc="-1" dirty="0">
                <a:solidFill>
                  <a:srgbClr val="003056"/>
                </a:solidFill>
                <a:latin typeface="Calibri"/>
              </a:rPr>
              <a:t>Goal: </a:t>
            </a: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segmenting text into words. 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Words from a finite set, a vocabulary 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But </a:t>
            </a:r>
            <a:r>
              <a:rPr lang="en-GB" sz="2000" b="1" strike="noStrike" spc="-1" dirty="0">
                <a:solidFill>
                  <a:srgbClr val="003056"/>
                </a:solidFill>
                <a:latin typeface="Calibri"/>
              </a:rPr>
              <a:t>what exactly is a word?</a:t>
            </a: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 Not always clear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Are punctuation marks words?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And acronyms such as U.S.A.? How many words is that? 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1" strike="noStrike" spc="-1" dirty="0">
                <a:solidFill>
                  <a:srgbClr val="003056"/>
                </a:solidFill>
                <a:latin typeface="Calibri"/>
              </a:rPr>
              <a:t>Such decisions </a:t>
            </a: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often </a:t>
            </a:r>
            <a:r>
              <a:rPr lang="en-GB" sz="2000" b="1" strike="noStrike" spc="-1" dirty="0">
                <a:solidFill>
                  <a:srgbClr val="003056"/>
                </a:solidFill>
                <a:latin typeface="Calibri"/>
              </a:rPr>
              <a:t>made by </a:t>
            </a: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the </a:t>
            </a:r>
            <a:r>
              <a:rPr lang="en-GB" sz="2000" b="1" strike="noStrike" spc="-1" dirty="0">
                <a:solidFill>
                  <a:srgbClr val="003056"/>
                </a:solidFill>
                <a:latin typeface="Calibri"/>
              </a:rPr>
              <a:t>tokenizer</a:t>
            </a: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 (TKZ) 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Example: “We are the champions, my friends!” 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TKZ 1: {’We’, ’are’, ’the’, ’champions’, ’my’, ’friends’}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TKZ 2: {’We’, ’are’, ’the’, ’champions’, ’,’ ’my’, ’friends’, ’!’} 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TKZ 3: {’We’, ’are’, ’the’, ’UNK’, ’,’ ’my’, ’friends’, ’!’} 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Thus, </a:t>
            </a:r>
            <a:r>
              <a:rPr lang="en-GB" sz="2000" b="1" strike="noStrike" spc="-1" dirty="0">
                <a:solidFill>
                  <a:srgbClr val="003056"/>
                </a:solidFill>
                <a:latin typeface="Calibri"/>
              </a:rPr>
              <a:t>basic segments </a:t>
            </a: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often referred to as </a:t>
            </a:r>
            <a:r>
              <a:rPr lang="en-GB" sz="2000" b="1" strike="noStrike" spc="-1" dirty="0">
                <a:solidFill>
                  <a:srgbClr val="003056"/>
                </a:solidFill>
                <a:latin typeface="Calibri"/>
              </a:rPr>
              <a:t>tokens</a:t>
            </a: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What these are depends on tokenization method 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High-level discussion today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We cover these in more detail later in the course 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9BB612F-D379-4FB0-89D7-68768C1C2203}" type="slidenum">
              <a:t>35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1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1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1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1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8" dur="500"/>
                                        <p:tgtEl>
                                          <p:spTgt spid="18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3" dur="500"/>
                                        <p:tgtEl>
                                          <p:spTgt spid="18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6" dur="500"/>
                                        <p:tgtEl>
                                          <p:spTgt spid="18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9" dur="500"/>
                                        <p:tgtEl>
                                          <p:spTgt spid="18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2" dur="500"/>
                                        <p:tgtEl>
                                          <p:spTgt spid="18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26400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 dirty="0" err="1">
                <a:solidFill>
                  <a:srgbClr val="003056"/>
                </a:solidFill>
                <a:latin typeface="Calibri"/>
              </a:rPr>
              <a:t>Tokenization</a:t>
            </a:r>
            <a:r>
              <a:rPr lang="de-DE" sz="3000" b="1" strike="noStrike" spc="-1" dirty="0">
                <a:solidFill>
                  <a:srgbClr val="003056"/>
                </a:solidFill>
                <a:latin typeface="Calibri"/>
              </a:rPr>
              <a:t> (2) </a:t>
            </a:r>
            <a:br>
              <a:rPr sz="2600" dirty="0"/>
            </a:br>
            <a:r>
              <a:rPr lang="de-DE" sz="2600" b="1" strike="noStrike" spc="-1" dirty="0">
                <a:solidFill>
                  <a:srgbClr val="003056"/>
                </a:solidFill>
                <a:latin typeface="Calibri"/>
              </a:rPr>
              <a:t> </a:t>
            </a:r>
            <a:br>
              <a:rPr sz="2600" dirty="0"/>
            </a:br>
            <a:br>
              <a:rPr sz="2600" dirty="0"/>
            </a:br>
            <a:r>
              <a:rPr lang="de-DE" sz="2600" b="1" strike="noStrike" spc="-1" dirty="0">
                <a:solidFill>
                  <a:srgbClr val="003056"/>
                </a:solidFill>
                <a:latin typeface="Calibri"/>
              </a:rPr>
              <a:t> </a:t>
            </a:r>
            <a:br>
              <a:rPr sz="2600" dirty="0"/>
            </a:br>
            <a:r>
              <a:rPr lang="de-DE" sz="2600" b="1" strike="noStrike" spc="-1" dirty="0">
                <a:solidFill>
                  <a:srgbClr val="003056"/>
                </a:solidFill>
                <a:latin typeface="Calibri"/>
              </a:rPr>
              <a:t> </a:t>
            </a:r>
            <a:br>
              <a:rPr sz="2600" dirty="0"/>
            </a:br>
            <a:br>
              <a:rPr sz="2600" dirty="0"/>
            </a:br>
            <a:br>
              <a:rPr sz="2600" dirty="0"/>
            </a:br>
            <a:r>
              <a:rPr lang="de-DE" sz="2600" b="1" strike="noStrike" spc="-1" dirty="0">
                <a:solidFill>
                  <a:srgbClr val="003056"/>
                </a:solidFill>
                <a:latin typeface="Calibri"/>
              </a:rPr>
              <a:t> </a:t>
            </a:r>
            <a:br>
              <a:rPr sz="2600" dirty="0"/>
            </a:br>
            <a:r>
              <a:rPr lang="de-DE" sz="2600" b="1" strike="noStrike" spc="-1" dirty="0">
                <a:solidFill>
                  <a:srgbClr val="003056"/>
                </a:solidFill>
                <a:latin typeface="Calibri"/>
              </a:rPr>
              <a:t> </a:t>
            </a:r>
            <a:br>
              <a:rPr sz="2600" dirty="0"/>
            </a:br>
            <a:br>
              <a:rPr sz="2600" dirty="0"/>
            </a:br>
            <a:br>
              <a:rPr sz="2600" dirty="0"/>
            </a:br>
            <a:br>
              <a:rPr sz="2600" dirty="0"/>
            </a:br>
            <a:endParaRPr lang="de-DE" sz="26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 type="ftr" idx="34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/>
          </p:nvPr>
        </p:nvSpPr>
        <p:spPr>
          <a:xfrm>
            <a:off x="684000" y="1173960"/>
            <a:ext cx="7775640" cy="4847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Ideally: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Tokens encode meaning 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Tokenization is fast! (Basic pre-processing step) 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Memory efficient (often required on GPU memory) 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Coverage (less chance of finding unknown token) 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1" strike="noStrike" spc="-1" dirty="0">
                <a:solidFill>
                  <a:srgbClr val="003056"/>
                </a:solidFill>
                <a:latin typeface="Calibri"/>
              </a:rPr>
              <a:t>Question:</a:t>
            </a: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 What should our basic tokens be? 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GB" sz="2000" b="1" strike="noStrike" spc="-1" dirty="0">
                <a:solidFill>
                  <a:srgbClr val="003056"/>
                </a:solidFill>
                <a:latin typeface="Calibri"/>
              </a:rPr>
              <a:t>Words?</a:t>
            </a: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 Obvious suggestion, but again, what are words? 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68580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And what about written languages that don’t delimit words? 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68580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And words composed of </a:t>
            </a:r>
            <a:r>
              <a:rPr lang="en-GB" sz="1800" b="0" strike="noStrike" spc="-1" err="1">
                <a:solidFill>
                  <a:srgbClr val="003056"/>
                </a:solidFill>
                <a:latin typeface="Calibri"/>
              </a:rPr>
              <a:t>subwords</a:t>
            </a: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, e.g. </a:t>
            </a:r>
            <a:r>
              <a:rPr lang="en-GB" sz="1800" b="0" i="1" strike="noStrike" spc="-1" err="1">
                <a:solidFill>
                  <a:srgbClr val="003056"/>
                </a:solidFill>
                <a:latin typeface="Calibri"/>
              </a:rPr>
              <a:t>Wahrscheinlichkeitstheorie</a:t>
            </a: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? 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GB" sz="2000" b="1" strike="noStrike" spc="-1" dirty="0">
                <a:solidFill>
                  <a:srgbClr val="003056"/>
                </a:solidFill>
                <a:latin typeface="Calibri"/>
              </a:rPr>
              <a:t>Characters?</a:t>
            </a: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 Above problems solved!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Also efficient (small vocab.), even if including ALL languages 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But what meaning do single characters encode? Often none</a:t>
            </a: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GB" sz="2000" b="1" strike="noStrike" spc="-1" dirty="0" err="1">
                <a:solidFill>
                  <a:srgbClr val="003056"/>
                </a:solidFill>
                <a:latin typeface="Calibri"/>
              </a:rPr>
              <a:t>Subword</a:t>
            </a:r>
            <a:r>
              <a:rPr lang="en-GB" sz="2000" b="1" strike="noStrike" spc="-1" dirty="0">
                <a:solidFill>
                  <a:srgbClr val="003056"/>
                </a:solidFill>
                <a:latin typeface="Calibri"/>
              </a:rPr>
              <a:t>?</a:t>
            </a: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 Often the best trade-off. 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Encodes meaning, e.g. words </a:t>
            </a:r>
            <a:r>
              <a:rPr lang="en-GB" sz="1800" b="0" strike="noStrike" spc="-1" dirty="0">
                <a:solidFill>
                  <a:srgbClr val="C00000"/>
                </a:solidFill>
                <a:latin typeface="Calibri"/>
              </a:rPr>
              <a:t>token</a:t>
            </a: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 and </a:t>
            </a:r>
            <a:r>
              <a:rPr lang="en-GB" sz="1800" b="0" strike="noStrike" spc="-1" dirty="0">
                <a:solidFill>
                  <a:srgbClr val="C00000"/>
                </a:solidFill>
                <a:latin typeface="Calibri"/>
              </a:rPr>
              <a:t>token</a:t>
            </a: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izer are related 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3056"/>
                </a:solidFill>
                <a:latin typeface="Calibri"/>
              </a:rPr>
              <a:t>Reasonably sized vocabulary 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06F24B5-9CF8-441F-BF49-B365BDDA7B92}" type="slidenum">
              <a:t>36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6" dur="500"/>
                                        <p:tgtEl>
                                          <p:spTgt spid="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9" dur="500"/>
                                        <p:tgtEl>
                                          <p:spTgt spid="1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1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1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1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1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0" dur="500"/>
                                        <p:tgtEl>
                                          <p:spTgt spid="1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3" dur="500"/>
                                        <p:tgtEl>
                                          <p:spTgt spid="1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6" dur="500"/>
                                        <p:tgtEl>
                                          <p:spTgt spid="1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1" dur="500"/>
                                        <p:tgtEl>
                                          <p:spTgt spid="1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4" dur="500"/>
                                        <p:tgtEl>
                                          <p:spTgt spid="1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7" dur="500"/>
                                        <p:tgtEl>
                                          <p:spTgt spid="1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000" b="1" strike="noStrike" spc="-1" dirty="0">
                <a:solidFill>
                  <a:srgbClr val="003056"/>
                </a:solidFill>
                <a:latin typeface="Calibri"/>
              </a:rPr>
              <a:t>Language Modeling</a:t>
            </a:r>
            <a:r>
              <a:rPr lang="en-US" sz="3000" b="1" spc="-1" dirty="0">
                <a:solidFill>
                  <a:srgbClr val="003056"/>
                </a:solidFill>
                <a:latin typeface="Calibri"/>
              </a:rPr>
              <a:t> (1)</a:t>
            </a:r>
            <a:endParaRPr lang="de-DE" sz="3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/>
          </p:nvPr>
        </p:nvSpPr>
        <p:spPr>
          <a:xfrm>
            <a:off x="714240" y="1143000"/>
            <a:ext cx="7775640" cy="500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Predict the next word: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“Every Thursday there is a </a:t>
            </a:r>
            <a:r>
              <a:rPr lang="en-US" sz="1800" b="0" strike="noStrike" spc="-1" dirty="0" err="1">
                <a:solidFill>
                  <a:srgbClr val="003056"/>
                </a:solidFill>
                <a:latin typeface="Calibri"/>
              </a:rPr>
              <a:t>Schneckenhof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…”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Which word is more likely to follow?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Meeting?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Party?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Notebook?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This suggests: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Some words are more likely to appear than others given some context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39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Probabilistically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, a language model (LM) computes the following: </a:t>
            </a:r>
            <a:endParaRPr lang="de-DE" sz="2200" b="0" strike="noStrike" spc="-1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p(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meeting|“Every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 Thursday there is a 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Schneckenhof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”)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Generally:</a:t>
            </a:r>
            <a:r>
              <a:rPr lang="en-US" sz="2000" b="1" i="1" strike="noStrike" spc="-1" dirty="0">
                <a:solidFill>
                  <a:srgbClr val="003056"/>
                </a:solidFill>
                <a:latin typeface="Calibri"/>
              </a:rPr>
              <a:t> p(w</a:t>
            </a:r>
            <a:r>
              <a:rPr lang="en-US" sz="2000" b="1" i="1" strike="noStrike" spc="-1" baseline="-25000" dirty="0">
                <a:solidFill>
                  <a:srgbClr val="003056"/>
                </a:solidFill>
                <a:latin typeface="Calibri"/>
              </a:rPr>
              <a:t>n+1</a:t>
            </a:r>
            <a:r>
              <a:rPr lang="en-US" sz="2000" b="1" i="1" strike="noStrike" spc="-1" dirty="0">
                <a:solidFill>
                  <a:srgbClr val="003056"/>
                </a:solidFill>
                <a:latin typeface="Calibri"/>
              </a:rPr>
              <a:t>|w</a:t>
            </a:r>
            <a:r>
              <a:rPr lang="en-US" sz="2000" b="1" i="1" strike="noStrike" spc="-1" baseline="-25000" dirty="0">
                <a:solidFill>
                  <a:srgbClr val="003056"/>
                </a:solidFill>
                <a:latin typeface="Calibri"/>
              </a:rPr>
              <a:t>1</a:t>
            </a:r>
            <a:r>
              <a:rPr lang="en-US" sz="2000" b="1" i="1" strike="noStrike" spc="-1" dirty="0">
                <a:solidFill>
                  <a:srgbClr val="003056"/>
                </a:solidFill>
                <a:latin typeface="Calibri"/>
              </a:rPr>
              <a:t>,w</a:t>
            </a:r>
            <a:r>
              <a:rPr lang="en-US" sz="2000" b="1" i="1" strike="noStrike" spc="-1" baseline="-25000" dirty="0">
                <a:solidFill>
                  <a:srgbClr val="003056"/>
                </a:solidFill>
                <a:latin typeface="Calibri"/>
              </a:rPr>
              <a:t>2</a:t>
            </a:r>
            <a:r>
              <a:rPr lang="en-US" sz="2000" b="1" i="1" strike="noStrike" spc="-1" dirty="0">
                <a:solidFill>
                  <a:srgbClr val="003056"/>
                </a:solidFill>
                <a:latin typeface="Calibri"/>
              </a:rPr>
              <a:t>,…,</a:t>
            </a:r>
            <a:r>
              <a:rPr lang="en-US" sz="2000" b="1" i="1" strike="noStrike" spc="-1" dirty="0" err="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2000" b="1" i="1" strike="noStrike" spc="-1" baseline="-25000" dirty="0" err="1">
                <a:solidFill>
                  <a:srgbClr val="003056"/>
                </a:solidFill>
                <a:latin typeface="Calibri"/>
              </a:rPr>
              <a:t>n</a:t>
            </a:r>
            <a:r>
              <a:rPr lang="en-US" sz="2000" b="1" i="1" strike="noStrike" spc="-1" dirty="0">
                <a:solidFill>
                  <a:srgbClr val="003056"/>
                </a:solidFill>
                <a:latin typeface="Calibri"/>
              </a:rPr>
              <a:t>)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Conditional probability of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n+1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given joint distribution of 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1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,w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2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,…,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n</a:t>
            </a:r>
            <a:r>
              <a:rPr lang="en-US" sz="1800" i="1" spc="-1" dirty="0">
                <a:solidFill>
                  <a:srgbClr val="003056"/>
                </a:solidFill>
                <a:latin typeface="Calibri"/>
              </a:rPr>
              <a:t> 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Such a model can predict entire sequences with the chain rule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56615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p(w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1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,w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2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,…,</a:t>
            </a:r>
            <a:r>
              <a:rPr lang="en-US" sz="1800" b="0" i="1" strike="noStrike" spc="-1" dirty="0" err="1">
                <a:solidFill>
                  <a:srgbClr val="003056"/>
                </a:solidFill>
                <a:latin typeface="Calibri"/>
              </a:rPr>
              <a:t>w</a:t>
            </a:r>
            <a:r>
              <a:rPr lang="en-US" sz="1800" b="0" i="1" strike="noStrike" spc="-1" baseline="-25000" dirty="0" err="1">
                <a:solidFill>
                  <a:srgbClr val="003056"/>
                </a:solidFill>
                <a:latin typeface="Calibri"/>
              </a:rPr>
              <a:t>n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) = p(w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1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)p(w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2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|w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1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) p(w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3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|w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1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,w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2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)… p(w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n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|w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1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,w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2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,…,w</a:t>
            </a:r>
            <a:r>
              <a:rPr lang="en-US" sz="1800" b="0" i="1" strike="noStrike" spc="-1" baseline="-25000" dirty="0">
                <a:solidFill>
                  <a:srgbClr val="003056"/>
                </a:solidFill>
                <a:latin typeface="Calibri"/>
              </a:rPr>
              <a:t>n-1</a:t>
            </a:r>
            <a:r>
              <a:rPr lang="en-US" sz="1800" b="0" i="1" strike="noStrike" spc="-1" dirty="0">
                <a:solidFill>
                  <a:srgbClr val="003056"/>
                </a:solidFill>
                <a:latin typeface="Calibri"/>
              </a:rPr>
              <a:t>)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ftr" idx="6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A5F8A13-33F0-46A4-8103-6B8102E7D621}" type="slidenum">
              <a:t>37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2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2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2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7" dur="500"/>
                                        <p:tgtEl>
                                          <p:spTgt spid="2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0" dur="500"/>
                                        <p:tgtEl>
                                          <p:spTgt spid="2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5" dur="500"/>
                                        <p:tgtEl>
                                          <p:spTgt spid="2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8" dur="500"/>
                                        <p:tgtEl>
                                          <p:spTgt spid="29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3" dur="500"/>
                                        <p:tgtEl>
                                          <p:spTgt spid="29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6" dur="500"/>
                                        <p:tgtEl>
                                          <p:spTgt spid="29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000" b="1" strike="noStrike" spc="-1" dirty="0">
                <a:solidFill>
                  <a:srgbClr val="003056"/>
                </a:solidFill>
                <a:latin typeface="Calibri"/>
              </a:rPr>
              <a:t>Language Modeling</a:t>
            </a:r>
            <a:r>
              <a:rPr lang="en-US" sz="3000" b="1" spc="-1" dirty="0">
                <a:solidFill>
                  <a:srgbClr val="003056"/>
                </a:solidFill>
                <a:latin typeface="Calibri"/>
              </a:rPr>
              <a:t> </a:t>
            </a:r>
            <a:r>
              <a:rPr lang="en-US" sz="3000" b="1" strike="noStrike" spc="-1" dirty="0">
                <a:solidFill>
                  <a:srgbClr val="003056"/>
                </a:solidFill>
                <a:latin typeface="Calibri"/>
              </a:rPr>
              <a:t>(2)</a:t>
            </a:r>
            <a:endParaRPr lang="de-DE" sz="3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1" name="PlaceHolder 2"/>
          <p:cNvSpPr>
            <a:spLocks noGrp="1"/>
          </p:cNvSpPr>
          <p:nvPr>
            <p:ph/>
          </p:nvPr>
        </p:nvSpPr>
        <p:spPr>
          <a:xfrm>
            <a:off x="714240" y="1143000"/>
            <a:ext cx="7775640" cy="500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In many NLP applications, goal is producing word/token sequences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716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Machine translation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716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Summarization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716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Dialogue systems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The following task is therefore useful: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716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Given vocabulary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V = {aardvark, abacus, . . . , zither}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predict probability of sequence of words </a:t>
            </a:r>
            <a:r>
              <a:rPr lang="pl-PL" sz="1800" b="0" i="1" strike="noStrike" spc="-1">
                <a:solidFill>
                  <a:srgbClr val="003056"/>
                </a:solidFill>
                <a:latin typeface="Calibri"/>
              </a:rPr>
              <a:t>p(w</a:t>
            </a:r>
            <a:r>
              <a:rPr lang="pl-PL" sz="1800" b="0" i="1" strike="noStrike" spc="-1" baseline="-25000">
                <a:solidFill>
                  <a:srgbClr val="003056"/>
                </a:solidFill>
                <a:latin typeface="Calibri"/>
              </a:rPr>
              <a:t>1</a:t>
            </a:r>
            <a:r>
              <a:rPr lang="pl-PL" sz="1800" b="0" i="1" strike="noStrike" spc="-1">
                <a:solidFill>
                  <a:srgbClr val="003056"/>
                </a:solidFill>
                <a:latin typeface="Calibri"/>
              </a:rPr>
              <a:t> , w</a:t>
            </a:r>
            <a:r>
              <a:rPr lang="pl-PL" sz="1800" b="0" i="1" strike="noStrike" spc="-1" baseline="-25000">
                <a:solidFill>
                  <a:srgbClr val="003056"/>
                </a:solidFill>
                <a:latin typeface="Calibri"/>
              </a:rPr>
              <a:t>2</a:t>
            </a:r>
            <a:r>
              <a:rPr lang="pl-PL" sz="1800" b="0" i="1" strike="noStrike" spc="-1">
                <a:solidFill>
                  <a:srgbClr val="003056"/>
                </a:solidFill>
                <a:latin typeface="Calibri"/>
              </a:rPr>
              <a:t> , . . . , w</a:t>
            </a:r>
            <a:r>
              <a:rPr lang="pl-PL" sz="1800" b="0" i="1" strike="noStrike" spc="-1" baseline="-25000">
                <a:solidFill>
                  <a:srgbClr val="003056"/>
                </a:solidFill>
                <a:latin typeface="Calibri"/>
              </a:rPr>
              <a:t>M</a:t>
            </a:r>
            <a:r>
              <a:rPr lang="pl-PL" sz="1800" b="0" i="1" strike="noStrike" spc="-1">
                <a:solidFill>
                  <a:srgbClr val="003056"/>
                </a:solidFill>
                <a:latin typeface="Calibri"/>
              </a:rPr>
              <a:t> )</a:t>
            </a:r>
            <a:r>
              <a:rPr lang="pl-PL" sz="1800" b="0" strike="noStrike" spc="-1">
                <a:solidFill>
                  <a:srgbClr val="003056"/>
                </a:solidFill>
                <a:latin typeface="Calibri"/>
              </a:rPr>
              <a:t>, with </a:t>
            </a:r>
            <a:r>
              <a:rPr lang="pl-PL" sz="1800" b="0" i="1" strike="noStrike" spc="-1">
                <a:solidFill>
                  <a:srgbClr val="003056"/>
                </a:solidFill>
                <a:latin typeface="Calibri"/>
              </a:rPr>
              <a:t>w</a:t>
            </a:r>
            <a:r>
              <a:rPr lang="pl-PL" sz="1800" b="0" i="1" strike="noStrike" spc="-1" baseline="-25000">
                <a:solidFill>
                  <a:srgbClr val="003056"/>
                </a:solidFill>
                <a:latin typeface="Calibri"/>
              </a:rPr>
              <a:t>m</a:t>
            </a:r>
            <a:r>
              <a:rPr lang="pl-PL" sz="1800" b="0" i="1" strike="noStrike" spc="-1">
                <a:solidFill>
                  <a:srgbClr val="003056"/>
                </a:solidFill>
                <a:latin typeface="Calibri"/>
              </a:rPr>
              <a:t> ∈ V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For example, in machine translation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716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Input: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s-ES" sz="1800" b="0" i="1" strike="noStrike" spc="-1">
                <a:solidFill>
                  <a:srgbClr val="003056"/>
                </a:solidFill>
                <a:latin typeface="Calibri"/>
              </a:rPr>
              <a:t>El café negro me gusta mucho.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Say a translation system provides the following possible answers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716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The coffee black pleases me much.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(word-for-word translation)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85716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Calibri"/>
              <a:buAutoNum type="arabicPeriod"/>
            </a:pP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I love dark coffee.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A good language model should say: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5716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p(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The coffee black pleases me much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) &lt; p(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I love dark coffee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ftr" idx="63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136FF74-0E23-4209-9F28-C345776B6479}" type="slidenum">
              <a:t>38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3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3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6" dur="500"/>
                                        <p:tgtEl>
                                          <p:spTgt spid="3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3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3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3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3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7" dur="500"/>
                                        <p:tgtEl>
                                          <p:spTgt spid="3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0" dur="500"/>
                                        <p:tgtEl>
                                          <p:spTgt spid="30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3" dur="500"/>
                                        <p:tgtEl>
                                          <p:spTgt spid="30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8" dur="500"/>
                                        <p:tgtEl>
                                          <p:spTgt spid="30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1" dur="500"/>
                                        <p:tgtEl>
                                          <p:spTgt spid="30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5E0BB-0E62-F654-CC07-827D14D49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>
            <a:extLst>
              <a:ext uri="{FF2B5EF4-FFF2-40B4-BE49-F238E27FC236}">
                <a16:creationId xmlns:a16="http://schemas.microsoft.com/office/drawing/2014/main" id="{E26F49FE-21BE-694E-C704-80A5FC2CE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626400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Language Modeling </a:t>
            </a: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with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N-Grams</a:t>
            </a:r>
            <a:br>
              <a:rPr sz="2600" dirty="0"/>
            </a:br>
            <a:r>
              <a:rPr lang="de-DE" sz="2600" b="1" strike="noStrike" spc="-1" dirty="0">
                <a:solidFill>
                  <a:srgbClr val="003056"/>
                </a:solidFill>
                <a:latin typeface="Calibri"/>
              </a:rPr>
              <a:t> </a:t>
            </a:r>
            <a:br>
              <a:rPr sz="2600" dirty="0"/>
            </a:br>
            <a:br>
              <a:rPr sz="2600" dirty="0"/>
            </a:br>
            <a:br>
              <a:rPr sz="2600" dirty="0"/>
            </a:br>
            <a:br>
              <a:rPr sz="2600" dirty="0"/>
            </a:br>
            <a:br>
              <a:rPr sz="2600" dirty="0"/>
            </a:br>
            <a:r>
              <a:rPr lang="de-DE" sz="2600" b="1" strike="noStrike" spc="-1" dirty="0">
                <a:solidFill>
                  <a:srgbClr val="003056"/>
                </a:solidFill>
                <a:latin typeface="Calibri"/>
              </a:rPr>
              <a:t> </a:t>
            </a:r>
            <a:br>
              <a:rPr sz="2600" dirty="0"/>
            </a:br>
            <a:r>
              <a:rPr lang="de-DE" sz="2600" b="1" strike="noStrike" spc="-1" dirty="0">
                <a:solidFill>
                  <a:srgbClr val="003056"/>
                </a:solidFill>
                <a:latin typeface="Calibri"/>
              </a:rPr>
              <a:t> </a:t>
            </a:r>
            <a:br>
              <a:rPr sz="2600" dirty="0"/>
            </a:br>
            <a:br>
              <a:rPr sz="2600" dirty="0"/>
            </a:br>
            <a:br>
              <a:rPr sz="2600" dirty="0"/>
            </a:br>
            <a:r>
              <a:rPr lang="de-DE" sz="2600" b="1" strike="noStrike" spc="-1" dirty="0">
                <a:solidFill>
                  <a:srgbClr val="003056"/>
                </a:solidFill>
                <a:latin typeface="Calibri"/>
              </a:rPr>
              <a:t> </a:t>
            </a:r>
            <a:br>
              <a:rPr sz="2600" dirty="0"/>
            </a:br>
            <a:r>
              <a:rPr lang="de-DE" sz="2600" b="1" strike="noStrike" spc="-1" dirty="0">
                <a:solidFill>
                  <a:srgbClr val="003056"/>
                </a:solidFill>
                <a:latin typeface="Calibri"/>
              </a:rPr>
              <a:t> </a:t>
            </a:r>
            <a:br>
              <a:rPr sz="2600" dirty="0"/>
            </a:br>
            <a:br>
              <a:rPr sz="2600" dirty="0"/>
            </a:br>
            <a:br>
              <a:rPr sz="2600" dirty="0"/>
            </a:br>
            <a:br>
              <a:rPr sz="2600" dirty="0"/>
            </a:br>
            <a:endParaRPr lang="de-DE" sz="26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0" name="PlaceHolder 2">
            <a:extLst>
              <a:ext uri="{FF2B5EF4-FFF2-40B4-BE49-F238E27FC236}">
                <a16:creationId xmlns:a16="http://schemas.microsoft.com/office/drawing/2014/main" id="{BE0113E3-542E-99B8-B8E1-FEFAD660F949}"/>
              </a:ext>
            </a:extLst>
          </p:cNvPr>
          <p:cNvSpPr>
            <a:spLocks noGrp="1"/>
          </p:cNvSpPr>
          <p:nvPr>
            <p:ph type="ftr" idx="3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01" name="PlaceHolder 3">
            <a:extLst>
              <a:ext uri="{FF2B5EF4-FFF2-40B4-BE49-F238E27FC236}">
                <a16:creationId xmlns:a16="http://schemas.microsoft.com/office/drawing/2014/main" id="{06D03A2C-A771-5409-DDD5-B6F02B68030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33044"/>
            <a:ext cx="7775640" cy="49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1" spc="-1" dirty="0">
                <a:solidFill>
                  <a:srgbClr val="003056"/>
                </a:solidFill>
                <a:latin typeface="Calibri"/>
              </a:rPr>
              <a:t>N-Gram: </a:t>
            </a:r>
            <a:r>
              <a:rPr lang="en-GB" sz="2000" spc="-1" dirty="0">
                <a:solidFill>
                  <a:srgbClr val="003056"/>
                </a:solidFill>
                <a:latin typeface="Calibri"/>
              </a:rPr>
              <a:t>sequence of </a:t>
            </a:r>
            <a:r>
              <a:rPr lang="en-GB" sz="2000" i="1" spc="-1" dirty="0">
                <a:solidFill>
                  <a:srgbClr val="003056"/>
                </a:solidFill>
                <a:latin typeface="Calibri"/>
              </a:rPr>
              <a:t>n</a:t>
            </a:r>
            <a:r>
              <a:rPr lang="en-GB" sz="2000" spc="-1" dirty="0">
                <a:solidFill>
                  <a:srgbClr val="003056"/>
                </a:solidFill>
                <a:latin typeface="Calibri"/>
              </a:rPr>
              <a:t> words</a:t>
            </a:r>
            <a:endParaRPr lang="en-GB" sz="200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1" spc="-1">
                <a:solidFill>
                  <a:srgbClr val="003056"/>
                </a:solidFill>
                <a:latin typeface="Calibri"/>
              </a:rPr>
              <a:t>2-gram:</a:t>
            </a:r>
            <a:r>
              <a:rPr lang="en-GB" sz="1800" spc="-1">
                <a:solidFill>
                  <a:srgbClr val="003056"/>
                </a:solidFill>
                <a:latin typeface="Calibri"/>
              </a:rPr>
              <a:t> sequence of two words, </a:t>
            </a:r>
            <a:r>
              <a:rPr lang="en-GB" sz="1800" b="1" spc="-1">
                <a:solidFill>
                  <a:srgbClr val="003056"/>
                </a:solidFill>
                <a:latin typeface="Calibri"/>
              </a:rPr>
              <a:t>3-gram: </a:t>
            </a:r>
            <a:r>
              <a:rPr lang="en-GB" sz="1800" spc="-1">
                <a:solidFill>
                  <a:srgbClr val="003056"/>
                </a:solidFill>
                <a:latin typeface="Calibri"/>
              </a:rPr>
              <a:t>sequence of three words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285750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spc="-1">
                <a:solidFill>
                  <a:srgbClr val="003056"/>
                </a:solidFill>
                <a:latin typeface="Calibri"/>
              </a:rPr>
              <a:t>Example: extract all 3-grams from the following toy text corpus </a:t>
            </a:r>
            <a:endParaRPr lang="en-GB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>
                <a:solidFill>
                  <a:srgbClr val="003056"/>
                </a:solidFill>
                <a:latin typeface="Calibri"/>
              </a:rPr>
              <a:t>Corpus: "This is the example sentence."</a:t>
            </a:r>
            <a:endParaRPr lang="en-GB" sz="1800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 dirty="0">
                <a:solidFill>
                  <a:srgbClr val="003056"/>
                </a:solidFill>
                <a:latin typeface="Calibri"/>
              </a:rPr>
              <a:t>3-grams: </a:t>
            </a:r>
            <a:r>
              <a:rPr lang="en-GB" sz="1800" spc="-1">
                <a:solidFill>
                  <a:srgbClr val="003056"/>
                </a:solidFill>
                <a:latin typeface="Calibri"/>
              </a:rPr>
              <a:t>"This is the", "is the example", "the example sentence"</a:t>
            </a: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spc="-1">
                <a:solidFill>
                  <a:srgbClr val="003056"/>
                </a:solidFill>
                <a:latin typeface="Calibri"/>
              </a:rPr>
              <a:t>N-gram </a:t>
            </a:r>
            <a:r>
              <a:rPr lang="en-GB" sz="2000" b="1" spc="-1">
                <a:solidFill>
                  <a:srgbClr val="003056"/>
                </a:solidFill>
                <a:latin typeface="Calibri"/>
              </a:rPr>
              <a:t>models can model the task by counting n-grams </a:t>
            </a:r>
            <a:r>
              <a:rPr lang="en-GB" sz="2000" spc="-1">
                <a:solidFill>
                  <a:srgbClr val="003056"/>
                </a:solidFill>
                <a:latin typeface="Calibri"/>
              </a:rPr>
              <a:t>(e.g. 3-grams):</a:t>
            </a:r>
            <a:endParaRPr lang="en-GB" sz="2000" spc="-1" dirty="0">
              <a:solidFill>
                <a:srgbClr val="003056"/>
              </a:solidFill>
              <a:latin typeface="Calibri"/>
            </a:endParaRPr>
          </a:p>
          <a:p>
            <a:pPr lvl="5">
              <a:buNone/>
            </a:pPr>
            <a:r>
              <a:rPr lang="en-GB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          number of times we see "is the example" </a:t>
            </a:r>
            <a:endParaRPr lang="en-GB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>
                <a:solidFill>
                  <a:srgbClr val="003056"/>
                </a:solidFill>
                <a:latin typeface="Calibri"/>
              </a:rPr>
              <a:t>p(example|"is the") = ------------------------------------------------------</a:t>
            </a:r>
            <a:endParaRPr lang="en-GB" sz="1800" spc="-1" dirty="0">
              <a:solidFill>
                <a:srgbClr val="003056"/>
              </a:solidFill>
              <a:latin typeface="Calibri"/>
            </a:endParaRPr>
          </a:p>
          <a:p>
            <a:pPr marL="2343150" lvl="5" indent="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None/>
            </a:pPr>
            <a:r>
              <a:rPr lang="en-GB" spc="-1">
                <a:solidFill>
                  <a:srgbClr val="003056"/>
                </a:solidFill>
                <a:latin typeface="Calibri"/>
              </a:rPr>
              <a:t>          number of times we see "is the"</a:t>
            </a: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spc="-1">
                <a:solidFill>
                  <a:srgbClr val="003056"/>
                </a:solidFill>
                <a:latin typeface="Calibri"/>
              </a:rPr>
              <a:t>Answer depends on text corpus used to count n-grams: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1" spc="-1">
                <a:solidFill>
                  <a:srgbClr val="003056"/>
                </a:solidFill>
                <a:latin typeface="Calibri"/>
              </a:rPr>
              <a:t>Toy Corpus 1:</a:t>
            </a:r>
            <a:r>
              <a:rPr lang="en-GB" sz="1800" spc="-1">
                <a:solidFill>
                  <a:srgbClr val="003056"/>
                </a:solidFill>
                <a:latin typeface="Calibri"/>
              </a:rPr>
              <a:t> "This </a:t>
            </a:r>
            <a:r>
              <a:rPr lang="en-GB" sz="1800" i="1" spc="-1">
                <a:solidFill>
                  <a:srgbClr val="003056"/>
                </a:solidFill>
                <a:latin typeface="Calibri"/>
              </a:rPr>
              <a:t>is the </a:t>
            </a:r>
            <a:r>
              <a:rPr lang="en-GB" sz="1800" spc="-1">
                <a:solidFill>
                  <a:srgbClr val="003056"/>
                </a:solidFill>
                <a:latin typeface="Calibri"/>
              </a:rPr>
              <a:t>example of the best scenario, this </a:t>
            </a:r>
            <a:r>
              <a:rPr lang="en-GB" sz="1800" i="1" spc="-1">
                <a:solidFill>
                  <a:srgbClr val="003056"/>
                </a:solidFill>
                <a:latin typeface="Calibri"/>
              </a:rPr>
              <a:t>is the </a:t>
            </a:r>
            <a:r>
              <a:rPr lang="en-GB" sz="1800" spc="-1">
                <a:solidFill>
                  <a:srgbClr val="003056"/>
                </a:solidFill>
                <a:latin typeface="Calibri"/>
              </a:rPr>
              <a:t>outcome of that same scenario, and this </a:t>
            </a:r>
            <a:r>
              <a:rPr lang="en-GB" sz="1800" i="1" spc="-1">
                <a:solidFill>
                  <a:srgbClr val="003056"/>
                </a:solidFill>
                <a:latin typeface="Calibri"/>
              </a:rPr>
              <a:t>is the </a:t>
            </a:r>
            <a:r>
              <a:rPr lang="en-GB" sz="1800" spc="-1">
                <a:solidFill>
                  <a:srgbClr val="003056"/>
                </a:solidFill>
                <a:latin typeface="Calibri"/>
              </a:rPr>
              <a:t>example of the worst scenario."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b="1" spc="-1">
                <a:solidFill>
                  <a:srgbClr val="003056"/>
                </a:solidFill>
                <a:latin typeface="Calibri"/>
              </a:rPr>
              <a:t>Toy Corpus 2:</a:t>
            </a:r>
            <a:r>
              <a:rPr lang="en-GB" sz="1800" spc="-1">
                <a:solidFill>
                  <a:srgbClr val="003056"/>
                </a:solidFill>
                <a:latin typeface="Calibri"/>
              </a:rPr>
              <a:t> "This </a:t>
            </a:r>
            <a:r>
              <a:rPr lang="en-GB" sz="1800" i="1" spc="-1">
                <a:solidFill>
                  <a:srgbClr val="003056"/>
                </a:solidFill>
                <a:latin typeface="Calibri"/>
              </a:rPr>
              <a:t>is the </a:t>
            </a:r>
            <a:r>
              <a:rPr lang="en-GB" sz="1800" spc="-1">
                <a:solidFill>
                  <a:srgbClr val="003056"/>
                </a:solidFill>
                <a:latin typeface="Calibri"/>
              </a:rPr>
              <a:t>example, while this </a:t>
            </a:r>
            <a:r>
              <a:rPr lang="en-GB" sz="1800" i="1" spc="-1">
                <a:solidFill>
                  <a:srgbClr val="003056"/>
                </a:solidFill>
                <a:latin typeface="Calibri"/>
              </a:rPr>
              <a:t>is the </a:t>
            </a:r>
            <a:r>
              <a:rPr lang="en-GB" sz="1800" spc="-1">
                <a:solidFill>
                  <a:srgbClr val="003056"/>
                </a:solidFill>
                <a:latin typeface="Calibri"/>
              </a:rPr>
              <a:t>analogy."</a:t>
            </a:r>
            <a:endParaRPr lang="en-GB" sz="18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1" spc="-1">
                <a:solidFill>
                  <a:srgbClr val="003056"/>
                </a:solidFill>
                <a:latin typeface="Calibri"/>
              </a:rPr>
              <a:t>Ideally, probabilities estimated from large corpus of natural language</a:t>
            </a: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>
                <a:solidFill>
                  <a:srgbClr val="003056"/>
                </a:solidFill>
                <a:latin typeface="Calibri"/>
              </a:rPr>
              <a:t>Would be nice if it includes multiple domains (e.g. history, medicine, etc.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)</a:t>
            </a:r>
            <a:endParaRPr lang="en-GB" sz="1800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817C1277-1602-F55E-EC8D-1C38444CA04C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A7F7216-58BB-4867-A09E-DEEDEBC415C5}" type="slidenum">
              <a:t>39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320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20883-A221-1E6E-A345-1987B1F5F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>
            <a:extLst>
              <a:ext uri="{FF2B5EF4-FFF2-40B4-BE49-F238E27FC236}">
                <a16:creationId xmlns:a16="http://schemas.microsoft.com/office/drawing/2014/main" id="{CA072C1D-27FD-773A-1035-DACD7A272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626400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LLMs: Large Language Models</a:t>
            </a:r>
            <a:br>
              <a:rPr sz="2600" dirty="0"/>
            </a:br>
            <a:r>
              <a:rPr lang="de-DE" sz="2600" b="1" strike="noStrike" spc="-1" dirty="0">
                <a:solidFill>
                  <a:srgbClr val="003056"/>
                </a:solidFill>
                <a:latin typeface="Calibri"/>
              </a:rPr>
              <a:t> </a:t>
            </a:r>
            <a:br>
              <a:rPr sz="2600" dirty="0"/>
            </a:br>
            <a:br>
              <a:rPr sz="2600" dirty="0"/>
            </a:br>
            <a:br>
              <a:rPr sz="2600" dirty="0"/>
            </a:br>
            <a:br>
              <a:rPr sz="2600" dirty="0"/>
            </a:br>
            <a:br>
              <a:rPr sz="2600" dirty="0"/>
            </a:br>
            <a:r>
              <a:rPr lang="de-DE" sz="2600" b="1" strike="noStrike" spc="-1" dirty="0">
                <a:solidFill>
                  <a:srgbClr val="003056"/>
                </a:solidFill>
                <a:latin typeface="Calibri"/>
              </a:rPr>
              <a:t> </a:t>
            </a:r>
            <a:br>
              <a:rPr sz="2600" dirty="0"/>
            </a:br>
            <a:r>
              <a:rPr lang="de-DE" sz="2600" b="1" strike="noStrike" spc="-1" dirty="0">
                <a:solidFill>
                  <a:srgbClr val="003056"/>
                </a:solidFill>
                <a:latin typeface="Calibri"/>
              </a:rPr>
              <a:t> </a:t>
            </a:r>
            <a:br>
              <a:rPr sz="2600" dirty="0"/>
            </a:br>
            <a:br>
              <a:rPr sz="2600" dirty="0"/>
            </a:br>
            <a:br>
              <a:rPr sz="2600" dirty="0"/>
            </a:br>
            <a:r>
              <a:rPr lang="de-DE" sz="2600" b="1" strike="noStrike" spc="-1" dirty="0">
                <a:solidFill>
                  <a:srgbClr val="003056"/>
                </a:solidFill>
                <a:latin typeface="Calibri"/>
              </a:rPr>
              <a:t> </a:t>
            </a:r>
            <a:br>
              <a:rPr sz="2600" dirty="0"/>
            </a:br>
            <a:r>
              <a:rPr lang="de-DE" sz="2600" b="1" strike="noStrike" spc="-1" dirty="0">
                <a:solidFill>
                  <a:srgbClr val="003056"/>
                </a:solidFill>
                <a:latin typeface="Calibri"/>
              </a:rPr>
              <a:t> </a:t>
            </a:r>
            <a:br>
              <a:rPr sz="2600" dirty="0"/>
            </a:br>
            <a:br>
              <a:rPr sz="2600" dirty="0"/>
            </a:br>
            <a:br>
              <a:rPr sz="2600" dirty="0"/>
            </a:br>
            <a:br>
              <a:rPr sz="2600" dirty="0"/>
            </a:br>
            <a:endParaRPr lang="de-DE" sz="26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0" name="PlaceHolder 2">
            <a:extLst>
              <a:ext uri="{FF2B5EF4-FFF2-40B4-BE49-F238E27FC236}">
                <a16:creationId xmlns:a16="http://schemas.microsoft.com/office/drawing/2014/main" id="{E264EB60-DB4E-75D6-6B05-78EE9E38350A}"/>
              </a:ext>
            </a:extLst>
          </p:cNvPr>
          <p:cNvSpPr>
            <a:spLocks noGrp="1"/>
          </p:cNvSpPr>
          <p:nvPr>
            <p:ph type="ftr" idx="3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01" name="PlaceHolder 3">
            <a:extLst>
              <a:ext uri="{FF2B5EF4-FFF2-40B4-BE49-F238E27FC236}">
                <a16:creationId xmlns:a16="http://schemas.microsoft.com/office/drawing/2014/main" id="{BB44D397-F143-3B46-BFDF-D09C6BDA141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33044"/>
            <a:ext cx="7775640" cy="49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1" spc="-1">
                <a:solidFill>
                  <a:srgbClr val="003056"/>
                </a:solidFill>
                <a:latin typeface="Calibri"/>
              </a:rPr>
              <a:t>Language models:</a:t>
            </a:r>
            <a:r>
              <a:rPr lang="en-GB" sz="2000" spc="-1">
                <a:solidFill>
                  <a:srgbClr val="003056"/>
                </a:solidFill>
                <a:latin typeface="Calibri"/>
              </a:rPr>
              <a:t> they model the same task as n-gram models</a:t>
            </a:r>
            <a:endParaRPr lang="en-GB" sz="2000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>
                <a:solidFill>
                  <a:srgbClr val="003056"/>
                </a:solidFill>
                <a:latin typeface="Calibri"/>
              </a:rPr>
              <a:t>In reality, there are variants of the language modeling task</a:t>
            </a:r>
            <a:endParaRPr lang="en-GB" sz="1800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>
                <a:solidFill>
                  <a:srgbClr val="003056"/>
                </a:solidFill>
                <a:latin typeface="Calibri"/>
              </a:rPr>
              <a:t>They all relate to predicting new words given other words in same context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>
                <a:solidFill>
                  <a:srgbClr val="003056"/>
                </a:solidFill>
                <a:latin typeface="Calibri"/>
              </a:rPr>
              <a:t>We'll cover the most common ones in this course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1" spc="-1">
                <a:solidFill>
                  <a:srgbClr val="003056"/>
                </a:solidFill>
                <a:latin typeface="Calibri"/>
              </a:rPr>
              <a:t>Large: </a:t>
            </a:r>
            <a:r>
              <a:rPr lang="en-GB" sz="2000" spc="-1">
                <a:solidFill>
                  <a:srgbClr val="003056"/>
                </a:solidFill>
                <a:latin typeface="Calibri"/>
              </a:rPr>
              <a:t>they have billions of parameters that are used to estimate those probabilities (i.e. model training)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>
                <a:solidFill>
                  <a:srgbClr val="003056"/>
                </a:solidFill>
                <a:latin typeface="Calibri"/>
              </a:rPr>
              <a:t>The more parameters we have, the more data we need to avoid overfitting</a:t>
            </a:r>
            <a:endParaRPr lang="en-GB" sz="1800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>
                <a:solidFill>
                  <a:srgbClr val="003056"/>
                </a:solidFill>
                <a:latin typeface="Calibri"/>
              </a:rPr>
              <a:t>Where does this data come from?</a:t>
            </a:r>
            <a:endParaRPr lang="en-GB" sz="1800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1" spc="-1">
                <a:solidFill>
                  <a:srgbClr val="003056"/>
                </a:solidFill>
                <a:latin typeface="Calibri"/>
              </a:rPr>
              <a:t>LLMs are trained on corpora with trillions of words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>
                <a:solidFill>
                  <a:srgbClr val="003056"/>
                </a:solidFill>
                <a:latin typeface="Calibri"/>
              </a:rPr>
              <a:t>E.g. the entire internet up to October 2023 (</a:t>
            </a:r>
            <a:r>
              <a:rPr lang="en-GB" sz="1800" spc="-1" dirty="0">
                <a:solidFill>
                  <a:srgbClr val="003056"/>
                </a:solidFill>
                <a:latin typeface="Calibri"/>
                <a:hlinkClick r:id="rId2"/>
              </a:rPr>
              <a:t>GPT-4o cutoff date</a:t>
            </a:r>
            <a:r>
              <a:rPr lang="en-GB" sz="1800" spc="-1">
                <a:solidFill>
                  <a:srgbClr val="003056"/>
                </a:solidFill>
                <a:latin typeface="Calibri"/>
              </a:rPr>
              <a:t>)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spc="-1">
                <a:solidFill>
                  <a:srgbClr val="003056"/>
                </a:solidFill>
                <a:latin typeface="Calibri"/>
              </a:rPr>
              <a:t>This is why </a:t>
            </a:r>
            <a:r>
              <a:rPr lang="en-GB" sz="2000" b="1" spc="-1">
                <a:solidFill>
                  <a:srgbClr val="003056"/>
                </a:solidFill>
                <a:latin typeface="Calibri"/>
              </a:rPr>
              <a:t>developing LLMs today is prohibitely expensive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>
                <a:solidFill>
                  <a:srgbClr val="003056"/>
                </a:solidFill>
                <a:latin typeface="Calibri"/>
              </a:rPr>
              <a:t>Billions of parameters require lots of memory and data, thousands of GPUs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>
                <a:solidFill>
                  <a:srgbClr val="003056"/>
                </a:solidFill>
                <a:latin typeface="Calibri"/>
              </a:rPr>
              <a:t>E.g. estimated cost of training Google's Gemini Ultra: 191 million USD 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(</a:t>
            </a:r>
            <a:r>
              <a:rPr lang="en-GB" sz="1800" spc="-1" dirty="0">
                <a:solidFill>
                  <a:srgbClr val="003056"/>
                </a:solidFill>
                <a:latin typeface="Calibri"/>
                <a:hlinkClick r:id="rId3"/>
              </a:rPr>
              <a:t>Stanford's 2024 AI Index Report</a:t>
            </a:r>
            <a:r>
              <a:rPr lang="en-GB" sz="1800" spc="-1" dirty="0">
                <a:solidFill>
                  <a:srgbClr val="003056"/>
                </a:solidFill>
                <a:latin typeface="Calibri"/>
              </a:rPr>
              <a:t>)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GB" sz="2200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3BE2581C-84AD-A3FA-DD9E-42902B764D7E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A7F7216-58BB-4867-A09E-DEEDEBC415C5}" type="slidenum"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8803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26400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Summary: Introduction</a:t>
            </a:r>
            <a:r>
              <a:rPr lang="de-DE" sz="26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2600"/>
            </a:br>
            <a:r>
              <a:rPr lang="de-DE" sz="26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2600"/>
            </a:br>
            <a:r>
              <a:rPr lang="de-DE" sz="26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2600"/>
            </a:br>
            <a:br>
              <a:rPr sz="2600"/>
            </a:br>
            <a:br>
              <a:rPr sz="2600"/>
            </a:br>
            <a:br>
              <a:rPr sz="2600"/>
            </a:br>
            <a:br>
              <a:rPr sz="2600"/>
            </a:br>
            <a:r>
              <a:rPr lang="de-DE" sz="26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2600"/>
            </a:br>
            <a:r>
              <a:rPr lang="de-DE" sz="26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2600"/>
            </a:br>
            <a:br>
              <a:rPr sz="2600"/>
            </a:br>
            <a:br>
              <a:rPr sz="2600"/>
            </a:br>
            <a:r>
              <a:rPr lang="de-DE" sz="26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2600"/>
            </a:br>
            <a:r>
              <a:rPr lang="de-DE" sz="26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2600"/>
            </a:br>
            <a:br>
              <a:rPr sz="2600"/>
            </a:br>
            <a:br>
              <a:rPr sz="2600"/>
            </a:br>
            <a:br>
              <a:rPr sz="2600"/>
            </a:br>
            <a:endParaRPr lang="de-DE" sz="26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 type="ftr" idx="40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/>
          </p:nvPr>
        </p:nvSpPr>
        <p:spPr>
          <a:xfrm>
            <a:off x="684000" y="1124640"/>
            <a:ext cx="7775640" cy="49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We went over </a:t>
            </a:r>
            <a:r>
              <a:rPr lang="en-GB" sz="2000" b="1" spc="-1" dirty="0">
                <a:solidFill>
                  <a:srgbClr val="003056"/>
                </a:solidFill>
                <a:latin typeface="Calibri"/>
              </a:rPr>
              <a:t>structure</a:t>
            </a: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GB" sz="2000" b="1" strike="noStrike" spc="-1" dirty="0">
                <a:solidFill>
                  <a:srgbClr val="003056"/>
                </a:solidFill>
                <a:latin typeface="Calibri"/>
              </a:rPr>
              <a:t>of the course</a:t>
            </a:r>
            <a:endParaRPr lang="en-GB" sz="1600" b="1" strike="noStrike" spc="-1">
              <a:solidFill>
                <a:srgbClr val="003056"/>
              </a:solidFill>
              <a:latin typeface="Calibri"/>
            </a:endParaRP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 dirty="0">
                <a:solidFill>
                  <a:srgbClr val="003056"/>
                </a:solidFill>
                <a:latin typeface="Calibri"/>
              </a:rPr>
              <a:t>Goals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 dirty="0">
                <a:solidFill>
                  <a:srgbClr val="003056"/>
                </a:solidFill>
                <a:latin typeface="Calibri"/>
              </a:rPr>
              <a:t>Requirements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Tentative topics</a:t>
            </a:r>
            <a:endParaRPr lang="en-GB" sz="1800" spc="-1" dirty="0">
              <a:solidFill>
                <a:srgbClr val="003056"/>
              </a:solidFill>
              <a:latin typeface="Calibri"/>
            </a:endParaRP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 dirty="0">
                <a:solidFill>
                  <a:srgbClr val="003056"/>
                </a:solidFill>
                <a:latin typeface="Calibri"/>
              </a:rPr>
              <a:t>References</a:t>
            </a:r>
            <a:endParaRPr lang="de-DE" sz="2000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spc="-1" dirty="0">
                <a:solidFill>
                  <a:srgbClr val="003056"/>
                </a:solidFill>
                <a:latin typeface="Calibri"/>
              </a:rPr>
              <a:t>We had</a:t>
            </a: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 an </a:t>
            </a:r>
            <a:r>
              <a:rPr lang="en-GB" sz="2000" b="1" strike="noStrike" spc="-1" dirty="0">
                <a:solidFill>
                  <a:srgbClr val="003056"/>
                </a:solidFill>
                <a:latin typeface="Calibri"/>
              </a:rPr>
              <a:t>overview</a:t>
            </a: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GB" sz="2000" b="1" strike="noStrike" spc="-1" dirty="0">
                <a:solidFill>
                  <a:srgbClr val="003056"/>
                </a:solidFill>
                <a:latin typeface="Calibri"/>
              </a:rPr>
              <a:t>of</a:t>
            </a:r>
            <a:r>
              <a:rPr lang="en-GB" sz="2000" b="1" spc="-1" dirty="0">
                <a:solidFill>
                  <a:srgbClr val="003056"/>
                </a:solidFill>
                <a:latin typeface="Calibri"/>
              </a:rPr>
              <a:t> text analytics</a:t>
            </a:r>
            <a:endParaRPr lang="de-DE" sz="2000" b="1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NLP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NLP Tasks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Role of ML, DL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Modern NLP Applications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We went over some basic and </a:t>
            </a:r>
            <a:r>
              <a:rPr lang="en-GB" sz="2000" b="1" strike="noStrike" spc="-1" dirty="0">
                <a:solidFill>
                  <a:srgbClr val="003056"/>
                </a:solidFill>
                <a:latin typeface="Calibri"/>
              </a:rPr>
              <a:t>relevant NLP concepts 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GB" sz="1800" spc="-1" dirty="0">
                <a:solidFill>
                  <a:srgbClr val="003056"/>
                </a:solidFill>
                <a:latin typeface="Calibri"/>
              </a:rPr>
              <a:t>Similarity vs relatedness</a:t>
            </a:r>
            <a:endParaRPr lang="en-GB" sz="180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GB" sz="1800" spc="-1" dirty="0">
                <a:solidFill>
                  <a:srgbClr val="003056"/>
                </a:solidFill>
                <a:latin typeface="Calibri"/>
              </a:rPr>
              <a:t>Word sense disambiguation</a:t>
            </a:r>
            <a:endParaRPr lang="en-GB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GB" sz="1800" spc="-1" dirty="0">
                <a:solidFill>
                  <a:srgbClr val="003056"/>
                </a:solidFill>
                <a:latin typeface="Calibri"/>
              </a:rPr>
              <a:t>Tokenization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GB" sz="1800" spc="-1" dirty="0">
                <a:solidFill>
                  <a:srgbClr val="003056"/>
                </a:solidFill>
                <a:latin typeface="Calibri"/>
              </a:rPr>
              <a:t>Language </a:t>
            </a:r>
            <a:r>
              <a:rPr lang="en-GB" sz="1800" spc="-1" dirty="0" err="1">
                <a:solidFill>
                  <a:srgbClr val="003056"/>
                </a:solidFill>
                <a:latin typeface="Calibri"/>
              </a:rPr>
              <a:t>modeling</a:t>
            </a:r>
            <a:endParaRPr lang="en-GB" sz="1800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76A4E5F-19B6-4522-8DBD-548848408316}" type="slidenum">
              <a:t>41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26400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References </a:t>
            </a:r>
            <a:br>
              <a:rPr sz="2600"/>
            </a:br>
            <a:r>
              <a:rPr lang="de-DE" sz="26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2600"/>
            </a:br>
            <a:r>
              <a:rPr lang="de-DE" sz="26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2600"/>
            </a:br>
            <a:r>
              <a:rPr lang="de-DE" sz="26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2600"/>
            </a:br>
            <a:br>
              <a:rPr sz="2600"/>
            </a:br>
            <a:br>
              <a:rPr sz="2600"/>
            </a:br>
            <a:br>
              <a:rPr sz="2600"/>
            </a:br>
            <a:br>
              <a:rPr sz="2600"/>
            </a:br>
            <a:r>
              <a:rPr lang="de-DE" sz="26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2600"/>
            </a:br>
            <a:r>
              <a:rPr lang="de-DE" sz="26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2600"/>
            </a:br>
            <a:br>
              <a:rPr sz="2600"/>
            </a:br>
            <a:br>
              <a:rPr sz="2600"/>
            </a:br>
            <a:r>
              <a:rPr lang="de-DE" sz="26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2600"/>
            </a:br>
            <a:r>
              <a:rPr lang="de-DE" sz="2600" b="1" strike="noStrike" spc="-1">
                <a:solidFill>
                  <a:srgbClr val="003056"/>
                </a:solidFill>
                <a:latin typeface="Calibri"/>
              </a:rPr>
              <a:t> </a:t>
            </a:r>
            <a:br>
              <a:rPr sz="2600"/>
            </a:br>
            <a:br>
              <a:rPr sz="2600"/>
            </a:br>
            <a:br>
              <a:rPr sz="2600"/>
            </a:br>
            <a:br>
              <a:rPr sz="2600"/>
            </a:br>
            <a:endParaRPr lang="de-DE" sz="26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ftr" idx="4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/>
          </p:nvPr>
        </p:nvSpPr>
        <p:spPr>
          <a:xfrm>
            <a:off x="684000" y="1124640"/>
            <a:ext cx="7775640" cy="493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 dirty="0" err="1">
                <a:solidFill>
                  <a:srgbClr val="003056"/>
                </a:solidFill>
                <a:latin typeface="Calibri"/>
              </a:rPr>
              <a:t>Jurafsky</a:t>
            </a: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 et al., Chapter 2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Zhang et al., Chapter 1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3056"/>
                </a:solidFill>
                <a:latin typeface="Calibri"/>
              </a:rPr>
              <a:t>Eisenstein, Chapters 1 and 4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None/>
            </a:pPr>
            <a:r>
              <a:rPr lang="en-GB" sz="2000" spc="-1" dirty="0">
                <a:solidFill>
                  <a:srgbClr val="003056"/>
                </a:solidFill>
                <a:latin typeface="Calibri"/>
              </a:rPr>
              <a:t>                                                                                                                                                                                  © University of Mannheim</a:t>
            </a:r>
            <a:endParaRPr lang="en-GB" dirty="0"/>
          </a:p>
          <a:p>
            <a:pPr marL="0" indent="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 panose="020B0604020202020204" pitchFamily="34" charset="0"/>
              <a:buNone/>
            </a:pPr>
            <a:endParaRPr lang="en-GB" sz="2000" spc="-1" dirty="0">
              <a:solidFill>
                <a:srgbClr val="003056"/>
              </a:solidFill>
              <a:latin typeface="Calibri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None/>
            </a:pPr>
            <a:endParaRPr lang="en-GB" sz="2000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347C9DB-8D59-4BAE-B1E3-5D9F1796022E}" type="slidenum">
              <a:t>42</a:t>
            </a:fld>
            <a:endParaRPr/>
          </a:p>
        </p:txBody>
      </p:sp>
      <p:pic>
        <p:nvPicPr>
          <p:cNvPr id="2" name="Picture 1" descr="A logo for a university&#10;&#10;AI-generated content may be incorrect.">
            <a:extLst>
              <a:ext uri="{FF2B5EF4-FFF2-40B4-BE49-F238E27FC236}">
                <a16:creationId xmlns:a16="http://schemas.microsoft.com/office/drawing/2014/main" id="{B8E2BA09-6473-FFED-A799-3BB78D0D3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911" y="2231505"/>
            <a:ext cx="2000250" cy="93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6" dur="500"/>
                                        <p:tgtEl>
                                          <p:spTgt spid="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(4:3)</PresentationFormat>
  <Slides>42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42</vt:i4>
      </vt:variant>
    </vt:vector>
  </HeadingPairs>
  <TitlesOfParts>
    <vt:vector size="44" baseType="lpstr">
      <vt:lpstr>Office Theme</vt:lpstr>
      <vt:lpstr>Office Theme</vt:lpstr>
      <vt:lpstr>Advanced Methods in Text Analytics</vt:lpstr>
      <vt:lpstr>Hello!</vt:lpstr>
      <vt:lpstr>When do we meet? </vt:lpstr>
      <vt:lpstr>About this course (1) </vt:lpstr>
      <vt:lpstr>About this course (2) </vt:lpstr>
      <vt:lpstr>About this course (3) </vt:lpstr>
      <vt:lpstr>Course Logistics</vt:lpstr>
      <vt:lpstr>Tentative List of Topics</vt:lpstr>
      <vt:lpstr>Reference Books  </vt:lpstr>
      <vt:lpstr>Outline  </vt:lpstr>
      <vt:lpstr>  </vt:lpstr>
      <vt:lpstr>Natural Language Processing    </vt:lpstr>
      <vt:lpstr>Challenges   </vt:lpstr>
      <vt:lpstr>NLP Tasks    </vt:lpstr>
      <vt:lpstr>Question Answering (QA)Machine Translation       </vt:lpstr>
      <vt:lpstr>Machine Translation (MT) Machine Translation       </vt:lpstr>
      <vt:lpstr>Text Summarization    Machine Translation       </vt:lpstr>
      <vt:lpstr>Assisted Writing      Machine Translation       </vt:lpstr>
      <vt:lpstr>The Role of Machine Learning in NLP      </vt:lpstr>
      <vt:lpstr>NLP Tasks from a ML Perspective    </vt:lpstr>
      <vt:lpstr>  </vt:lpstr>
      <vt:lpstr>Traditional vs Modern NLP </vt:lpstr>
      <vt:lpstr>Traditional NLP       </vt:lpstr>
      <vt:lpstr>Modern NLP         </vt:lpstr>
      <vt:lpstr>ChatGPT and Other LLMs          </vt:lpstr>
      <vt:lpstr>ChatGPT for Writing         </vt:lpstr>
      <vt:lpstr>ChatGPT for Creating Tables         </vt:lpstr>
      <vt:lpstr>ChatGPT for Coding           </vt:lpstr>
      <vt:lpstr>Perplexity AI for Search</vt:lpstr>
      <vt:lpstr>The AI Stack</vt:lpstr>
      <vt:lpstr>  </vt:lpstr>
      <vt:lpstr>Contents of Text Analytics Course             </vt:lpstr>
      <vt:lpstr>Similarity and Relatedness                   </vt:lpstr>
      <vt:lpstr>Word Sense Disambiguation                     </vt:lpstr>
      <vt:lpstr>Tokenization (1)                  </vt:lpstr>
      <vt:lpstr>Tokenization (2)                  </vt:lpstr>
      <vt:lpstr>Language Modeling (1)</vt:lpstr>
      <vt:lpstr>Language Modeling (2)</vt:lpstr>
      <vt:lpstr>Language Modeling with N-Grams                    </vt:lpstr>
      <vt:lpstr>LLMs: Large Language Models                    </vt:lpstr>
      <vt:lpstr>Summary: Introduction                       </vt:lpstr>
      <vt:lpstr>References                         </vt:lpstr>
    </vt:vector>
  </TitlesOfParts>
  <Company>Uni-Mannheim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Koschorreck, Maartje</dc:creator>
  <dc:description/>
  <cp:revision>1076</cp:revision>
  <dcterms:created xsi:type="dcterms:W3CDTF">2018-06-20T08:14:01Z</dcterms:created>
  <dcterms:modified xsi:type="dcterms:W3CDTF">2026-02-10T12:33:14Z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Bildschirmpräsentation (4:3)</vt:lpwstr>
  </property>
  <property fmtid="{D5CDD505-2E9C-101B-9397-08002B2CF9AE}" pid="3" name="Slides">
    <vt:i4>36</vt:i4>
  </property>
</Properties>
</file>