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  <p:sldMasterId id="2147483674" r:id="rId3"/>
  </p:sldMasterIdLst>
  <p:sldIdLst>
    <p:sldId id="325" r:id="rId4"/>
    <p:sldId id="257" r:id="rId5"/>
    <p:sldId id="258" r:id="rId6"/>
    <p:sldId id="259" r:id="rId7"/>
    <p:sldId id="260" r:id="rId8"/>
    <p:sldId id="261" r:id="rId9"/>
    <p:sldId id="262" r:id="rId10"/>
    <p:sldId id="264" r:id="rId11"/>
    <p:sldId id="306" r:id="rId12"/>
    <p:sldId id="310" r:id="rId13"/>
    <p:sldId id="312" r:id="rId14"/>
    <p:sldId id="313" r:id="rId15"/>
    <p:sldId id="263" r:id="rId16"/>
    <p:sldId id="265" r:id="rId17"/>
    <p:sldId id="266" r:id="rId18"/>
    <p:sldId id="308" r:id="rId19"/>
    <p:sldId id="309" r:id="rId20"/>
    <p:sldId id="267" r:id="rId21"/>
    <p:sldId id="268" r:id="rId22"/>
    <p:sldId id="269" r:id="rId23"/>
    <p:sldId id="270" r:id="rId24"/>
    <p:sldId id="271" r:id="rId25"/>
    <p:sldId id="272" r:id="rId26"/>
    <p:sldId id="322" r:id="rId27"/>
    <p:sldId id="273" r:id="rId28"/>
    <p:sldId id="274" r:id="rId29"/>
    <p:sldId id="275" r:id="rId30"/>
    <p:sldId id="314" r:id="rId31"/>
    <p:sldId id="278" r:id="rId32"/>
    <p:sldId id="315" r:id="rId33"/>
    <p:sldId id="279" r:id="rId34"/>
    <p:sldId id="320" r:id="rId35"/>
    <p:sldId id="316" r:id="rId36"/>
    <p:sldId id="276" r:id="rId37"/>
    <p:sldId id="281" r:id="rId38"/>
    <p:sldId id="282" r:id="rId39"/>
    <p:sldId id="283" r:id="rId40"/>
    <p:sldId id="284" r:id="rId41"/>
    <p:sldId id="285" r:id="rId42"/>
    <p:sldId id="321" r:id="rId43"/>
    <p:sldId id="317" r:id="rId44"/>
    <p:sldId id="286" r:id="rId45"/>
    <p:sldId id="287" r:id="rId46"/>
    <p:sldId id="288" r:id="rId47"/>
    <p:sldId id="318" r:id="rId48"/>
    <p:sldId id="289" r:id="rId49"/>
    <p:sldId id="290" r:id="rId50"/>
    <p:sldId id="291" r:id="rId51"/>
    <p:sldId id="292" r:id="rId52"/>
    <p:sldId id="293" r:id="rId53"/>
    <p:sldId id="294" r:id="rId54"/>
    <p:sldId id="295" r:id="rId55"/>
    <p:sldId id="296" r:id="rId56"/>
    <p:sldId id="297" r:id="rId57"/>
    <p:sldId id="298" r:id="rId58"/>
    <p:sldId id="299" r:id="rId59"/>
    <p:sldId id="300" r:id="rId60"/>
    <p:sldId id="301" r:id="rId61"/>
    <p:sldId id="323" r:id="rId62"/>
    <p:sldId id="302" r:id="rId63"/>
    <p:sldId id="303" r:id="rId64"/>
    <p:sldId id="304" r:id="rId65"/>
    <p:sldId id="319" r:id="rId66"/>
    <p:sldId id="305" r:id="rId67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84148E-14A1-EEEE-077A-EA0854A3E85B}" v="63" dt="2026-03-24T11:31:40.57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slide" Target="slides/slide60.xml"/><Relationship Id="rId68" Type="http://schemas.openxmlformats.org/officeDocument/2006/relationships/presProps" Target="presProps.xml"/><Relationship Id="rId7" Type="http://schemas.openxmlformats.org/officeDocument/2006/relationships/slide" Target="slides/slide4.xml"/><Relationship Id="rId71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66" Type="http://schemas.openxmlformats.org/officeDocument/2006/relationships/slide" Target="slides/slide63.xml"/><Relationship Id="rId5" Type="http://schemas.openxmlformats.org/officeDocument/2006/relationships/slide" Target="slides/slide2.xml"/><Relationship Id="rId61" Type="http://schemas.openxmlformats.org/officeDocument/2006/relationships/slide" Target="slides/slide58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slide" Target="slides/slide61.xml"/><Relationship Id="rId69" Type="http://schemas.openxmlformats.org/officeDocument/2006/relationships/viewProps" Target="viewProps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microsoft.com/office/2015/10/relationships/revisionInfo" Target="revisionInfo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slide" Target="slides/slide64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rPr lang="en-US"/>
              <a:t>Dr. Daniel Ruffinelli - FSS 2026</a:t>
            </a:r>
            <a:endParaRPr/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7962DD0A-602E-4A8F-89E9-B5BC79E82EBA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684000" y="1982520"/>
            <a:ext cx="7775640" cy="383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rPr lang="en-US"/>
              <a:t>Dr. Daniel Ruffinelli - FSS 2026</a:t>
            </a:r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EA0FE0AE-2EE7-4E62-B146-6AC7D4E175D7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84000" y="1982520"/>
            <a:ext cx="7775640" cy="383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rPr lang="en-US"/>
              <a:t>Dr. Daniel Ruffinelli - FSS 2026</a:t>
            </a:r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6566C2B0-62E4-49E4-9CDF-EFAC2364D944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684000" y="1982520"/>
            <a:ext cx="3794400" cy="383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4668480" y="1982520"/>
            <a:ext cx="3794400" cy="383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rPr lang="en-US"/>
              <a:t>Dr. Daniel Ruffinelli - FSS 2026</a:t>
            </a:r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73A2B7A6-C85B-4A8E-93FE-6C0C6A6DA2CF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rPr lang="en-US"/>
              <a:t>Dr. Daniel Ruffinelli - FSS 2026</a:t>
            </a:r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047E21B8-A36B-47DB-9F79-F8681486043A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subTitle"/>
          </p:nvPr>
        </p:nvSpPr>
        <p:spPr>
          <a:xfrm>
            <a:off x="684000" y="584640"/>
            <a:ext cx="5478840" cy="5289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rPr lang="en-US"/>
              <a:t>Dr. Daniel Ruffinelli - FSS 2026</a:t>
            </a:r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AD7C57CF-587B-4151-93CA-E32D3D0DCE67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684000" y="1982520"/>
            <a:ext cx="379440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/>
          </p:nvPr>
        </p:nvSpPr>
        <p:spPr>
          <a:xfrm>
            <a:off x="4668480" y="1982520"/>
            <a:ext cx="3794400" cy="383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/>
          </p:nvPr>
        </p:nvSpPr>
        <p:spPr>
          <a:xfrm>
            <a:off x="684000" y="3985200"/>
            <a:ext cx="379440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rPr lang="en-US"/>
              <a:t>Dr. Daniel Ruffinelli - FSS 2026</a:t>
            </a:r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81446D9B-9695-4A1D-9F05-27136DBC9767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684000" y="1982520"/>
            <a:ext cx="3794400" cy="383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/>
          </p:nvPr>
        </p:nvSpPr>
        <p:spPr>
          <a:xfrm>
            <a:off x="4668480" y="1982520"/>
            <a:ext cx="379440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/>
          </p:nvPr>
        </p:nvSpPr>
        <p:spPr>
          <a:xfrm>
            <a:off x="4668480" y="3985200"/>
            <a:ext cx="379440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rPr lang="en-US"/>
              <a:t>Dr. Daniel Ruffinelli - FSS 2026</a:t>
            </a:r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07930181-C612-40B6-A269-DA662507F974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684000" y="1982520"/>
            <a:ext cx="379440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/>
          </p:nvPr>
        </p:nvSpPr>
        <p:spPr>
          <a:xfrm>
            <a:off x="4668480" y="1982520"/>
            <a:ext cx="379440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/>
          </p:nvPr>
        </p:nvSpPr>
        <p:spPr>
          <a:xfrm>
            <a:off x="684000" y="3985200"/>
            <a:ext cx="777564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rPr lang="en-US"/>
              <a:t>Dr. Daniel Ruffinelli - FSS 2026</a:t>
            </a:r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F3639E02-CD6E-4C4C-BD65-F484B62E4672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684000" y="1982520"/>
            <a:ext cx="777564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/>
          </p:nvPr>
        </p:nvSpPr>
        <p:spPr>
          <a:xfrm>
            <a:off x="684000" y="3985200"/>
            <a:ext cx="777564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rPr lang="en-US"/>
              <a:t>Dr. Daniel Ruffinelli - FSS 2026</a:t>
            </a:r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4B8071A7-AAB2-4142-8B26-14510BE3A9D9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684000" y="1982520"/>
            <a:ext cx="379440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668480" y="1982520"/>
            <a:ext cx="379440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684000" y="3985200"/>
            <a:ext cx="379440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4668480" y="3985200"/>
            <a:ext cx="379440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rPr lang="en-US"/>
              <a:t>Dr. Daniel Ruffinelli - FSS 2026</a:t>
            </a:r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3EC1B05F-A6D8-4B0C-AFDD-5B44EF54815D}" type="slidenum"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/>
          </p:nvPr>
        </p:nvSpPr>
        <p:spPr>
          <a:xfrm>
            <a:off x="684000" y="1982520"/>
            <a:ext cx="250344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/>
          </p:nvPr>
        </p:nvSpPr>
        <p:spPr>
          <a:xfrm>
            <a:off x="3313080" y="1982520"/>
            <a:ext cx="250344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/>
          </p:nvPr>
        </p:nvSpPr>
        <p:spPr>
          <a:xfrm>
            <a:off x="5942160" y="1982520"/>
            <a:ext cx="250344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/>
          </p:nvPr>
        </p:nvSpPr>
        <p:spPr>
          <a:xfrm>
            <a:off x="684000" y="3985200"/>
            <a:ext cx="250344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41" name="PlaceHolder 6"/>
          <p:cNvSpPr>
            <a:spLocks noGrp="1"/>
          </p:cNvSpPr>
          <p:nvPr>
            <p:ph/>
          </p:nvPr>
        </p:nvSpPr>
        <p:spPr>
          <a:xfrm>
            <a:off x="3313080" y="3985200"/>
            <a:ext cx="250344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42" name="PlaceHolder 7"/>
          <p:cNvSpPr>
            <a:spLocks noGrp="1"/>
          </p:cNvSpPr>
          <p:nvPr>
            <p:ph/>
          </p:nvPr>
        </p:nvSpPr>
        <p:spPr>
          <a:xfrm>
            <a:off x="5942160" y="3985200"/>
            <a:ext cx="250344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rPr lang="en-US"/>
              <a:t>Dr. Daniel Ruffinelli - FSS 2026</a:t>
            </a:r>
            <a:endParaRPr/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8C15D7FD-F6E9-4186-A92C-04C328ADD910}" type="slidenum"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rPr lang="en-US"/>
              <a:t>Dr. Daniel Ruffinelli - FSS 2026</a:t>
            </a:r>
            <a:endParaRPr/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085C51A9-11D2-458D-8645-63E621A6F6F3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subTitle"/>
          </p:nvPr>
        </p:nvSpPr>
        <p:spPr>
          <a:xfrm>
            <a:off x="684000" y="1982520"/>
            <a:ext cx="7775640" cy="383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rPr lang="en-US"/>
              <a:t>Dr. Daniel Ruffinelli - FSS 2026</a:t>
            </a:r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67B19E80-1C3F-4330-A67B-A0A012D76131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/>
          </p:nvPr>
        </p:nvSpPr>
        <p:spPr>
          <a:xfrm>
            <a:off x="684000" y="1982520"/>
            <a:ext cx="7775640" cy="383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rPr lang="en-US"/>
              <a:t>Dr. Daniel Ruffinelli - FSS 2026</a:t>
            </a:r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DE4CF991-389C-4C0A-8758-72D98B55D159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/>
          </p:nvPr>
        </p:nvSpPr>
        <p:spPr>
          <a:xfrm>
            <a:off x="684000" y="1982520"/>
            <a:ext cx="3794400" cy="383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/>
          </p:nvPr>
        </p:nvSpPr>
        <p:spPr>
          <a:xfrm>
            <a:off x="4668480" y="1982520"/>
            <a:ext cx="3794400" cy="383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rPr lang="en-US"/>
              <a:t>Dr. Daniel Ruffinelli - FSS 2026</a:t>
            </a:r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C4B07C55-1B8E-4F31-8A1A-215D3BD75E4D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rPr lang="en-US"/>
              <a:t>Dr. Daniel Ruffinelli - FSS 2026</a:t>
            </a:r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0AC540A3-B7D8-448F-B0EC-AD3C1E5B3C50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subTitle"/>
          </p:nvPr>
        </p:nvSpPr>
        <p:spPr>
          <a:xfrm>
            <a:off x="684000" y="584640"/>
            <a:ext cx="5478840" cy="5289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rPr lang="en-US"/>
              <a:t>Dr. Daniel Ruffinelli - FSS 2026</a:t>
            </a:r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4B172534-CF53-4E71-ABE5-BE348BF112F6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/>
          </p:nvPr>
        </p:nvSpPr>
        <p:spPr>
          <a:xfrm>
            <a:off x="684000" y="1982520"/>
            <a:ext cx="379440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/>
          </p:nvPr>
        </p:nvSpPr>
        <p:spPr>
          <a:xfrm>
            <a:off x="4668480" y="1982520"/>
            <a:ext cx="3794400" cy="383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61" name="PlaceHolder 4"/>
          <p:cNvSpPr>
            <a:spLocks noGrp="1"/>
          </p:cNvSpPr>
          <p:nvPr>
            <p:ph/>
          </p:nvPr>
        </p:nvSpPr>
        <p:spPr>
          <a:xfrm>
            <a:off x="684000" y="3985200"/>
            <a:ext cx="379440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rPr lang="en-US"/>
              <a:t>Dr. Daniel Ruffinelli - FSS 2026</a:t>
            </a:r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57C3BC56-5075-4239-B0CC-510B2CC9F7F9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684000" y="1982520"/>
            <a:ext cx="3794400" cy="383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68480" y="1982520"/>
            <a:ext cx="379440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/>
          </p:nvPr>
        </p:nvSpPr>
        <p:spPr>
          <a:xfrm>
            <a:off x="4668480" y="3985200"/>
            <a:ext cx="379440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rPr lang="en-US"/>
              <a:t>Dr. Daniel Ruffinelli - FSS 2026</a:t>
            </a:r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F80D29BB-0E38-4184-8319-9FB76EAF6B20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684000" y="1982520"/>
            <a:ext cx="379440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/>
          </p:nvPr>
        </p:nvSpPr>
        <p:spPr>
          <a:xfrm>
            <a:off x="4668480" y="1982520"/>
            <a:ext cx="379440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/>
          </p:nvPr>
        </p:nvSpPr>
        <p:spPr>
          <a:xfrm>
            <a:off x="684000" y="3985200"/>
            <a:ext cx="777564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rPr lang="en-US"/>
              <a:t>Dr. Daniel Ruffinelli - FSS 2026</a:t>
            </a:r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B2E5CC00-36F9-4ADA-956C-51A70F9F4FAC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684000" y="1982520"/>
            <a:ext cx="777564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684000" y="3985200"/>
            <a:ext cx="777564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rPr lang="en-US"/>
              <a:t>Dr. Daniel Ruffinelli - FSS 2026</a:t>
            </a:r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84CD824A-A5EF-4880-96C0-09D23DDADC5A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/>
          </p:nvPr>
        </p:nvSpPr>
        <p:spPr>
          <a:xfrm>
            <a:off x="684000" y="1982520"/>
            <a:ext cx="379440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/>
          </p:nvPr>
        </p:nvSpPr>
        <p:spPr>
          <a:xfrm>
            <a:off x="4668480" y="1982520"/>
            <a:ext cx="379440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76" name="PlaceHolder 4"/>
          <p:cNvSpPr>
            <a:spLocks noGrp="1"/>
          </p:cNvSpPr>
          <p:nvPr>
            <p:ph/>
          </p:nvPr>
        </p:nvSpPr>
        <p:spPr>
          <a:xfrm>
            <a:off x="684000" y="3985200"/>
            <a:ext cx="379440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77" name="PlaceHolder 5"/>
          <p:cNvSpPr>
            <a:spLocks noGrp="1"/>
          </p:cNvSpPr>
          <p:nvPr>
            <p:ph/>
          </p:nvPr>
        </p:nvSpPr>
        <p:spPr>
          <a:xfrm>
            <a:off x="4668480" y="3985200"/>
            <a:ext cx="379440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rPr lang="en-US"/>
              <a:t>Dr. Daniel Ruffinelli - FSS 2026</a:t>
            </a:r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1E639DCF-5707-43B0-BE1A-27A2BDB1265E}" type="slidenum"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/>
          </p:nvPr>
        </p:nvSpPr>
        <p:spPr>
          <a:xfrm>
            <a:off x="684000" y="1982520"/>
            <a:ext cx="250344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/>
          </p:nvPr>
        </p:nvSpPr>
        <p:spPr>
          <a:xfrm>
            <a:off x="3313080" y="1982520"/>
            <a:ext cx="250344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81" name="PlaceHolder 4"/>
          <p:cNvSpPr>
            <a:spLocks noGrp="1"/>
          </p:cNvSpPr>
          <p:nvPr>
            <p:ph/>
          </p:nvPr>
        </p:nvSpPr>
        <p:spPr>
          <a:xfrm>
            <a:off x="5942160" y="1982520"/>
            <a:ext cx="250344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82" name="PlaceHolder 5"/>
          <p:cNvSpPr>
            <a:spLocks noGrp="1"/>
          </p:cNvSpPr>
          <p:nvPr>
            <p:ph/>
          </p:nvPr>
        </p:nvSpPr>
        <p:spPr>
          <a:xfrm>
            <a:off x="684000" y="3985200"/>
            <a:ext cx="250344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83" name="PlaceHolder 6"/>
          <p:cNvSpPr>
            <a:spLocks noGrp="1"/>
          </p:cNvSpPr>
          <p:nvPr>
            <p:ph/>
          </p:nvPr>
        </p:nvSpPr>
        <p:spPr>
          <a:xfrm>
            <a:off x="3313080" y="3985200"/>
            <a:ext cx="250344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84" name="PlaceHolder 7"/>
          <p:cNvSpPr>
            <a:spLocks noGrp="1"/>
          </p:cNvSpPr>
          <p:nvPr>
            <p:ph/>
          </p:nvPr>
        </p:nvSpPr>
        <p:spPr>
          <a:xfrm>
            <a:off x="5942160" y="3985200"/>
            <a:ext cx="250344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rPr lang="en-US"/>
              <a:t>Dr. Daniel Ruffinelli - FSS 2026</a:t>
            </a:r>
            <a:endParaRPr/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F032B626-9F61-4F59-85BE-466A00186FE1}" type="slidenum"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rPr lang="en-US"/>
              <a:t>Dr. Daniel Ruffinelli - FSS 2026</a:t>
            </a:r>
            <a:endParaRPr/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DCFC3136-9EB3-4F92-BBC0-FBCC2B4795D7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684000" y="1982520"/>
            <a:ext cx="7775640" cy="383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rPr lang="en-US"/>
              <a:t>Dr. Daniel Ruffinelli - FSS 2026</a:t>
            </a:r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D823245F-13E0-4EA2-8547-C016672FFEAF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84000" y="1982520"/>
            <a:ext cx="7775640" cy="383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rPr lang="en-US"/>
              <a:t>Dr. Daniel Ruffinelli - FSS 2026</a:t>
            </a:r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121149CE-8790-4EF0-9D77-76EE4D556483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684000" y="1982520"/>
            <a:ext cx="3794400" cy="383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4668480" y="1982520"/>
            <a:ext cx="3794400" cy="383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rPr lang="en-US"/>
              <a:t>Dr. Daniel Ruffinelli - FSS 2026</a:t>
            </a:r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5B0AFF47-A613-4AD4-8709-E6FB8D44531D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rPr lang="en-US"/>
              <a:t>Dr. Daniel Ruffinelli - FSS 2026</a:t>
            </a:r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C342FD9B-9DA9-4577-91B7-A03DA30A6B23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subTitle"/>
          </p:nvPr>
        </p:nvSpPr>
        <p:spPr>
          <a:xfrm>
            <a:off x="684000" y="584640"/>
            <a:ext cx="5478840" cy="5289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rPr lang="en-US"/>
              <a:t>Dr. Daniel Ruffinelli - FSS 2026</a:t>
            </a:r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58BA856D-BB37-4986-87A8-E8A0C53A31D7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684000" y="1982520"/>
            <a:ext cx="379440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/>
          </p:nvPr>
        </p:nvSpPr>
        <p:spPr>
          <a:xfrm>
            <a:off x="4668480" y="1982520"/>
            <a:ext cx="3794400" cy="383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/>
          </p:nvPr>
        </p:nvSpPr>
        <p:spPr>
          <a:xfrm>
            <a:off x="684000" y="3985200"/>
            <a:ext cx="379440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rPr lang="en-US"/>
              <a:t>Dr. Daniel Ruffinelli - FSS 2026</a:t>
            </a:r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009C7EE7-3FBC-4E80-B370-0CCAA72E0D43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684000" y="1982520"/>
            <a:ext cx="3794400" cy="383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/>
          </p:nvPr>
        </p:nvSpPr>
        <p:spPr>
          <a:xfrm>
            <a:off x="4668480" y="1982520"/>
            <a:ext cx="379440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/>
          </p:nvPr>
        </p:nvSpPr>
        <p:spPr>
          <a:xfrm>
            <a:off x="4668480" y="3985200"/>
            <a:ext cx="379440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rPr lang="en-US"/>
              <a:t>Dr. Daniel Ruffinelli - FSS 2026</a:t>
            </a:r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62D5871A-3409-4E1D-A922-23F5D0522782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684000" y="1982520"/>
            <a:ext cx="379440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/>
          </p:nvPr>
        </p:nvSpPr>
        <p:spPr>
          <a:xfrm>
            <a:off x="4668480" y="1982520"/>
            <a:ext cx="379440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/>
          </p:nvPr>
        </p:nvSpPr>
        <p:spPr>
          <a:xfrm>
            <a:off x="684000" y="3985200"/>
            <a:ext cx="777564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rPr lang="en-US"/>
              <a:t>Dr. Daniel Ruffinelli - FSS 2026</a:t>
            </a:r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0C200855-B0F1-4E05-9058-C1E1B01F34A0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684000" y="1982520"/>
            <a:ext cx="777564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/>
          </p:nvPr>
        </p:nvSpPr>
        <p:spPr>
          <a:xfrm>
            <a:off x="684000" y="3985200"/>
            <a:ext cx="777564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rPr lang="en-US"/>
              <a:t>Dr. Daniel Ruffinelli - FSS 2026</a:t>
            </a:r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0B7EB0DD-DFCA-4257-AE6A-42797DDE95CC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684000" y="1982520"/>
            <a:ext cx="379440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668480" y="1982520"/>
            <a:ext cx="379440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684000" y="3985200"/>
            <a:ext cx="379440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4668480" y="3985200"/>
            <a:ext cx="379440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rPr lang="en-US"/>
              <a:t>Dr. Daniel Ruffinelli - FSS 2026</a:t>
            </a:r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A0095FB3-FA80-493D-89B6-D41426A6FA46}" type="slidenum"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/>
          </p:nvPr>
        </p:nvSpPr>
        <p:spPr>
          <a:xfrm>
            <a:off x="684000" y="1982520"/>
            <a:ext cx="250344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/>
          </p:nvPr>
        </p:nvSpPr>
        <p:spPr>
          <a:xfrm>
            <a:off x="3313080" y="1982520"/>
            <a:ext cx="250344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/>
          </p:nvPr>
        </p:nvSpPr>
        <p:spPr>
          <a:xfrm>
            <a:off x="5942160" y="1982520"/>
            <a:ext cx="250344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/>
          </p:nvPr>
        </p:nvSpPr>
        <p:spPr>
          <a:xfrm>
            <a:off x="684000" y="3985200"/>
            <a:ext cx="250344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41" name="PlaceHolder 6"/>
          <p:cNvSpPr>
            <a:spLocks noGrp="1"/>
          </p:cNvSpPr>
          <p:nvPr>
            <p:ph/>
          </p:nvPr>
        </p:nvSpPr>
        <p:spPr>
          <a:xfrm>
            <a:off x="3313080" y="3985200"/>
            <a:ext cx="250344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42" name="PlaceHolder 7"/>
          <p:cNvSpPr>
            <a:spLocks noGrp="1"/>
          </p:cNvSpPr>
          <p:nvPr>
            <p:ph/>
          </p:nvPr>
        </p:nvSpPr>
        <p:spPr>
          <a:xfrm>
            <a:off x="5942160" y="3985200"/>
            <a:ext cx="250344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rPr lang="en-US"/>
              <a:t>Dr. Daniel Ruffinelli - FSS 2026</a:t>
            </a:r>
            <a:endParaRPr/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D10E6E15-24AE-4A45-A7DF-6FBE4474F20F}" type="slidenum"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jpe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8"/>
          <p:cNvPicPr/>
          <p:nvPr/>
        </p:nvPicPr>
        <p:blipFill>
          <a:blip r:embed="rId14"/>
          <a:stretch/>
        </p:blipFill>
        <p:spPr>
          <a:xfrm>
            <a:off x="6678000" y="352800"/>
            <a:ext cx="2008800" cy="928440"/>
          </a:xfrm>
          <a:prstGeom prst="rect">
            <a:avLst/>
          </a:prstGeom>
          <a:ln w="0">
            <a:noFill/>
          </a:ln>
        </p:spPr>
      </p:pic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46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Titelmasterformat durch Klicken bearbeiten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dt" idx="1"/>
          </p:nvPr>
        </p:nvSpPr>
        <p:spPr>
          <a:xfrm>
            <a:off x="683640" y="6386400"/>
            <a:ext cx="213336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&lt;date/time&gt;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ftr" idx="2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sldNum" idx="3"/>
          </p:nvPr>
        </p:nvSpPr>
        <p:spPr>
          <a:xfrm>
            <a:off x="7405920" y="6134400"/>
            <a:ext cx="105408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r"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EC8508E-B35F-4A56-8FD3-AC0DEAF0C572}" type="slidenum">
              <a:rPr lang="de-DE" sz="1200" b="0" strike="noStrike" spc="-1">
                <a:solidFill>
                  <a:srgbClr val="003056"/>
                </a:solidFill>
                <a:latin typeface="Calibri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  <p:pic>
        <p:nvPicPr>
          <p:cNvPr id="5" name="Grafik 7"/>
          <p:cNvPicPr/>
          <p:nvPr/>
        </p:nvPicPr>
        <p:blipFill>
          <a:blip r:embed="rId15"/>
          <a:srcRect t="12590" b="25700"/>
          <a:stretch/>
        </p:blipFill>
        <p:spPr>
          <a:xfrm>
            <a:off x="0" y="2058840"/>
            <a:ext cx="9143640" cy="3761640"/>
          </a:xfrm>
          <a:prstGeom prst="rect">
            <a:avLst/>
          </a:prstGeom>
          <a:ln w="0">
            <a:noFill/>
          </a:ln>
        </p:spPr>
      </p:pic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400" b="0" strike="noStrike" spc="-1">
                <a:solidFill>
                  <a:srgbClr val="003056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800" b="0" strike="noStrike" spc="-1">
                <a:solidFill>
                  <a:srgbClr val="003056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600" b="0" strike="noStrike" spc="-1">
                <a:solidFill>
                  <a:srgbClr val="003056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600" b="0" strike="noStrike" spc="-1">
                <a:solidFill>
                  <a:srgbClr val="003056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strike="noStrike" spc="-1">
                <a:solidFill>
                  <a:srgbClr val="003056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strike="noStrike" spc="-1">
                <a:solidFill>
                  <a:srgbClr val="003056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strike="noStrike" spc="-1">
                <a:solidFill>
                  <a:srgbClr val="003056"/>
                </a:solid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rafik 8"/>
          <p:cNvPicPr/>
          <p:nvPr/>
        </p:nvPicPr>
        <p:blipFill>
          <a:blip r:embed="rId14"/>
          <a:stretch/>
        </p:blipFill>
        <p:spPr>
          <a:xfrm>
            <a:off x="6678000" y="352800"/>
            <a:ext cx="2008800" cy="928440"/>
          </a:xfrm>
          <a:prstGeom prst="rect">
            <a:avLst/>
          </a:prstGeom>
          <a:ln w="0">
            <a:noFill/>
          </a:ln>
        </p:spPr>
      </p:pic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Titelmasterformat durch Klicken bearbeiten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684000" y="1982520"/>
            <a:ext cx="7775640" cy="383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3056"/>
              </a:buClr>
              <a:buFont typeface="Arial"/>
              <a:buChar char="•"/>
            </a:pPr>
            <a:r>
              <a:rPr lang="de-DE" sz="2400" b="0" strike="noStrike" spc="-1">
                <a:solidFill>
                  <a:srgbClr val="003056"/>
                </a:solidFill>
                <a:latin typeface="Calibri"/>
              </a:rPr>
              <a:t>Formatvorlagen des Textmasters bearbeiten</a:t>
            </a:r>
          </a:p>
          <a:p>
            <a:pPr marL="743040" lvl="1" indent="-28584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–"/>
            </a:pPr>
            <a:r>
              <a:rPr lang="de-DE" sz="2000" b="0" strike="noStrike" spc="-1">
                <a:solidFill>
                  <a:srgbClr val="003056"/>
                </a:solidFill>
                <a:latin typeface="Calibri"/>
              </a:rPr>
              <a:t>Zweite Ebene</a:t>
            </a:r>
          </a:p>
          <a:p>
            <a:pPr marL="1143000" lvl="2" indent="-2286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de-DE" sz="1800" b="0" strike="noStrike" spc="-1">
                <a:solidFill>
                  <a:srgbClr val="003056"/>
                </a:solidFill>
                <a:latin typeface="Calibri"/>
              </a:rPr>
              <a:t>Dritte Ebene</a:t>
            </a:r>
          </a:p>
          <a:p>
            <a:pPr marL="1600200" lvl="3" indent="-228600">
              <a:lnSpc>
                <a:spcPct val="100000"/>
              </a:lnSpc>
              <a:spcBef>
                <a:spcPts val="320"/>
              </a:spcBef>
              <a:buClr>
                <a:srgbClr val="003056"/>
              </a:buClr>
              <a:buFont typeface="Arial"/>
              <a:buChar char="–"/>
            </a:pPr>
            <a:r>
              <a:rPr lang="de-DE" sz="1600" b="0" strike="noStrike" spc="-1">
                <a:solidFill>
                  <a:srgbClr val="003056"/>
                </a:solidFill>
                <a:latin typeface="Calibri"/>
              </a:rPr>
              <a:t>Vierte Ebene</a:t>
            </a:r>
          </a:p>
          <a:p>
            <a:pPr marL="2057400" lvl="4" indent="-228600">
              <a:lnSpc>
                <a:spcPct val="100000"/>
              </a:lnSpc>
              <a:spcBef>
                <a:spcPts val="320"/>
              </a:spcBef>
              <a:buClr>
                <a:srgbClr val="003056"/>
              </a:buClr>
              <a:buFont typeface="Arial"/>
              <a:buChar char="»"/>
            </a:pPr>
            <a:r>
              <a:rPr lang="de-DE" sz="1600" b="0" strike="noStrike" spc="-1">
                <a:solidFill>
                  <a:srgbClr val="003056"/>
                </a:solidFill>
                <a:latin typeface="Calibri"/>
              </a:rPr>
              <a:t>Fünfte Ebene</a:t>
            </a:r>
          </a:p>
        </p:txBody>
      </p:sp>
      <p:sp>
        <p:nvSpPr>
          <p:cNvPr id="46" name="PlaceHolder 3"/>
          <p:cNvSpPr>
            <a:spLocks noGrp="1"/>
          </p:cNvSpPr>
          <p:nvPr>
            <p:ph type="dt" idx="4"/>
          </p:nvPr>
        </p:nvSpPr>
        <p:spPr>
          <a:xfrm>
            <a:off x="683640" y="6386400"/>
            <a:ext cx="213336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&lt;date/time&gt;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ftr" idx="5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sldNum" idx="6"/>
          </p:nvPr>
        </p:nvSpPr>
        <p:spPr>
          <a:xfrm>
            <a:off x="7405920" y="6134400"/>
            <a:ext cx="105408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r"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0BE7103-EC84-4A0B-B05A-777F461E2598}" type="slidenum">
              <a:rPr lang="de-DE" sz="1200" b="0" strike="noStrike" spc="-1">
                <a:solidFill>
                  <a:srgbClr val="003056"/>
                </a:solidFill>
                <a:latin typeface="Calibri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8"/>
          <p:cNvPicPr/>
          <p:nvPr/>
        </p:nvPicPr>
        <p:blipFill>
          <a:blip r:embed="rId14"/>
          <a:stretch/>
        </p:blipFill>
        <p:spPr>
          <a:xfrm>
            <a:off x="6678000" y="352800"/>
            <a:ext cx="2008800" cy="928440"/>
          </a:xfrm>
          <a:prstGeom prst="rect">
            <a:avLst/>
          </a:prstGeom>
          <a:ln w="0">
            <a:noFill/>
          </a:ln>
        </p:spPr>
      </p:pic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46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Titelmasterformat durch Klicken bearbeiten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dt" idx="1"/>
          </p:nvPr>
        </p:nvSpPr>
        <p:spPr>
          <a:xfrm>
            <a:off x="683640" y="6386400"/>
            <a:ext cx="213336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&lt;date/time&gt;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ftr" idx="2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sldNum" idx="3"/>
          </p:nvPr>
        </p:nvSpPr>
        <p:spPr>
          <a:xfrm>
            <a:off x="7405920" y="6134400"/>
            <a:ext cx="105408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r"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74C143E-6237-4F72-A38B-0520E408C469}" type="slidenum">
              <a:rPr lang="de-DE" sz="1200" b="0" strike="noStrike" spc="-1">
                <a:solidFill>
                  <a:srgbClr val="003056"/>
                </a:solidFill>
                <a:latin typeface="Calibri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  <p:pic>
        <p:nvPicPr>
          <p:cNvPr id="5" name="Grafik 7"/>
          <p:cNvPicPr/>
          <p:nvPr/>
        </p:nvPicPr>
        <p:blipFill>
          <a:blip r:embed="rId15"/>
          <a:srcRect t="12590" b="25700"/>
          <a:stretch/>
        </p:blipFill>
        <p:spPr>
          <a:xfrm>
            <a:off x="0" y="2058840"/>
            <a:ext cx="9143640" cy="3761640"/>
          </a:xfrm>
          <a:prstGeom prst="rect">
            <a:avLst/>
          </a:prstGeom>
          <a:ln w="0">
            <a:noFill/>
          </a:ln>
        </p:spPr>
      </p:pic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400" b="0" strike="noStrike" spc="-1">
                <a:solidFill>
                  <a:srgbClr val="003056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800" b="0" strike="noStrike" spc="-1">
                <a:solidFill>
                  <a:srgbClr val="003056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600" b="0" strike="noStrike" spc="-1">
                <a:solidFill>
                  <a:srgbClr val="003056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600" b="0" strike="noStrike" spc="-1">
                <a:solidFill>
                  <a:srgbClr val="003056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strike="noStrike" spc="-1">
                <a:solidFill>
                  <a:srgbClr val="003056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strike="noStrike" spc="-1">
                <a:solidFill>
                  <a:srgbClr val="003056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strike="noStrike" spc="-1">
                <a:solidFill>
                  <a:srgbClr val="003056"/>
                </a:solid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creativecommons.org/licenses/by/4.0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pdf/1801.06146.pdf" TargetMode="Externa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static.googleusercontent.com/media/research.google.com/en/pubs/archive/37842.pdf" TargetMode="External"/><Relationship Id="rId2" Type="http://schemas.openxmlformats.org/officeDocument/2006/relationships/hyperlink" Target="https://arxiv.org/abs/1508.07909" TargetMode="External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arxiv.org/pdf/1808.06226.pdf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arxiv.org/abs/1608.05859" TargetMode="Externa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gwern.net/doc/psychology/writing/1953-taylor.pdf" TargetMode="Externa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pdf/1810.04805.pdf" TargetMode="Externa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pdf/1609.08144.pdf" TargetMode="Externa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1907.10529.pdf" TargetMode="External"/><Relationship Id="rId2" Type="http://schemas.openxmlformats.org/officeDocument/2006/relationships/hyperlink" Target="https://arxiv.org/pdf/1907.11692.pdf" TargetMode="Externa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https://arxiv.org/pdf/1908.10084.pdf" TargetMode="Externa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1610.02424" TargetMode="External"/><Relationship Id="rId2" Type="http://schemas.openxmlformats.org/officeDocument/2006/relationships/hyperlink" Target="https://arxiv.org/pdf/1601.00372" TargetMode="External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hyperlink" Target="https://cdn.openai.com/research-covers/language-unsupervised/language_understanding_paper.pdf" TargetMode="External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2005.14165.pdf" TargetMode="External"/><Relationship Id="rId2" Type="http://schemas.openxmlformats.org/officeDocument/2006/relationships/hyperlink" Target="https://cdn.openai.com/better-language-models/language_models_are_unsupervised_multitask_learners.pdf" TargetMode="External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arxiv.org/pdf/1904.10509.pdf" TargetMode="Externa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openreview.net/pdf?id=r1xMH1BtvB" TargetMode="External"/><Relationship Id="rId2" Type="http://schemas.openxmlformats.org/officeDocument/2006/relationships/hyperlink" Target="https://arxiv.org/pdf/1910.10683.pdf" TargetMode="Externa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2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2412.13663" TargetMode="External"/><Relationship Id="rId2" Type="http://schemas.openxmlformats.org/officeDocument/2006/relationships/hyperlink" Target="https://huggingface.co/models?sort=downloads" TargetMode="External"/><Relationship Id="rId1" Type="http://schemas.openxmlformats.org/officeDocument/2006/relationships/slideLayout" Target="../slideLayouts/slideLayout13.xml"/><Relationship Id="rId6" Type="http://schemas.openxmlformats.org/officeDocument/2006/relationships/hyperlink" Target="https://arxiv.org/pdf/2502.19587" TargetMode="External"/><Relationship Id="rId5" Type="http://schemas.openxmlformats.org/officeDocument/2006/relationships/hyperlink" Target="https://arxiv.org/pdf/2509.06888" TargetMode="External"/><Relationship Id="rId4" Type="http://schemas.openxmlformats.org/officeDocument/2006/relationships/hyperlink" Target="https://arxiv.org/pdf/2408.00118" TargetMode="Externa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hyperlink" Target="http://fancyerii.github.io/2022/10/24/learn-huggingface-transformers02/" TargetMode="External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hyperlink" Target="https://llama.meta.com/llama3/" TargetMode="External"/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hyperlink" Target="http://proceedings.mlr.press/v97/houlsby19a/houlsby19a.pdf" TargetMode="External"/><Relationship Id="rId2" Type="http://schemas.openxmlformats.org/officeDocument/2006/relationships/hyperlink" Target="https://proceedings.neurips.cc/paper_files/paper/2017/file/e7b24b112a44fdd9ee93bdf998c6ca0e-Paper.pdf" TargetMode="Externa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8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3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2005.00247" TargetMode="External"/><Relationship Id="rId2" Type="http://schemas.openxmlformats.org/officeDocument/2006/relationships/hyperlink" Target="https://aclanthology.org/D19-1165.pdf" TargetMode="Externa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0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hyperlink" Target="https://arxiv.org/pdf/2106.09685.pdf" TargetMode="External"/><Relationship Id="rId1" Type="http://schemas.openxmlformats.org/officeDocument/2006/relationships/slideLayout" Target="../slideLayouts/slideLayout13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hyperlink" Target="https://openreview.net/pdf?id=z9EkXfvxta" TargetMode="External"/><Relationship Id="rId1" Type="http://schemas.openxmlformats.org/officeDocument/2006/relationships/slideLayout" Target="../slideLayouts/slideLayout13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hyperlink" Target="https://arxiv.org/pdf/2104.08691.pdf" TargetMode="External"/><Relationship Id="rId1" Type="http://schemas.openxmlformats.org/officeDocument/2006/relationships/slideLayout" Target="../slideLayouts/slideLayout13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2110.07602.pdf" TargetMode="External"/><Relationship Id="rId2" Type="http://schemas.openxmlformats.org/officeDocument/2006/relationships/hyperlink" Target="https://aclanthology.org/2021.acl-long.353.pdf" TargetMode="External"/><Relationship Id="rId1" Type="http://schemas.openxmlformats.org/officeDocument/2006/relationships/slideLayout" Target="../slideLayouts/slideLayout13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46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2400" b="1" strike="noStrike" spc="-1">
                <a:solidFill>
                  <a:srgbClr val="003056"/>
                </a:solidFill>
                <a:latin typeface="Calibri"/>
              </a:rPr>
              <a:t>Advanced Methods in Text Analytics</a:t>
            </a:r>
            <a:endParaRPr lang="de-DE" sz="2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 type="subTitle"/>
          </p:nvPr>
        </p:nvSpPr>
        <p:spPr>
          <a:xfrm>
            <a:off x="669240" y="1051200"/>
            <a:ext cx="5478840" cy="395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601"/>
              </a:spcBef>
              <a:tabLst>
                <a:tab pos="0" algn="l"/>
              </a:tabLst>
            </a:pPr>
            <a:r>
              <a:rPr lang="de-DE" sz="3000" b="1" spc="-1" dirty="0">
                <a:solidFill>
                  <a:srgbClr val="003056"/>
                </a:solidFill>
                <a:latin typeface="Calibri"/>
              </a:rPr>
              <a:t>Transfer Learning</a:t>
            </a:r>
            <a:endParaRPr lang="en-US" sz="3000" b="0" strike="noStrike" spc="-1" dirty="0">
              <a:latin typeface="Arial"/>
            </a:endParaRPr>
          </a:p>
        </p:txBody>
      </p:sp>
      <p:sp>
        <p:nvSpPr>
          <p:cNvPr id="87" name="PlaceHolder 3"/>
          <p:cNvSpPr>
            <a:spLocks noGrp="1"/>
          </p:cNvSpPr>
          <p:nvPr>
            <p:ph type="ftr" idx="7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978A2266-F34C-47F6-BEA5-1DDF729F4A51}" type="slidenum">
              <a:t>1</a:t>
            </a:fld>
            <a:endParaRPr/>
          </a:p>
        </p:txBody>
      </p:sp>
      <p:pic>
        <p:nvPicPr>
          <p:cNvPr id="2" name="Picture 1" descr="A grey and black sign with a person in a circle&#10;&#10;AI-generated content may be incorrect.">
            <a:extLst>
              <a:ext uri="{FF2B5EF4-FFF2-40B4-BE49-F238E27FC236}">
                <a16:creationId xmlns:a16="http://schemas.microsoft.com/office/drawing/2014/main" id="{A6EB16EE-C50D-9D48-8E6B-5D8EC6E31B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4308" y="5976378"/>
            <a:ext cx="1342465" cy="485775"/>
          </a:xfrm>
          <a:prstGeom prst="rect">
            <a:avLst/>
          </a:prstGeom>
        </p:spPr>
      </p:pic>
      <p:sp>
        <p:nvSpPr>
          <p:cNvPr id="4" name="TextBox 5">
            <a:extLst>
              <a:ext uri="{FF2B5EF4-FFF2-40B4-BE49-F238E27FC236}">
                <a16:creationId xmlns:a16="http://schemas.microsoft.com/office/drawing/2014/main" id="{22682AD7-232E-1FE6-8B66-ED09608E2651}"/>
              </a:ext>
            </a:extLst>
          </p:cNvPr>
          <p:cNvSpPr txBox="1"/>
          <p:nvPr/>
        </p:nvSpPr>
        <p:spPr>
          <a:xfrm>
            <a:off x="3999178" y="6089113"/>
            <a:ext cx="4143858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spc="-1" dirty="0">
                <a:solidFill>
                  <a:srgbClr val="003056"/>
                </a:solidFill>
                <a:latin typeface="Calibri"/>
                <a:hlinkClick r:id="rId3"/>
              </a:rPr>
              <a:t>Licensed under Creative Commons Attribution 4.0 International</a:t>
            </a:r>
            <a:endParaRPr lang="en-US" sz="1200" spc="-1" dirty="0">
              <a:solidFill>
                <a:srgbClr val="003056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848100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What is Transfer Learning?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ftr" idx="8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4673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“Acquiring knowledge from one task or domain, and then applying it (</a:t>
            </a:r>
            <a:r>
              <a:rPr lang="en-US" sz="2000" b="0" i="1" strike="noStrike" spc="-1" dirty="0">
                <a:solidFill>
                  <a:srgbClr val="003056"/>
                </a:solidFill>
                <a:latin typeface="Calibri"/>
              </a:rPr>
              <a:t>transferring</a:t>
            </a: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 it) to solve a new task.” </a:t>
            </a:r>
            <a:r>
              <a:rPr lang="en-US" sz="2000" b="0" strike="noStrike" spc="-1" dirty="0" err="1">
                <a:solidFill>
                  <a:srgbClr val="003056"/>
                </a:solidFill>
                <a:latin typeface="Calibri"/>
              </a:rPr>
              <a:t>Jurafsky</a:t>
            </a: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 et al. </a:t>
            </a:r>
            <a:r>
              <a:rPr lang="en-US" sz="2000" spc="-1" dirty="0">
                <a:solidFill>
                  <a:srgbClr val="003056"/>
                </a:solidFill>
                <a:latin typeface="Calibri"/>
              </a:rPr>
              <a:t>2025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trike="noStrike" spc="-1" dirty="0">
                <a:solidFill>
                  <a:srgbClr val="003056"/>
                </a:solidFill>
                <a:latin typeface="Calibri"/>
              </a:rPr>
              <a:t>Common approach</a:t>
            </a: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 follows </a:t>
            </a:r>
            <a:r>
              <a:rPr lang="en-US" sz="2000" b="1" strike="noStrike" spc="-1" dirty="0">
                <a:solidFill>
                  <a:srgbClr val="003056"/>
                </a:solidFill>
                <a:latin typeface="Calibri"/>
              </a:rPr>
              <a:t>two-steps </a:t>
            </a: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(</a:t>
            </a:r>
            <a:r>
              <a:rPr lang="en-US" sz="2000" b="0" u="sng" strike="noStrike" spc="-1" dirty="0">
                <a:solidFill>
                  <a:srgbClr val="0000FF"/>
                </a:solidFill>
                <a:uFillTx/>
                <a:latin typeface="Calibri"/>
                <a:hlinkClick r:id="rId2"/>
              </a:rPr>
              <a:t>Howard and Ruder, 2018</a:t>
            </a: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)</a:t>
            </a:r>
            <a:r>
              <a:rPr lang="en-US" sz="2000" b="1" strike="noStrike" spc="-1" dirty="0">
                <a:solidFill>
                  <a:srgbClr val="003056"/>
                </a:solidFill>
                <a:latin typeface="Calibri"/>
              </a:rPr>
              <a:t>: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800100" lvl="1" indent="-3429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Calibri"/>
              <a:buAutoNum type="arabicPeriod"/>
            </a:pPr>
            <a:r>
              <a:rPr lang="en-US" sz="1800" b="1" strike="noStrike" spc="-1" dirty="0">
                <a:solidFill>
                  <a:srgbClr val="003056"/>
                </a:solidFill>
                <a:latin typeface="Calibri"/>
              </a:rPr>
              <a:t>Pre-training 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a model on some tasks that “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allows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” model to learn rich representations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800100" lvl="1" indent="-3429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Calibri"/>
              <a:buAutoNum type="arabicPeriod"/>
            </a:pPr>
            <a:r>
              <a:rPr lang="en-US" sz="1800" b="1" strike="noStrike" spc="-1" dirty="0">
                <a:solidFill>
                  <a:srgbClr val="003056"/>
                </a:solidFill>
                <a:latin typeface="Calibri"/>
              </a:rPr>
              <a:t>Fine-tuning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 the learned representations (weights) in the context of a new downstream application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99415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Why is it called </a:t>
            </a:r>
            <a:r>
              <a:rPr lang="en-US" sz="2000" b="1" strike="noStrike" spc="-1" dirty="0">
                <a:solidFill>
                  <a:srgbClr val="003056"/>
                </a:solidFill>
                <a:latin typeface="Calibri"/>
              </a:rPr>
              <a:t>pre</a:t>
            </a: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-training?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Train model for general use 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before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 using it on specific applications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99415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trike="noStrike" spc="-1" dirty="0">
                <a:solidFill>
                  <a:srgbClr val="003056"/>
                </a:solidFill>
                <a:latin typeface="Calibri"/>
              </a:rPr>
              <a:t>Fine-tuning </a:t>
            </a: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refers to </a:t>
            </a:r>
            <a:r>
              <a:rPr lang="en-US" sz="2000" b="1" strike="noStrike" spc="-1" dirty="0">
                <a:solidFill>
                  <a:srgbClr val="003056"/>
                </a:solidFill>
                <a:latin typeface="Calibri"/>
              </a:rPr>
              <a:t>further updating weights </a:t>
            </a: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of pre-trained model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Downstream task usually implies using a </a:t>
            </a:r>
            <a:r>
              <a:rPr lang="en-US" sz="1800" b="1" strike="noStrike" spc="-1" dirty="0">
                <a:solidFill>
                  <a:srgbClr val="003056"/>
                </a:solidFill>
                <a:latin typeface="Calibri"/>
              </a:rPr>
              <a:t>downstream model 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in combination with the pre-trained model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Updating weights </a:t>
            </a:r>
            <a:r>
              <a:rPr lang="en-US" sz="1800" b="1" strike="noStrike" spc="-1" dirty="0">
                <a:solidFill>
                  <a:srgbClr val="003056"/>
                </a:solidFill>
                <a:latin typeface="Calibri"/>
              </a:rPr>
              <a:t>may result in “catastrophic forgetting”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99415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 dirty="0">
                <a:solidFill>
                  <a:srgbClr val="003056"/>
                </a:solidFill>
                <a:latin typeface="Calibri"/>
              </a:rPr>
              <a:t>Focus this week:</a:t>
            </a: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 pre-training tasks and architectures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</a:rPr>
              <a:t>Next week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: fine-tuning methods and applications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796BA57D-F94E-4042-A44D-1E6FA0D3A49E}" type="slidenum">
              <a:t>2</a:t>
            </a:fld>
            <a:endParaRPr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500"/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2" dur="500"/>
                                        <p:tgtEl>
                                          <p:spTgt spid="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5" dur="500"/>
                                        <p:tgtEl>
                                          <p:spTgt spid="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8" dur="500"/>
                                        <p:tgtEl>
                                          <p:spTgt spid="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3" dur="500"/>
                                        <p:tgtEl>
                                          <p:spTgt spid="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6" dur="500"/>
                                        <p:tgtEl>
                                          <p:spTgt spid="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1" dur="500"/>
                                        <p:tgtEl>
                                          <p:spTgt spid="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4" dur="500"/>
                                        <p:tgtEl>
                                          <p:spTgt spid="9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7" dur="500"/>
                                        <p:tgtEl>
                                          <p:spTgt spid="9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2" dur="500"/>
                                        <p:tgtEl>
                                          <p:spTgt spid="9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5" dur="500"/>
                                        <p:tgtEl>
                                          <p:spTgt spid="9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But First, a Word on Tokenization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ftr" idx="9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4673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Recall introduction lecture: </a:t>
            </a:r>
            <a:r>
              <a:rPr lang="en-US" sz="2000" b="1" strike="noStrike" spc="-1" dirty="0">
                <a:solidFill>
                  <a:srgbClr val="003056"/>
                </a:solidFill>
                <a:latin typeface="Calibri"/>
              </a:rPr>
              <a:t>tokenization is important!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Should we tokenize words? What are words?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Should we tokenize characters? What meaning do they encode?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Nice sweet spot: tokenize </a:t>
            </a:r>
            <a:r>
              <a:rPr lang="en-US" sz="2000" b="0" strike="noStrike" spc="-1" dirty="0" err="1">
                <a:solidFill>
                  <a:srgbClr val="003056"/>
                </a:solidFill>
                <a:latin typeface="Calibri"/>
              </a:rPr>
              <a:t>subwords</a:t>
            </a:r>
            <a:endParaRPr lang="de-DE" sz="2000" b="0" strike="noStrike" spc="-1" dirty="0" err="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E.g. 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unlikeliest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 -&gt; 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un-likely-</a:t>
            </a:r>
            <a:r>
              <a:rPr lang="en-US" sz="1800" b="0" i="1" strike="noStrike" spc="-1" dirty="0" err="1">
                <a:solidFill>
                  <a:srgbClr val="003056"/>
                </a:solidFill>
                <a:latin typeface="Calibri"/>
              </a:rPr>
              <a:t>est</a:t>
            </a:r>
            <a:endParaRPr lang="de-DE" sz="1800" b="0" strike="noStrike" spc="-1" dirty="0" err="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Each a 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morpheme, i.e. a meaning-bearing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 unit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trike="noStrike" spc="-1" dirty="0">
                <a:solidFill>
                  <a:srgbClr val="003056"/>
                </a:solidFill>
                <a:latin typeface="Calibri"/>
              </a:rPr>
              <a:t>Byte-Pair Encoding </a:t>
            </a: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(</a:t>
            </a:r>
            <a:r>
              <a:rPr lang="en-US" sz="2000" b="0" u="sng" strike="noStrike" spc="-1" dirty="0">
                <a:solidFill>
                  <a:srgbClr val="0000FF"/>
                </a:solidFill>
                <a:uFillTx/>
                <a:latin typeface="Calibri"/>
                <a:hlinkClick r:id="rId2"/>
              </a:rPr>
              <a:t>Sennrich et al. 2016</a:t>
            </a: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): very common </a:t>
            </a:r>
            <a:r>
              <a:rPr lang="en-US" sz="2000" b="0" strike="noStrike" spc="-1" dirty="0" err="1">
                <a:solidFill>
                  <a:srgbClr val="003056"/>
                </a:solidFill>
                <a:latin typeface="Calibri"/>
              </a:rPr>
              <a:t>subword</a:t>
            </a: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 tokenizer, roughly as follows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800100" lvl="1" indent="-3429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Calibri"/>
              <a:buAutoNum type="arabicPeriod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Starting vocabulary 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V 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is set of characters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800100" lvl="1" indent="-3429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Calibri"/>
              <a:buAutoNum type="arabicPeriod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Find most common two-character </a:t>
            </a:r>
            <a:r>
              <a:rPr lang="en-US" sz="1800" b="0" strike="noStrike" spc="-1" dirty="0" err="1">
                <a:solidFill>
                  <a:srgbClr val="003056"/>
                </a:solidFill>
                <a:latin typeface="Calibri"/>
              </a:rPr>
              <a:t>subword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, create token for it, add to 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V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800100" lvl="1" indent="-3429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Calibri"/>
              <a:buAutoNum type="arabicPeriod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Keep finding common and longer </a:t>
            </a:r>
            <a:r>
              <a:rPr lang="en-US" sz="1800" b="0" strike="noStrike" spc="-1" dirty="0" err="1">
                <a:solidFill>
                  <a:srgbClr val="003056"/>
                </a:solidFill>
                <a:latin typeface="Calibri"/>
              </a:rPr>
              <a:t>subwords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 until 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k 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new tokens are created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399415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Thus, can handle unknown words</a:t>
            </a:r>
            <a:r>
              <a:rPr lang="en-US" sz="2000" spc="-1" dirty="0">
                <a:solidFill>
                  <a:srgbClr val="003056"/>
                </a:solidFill>
                <a:latin typeface="Calibri"/>
              </a:rPr>
              <a:t> by breaking them into characters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Variants exist, e.g. </a:t>
            </a:r>
            <a:r>
              <a:rPr lang="en-US" sz="1800" b="0" u="sng" strike="noStrike" spc="-1" dirty="0" err="1">
                <a:solidFill>
                  <a:srgbClr val="0000FF"/>
                </a:solidFill>
                <a:uFillTx/>
                <a:latin typeface="Calibri"/>
                <a:hlinkClick r:id="rId3"/>
              </a:rPr>
              <a:t>WordPiece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, </a:t>
            </a:r>
            <a:r>
              <a:rPr lang="en-US" sz="1800" b="0" u="sng" strike="noStrike" spc="-1" dirty="0" err="1">
                <a:solidFill>
                  <a:srgbClr val="0000FF"/>
                </a:solidFill>
                <a:uFillTx/>
                <a:latin typeface="Calibri"/>
                <a:hlinkClick r:id="rId4"/>
              </a:rPr>
              <a:t>SentencePiece</a:t>
            </a:r>
            <a:endParaRPr lang="de-DE" sz="1800" b="0" strike="noStrike" spc="-1" dirty="0" err="1">
              <a:solidFill>
                <a:srgbClr val="003056"/>
              </a:solidFill>
              <a:latin typeface="Calibri"/>
            </a:endParaRPr>
          </a:p>
          <a:p>
            <a:pPr marL="399415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>
                <a:solidFill>
                  <a:srgbClr val="003056"/>
                </a:solidFill>
                <a:latin typeface="Calibri"/>
              </a:rPr>
              <a:t>Tokenization is the sole focus the next lecture slides</a:t>
            </a:r>
            <a:endParaRPr lang="de-DE" sz="200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D35486B5-FEA3-4FBC-8390-FF95CFC976B3}" type="slidenum">
              <a:t>3</a:t>
            </a:fld>
            <a:endParaRPr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500"/>
                                        <p:tgtEl>
                                          <p:spTgt spid="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0" dur="500"/>
                                        <p:tgtEl>
                                          <p:spTgt spid="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3" dur="500"/>
                                        <p:tgtEl>
                                          <p:spTgt spid="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8" dur="500"/>
                                        <p:tgtEl>
                                          <p:spTgt spid="9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1" dur="500"/>
                                        <p:tgtEl>
                                          <p:spTgt spid="9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4" dur="500"/>
                                        <p:tgtEl>
                                          <p:spTgt spid="9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9" dur="500"/>
                                        <p:tgtEl>
                                          <p:spTgt spid="9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2" dur="500"/>
                                        <p:tgtEl>
                                          <p:spTgt spid="9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5" dur="500"/>
                                        <p:tgtEl>
                                          <p:spTgt spid="9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8" dur="500"/>
                                        <p:tgtEl>
                                          <p:spTgt spid="9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3" dur="500"/>
                                        <p:tgtEl>
                                          <p:spTgt spid="9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6" dur="500"/>
                                        <p:tgtEl>
                                          <p:spTgt spid="9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51" dur="500"/>
                                        <p:tgtEl>
                                          <p:spTgt spid="9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Outline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ftr" idx="10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96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4673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360"/>
              </a:spcBef>
              <a:buNone/>
            </a:pP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79"/>
              </a:spcBef>
              <a:buClr>
                <a:srgbClr val="003056"/>
              </a:buClr>
              <a:buFont typeface="Calibri"/>
              <a:buAutoNum type="arabicPeriod"/>
              <a:tabLst>
                <a:tab pos="0" algn="l"/>
              </a:tabLst>
            </a:pPr>
            <a:r>
              <a:rPr lang="en-US" sz="2400" b="1" strike="noStrike" spc="-1" dirty="0">
                <a:solidFill>
                  <a:srgbClr val="003056"/>
                </a:solidFill>
                <a:latin typeface="Calibri"/>
              </a:rPr>
              <a:t>Pre-Training</a:t>
            </a:r>
            <a:endParaRPr lang="en-US" sz="2400" b="1" strike="noStrike" spc="-1">
              <a:solidFill>
                <a:srgbClr val="003056"/>
              </a:solidFill>
              <a:latin typeface="Calibri"/>
            </a:endParaRPr>
          </a:p>
          <a:p>
            <a:pPr marL="800100" lvl="1" indent="-342900">
              <a:lnSpc>
                <a:spcPct val="100000"/>
              </a:lnSpc>
              <a:spcBef>
                <a:spcPts val="479"/>
              </a:spcBef>
              <a:buClr>
                <a:srgbClr val="003056"/>
              </a:buClr>
              <a:buAutoNum type="arabicPeriod"/>
              <a:tabLst>
                <a:tab pos="0" algn="l"/>
              </a:tabLst>
            </a:pPr>
            <a:r>
              <a:rPr lang="en-US" sz="2000" spc="-1">
                <a:solidFill>
                  <a:srgbClr val="003056"/>
                </a:solidFill>
                <a:latin typeface="Calibri"/>
              </a:rPr>
              <a:t>Transformer-based language models</a:t>
            </a:r>
            <a:endParaRPr lang="en-US" sz="2000" spc="-1" dirty="0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Calibri"/>
              <a:buAutoNum type="arabicPeriod"/>
              <a:tabLst>
                <a:tab pos="0" algn="l"/>
              </a:tabLst>
            </a:pP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Masked Language Models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Calibri"/>
              <a:buAutoNum type="arabicPeriod"/>
              <a:tabLst>
                <a:tab pos="0" algn="l"/>
              </a:tabLst>
            </a:pP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Causal (or Autoregressive) Language </a:t>
            </a:r>
            <a:r>
              <a:rPr lang="en-US" sz="2000" spc="-1" dirty="0">
                <a:solidFill>
                  <a:srgbClr val="003056"/>
                </a:solidFill>
                <a:latin typeface="Calibri"/>
              </a:rPr>
              <a:t>Models</a:t>
            </a:r>
            <a:endParaRPr lang="de-DE" spc="-1" dirty="0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AutoNum type="arabicPeriod"/>
              <a:tabLst>
                <a:tab pos="0" algn="l"/>
              </a:tabLst>
            </a:pPr>
            <a:endParaRPr lang="en-US" sz="2000" spc="-1" dirty="0">
              <a:solidFill>
                <a:srgbClr val="003056"/>
              </a:solidFill>
              <a:latin typeface="Calibri"/>
            </a:endParaRPr>
          </a:p>
          <a:p>
            <a:pPr marL="28575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AutoNum type="arabicPeriod"/>
              <a:tabLst>
                <a:tab pos="0" algn="l"/>
              </a:tabLst>
            </a:pPr>
            <a:r>
              <a:rPr lang="en-US" sz="2400" b="1" spc="-1" dirty="0">
                <a:solidFill>
                  <a:srgbClr val="003056"/>
                </a:solidFill>
                <a:latin typeface="Calibri"/>
              </a:rPr>
              <a:t> Fine-Tuning</a:t>
            </a:r>
            <a:endParaRPr lang="de-DE" sz="2400" b="0" strike="noStrike" spc="-1" dirty="0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6F1E7751-1D71-4EF6-94DE-605937CA22BF}" type="slidenum">
              <a:t>4</a:t>
            </a:fld>
            <a:endParaRPr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500"/>
                                        <p:tgtEl>
                                          <p:spTgt spid="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0" dur="500"/>
                                        <p:tgtEl>
                                          <p:spTgt spid="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3" dur="500"/>
                                        <p:tgtEl>
                                          <p:spTgt spid="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6" dur="500"/>
                                        <p:tgtEl>
                                          <p:spTgt spid="9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9" dur="500"/>
                                        <p:tgtEl>
                                          <p:spTgt spid="9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 type="ftr" idx="11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99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4673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3080" indent="-34308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  <a:p>
            <a:pPr marL="343080" indent="-343080" algn="ctr">
              <a:lnSpc>
                <a:spcPct val="100000"/>
              </a:lnSpc>
              <a:spcBef>
                <a:spcPts val="879"/>
              </a:spcBef>
              <a:buNone/>
              <a:tabLst>
                <a:tab pos="0" algn="l"/>
              </a:tabLst>
            </a:pPr>
            <a:r>
              <a:rPr lang="en-US" sz="4400" b="1" strike="noStrike" spc="-1">
                <a:solidFill>
                  <a:srgbClr val="003056"/>
                </a:solidFill>
                <a:latin typeface="Calibri"/>
              </a:rPr>
              <a:t>Pre-Training</a:t>
            </a:r>
            <a:endParaRPr lang="de-DE" sz="4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54D3C2A7-3D96-4B67-8365-34C7C8CCF740}" type="slidenum">
              <a:t>5</a:t>
            </a:fld>
            <a:endParaRPr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Pre-Training Methods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ftr" idx="12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/>
          </p:nvPr>
        </p:nvSpPr>
        <p:spPr>
          <a:xfrm>
            <a:off x="684000" y="1136413"/>
            <a:ext cx="7775640" cy="5002553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Take </a:t>
            </a:r>
            <a:r>
              <a:rPr lang="en-US" sz="2000" b="1" spc="-1" dirty="0">
                <a:solidFill>
                  <a:srgbClr val="003056"/>
                </a:solidFill>
                <a:latin typeface="Calibri"/>
              </a:rPr>
              <a:t>skip-gram</a:t>
            </a:r>
            <a:r>
              <a:rPr lang="en-US" sz="2000" b="1" strike="noStrike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as an </a:t>
            </a:r>
            <a:r>
              <a:rPr lang="en-US" sz="2000" b="1" strike="noStrike" spc="-1" dirty="0">
                <a:solidFill>
                  <a:srgbClr val="003056"/>
                </a:solidFill>
                <a:latin typeface="Calibri"/>
              </a:rPr>
              <a:t>example of pre-training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trike="noStrike" spc="-1" dirty="0">
                <a:solidFill>
                  <a:srgbClr val="003056"/>
                </a:solidFill>
                <a:latin typeface="Calibri"/>
              </a:rPr>
              <a:t>Goal: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 learn useful (static) representations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trike="noStrike" spc="-1" dirty="0">
                <a:solidFill>
                  <a:srgbClr val="003056"/>
                </a:solidFill>
                <a:latin typeface="Calibri"/>
              </a:rPr>
              <a:t>Task: 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predict whether two words are likely to be in context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285750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In other words, the </a:t>
            </a:r>
            <a:r>
              <a:rPr lang="en-US" sz="2000" b="1" strike="noStrike" spc="-1" dirty="0">
                <a:solidFill>
                  <a:srgbClr val="003056"/>
                </a:solidFill>
                <a:latin typeface="Calibri"/>
              </a:rPr>
              <a:t>actual goal is not necessarily </a:t>
            </a:r>
            <a:r>
              <a:rPr lang="en-US" sz="2000" b="1" spc="-1" dirty="0">
                <a:solidFill>
                  <a:srgbClr val="003056"/>
                </a:solidFill>
                <a:latin typeface="Calibri"/>
              </a:rPr>
              <a:t>solving the</a:t>
            </a:r>
            <a:r>
              <a:rPr lang="en-US" sz="2000" b="1" strike="noStrike" spc="-1" dirty="0">
                <a:solidFill>
                  <a:srgbClr val="003056"/>
                </a:solidFill>
                <a:latin typeface="Calibri"/>
              </a:rPr>
              <a:t> task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There are </a:t>
            </a:r>
            <a:r>
              <a:rPr lang="en-US" sz="2000" b="1" strike="noStrike" spc="-1" dirty="0">
                <a:solidFill>
                  <a:srgbClr val="003056"/>
                </a:solidFill>
                <a:latin typeface="Calibri"/>
              </a:rPr>
              <a:t>different tasks for pre-training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Each a </a:t>
            </a:r>
            <a:r>
              <a:rPr lang="en-US" sz="1800" b="1" strike="noStrike" spc="-1" dirty="0">
                <a:solidFill>
                  <a:srgbClr val="003056"/>
                </a:solidFill>
                <a:latin typeface="Calibri"/>
              </a:rPr>
              <a:t>different training objective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Multi-task training possible, e.g. objective is linear combination of tasks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trike="noStrike" spc="-1" dirty="0">
                <a:solidFill>
                  <a:srgbClr val="003056"/>
                </a:solidFill>
                <a:latin typeface="Calibri"/>
              </a:rPr>
              <a:t>Most common </a:t>
            </a: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pre-training </a:t>
            </a:r>
            <a:r>
              <a:rPr lang="en-US" sz="2000" b="1" strike="noStrike" spc="-1" dirty="0">
                <a:solidFill>
                  <a:srgbClr val="003056"/>
                </a:solidFill>
                <a:latin typeface="Calibri"/>
              </a:rPr>
              <a:t>tasks/approaches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trike="noStrike" spc="-1" dirty="0">
                <a:solidFill>
                  <a:srgbClr val="003056"/>
                </a:solidFill>
                <a:latin typeface="Calibri"/>
              </a:rPr>
              <a:t>Masked Language Models 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(MLMs)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trike="noStrike" spc="-1" dirty="0">
                <a:solidFill>
                  <a:srgbClr val="003056"/>
                </a:solidFill>
                <a:latin typeface="Calibri"/>
              </a:rPr>
              <a:t>Causal</a:t>
            </a:r>
            <a:r>
              <a:rPr lang="en-US" sz="1800" b="1" spc="-1" dirty="0">
                <a:solidFill>
                  <a:srgbClr val="003056"/>
                </a:solidFill>
                <a:latin typeface="Calibri"/>
              </a:rPr>
              <a:t> </a:t>
            </a:r>
            <a:r>
              <a:rPr lang="en-US" sz="1800" b="1" strike="noStrike" spc="-1" dirty="0">
                <a:solidFill>
                  <a:srgbClr val="003056"/>
                </a:solidFill>
                <a:latin typeface="Calibri"/>
              </a:rPr>
              <a:t>(or Autoregressive) Language Models 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(CLMs)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Different task -&gt; usually different architecture and objective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MLM: </a:t>
            </a:r>
            <a:r>
              <a:rPr lang="en-US" sz="1800" b="1" strike="noStrike" spc="-1" dirty="0">
                <a:solidFill>
                  <a:srgbClr val="003056"/>
                </a:solidFill>
                <a:latin typeface="Calibri"/>
              </a:rPr>
              <a:t>BERT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, encoder-only transformer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CLM: </a:t>
            </a:r>
            <a:r>
              <a:rPr lang="en-US" sz="1800" b="1" strike="noStrike" spc="-1" dirty="0">
                <a:solidFill>
                  <a:srgbClr val="003056"/>
                </a:solidFill>
                <a:latin typeface="Calibri"/>
              </a:rPr>
              <a:t>GPTs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, decoder-only transformer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Other variants exist, all based on the transformer architecture</a:t>
            </a:r>
          </a:p>
          <a:p>
            <a:pPr marL="285750" indent="-3429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 dirty="0">
                <a:solidFill>
                  <a:srgbClr val="003056"/>
                </a:solidFill>
                <a:latin typeface="Calibri"/>
              </a:rPr>
              <a:t>First: transformer-based LMs, then: MLMs and CLMs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E9846575-361F-4CED-B35D-8DAD2376AD8B}" type="slidenum">
              <a:t>6</a:t>
            </a:fld>
            <a:endParaRPr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500"/>
                                        <p:tgtEl>
                                          <p:spTgt spid="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0" dur="500"/>
                                        <p:tgtEl>
                                          <p:spTgt spid="1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3" dur="500"/>
                                        <p:tgtEl>
                                          <p:spTgt spid="1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6" dur="500"/>
                                        <p:tgtEl>
                                          <p:spTgt spid="1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1" dur="500"/>
                                        <p:tgtEl>
                                          <p:spTgt spid="1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4" dur="500"/>
                                        <p:tgtEl>
                                          <p:spTgt spid="1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7" dur="500"/>
                                        <p:tgtEl>
                                          <p:spTgt spid="1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2" dur="500"/>
                                        <p:tgtEl>
                                          <p:spTgt spid="10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5" dur="500"/>
                                        <p:tgtEl>
                                          <p:spTgt spid="10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8" dur="500"/>
                                        <p:tgtEl>
                                          <p:spTgt spid="10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3" dur="500"/>
                                        <p:tgtEl>
                                          <p:spTgt spid="10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6" dur="500"/>
                                        <p:tgtEl>
                                          <p:spTgt spid="10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9" dur="500"/>
                                        <p:tgtEl>
                                          <p:spTgt spid="10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52" dur="500"/>
                                        <p:tgtEl>
                                          <p:spTgt spid="10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55" dur="500"/>
                                        <p:tgtEl>
                                          <p:spTgt spid="10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Encoder-Only and Decoder-Only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 type="ftr" idx="13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05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4030560" cy="4673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Recall the transformer architecture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Encoder-decoder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Some models use only the encoder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2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600" b="1" strike="noStrike" spc="-1" dirty="0">
                <a:solidFill>
                  <a:srgbClr val="003056"/>
                </a:solidFill>
                <a:latin typeface="Calibri"/>
              </a:rPr>
              <a:t>Input:</a:t>
            </a:r>
            <a:r>
              <a:rPr lang="en-US" sz="1600" b="0" strike="noStrike" spc="-1" dirty="0">
                <a:solidFill>
                  <a:srgbClr val="003056"/>
                </a:solidFill>
                <a:latin typeface="Calibri"/>
              </a:rPr>
              <a:t> tokenized input sequence</a:t>
            </a:r>
            <a:endParaRPr lang="de-DE" sz="1600" b="0" strike="noStrike" spc="-1" dirty="0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2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600" b="1" strike="noStrike" spc="-1" dirty="0">
                <a:solidFill>
                  <a:srgbClr val="003056"/>
                </a:solidFill>
                <a:latin typeface="Calibri"/>
              </a:rPr>
              <a:t>Output:</a:t>
            </a:r>
            <a:r>
              <a:rPr lang="en-US" sz="1600" b="0" strike="noStrike" spc="-1" dirty="0">
                <a:solidFill>
                  <a:srgbClr val="003056"/>
                </a:solidFill>
                <a:latin typeface="Calibri"/>
              </a:rPr>
              <a:t> contextualized input tokens</a:t>
            </a:r>
            <a:endParaRPr lang="de-DE" sz="1600" b="0" strike="noStrike" spc="-1" dirty="0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Other models use only the decoder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2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600" b="1" strike="noStrike" spc="-1" dirty="0">
                <a:solidFill>
                  <a:srgbClr val="003056"/>
                </a:solidFill>
                <a:latin typeface="Calibri"/>
              </a:rPr>
              <a:t>Input:</a:t>
            </a:r>
            <a:r>
              <a:rPr lang="en-US" sz="1600" b="0" strike="noStrike" spc="-1" dirty="0">
                <a:solidFill>
                  <a:srgbClr val="003056"/>
                </a:solidFill>
                <a:latin typeface="Calibri"/>
              </a:rPr>
              <a:t> start symbol, previous outputs</a:t>
            </a:r>
            <a:endParaRPr lang="de-DE" sz="1600" b="0" strike="noStrike" spc="-1" dirty="0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2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600" b="1" strike="noStrike" spc="-1" dirty="0">
                <a:solidFill>
                  <a:srgbClr val="003056"/>
                </a:solidFill>
                <a:latin typeface="Calibri"/>
              </a:rPr>
              <a:t>Output:</a:t>
            </a:r>
            <a:r>
              <a:rPr lang="en-US" sz="1600" b="0" strike="noStrike" spc="-1" dirty="0">
                <a:solidFill>
                  <a:srgbClr val="003056"/>
                </a:solidFill>
                <a:latin typeface="Calibri"/>
              </a:rPr>
              <a:t> new generated word</a:t>
            </a:r>
            <a:endParaRPr lang="de-DE" sz="1600" b="0" strike="noStrike" spc="-1" dirty="0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Both can be stacked</a:t>
            </a: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2000" spc="-1" dirty="0">
              <a:solidFill>
                <a:srgbClr val="003056"/>
              </a:solidFill>
              <a:latin typeface="Calibri"/>
            </a:endParaRPr>
          </a:p>
        </p:txBody>
      </p:sp>
      <p:pic>
        <p:nvPicPr>
          <p:cNvPr id="106" name="Grafik 6" descr="transformer_1.png"/>
          <p:cNvPicPr/>
          <p:nvPr/>
        </p:nvPicPr>
        <p:blipFill>
          <a:blip r:embed="rId2"/>
          <a:stretch/>
        </p:blipFill>
        <p:spPr>
          <a:xfrm>
            <a:off x="5143680" y="1214280"/>
            <a:ext cx="3317400" cy="4857480"/>
          </a:xfrm>
          <a:prstGeom prst="rect">
            <a:avLst/>
          </a:prstGeom>
          <a:ln w="0">
            <a:noFill/>
          </a:ln>
        </p:spPr>
      </p:pic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85E2662D-6030-49C0-8C48-3F5431852FC3}" type="slidenum">
              <a:t>7</a:t>
            </a:fld>
            <a:endParaRPr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500"/>
                                        <p:tgtEl>
                                          <p:spTgt spid="1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0" dur="500"/>
                                        <p:tgtEl>
                                          <p:spTgt spid="1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repl">
                                        <p:cTn id="13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8" dur="500"/>
                                        <p:tgtEl>
                                          <p:spTgt spid="10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1" dur="500"/>
                                        <p:tgtEl>
                                          <p:spTgt spid="10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4" dur="500"/>
                                        <p:tgtEl>
                                          <p:spTgt spid="10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9" dur="500"/>
                                        <p:tgtEl>
                                          <p:spTgt spid="10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2" dur="500"/>
                                        <p:tgtEl>
                                          <p:spTgt spid="10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5" dur="500"/>
                                        <p:tgtEl>
                                          <p:spTgt spid="10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0" dur="500"/>
                                        <p:tgtEl>
                                          <p:spTgt spid="10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de-DE" sz="3000" b="1" strike="noStrike" spc="-1" dirty="0" err="1">
                <a:solidFill>
                  <a:srgbClr val="003056"/>
                </a:solidFill>
                <a:latin typeface="Calibri"/>
              </a:rPr>
              <a:t>Recap</a:t>
            </a:r>
            <a:r>
              <a:rPr lang="de-DE" sz="3000" b="1" strike="noStrike" spc="-1" dirty="0">
                <a:solidFill>
                  <a:srgbClr val="003056"/>
                </a:solidFill>
                <a:latin typeface="Calibri"/>
              </a:rPr>
              <a:t>: Self-Attention Layer</a:t>
            </a:r>
            <a:r>
              <a:rPr lang="de-DE" sz="3000" b="1" spc="-1" dirty="0">
                <a:solidFill>
                  <a:srgbClr val="003056"/>
                </a:solidFill>
                <a:latin typeface="Calibri"/>
              </a:rPr>
              <a:t> (1)</a:t>
            </a:r>
            <a:endParaRPr lang="de-DE" sz="3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 type="ftr" idx="15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4928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trike="noStrike" spc="-1" dirty="0">
                <a:solidFill>
                  <a:srgbClr val="003056"/>
                </a:solidFill>
                <a:latin typeface="Calibri"/>
              </a:rPr>
              <a:t>Input: </a:t>
            </a: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sequence of </a:t>
            </a:r>
            <a:r>
              <a:rPr lang="en-US" sz="2000" b="0" i="1" strike="noStrike" spc="-1" dirty="0">
                <a:solidFill>
                  <a:srgbClr val="003056"/>
                </a:solidFill>
                <a:latin typeface="Calibri"/>
              </a:rPr>
              <a:t>n</a:t>
            </a: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 tokens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trike="noStrike" spc="-1" dirty="0">
                <a:solidFill>
                  <a:srgbClr val="003056"/>
                </a:solidFill>
                <a:latin typeface="Calibri"/>
              </a:rPr>
              <a:t>Output:</a:t>
            </a: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 sequence of </a:t>
            </a:r>
            <a:r>
              <a:rPr lang="en-US" sz="2000" b="0" i="1" strike="noStrike" spc="-1" dirty="0">
                <a:solidFill>
                  <a:srgbClr val="003056"/>
                </a:solidFill>
                <a:latin typeface="Calibri"/>
              </a:rPr>
              <a:t>n</a:t>
            </a: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en-US" sz="2000" b="0" i="1" strike="noStrike" spc="-1" dirty="0">
                <a:solidFill>
                  <a:srgbClr val="003056"/>
                </a:solidFill>
                <a:latin typeface="Calibri"/>
              </a:rPr>
              <a:t>contextualized</a:t>
            </a: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 tokens</a:t>
            </a:r>
            <a:r>
              <a:rPr lang="en-US" sz="2000" spc="-1" dirty="0">
                <a:solidFill>
                  <a:srgbClr val="003056"/>
                </a:solidFill>
                <a:latin typeface="Calibri"/>
              </a:rPr>
              <a:t> (here, </a:t>
            </a:r>
            <a:r>
              <a:rPr lang="en-US" sz="2000" b="1" spc="-1" dirty="0">
                <a:solidFill>
                  <a:srgbClr val="003056"/>
                </a:solidFill>
                <a:latin typeface="Calibri"/>
              </a:rPr>
              <a:t>bidirectional</a:t>
            </a:r>
            <a:r>
              <a:rPr lang="en-US" sz="2000" spc="-1" dirty="0">
                <a:solidFill>
                  <a:srgbClr val="003056"/>
                </a:solidFill>
                <a:latin typeface="Calibri"/>
              </a:rPr>
              <a:t>)</a:t>
            </a:r>
            <a:endParaRPr lang="de-DE" sz="2000" spc="-1" dirty="0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2000" b="0" strike="noStrike" spc="-1" dirty="0">
              <a:solidFill>
                <a:srgbClr val="003056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Layer is parameterized by </a:t>
            </a:r>
            <a:r>
              <a:rPr lang="en-US" sz="2000" b="1" i="1" strike="noStrike" spc="-1" dirty="0">
                <a:solidFill>
                  <a:srgbClr val="003056"/>
                </a:solidFill>
                <a:latin typeface="Calibri"/>
              </a:rPr>
              <a:t>W</a:t>
            </a:r>
            <a:r>
              <a:rPr lang="en-US" sz="2000" b="0" i="1" strike="noStrike" spc="-1" baseline="30000" dirty="0">
                <a:solidFill>
                  <a:srgbClr val="003056"/>
                </a:solidFill>
                <a:latin typeface="Calibri"/>
              </a:rPr>
              <a:t>Q</a:t>
            </a: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, </a:t>
            </a:r>
            <a:r>
              <a:rPr lang="en-US" sz="2000" b="1" i="1" strike="noStrike" spc="-1" dirty="0">
                <a:solidFill>
                  <a:srgbClr val="003056"/>
                </a:solidFill>
                <a:latin typeface="Calibri"/>
              </a:rPr>
              <a:t>W</a:t>
            </a:r>
            <a:r>
              <a:rPr lang="en-US" sz="2000" b="0" i="1" strike="noStrike" spc="-1" baseline="30000" dirty="0">
                <a:solidFill>
                  <a:srgbClr val="003056"/>
                </a:solidFill>
                <a:latin typeface="Calibri"/>
              </a:rPr>
              <a:t>K</a:t>
            </a: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 and </a:t>
            </a:r>
            <a:r>
              <a:rPr lang="en-US" sz="2000" b="1" i="1" strike="noStrike" spc="-1" dirty="0">
                <a:solidFill>
                  <a:srgbClr val="003056"/>
                </a:solidFill>
                <a:latin typeface="Calibri"/>
              </a:rPr>
              <a:t>W</a:t>
            </a:r>
            <a:r>
              <a:rPr lang="en-US" sz="2000" b="0" i="1" strike="noStrike" spc="-1" baseline="30000" dirty="0">
                <a:solidFill>
                  <a:srgbClr val="003056"/>
                </a:solidFill>
                <a:latin typeface="Calibri"/>
              </a:rPr>
              <a:t>V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Each a transformation for using tokens as: queries, keys, values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Thus, </a:t>
            </a:r>
            <a:r>
              <a:rPr lang="en-US" sz="2000" b="1" strike="noStrike" spc="-1" dirty="0">
                <a:solidFill>
                  <a:srgbClr val="003056"/>
                </a:solidFill>
                <a:latin typeface="Calibri"/>
              </a:rPr>
              <a:t>same </a:t>
            </a:r>
            <a:r>
              <a:rPr lang="en-US" sz="2000" b="1" spc="-1" dirty="0">
                <a:solidFill>
                  <a:srgbClr val="003056"/>
                </a:solidFill>
                <a:latin typeface="Calibri"/>
              </a:rPr>
              <a:t>words</a:t>
            </a:r>
            <a:r>
              <a:rPr lang="en-US" sz="2000" b="1" strike="noStrike" spc="-1" dirty="0">
                <a:solidFill>
                  <a:srgbClr val="003056"/>
                </a:solidFill>
                <a:latin typeface="Calibri"/>
              </a:rPr>
              <a:t> gets different representations based on context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“They </a:t>
            </a:r>
            <a:r>
              <a:rPr lang="en-US" sz="1800" b="1" strike="noStrike" spc="-1" dirty="0">
                <a:solidFill>
                  <a:srgbClr val="003056"/>
                </a:solidFill>
                <a:latin typeface="Calibri"/>
              </a:rPr>
              <a:t>broke 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in tears when they heard they got the new </a:t>
            </a:r>
            <a:r>
              <a:rPr lang="en-US" sz="1800" b="1" strike="noStrike" spc="-1" dirty="0">
                <a:solidFill>
                  <a:srgbClr val="003056"/>
                </a:solidFill>
                <a:latin typeface="Calibri"/>
              </a:rPr>
              <a:t>flat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.”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“They </a:t>
            </a:r>
            <a:r>
              <a:rPr lang="en-US" sz="1800" b="1" strike="noStrike" spc="-1" dirty="0">
                <a:solidFill>
                  <a:srgbClr val="003056"/>
                </a:solidFill>
                <a:latin typeface="Calibri"/>
              </a:rPr>
              <a:t>broke 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the world record by 2 seconds </a:t>
            </a:r>
            <a:r>
              <a:rPr lang="en-US" sz="1800" b="1" strike="noStrike" spc="-1" dirty="0">
                <a:solidFill>
                  <a:srgbClr val="003056"/>
                </a:solidFill>
                <a:latin typeface="Calibri"/>
              </a:rPr>
              <a:t>flat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.”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125A0C99-E069-40FD-B134-F90C03E5ACDD}" type="slidenum">
              <a:t>8</a:t>
            </a:fld>
            <a:endParaRPr/>
          </a:p>
        </p:txBody>
      </p:sp>
      <p:pic>
        <p:nvPicPr>
          <p:cNvPr id="2" name="Picture 1" descr="A diagram of a machine learning&#10;&#10;Description automatically generated">
            <a:extLst>
              <a:ext uri="{FF2B5EF4-FFF2-40B4-BE49-F238E27FC236}">
                <a16:creationId xmlns:a16="http://schemas.microsoft.com/office/drawing/2014/main" id="{5E8E05A5-316E-7BE7-ACDD-97637AC487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2175" y="1826485"/>
            <a:ext cx="4819650" cy="2357305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500"/>
                                        <p:tgtEl>
                                          <p:spTgt spid="1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0" dur="500"/>
                                        <p:tgtEl>
                                          <p:spTgt spid="1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7" dur="500"/>
                                        <p:tgtEl>
                                          <p:spTgt spid="1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0" dur="500"/>
                                        <p:tgtEl>
                                          <p:spTgt spid="1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5" dur="500"/>
                                        <p:tgtEl>
                                          <p:spTgt spid="1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8" dur="500"/>
                                        <p:tgtEl>
                                          <p:spTgt spid="11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1" dur="500"/>
                                        <p:tgtEl>
                                          <p:spTgt spid="11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de-DE" sz="3000" b="1" strike="noStrike" spc="-1" dirty="0" err="1">
                <a:solidFill>
                  <a:srgbClr val="003056"/>
                </a:solidFill>
                <a:latin typeface="Calibri"/>
              </a:rPr>
              <a:t>Recap</a:t>
            </a:r>
            <a:r>
              <a:rPr lang="de-DE" sz="3000" b="1" strike="noStrike" spc="-1" dirty="0">
                <a:solidFill>
                  <a:srgbClr val="003056"/>
                </a:solidFill>
                <a:latin typeface="Calibri"/>
              </a:rPr>
              <a:t>: Self-Attention Layer</a:t>
            </a:r>
            <a:r>
              <a:rPr lang="de-DE" sz="3000" b="1" spc="-1" dirty="0">
                <a:solidFill>
                  <a:srgbClr val="003056"/>
                </a:solidFill>
                <a:latin typeface="Calibri"/>
              </a:rPr>
              <a:t> (2)</a:t>
            </a:r>
            <a:endParaRPr lang="de-DE" sz="3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 type="ftr" idx="15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4928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pc="-1" dirty="0">
                <a:solidFill>
                  <a:srgbClr val="003056"/>
                </a:solidFill>
                <a:latin typeface="Calibri"/>
              </a:rPr>
              <a:t>Self-attention can also be</a:t>
            </a:r>
            <a:r>
              <a:rPr lang="en-US" sz="2000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en-US" sz="2000" b="1" spc="-1" dirty="0">
                <a:solidFill>
                  <a:srgbClr val="003056"/>
                </a:solidFill>
                <a:latin typeface="Calibri"/>
              </a:rPr>
              <a:t>causal</a:t>
            </a:r>
            <a:endParaRPr lang="en-US" sz="2000" spc="-1" dirty="0" err="1">
              <a:solidFill>
                <a:srgbClr val="003056"/>
              </a:solidFill>
              <a:latin typeface="Calibri"/>
            </a:endParaRPr>
          </a:p>
          <a:p>
            <a:pPr marL="800100" lvl="1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</a:rPr>
              <a:t>Token at time step </a:t>
            </a:r>
            <a:r>
              <a:rPr lang="en-US" sz="1800" i="1" spc="-1" dirty="0">
                <a:solidFill>
                  <a:srgbClr val="003056"/>
                </a:solidFill>
                <a:latin typeface="Calibri"/>
              </a:rPr>
              <a:t>t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 attends only to previous inputs (</a:t>
            </a:r>
            <a:r>
              <a:rPr lang="en-US" sz="1800" i="1" spc="-1" dirty="0">
                <a:solidFill>
                  <a:srgbClr val="003056"/>
                </a:solidFill>
                <a:latin typeface="Calibri"/>
              </a:rPr>
              <a:t>&lt; t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)</a:t>
            </a: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2000" spc="-1" dirty="0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2000" b="0" strike="noStrike" spc="-1" dirty="0">
              <a:solidFill>
                <a:srgbClr val="003056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285750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endParaRPr lang="en-US" sz="2000" spc="-1" dirty="0">
              <a:solidFill>
                <a:srgbClr val="003056"/>
              </a:solidFill>
              <a:latin typeface="Calibri"/>
            </a:endParaRPr>
          </a:p>
          <a:p>
            <a:pPr marL="285750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 dirty="0">
                <a:solidFill>
                  <a:srgbClr val="003056"/>
                </a:solidFill>
                <a:latin typeface="Calibri"/>
              </a:rPr>
              <a:t>Input and output still the same as any self-attention layer</a:t>
            </a:r>
            <a:endParaRPr lang="en-US" dirty="0"/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</a:rPr>
              <a:t>But </a:t>
            </a:r>
            <a:r>
              <a:rPr lang="en-US" sz="1800" b="1" spc="-1" dirty="0">
                <a:solidFill>
                  <a:srgbClr val="003056"/>
                </a:solidFill>
                <a:latin typeface="Calibri"/>
              </a:rPr>
              <a:t>"context" 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of each output embedding is </a:t>
            </a:r>
            <a:r>
              <a:rPr lang="en-US" sz="1800" b="1" spc="-1" dirty="0">
                <a:solidFill>
                  <a:srgbClr val="003056"/>
                </a:solidFill>
                <a:latin typeface="Calibri"/>
              </a:rPr>
              <a:t>only inputs from previous steps</a:t>
            </a: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</a:rPr>
              <a:t>Recall that without positional embeddings, there is no "time"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125A0C99-E069-40FD-B134-F90C03E5ACDD}" type="slidenum">
              <a:t>9</a:t>
            </a:fld>
            <a:endParaRPr/>
          </a:p>
        </p:txBody>
      </p:sp>
      <p:pic>
        <p:nvPicPr>
          <p:cNvPr id="3" name="Picture 2" descr="A diagram of a algorithm&#10;&#10;Description automatically generated">
            <a:extLst>
              <a:ext uri="{FF2B5EF4-FFF2-40B4-BE49-F238E27FC236}">
                <a16:creationId xmlns:a16="http://schemas.microsoft.com/office/drawing/2014/main" id="{AB289EA1-6688-4913-E5B3-53E9F36EA6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1846977"/>
            <a:ext cx="5734050" cy="2773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538450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500"/>
                                        <p:tgtEl>
                                          <p:spTgt spid="1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0" dur="500"/>
                                        <p:tgtEl>
                                          <p:spTgt spid="1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7" dur="500"/>
                                        <p:tgtEl>
                                          <p:spTgt spid="1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0" dur="500"/>
                                        <p:tgtEl>
                                          <p:spTgt spid="11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3" dur="500"/>
                                        <p:tgtEl>
                                          <p:spTgt spid="11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de-DE" sz="3000" b="1" spc="-1" dirty="0">
                <a:solidFill>
                  <a:srgbClr val="003056"/>
                </a:solidFill>
                <a:latin typeface="Calibri"/>
              </a:rPr>
              <a:t> The Language Modeling Head (1)</a:t>
            </a:r>
            <a:endParaRPr lang="de-DE" sz="3000" b="1" strike="noStrike" spc="-1" dirty="0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 type="ftr" idx="15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/>
          </p:nvPr>
        </p:nvSpPr>
        <p:spPr>
          <a:xfrm>
            <a:off x="684000" y="1148953"/>
            <a:ext cx="7775640" cy="4928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 dirty="0">
                <a:solidFill>
                  <a:srgbClr val="003056"/>
                </a:solidFill>
                <a:latin typeface="Calibri"/>
              </a:rPr>
              <a:t>A </a:t>
            </a:r>
            <a:r>
              <a:rPr lang="en-US" sz="2000" b="1" spc="-1" dirty="0">
                <a:solidFill>
                  <a:srgbClr val="003056"/>
                </a:solidFill>
                <a:latin typeface="Calibri"/>
              </a:rPr>
              <a:t>transformer block/layer</a:t>
            </a:r>
            <a:r>
              <a:rPr lang="en-US" sz="2000" spc="-1" dirty="0">
                <a:solidFill>
                  <a:srgbClr val="003056"/>
                </a:solidFill>
                <a:latin typeface="Calibri"/>
              </a:rPr>
              <a:t> typically outputs token representations</a:t>
            </a:r>
            <a:endParaRPr lang="en-US" sz="1800" spc="-1" dirty="0">
              <a:solidFill>
                <a:srgbClr val="003056"/>
              </a:solidFill>
              <a:latin typeface="Calibri"/>
            </a:endParaRP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Transformer block/layer = self-attention + MLP (with residuals, </a:t>
            </a:r>
            <a:r>
              <a:rPr lang="en-US" sz="1800" spc="-1" err="1">
                <a:solidFill>
                  <a:srgbClr val="003056"/>
                </a:solidFill>
                <a:latin typeface="Calibri"/>
              </a:rPr>
              <a:t>layernorm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)</a:t>
            </a: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pc="-1" dirty="0">
                <a:solidFill>
                  <a:srgbClr val="003056"/>
                </a:solidFill>
                <a:latin typeface="Calibri"/>
              </a:rPr>
              <a:t>Output embeddings are same size as input embeddings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</a:rPr>
              <a:t>Can either be a sequence in encoder-only models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</a:rPr>
              <a:t>Or a single token per time-step in decoder-only models</a:t>
            </a: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 dirty="0">
                <a:solidFill>
                  <a:srgbClr val="003056"/>
                </a:solidFill>
                <a:latin typeface="Calibri"/>
              </a:rPr>
              <a:t>How do we turn these outputs into a language model?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</a:rPr>
              <a:t>Each representation fed to a "classification head" (</a:t>
            </a:r>
            <a:r>
              <a:rPr lang="en-US" sz="1800" b="1" spc="-1" dirty="0">
                <a:solidFill>
                  <a:srgbClr val="003056"/>
                </a:solidFill>
                <a:latin typeface="Calibri"/>
              </a:rPr>
              <a:t>a downstream model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)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pc="-1" dirty="0">
                <a:solidFill>
                  <a:srgbClr val="003056"/>
                </a:solidFill>
                <a:latin typeface="Calibri"/>
              </a:rPr>
              <a:t>Classification head: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en-US" sz="1800" spc="-1" dirty="0" err="1">
                <a:solidFill>
                  <a:srgbClr val="003056"/>
                </a:solidFill>
                <a:latin typeface="Calibri"/>
              </a:rPr>
              <a:t>softmax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en-US" sz="1800" i="1" spc="-1" dirty="0">
                <a:solidFill>
                  <a:srgbClr val="003056"/>
                </a:solidFill>
                <a:latin typeface="Calibri"/>
              </a:rPr>
              <a:t>layer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 that projects to space of possible classes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pc="-1" dirty="0">
                <a:solidFill>
                  <a:srgbClr val="003056"/>
                </a:solidFill>
                <a:latin typeface="Calibri"/>
              </a:rPr>
              <a:t>Language modeling head: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 projects to vocabulary space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</a:rPr>
              <a:t>I.e. same mechanism used for language modeling with RNNs</a:t>
            </a: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 dirty="0">
                <a:solidFill>
                  <a:srgbClr val="003056"/>
                </a:solidFill>
                <a:latin typeface="Calibri"/>
              </a:rPr>
              <a:t>If the </a:t>
            </a:r>
            <a:r>
              <a:rPr lang="en-US" sz="2000" b="1" spc="-1" dirty="0">
                <a:solidFill>
                  <a:srgbClr val="003056"/>
                </a:solidFill>
                <a:latin typeface="Calibri"/>
              </a:rPr>
              <a:t>task</a:t>
            </a:r>
            <a:r>
              <a:rPr lang="en-US" sz="2000" spc="-1" dirty="0">
                <a:solidFill>
                  <a:srgbClr val="003056"/>
                </a:solidFill>
                <a:latin typeface="Calibri"/>
              </a:rPr>
              <a:t> is to </a:t>
            </a:r>
            <a:r>
              <a:rPr lang="en-US" sz="2000" b="1" spc="-1" dirty="0">
                <a:solidFill>
                  <a:srgbClr val="003056"/>
                </a:solidFill>
                <a:latin typeface="Calibri"/>
              </a:rPr>
              <a:t>predict next word:</a:t>
            </a:r>
            <a:r>
              <a:rPr lang="en-US" sz="2000" spc="-1" dirty="0">
                <a:solidFill>
                  <a:srgbClr val="003056"/>
                </a:solidFill>
                <a:latin typeface="Calibri"/>
              </a:rPr>
              <a:t> 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</a:rPr>
              <a:t>Feed </a:t>
            </a:r>
            <a:r>
              <a:rPr lang="en-US" sz="1800" i="1" spc="-1" dirty="0">
                <a:solidFill>
                  <a:srgbClr val="003056"/>
                </a:solidFill>
                <a:latin typeface="Calibri"/>
              </a:rPr>
              <a:t>contextualized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 representation of input at time step </a:t>
            </a:r>
            <a:r>
              <a:rPr lang="en-US" sz="1800" i="1" spc="-1" dirty="0">
                <a:solidFill>
                  <a:srgbClr val="003056"/>
                </a:solidFill>
                <a:latin typeface="Calibri"/>
              </a:rPr>
              <a:t>t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 to LM head to predict word at time step </a:t>
            </a:r>
            <a:r>
              <a:rPr lang="en-US" sz="1800" i="1" spc="-1" dirty="0">
                <a:solidFill>
                  <a:srgbClr val="003056"/>
                </a:solidFill>
                <a:latin typeface="Calibri"/>
              </a:rPr>
              <a:t>t + 1</a:t>
            </a: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 dirty="0">
                <a:solidFill>
                  <a:srgbClr val="003056"/>
                </a:solidFill>
                <a:latin typeface="Calibri"/>
              </a:rPr>
              <a:t>Let's visualize this!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125A0C99-E069-40FD-B134-F90C03E5ACDD}" type="slidenum"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1308945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de-DE" sz="3000" b="1" spc="-1" dirty="0">
                <a:solidFill>
                  <a:srgbClr val="003056"/>
                </a:solidFill>
                <a:latin typeface="Calibri"/>
              </a:rPr>
              <a:t> The Language Modeling Head (2)</a:t>
            </a:r>
            <a:endParaRPr lang="de-DE" sz="3000" b="1" strike="noStrike" spc="-1" dirty="0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 type="ftr" idx="15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/>
          </p:nvPr>
        </p:nvSpPr>
        <p:spPr>
          <a:xfrm>
            <a:off x="689953" y="1071562"/>
            <a:ext cx="7775640" cy="4928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2000" spc="-1" dirty="0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2000" spc="-1" dirty="0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2000" spc="-1" dirty="0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2000" spc="-1" dirty="0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2000" spc="-1" dirty="0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2000" spc="-1" dirty="0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2000" spc="-1" dirty="0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2000" spc="-1" dirty="0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i="1" spc="-1" dirty="0" err="1">
                <a:solidFill>
                  <a:srgbClr val="003056"/>
                </a:solidFill>
                <a:latin typeface="Calibri"/>
              </a:rPr>
              <a:t>h</a:t>
            </a:r>
            <a:r>
              <a:rPr lang="en-US" sz="2000" i="1" spc="-1" baseline="30000" dirty="0" err="1">
                <a:solidFill>
                  <a:srgbClr val="003056"/>
                </a:solidFill>
                <a:latin typeface="Calibri"/>
              </a:rPr>
              <a:t>L</a:t>
            </a:r>
            <a:r>
              <a:rPr lang="en-US" sz="2000" i="1" spc="-1" baseline="-25000" dirty="0" err="1">
                <a:solidFill>
                  <a:srgbClr val="003056"/>
                </a:solidFill>
                <a:latin typeface="Calibri"/>
              </a:rPr>
              <a:t>N</a:t>
            </a:r>
            <a:r>
              <a:rPr lang="en-US" sz="2000" i="1" spc="-1" baseline="-25000" dirty="0">
                <a:solidFill>
                  <a:srgbClr val="003056"/>
                </a:solidFill>
                <a:latin typeface="Calibri"/>
              </a:rPr>
              <a:t> </a:t>
            </a:r>
            <a:r>
              <a:rPr lang="en-US" sz="1100" spc="-1" dirty="0">
                <a:solidFill>
                  <a:srgbClr val="202122"/>
                </a:solidFill>
                <a:ea typeface="+mn-lt"/>
                <a:cs typeface="+mn-lt"/>
              </a:rPr>
              <a:t>∈</a:t>
            </a:r>
            <a:r>
              <a:rPr lang="en-US" sz="2000" i="1" spc="-1" dirty="0">
                <a:solidFill>
                  <a:srgbClr val="003056"/>
                </a:solidFill>
                <a:latin typeface="Calibri"/>
              </a:rPr>
              <a:t> R</a:t>
            </a:r>
            <a:r>
              <a:rPr lang="en-US" sz="2000" i="1" spc="-1" baseline="30000" dirty="0">
                <a:solidFill>
                  <a:srgbClr val="003056"/>
                </a:solidFill>
                <a:latin typeface="Calibri"/>
              </a:rPr>
              <a:t>d</a:t>
            </a:r>
            <a:r>
              <a:rPr lang="en-US" sz="2000" i="1" spc="-1" dirty="0">
                <a:solidFill>
                  <a:srgbClr val="003056"/>
                </a:solidFill>
                <a:latin typeface="Calibri"/>
              </a:rPr>
              <a:t> </a:t>
            </a:r>
            <a:r>
              <a:rPr lang="en-US" sz="2000" spc="-1" dirty="0">
                <a:solidFill>
                  <a:srgbClr val="003056"/>
                </a:solidFill>
                <a:latin typeface="Calibri"/>
              </a:rPr>
              <a:t>is output embedding of block </a:t>
            </a:r>
            <a:r>
              <a:rPr lang="en-US" sz="2000" i="1" spc="-1" dirty="0">
                <a:solidFill>
                  <a:srgbClr val="003056"/>
                </a:solidFill>
                <a:latin typeface="Calibri"/>
              </a:rPr>
              <a:t>L</a:t>
            </a:r>
            <a:r>
              <a:rPr lang="en-US" sz="2000" spc="-1" dirty="0">
                <a:solidFill>
                  <a:srgbClr val="003056"/>
                </a:solidFill>
                <a:latin typeface="Calibri"/>
              </a:rPr>
              <a:t> at time step </a:t>
            </a:r>
            <a:r>
              <a:rPr lang="en-US" sz="2000" i="1" spc="-1" dirty="0">
                <a:solidFill>
                  <a:srgbClr val="003056"/>
                </a:solidFill>
                <a:latin typeface="Calibri"/>
              </a:rPr>
              <a:t>N</a:t>
            </a:r>
            <a:endParaRPr lang="en-US" sz="2000" i="1" spc="-1">
              <a:solidFill>
                <a:srgbClr val="003056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 dirty="0">
                <a:solidFill>
                  <a:srgbClr val="003056"/>
                </a:solidFill>
                <a:latin typeface="Calibri"/>
              </a:rPr>
              <a:t>Unembedding layer </a:t>
            </a:r>
            <a:r>
              <a:rPr lang="en-US" sz="2000" b="1" i="1" spc="-1" dirty="0">
                <a:solidFill>
                  <a:srgbClr val="003056"/>
                </a:solidFill>
                <a:latin typeface="Calibri"/>
              </a:rPr>
              <a:t>U</a:t>
            </a:r>
            <a:r>
              <a:rPr lang="en-US" sz="2000" i="1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en-US" sz="1600" spc="-1" dirty="0">
                <a:solidFill>
                  <a:srgbClr val="202122"/>
                </a:solidFill>
                <a:latin typeface="Arial"/>
                <a:cs typeface="Arial"/>
              </a:rPr>
              <a:t>∈</a:t>
            </a:r>
            <a:r>
              <a:rPr lang="en-US" sz="2000" i="1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 R</a:t>
            </a:r>
            <a:r>
              <a:rPr lang="en-US" sz="1800" i="1" spc="-1" baseline="30000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d x |V|</a:t>
            </a:r>
            <a:r>
              <a:rPr lang="en-US" sz="1300" i="1" spc="-1" baseline="30000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2000" spc="-1" dirty="0">
                <a:solidFill>
                  <a:srgbClr val="003056"/>
                </a:solidFill>
                <a:latin typeface="Calibri"/>
              </a:rPr>
              <a:t>projects </a:t>
            </a:r>
            <a:r>
              <a:rPr lang="en-US" sz="20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from </a:t>
            </a:r>
            <a:r>
              <a:rPr lang="en-US" sz="2000" i="1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d</a:t>
            </a:r>
            <a:r>
              <a:rPr lang="en-US" sz="20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 to </a:t>
            </a:r>
            <a:r>
              <a:rPr lang="en-US" sz="2000" i="1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|V|</a:t>
            </a:r>
            <a:r>
              <a:rPr lang="en-US" sz="20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 (vocabulary space)</a:t>
            </a:r>
            <a:endParaRPr lang="en-US" sz="2000" spc="-1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</a:rPr>
              <a:t>Output is logits, used as input to </a:t>
            </a:r>
            <a:r>
              <a:rPr lang="en-US" sz="1800" spc="-1" dirty="0" err="1">
                <a:solidFill>
                  <a:srgbClr val="003056"/>
                </a:solidFill>
                <a:latin typeface="Calibri"/>
              </a:rPr>
              <a:t>softmax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en-US" sz="1800" i="1" spc="-1" dirty="0">
                <a:solidFill>
                  <a:srgbClr val="003056"/>
                </a:solidFill>
                <a:latin typeface="Calibri"/>
              </a:rPr>
              <a:t>function 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(no weights)</a:t>
            </a:r>
            <a:endParaRPr lang="en-US" sz="1600" spc="-1" dirty="0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 dirty="0">
                <a:solidFill>
                  <a:srgbClr val="003056"/>
                </a:solidFill>
                <a:latin typeface="Calibri"/>
              </a:rPr>
              <a:t>Note that </a:t>
            </a:r>
            <a:r>
              <a:rPr lang="en-US" sz="2000" b="1" i="1" spc="-1" dirty="0">
                <a:solidFill>
                  <a:srgbClr val="003056"/>
                </a:solidFill>
                <a:latin typeface="Calibri"/>
              </a:rPr>
              <a:t>U</a:t>
            </a:r>
            <a:r>
              <a:rPr lang="en-US" sz="2000" spc="-1" dirty="0">
                <a:solidFill>
                  <a:srgbClr val="003056"/>
                </a:solidFill>
                <a:latin typeface="Calibri"/>
              </a:rPr>
              <a:t> is same size as initial (static) embedding layer </a:t>
            </a:r>
            <a:r>
              <a:rPr lang="en-US" sz="2000" b="1" i="1" spc="-1" dirty="0">
                <a:solidFill>
                  <a:srgbClr val="003056"/>
                </a:solidFill>
                <a:latin typeface="Calibri"/>
              </a:rPr>
              <a:t>E </a:t>
            </a:r>
            <a:r>
              <a:rPr lang="en-US" sz="1600" spc="-1" dirty="0">
                <a:solidFill>
                  <a:srgbClr val="202122"/>
                </a:solidFill>
                <a:latin typeface="Arial"/>
                <a:cs typeface="Arial"/>
              </a:rPr>
              <a:t>∈</a:t>
            </a:r>
            <a:r>
              <a:rPr lang="en-US" sz="2000" i="1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 R</a:t>
            </a:r>
            <a:r>
              <a:rPr lang="en-US" sz="2000" i="1" spc="-1" baseline="30000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|V| x d</a:t>
            </a:r>
            <a:endParaRPr lang="en-US" sz="1800" i="1" spc="-1" dirty="0">
              <a:solidFill>
                <a:srgbClr val="003056"/>
              </a:solidFill>
              <a:latin typeface="DejaVu Sans"/>
              <a:ea typeface="Calibri"/>
              <a:cs typeface="Arial"/>
            </a:endParaRPr>
          </a:p>
          <a:p>
            <a:pPr marL="800100" lvl="1" indent="-28575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Hence, we usually set to be </a:t>
            </a:r>
            <a:r>
              <a:rPr lang="en-US" sz="1800" b="1" i="1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U</a:t>
            </a:r>
            <a:r>
              <a:rPr lang="en-US" sz="1800" i="1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 = </a:t>
            </a:r>
            <a:r>
              <a:rPr lang="en-US" sz="1800" b="1" i="1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E</a:t>
            </a:r>
            <a:r>
              <a:rPr lang="en-US" sz="1800" i="1" spc="-1" baseline="30000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T</a:t>
            </a: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 (weight tying, </a:t>
            </a: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  <a:hlinkClick r:id="rId2"/>
              </a:rPr>
              <a:t>Press et al. 2017</a:t>
            </a: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)</a:t>
            </a:r>
          </a:p>
          <a:p>
            <a:pPr marL="800100" lvl="1" indent="-28575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Weight tying:</a:t>
            </a: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 use same matrix as </a:t>
            </a:r>
            <a:r>
              <a:rPr lang="en-US" sz="1800" b="1" i="1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E</a:t>
            </a: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 and </a:t>
            </a:r>
            <a:r>
              <a:rPr lang="en-US" sz="1800" b="1" i="1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U</a:t>
            </a: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, known to improve performance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125A0C99-E069-40FD-B134-F90C03E5ACDD}" type="slidenum">
              <a:t>11</a:t>
            </a:fld>
            <a:endParaRPr/>
          </a:p>
        </p:txBody>
      </p:sp>
      <p:pic>
        <p:nvPicPr>
          <p:cNvPr id="2" name="Picture 1" descr="A diagram of a machine&#10;&#10;Description automatically generated">
            <a:extLst>
              <a:ext uri="{FF2B5EF4-FFF2-40B4-BE49-F238E27FC236}">
                <a16:creationId xmlns:a16="http://schemas.microsoft.com/office/drawing/2014/main" id="{E92DE11D-AA71-C875-B34C-F9F3B4B056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4470" y="1144865"/>
            <a:ext cx="6209108" cy="2597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954461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de-DE" sz="3000" b="1" spc="-1" dirty="0">
                <a:solidFill>
                  <a:srgbClr val="003056"/>
                </a:solidFill>
                <a:latin typeface="Calibri"/>
              </a:rPr>
              <a:t>Transformer-</a:t>
            </a:r>
            <a:r>
              <a:rPr lang="de-DE" sz="3000" b="1" spc="-1" dirty="0" err="1">
                <a:solidFill>
                  <a:srgbClr val="003056"/>
                </a:solidFill>
                <a:latin typeface="Calibri"/>
              </a:rPr>
              <a:t>Based</a:t>
            </a:r>
            <a:r>
              <a:rPr lang="de-DE" sz="3000" b="1" spc="-1" dirty="0">
                <a:solidFill>
                  <a:srgbClr val="003056"/>
                </a:solidFill>
                <a:latin typeface="Calibri"/>
              </a:rPr>
              <a:t> LMs</a:t>
            </a:r>
          </a:p>
        </p:txBody>
      </p:sp>
      <p:sp>
        <p:nvSpPr>
          <p:cNvPr id="111" name="PlaceHolder 2"/>
          <p:cNvSpPr>
            <a:spLocks noGrp="1"/>
          </p:cNvSpPr>
          <p:nvPr>
            <p:ph type="ftr" idx="15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/>
          </p:nvPr>
        </p:nvSpPr>
        <p:spPr>
          <a:xfrm>
            <a:off x="699439" y="1062077"/>
            <a:ext cx="7775640" cy="4928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Arial"/>
              </a:rPr>
              <a:t>All together: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600" spc="-1" dirty="0">
                <a:solidFill>
                  <a:srgbClr val="003056"/>
                </a:solidFill>
                <a:latin typeface="Calibri"/>
                <a:ea typeface="Calibri"/>
                <a:cs typeface="Arial"/>
              </a:rPr>
              <a:t>(Static) input embeddings </a:t>
            </a:r>
            <a:r>
              <a:rPr lang="en-US" sz="1600" b="1" i="1" spc="-1" dirty="0">
                <a:solidFill>
                  <a:srgbClr val="003056"/>
                </a:solidFill>
                <a:latin typeface="Calibri"/>
                <a:ea typeface="Calibri"/>
                <a:cs typeface="Arial"/>
              </a:rPr>
              <a:t>E</a:t>
            </a:r>
            <a:r>
              <a:rPr lang="en-US" sz="1600" i="1" spc="-1" dirty="0">
                <a:solidFill>
                  <a:srgbClr val="003056"/>
                </a:solidFill>
                <a:latin typeface="Calibri"/>
                <a:ea typeface="Calibri"/>
                <a:cs typeface="Arial"/>
              </a:rPr>
              <a:t>[</a:t>
            </a:r>
            <a:r>
              <a:rPr lang="en-US" sz="1600" i="1" spc="-1" dirty="0" err="1">
                <a:solidFill>
                  <a:srgbClr val="003056"/>
                </a:solidFill>
                <a:latin typeface="Calibri"/>
                <a:ea typeface="Calibri"/>
                <a:cs typeface="Arial"/>
              </a:rPr>
              <a:t>w</a:t>
            </a:r>
            <a:r>
              <a:rPr lang="en-US" sz="1600" i="1" spc="-1" baseline="-25000" dirty="0" err="1">
                <a:solidFill>
                  <a:srgbClr val="003056"/>
                </a:solidFill>
                <a:latin typeface="Calibri"/>
                <a:ea typeface="Calibri"/>
                <a:cs typeface="Arial"/>
              </a:rPr>
              <a:t>i</a:t>
            </a:r>
            <a:r>
              <a:rPr lang="en-US" sz="1600" i="1" spc="-1" dirty="0">
                <a:solidFill>
                  <a:srgbClr val="003056"/>
                </a:solidFill>
                <a:latin typeface="Calibri"/>
                <a:ea typeface="Calibri"/>
                <a:cs typeface="Arial"/>
              </a:rPr>
              <a:t>]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600" spc="-1" dirty="0">
                <a:solidFill>
                  <a:srgbClr val="003056"/>
                </a:solidFill>
                <a:latin typeface="Calibri"/>
                <a:ea typeface="Calibri"/>
                <a:cs typeface="Arial"/>
              </a:rPr>
              <a:t>Positional embeddings </a:t>
            </a:r>
            <a:r>
              <a:rPr lang="en-US" sz="1600" b="1" i="1" spc="-1" dirty="0">
                <a:solidFill>
                  <a:srgbClr val="003056"/>
                </a:solidFill>
                <a:latin typeface="Calibri"/>
                <a:ea typeface="Calibri"/>
                <a:cs typeface="Arial"/>
              </a:rPr>
              <a:t>p</a:t>
            </a:r>
            <a:r>
              <a:rPr lang="en-US" sz="1600" i="1" spc="-1" baseline="-25000" dirty="0">
                <a:solidFill>
                  <a:srgbClr val="003056"/>
                </a:solidFill>
                <a:latin typeface="Calibri"/>
                <a:ea typeface="Calibri"/>
                <a:cs typeface="Arial"/>
              </a:rPr>
              <a:t>i</a:t>
            </a:r>
            <a:r>
              <a:rPr lang="en-US" sz="1600" spc="-1" dirty="0">
                <a:solidFill>
                  <a:srgbClr val="003056"/>
                </a:solidFill>
                <a:latin typeface="Calibri"/>
                <a:ea typeface="Calibri"/>
                <a:cs typeface="Arial"/>
              </a:rPr>
              <a:t> (added)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600" i="1" spc="-1" dirty="0">
                <a:solidFill>
                  <a:srgbClr val="003056"/>
                </a:solidFill>
                <a:latin typeface="Calibri"/>
                <a:ea typeface="Calibri"/>
                <a:cs typeface="Arial"/>
              </a:rPr>
              <a:t>L</a:t>
            </a:r>
            <a:r>
              <a:rPr lang="en-US" sz="1600" spc="-1" dirty="0">
                <a:solidFill>
                  <a:srgbClr val="003056"/>
                </a:solidFill>
                <a:latin typeface="Calibri"/>
                <a:ea typeface="Calibri"/>
                <a:cs typeface="Arial"/>
              </a:rPr>
              <a:t> transformer layers (blocks)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600" spc="-1" dirty="0">
                <a:solidFill>
                  <a:srgbClr val="003056"/>
                </a:solidFill>
                <a:latin typeface="Calibri"/>
                <a:ea typeface="Calibri"/>
                <a:cs typeface="Arial"/>
              </a:rPr>
              <a:t>Language model head</a:t>
            </a: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Arial"/>
              </a:rPr>
              <a:t>For each </a:t>
            </a:r>
            <a:r>
              <a:rPr lang="en-US" sz="1800" b="1" spc="-1" dirty="0">
                <a:solidFill>
                  <a:srgbClr val="003056"/>
                </a:solidFill>
                <a:latin typeface="Calibri"/>
                <a:ea typeface="Calibri"/>
                <a:cs typeface="Arial"/>
              </a:rPr>
              <a:t>transformer layer/block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600" b="1" spc="-1" dirty="0">
                <a:solidFill>
                  <a:srgbClr val="003056"/>
                </a:solidFill>
                <a:latin typeface="Calibri"/>
                <a:ea typeface="Calibri"/>
                <a:cs typeface="Arial"/>
              </a:rPr>
              <a:t>Input:</a:t>
            </a:r>
            <a:r>
              <a:rPr lang="en-US" sz="1600" spc="-1" dirty="0">
                <a:solidFill>
                  <a:srgbClr val="003056"/>
                </a:solidFill>
                <a:latin typeface="Calibri"/>
                <a:ea typeface="Calibri"/>
                <a:cs typeface="Arial"/>
              </a:rPr>
              <a:t> sequence of embeddings of size </a:t>
            </a:r>
            <a:r>
              <a:rPr lang="en-US" sz="1600" i="1" spc="-1" dirty="0">
                <a:solidFill>
                  <a:srgbClr val="003056"/>
                </a:solidFill>
                <a:latin typeface="Calibri"/>
                <a:ea typeface="Calibri"/>
                <a:cs typeface="Arial"/>
              </a:rPr>
              <a:t>d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600" b="1" spc="-1" dirty="0">
                <a:solidFill>
                  <a:srgbClr val="003056"/>
                </a:solidFill>
                <a:latin typeface="Calibri"/>
                <a:ea typeface="Calibri"/>
                <a:cs typeface="Arial"/>
              </a:rPr>
              <a:t>Output:</a:t>
            </a:r>
            <a:r>
              <a:rPr lang="en-US" sz="1600" spc="-1" dirty="0">
                <a:solidFill>
                  <a:srgbClr val="003056"/>
                </a:solidFill>
                <a:latin typeface="Calibri"/>
                <a:ea typeface="Calibri"/>
                <a:cs typeface="Arial"/>
              </a:rPr>
              <a:t> sequence of embeddings of size </a:t>
            </a:r>
            <a:r>
              <a:rPr lang="en-US" sz="1600" i="1" spc="-1" dirty="0">
                <a:solidFill>
                  <a:srgbClr val="003056"/>
                </a:solidFill>
                <a:latin typeface="Calibri"/>
                <a:ea typeface="Calibri"/>
                <a:cs typeface="Arial"/>
              </a:rPr>
              <a:t>d</a:t>
            </a: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Arial"/>
              </a:rPr>
              <a:t>For </a:t>
            </a:r>
            <a:r>
              <a:rPr lang="en-US" sz="1800" b="1" spc="-1" dirty="0">
                <a:solidFill>
                  <a:srgbClr val="003056"/>
                </a:solidFill>
                <a:latin typeface="Calibri"/>
                <a:ea typeface="Calibri"/>
                <a:cs typeface="Arial"/>
              </a:rPr>
              <a:t>language model head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600" b="1" spc="-1" dirty="0">
                <a:solidFill>
                  <a:srgbClr val="003056"/>
                </a:solidFill>
                <a:latin typeface="Calibri"/>
                <a:ea typeface="Calibri"/>
                <a:cs typeface="Arial"/>
              </a:rPr>
              <a:t>Input:</a:t>
            </a:r>
            <a:r>
              <a:rPr lang="en-US" sz="1600" spc="-1" dirty="0">
                <a:solidFill>
                  <a:srgbClr val="003056"/>
                </a:solidFill>
                <a:latin typeface="Calibri"/>
                <a:ea typeface="Calibri"/>
                <a:cs typeface="Arial"/>
              </a:rPr>
              <a:t> single embedding of size </a:t>
            </a:r>
            <a:r>
              <a:rPr lang="en-US" sz="1600" i="1" spc="-1" dirty="0">
                <a:solidFill>
                  <a:srgbClr val="003056"/>
                </a:solidFill>
                <a:latin typeface="Calibri"/>
                <a:ea typeface="Calibri"/>
                <a:cs typeface="Arial"/>
              </a:rPr>
              <a:t>d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600" b="1" spc="-1" dirty="0">
                <a:solidFill>
                  <a:srgbClr val="003056"/>
                </a:solidFill>
                <a:latin typeface="Calibri"/>
                <a:ea typeface="Calibri"/>
                <a:cs typeface="Arial"/>
              </a:rPr>
              <a:t>Output:</a:t>
            </a:r>
            <a:r>
              <a:rPr lang="en-US" sz="1600" spc="-1" dirty="0">
                <a:solidFill>
                  <a:srgbClr val="003056"/>
                </a:solidFill>
                <a:latin typeface="Calibri"/>
                <a:ea typeface="Calibri"/>
                <a:cs typeface="Arial"/>
              </a:rPr>
              <a:t> probability of each token in vocab. </a:t>
            </a:r>
            <a:r>
              <a:rPr lang="en-US" sz="1600" i="1" spc="-1" dirty="0">
                <a:solidFill>
                  <a:srgbClr val="003056"/>
                </a:solidFill>
                <a:latin typeface="Calibri"/>
                <a:ea typeface="Calibri"/>
                <a:cs typeface="Arial"/>
              </a:rPr>
              <a:t>V</a:t>
            </a: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pc="-1" dirty="0">
                <a:solidFill>
                  <a:srgbClr val="003056"/>
                </a:solidFill>
                <a:latin typeface="Calibri"/>
                <a:ea typeface="Calibri"/>
                <a:cs typeface="Arial"/>
              </a:rPr>
              <a:t>Input to downstream model depends on task</a:t>
            </a:r>
          </a:p>
          <a:p>
            <a:pPr marL="800100" lvl="1" indent="-28575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600" spc="-1" dirty="0">
                <a:solidFill>
                  <a:srgbClr val="003056"/>
                </a:solidFill>
                <a:latin typeface="Calibri"/>
                <a:ea typeface="Calibri"/>
                <a:cs typeface="Arial"/>
              </a:rPr>
              <a:t>E.g. for sequence classification, we need to</a:t>
            </a:r>
          </a:p>
          <a:p>
            <a:pPr marL="514350" lvl="1" indent="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None/>
            </a:pPr>
            <a:r>
              <a:rPr lang="en-US" sz="1600" spc="-1" dirty="0">
                <a:solidFill>
                  <a:srgbClr val="003056"/>
                </a:solidFill>
                <a:latin typeface="Calibri"/>
                <a:ea typeface="Calibri"/>
                <a:cs typeface="Arial"/>
              </a:rPr>
              <a:t>   represent entire input sequence</a:t>
            </a:r>
          </a:p>
          <a:p>
            <a:pPr marL="800100" lvl="1" indent="-28575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600" spc="-1">
                <a:solidFill>
                  <a:srgbClr val="003056"/>
                </a:solidFill>
                <a:latin typeface="Calibri"/>
                <a:ea typeface="Calibri"/>
                <a:cs typeface="Arial"/>
              </a:rPr>
              <a:t>For sequence labelling, each token </a:t>
            </a:r>
          </a:p>
          <a:p>
            <a:pPr marL="514350" lvl="1" indent="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None/>
            </a:pPr>
            <a:r>
              <a:rPr lang="en-US" sz="1600" spc="-1" dirty="0">
                <a:solidFill>
                  <a:srgbClr val="003056"/>
                </a:solidFill>
                <a:latin typeface="Calibri"/>
                <a:ea typeface="Calibri"/>
                <a:cs typeface="Arial"/>
              </a:rPr>
              <a:t>   representation is classified</a:t>
            </a:r>
            <a:endParaRPr lang="en-US" dirty="0"/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1600" spc="-1" dirty="0">
              <a:solidFill>
                <a:srgbClr val="003056"/>
              </a:solidFill>
              <a:latin typeface="Calibri"/>
              <a:ea typeface="Calibri"/>
              <a:cs typeface="Arial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2000" spc="-1" dirty="0">
              <a:solidFill>
                <a:srgbClr val="003056"/>
              </a:solidFill>
              <a:latin typeface="Calibri"/>
              <a:ea typeface="Calibri"/>
              <a:cs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125A0C99-E069-40FD-B134-F90C03E5ACDD}" type="slidenum">
              <a:t>12</a:t>
            </a:fld>
            <a:endParaRPr/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482DD943-4F0B-3B06-A024-1457D61E88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1359" y="1134437"/>
            <a:ext cx="3462849" cy="4997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287866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 type="ftr" idx="14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4673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3080" indent="-34308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  <a:p>
            <a:pPr marL="343080" indent="-343080" algn="ctr">
              <a:lnSpc>
                <a:spcPct val="100000"/>
              </a:lnSpc>
              <a:spcBef>
                <a:spcPts val="879"/>
              </a:spcBef>
              <a:buNone/>
              <a:tabLst>
                <a:tab pos="0" algn="l"/>
              </a:tabLst>
            </a:pPr>
            <a:r>
              <a:rPr lang="en-US" sz="4400" b="1" strike="noStrike" spc="-1">
                <a:solidFill>
                  <a:srgbClr val="003056"/>
                </a:solidFill>
                <a:latin typeface="Calibri"/>
              </a:rPr>
              <a:t>Masked Language Models</a:t>
            </a:r>
            <a:endParaRPr lang="de-DE" sz="4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210AB569-A09B-4E69-B5DE-1A9092975EE9}" type="slidenum">
              <a:t>13</a:t>
            </a:fld>
            <a:endParaRPr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Masked Language Models (1)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 type="ftr" idx="16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4673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Using information about the future in a sequence is often not suitable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E.g. in text generation, we use past generated words to generate new ones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We don’t want to train a model to use information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 that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isn't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 available at inference time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But </a:t>
            </a:r>
            <a:r>
              <a:rPr lang="en-US" sz="2000" b="1" strike="noStrike" spc="-1" dirty="0">
                <a:solidFill>
                  <a:srgbClr val="003056"/>
                </a:solidFill>
                <a:latin typeface="Calibri"/>
              </a:rPr>
              <a:t>often the entire </a:t>
            </a:r>
            <a:r>
              <a:rPr lang="en-US" sz="2000" b="1" spc="-1" dirty="0">
                <a:solidFill>
                  <a:srgbClr val="003056"/>
                </a:solidFill>
                <a:latin typeface="Calibri"/>
              </a:rPr>
              <a:t>input sequence</a:t>
            </a:r>
            <a:r>
              <a:rPr lang="en-US" sz="2000" b="1" strike="noStrike" spc="-1" dirty="0">
                <a:solidFill>
                  <a:srgbClr val="003056"/>
                </a:solidFill>
                <a:latin typeface="Calibri"/>
              </a:rPr>
              <a:t> is available during inference</a:t>
            </a: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!</a:t>
            </a: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</a:rPr>
              <a:t>E.g. in machine translation we get an entire document to translate</a:t>
            </a: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</a:rPr>
              <a:t>In dialogue scenarios, we get entire input from user at each turn</a:t>
            </a:r>
          </a:p>
          <a:p>
            <a:pPr marL="285750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 dirty="0">
                <a:solidFill>
                  <a:srgbClr val="003056"/>
                </a:solidFill>
                <a:latin typeface="Calibri"/>
              </a:rPr>
              <a:t>And </a:t>
            </a:r>
            <a:r>
              <a:rPr lang="en-US" sz="2000" b="1" spc="-1" dirty="0">
                <a:solidFill>
                  <a:srgbClr val="003056"/>
                </a:solidFill>
                <a:latin typeface="Calibri"/>
              </a:rPr>
              <a:t>looking at subsequent tokens can be useful </a:t>
            </a:r>
            <a:r>
              <a:rPr lang="en-US" sz="2000" b="1" strike="noStrike" spc="-1" dirty="0">
                <a:solidFill>
                  <a:srgbClr val="003056"/>
                </a:solidFill>
                <a:latin typeface="Calibri"/>
              </a:rPr>
              <a:t>for </a:t>
            </a:r>
            <a:r>
              <a:rPr lang="en-US" sz="2000" b="1" spc="-1" dirty="0">
                <a:solidFill>
                  <a:srgbClr val="003056"/>
                </a:solidFill>
                <a:latin typeface="Calibri"/>
              </a:rPr>
              <a:t>certain tasks </a:t>
            </a:r>
            <a:endParaRPr lang="de-DE" sz="2000" b="1" spc="-1" dirty="0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</a:rPr>
              <a:t>Tasks that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 require labeling each sequence element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 (token-level classification)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E.g. part-of-speech tagging (adjectives come 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before 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nouns in English)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</a:rPr>
              <a:t>Generally, we obtain richer representations by using more context</a:t>
            </a: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With transformers, </a:t>
            </a:r>
            <a:r>
              <a:rPr lang="en-US" sz="2000" b="1" strike="noStrike" spc="-1" dirty="0">
                <a:solidFill>
                  <a:srgbClr val="003056"/>
                </a:solidFill>
                <a:latin typeface="Calibri"/>
              </a:rPr>
              <a:t>we control that in the self-attention layers</a:t>
            </a:r>
            <a:endParaRPr lang="de-DE" sz="2000" strike="noStrike" spc="-1" dirty="0">
              <a:solidFill>
                <a:srgbClr val="003056"/>
              </a:solidFill>
              <a:latin typeface="Calibri"/>
            </a:endParaRPr>
          </a:p>
          <a:p>
            <a:pPr marL="800100" lvl="1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de-DE" sz="1800" spc="-1" err="1">
                <a:solidFill>
                  <a:srgbClr val="003056"/>
                </a:solidFill>
                <a:latin typeface="Calibri"/>
              </a:rPr>
              <a:t>If</a:t>
            </a:r>
            <a:r>
              <a:rPr lang="de-DE" sz="1800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de-DE" sz="1800" spc="-1" err="1">
                <a:solidFill>
                  <a:srgbClr val="003056"/>
                </a:solidFill>
                <a:latin typeface="Calibri"/>
              </a:rPr>
              <a:t>we</a:t>
            </a:r>
            <a:r>
              <a:rPr lang="de-DE" sz="1800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de-DE" sz="1800" spc="-1" err="1">
                <a:solidFill>
                  <a:srgbClr val="003056"/>
                </a:solidFill>
                <a:latin typeface="Calibri"/>
              </a:rPr>
              <a:t>can't</a:t>
            </a:r>
            <a:r>
              <a:rPr lang="de-DE" sz="1800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de-DE" sz="1800" spc="-1" err="1">
                <a:solidFill>
                  <a:srgbClr val="003056"/>
                </a:solidFill>
                <a:latin typeface="Calibri"/>
              </a:rPr>
              <a:t>look</a:t>
            </a:r>
            <a:r>
              <a:rPr lang="de-DE" sz="1800" spc="-1" dirty="0">
                <a:solidFill>
                  <a:srgbClr val="003056"/>
                </a:solidFill>
                <a:latin typeface="Calibri"/>
              </a:rPr>
              <a:t> at </a:t>
            </a:r>
            <a:r>
              <a:rPr lang="de-DE" sz="1800" spc="-1" err="1">
                <a:solidFill>
                  <a:srgbClr val="003056"/>
                </a:solidFill>
                <a:latin typeface="Calibri"/>
              </a:rPr>
              <a:t>future</a:t>
            </a:r>
            <a:r>
              <a:rPr lang="de-DE" sz="1800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de-DE" sz="1800" spc="-1" err="1">
                <a:solidFill>
                  <a:srgbClr val="003056"/>
                </a:solidFill>
                <a:latin typeface="Calibri"/>
              </a:rPr>
              <a:t>tokens</a:t>
            </a:r>
            <a:r>
              <a:rPr lang="de-DE" sz="1800" spc="-1" dirty="0">
                <a:solidFill>
                  <a:srgbClr val="003056"/>
                </a:solidFill>
                <a:latin typeface="Calibri"/>
              </a:rPr>
              <a:t>: </a:t>
            </a:r>
            <a:r>
              <a:rPr lang="de-DE" sz="1800" b="1" spc="-1" err="1">
                <a:solidFill>
                  <a:srgbClr val="003056"/>
                </a:solidFill>
                <a:latin typeface="Calibri"/>
              </a:rPr>
              <a:t>causal</a:t>
            </a:r>
            <a:r>
              <a:rPr lang="de-DE" sz="1800" b="1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de-DE" sz="1800" b="1" spc="-1" err="1">
                <a:solidFill>
                  <a:srgbClr val="003056"/>
                </a:solidFill>
                <a:latin typeface="Calibri"/>
              </a:rPr>
              <a:t>self</a:t>
            </a:r>
            <a:r>
              <a:rPr lang="de-DE" sz="1800" b="1" spc="-1" dirty="0">
                <a:solidFill>
                  <a:srgbClr val="003056"/>
                </a:solidFill>
                <a:latin typeface="Calibri"/>
              </a:rPr>
              <a:t>-attention</a:t>
            </a:r>
          </a:p>
          <a:p>
            <a:pPr marL="800100" lvl="1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de-DE" sz="1800" spc="-1" dirty="0" err="1">
                <a:solidFill>
                  <a:srgbClr val="003056"/>
                </a:solidFill>
                <a:latin typeface="Calibri"/>
              </a:rPr>
              <a:t>If</a:t>
            </a:r>
            <a:r>
              <a:rPr lang="de-DE" sz="1800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de-DE" sz="1800" spc="-1" dirty="0" err="1">
                <a:solidFill>
                  <a:srgbClr val="003056"/>
                </a:solidFill>
                <a:latin typeface="Calibri"/>
              </a:rPr>
              <a:t>we</a:t>
            </a:r>
            <a:r>
              <a:rPr lang="de-DE" sz="1800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de-DE" sz="1800" spc="-1" dirty="0" err="1">
                <a:solidFill>
                  <a:srgbClr val="003056"/>
                </a:solidFill>
                <a:latin typeface="Calibri"/>
              </a:rPr>
              <a:t>can</a:t>
            </a:r>
            <a:r>
              <a:rPr lang="de-DE" sz="1800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de-DE" sz="1800" spc="-1" dirty="0" err="1">
                <a:solidFill>
                  <a:srgbClr val="003056"/>
                </a:solidFill>
                <a:latin typeface="Calibri"/>
              </a:rPr>
              <a:t>look</a:t>
            </a:r>
            <a:r>
              <a:rPr lang="de-DE" sz="1800" spc="-1" dirty="0">
                <a:solidFill>
                  <a:srgbClr val="003056"/>
                </a:solidFill>
                <a:latin typeface="Calibri"/>
              </a:rPr>
              <a:t> at </a:t>
            </a:r>
            <a:r>
              <a:rPr lang="de-DE" sz="1800" spc="-1" dirty="0" err="1">
                <a:solidFill>
                  <a:srgbClr val="003056"/>
                </a:solidFill>
                <a:latin typeface="Calibri"/>
              </a:rPr>
              <a:t>future</a:t>
            </a:r>
            <a:r>
              <a:rPr lang="de-DE" sz="1800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de-DE" sz="1800" spc="-1" dirty="0" err="1">
                <a:solidFill>
                  <a:srgbClr val="003056"/>
                </a:solidFill>
                <a:latin typeface="Calibri"/>
              </a:rPr>
              <a:t>tokens</a:t>
            </a:r>
            <a:r>
              <a:rPr lang="de-DE" sz="1800" spc="-1" dirty="0">
                <a:solidFill>
                  <a:srgbClr val="003056"/>
                </a:solidFill>
                <a:latin typeface="Calibri"/>
              </a:rPr>
              <a:t>: </a:t>
            </a:r>
            <a:r>
              <a:rPr lang="de-DE" sz="1800" b="1" spc="-1" dirty="0" err="1">
                <a:solidFill>
                  <a:srgbClr val="003056"/>
                </a:solidFill>
                <a:latin typeface="Calibri"/>
              </a:rPr>
              <a:t>bidirectional</a:t>
            </a:r>
            <a:r>
              <a:rPr lang="de-DE" sz="1800" b="1" spc="-1" dirty="0">
                <a:solidFill>
                  <a:srgbClr val="003056"/>
                </a:solidFill>
                <a:latin typeface="Calibri"/>
              </a:rPr>
              <a:t> </a:t>
            </a:r>
            <a:r>
              <a:rPr lang="de-DE" sz="1800" b="1" spc="-1" dirty="0" err="1">
                <a:solidFill>
                  <a:srgbClr val="003056"/>
                </a:solidFill>
                <a:latin typeface="Calibri"/>
              </a:rPr>
              <a:t>self</a:t>
            </a:r>
            <a:r>
              <a:rPr lang="de-DE" sz="1800" b="1" spc="-1" dirty="0">
                <a:solidFill>
                  <a:srgbClr val="003056"/>
                </a:solidFill>
                <a:latin typeface="Calibri"/>
              </a:rPr>
              <a:t>-attention 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76C840BF-878D-4391-9F14-77D8CA96B4FF}" type="slidenum">
              <a:t>14</a:t>
            </a:fld>
            <a:endParaRPr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500"/>
                                        <p:tgtEl>
                                          <p:spTgt spid="1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0" dur="500"/>
                                        <p:tgtEl>
                                          <p:spTgt spid="1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3" dur="500"/>
                                        <p:tgtEl>
                                          <p:spTgt spid="1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8" dur="500"/>
                                        <p:tgtEl>
                                          <p:spTgt spid="1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1" dur="500"/>
                                        <p:tgtEl>
                                          <p:spTgt spid="1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4" dur="500"/>
                                        <p:tgtEl>
                                          <p:spTgt spid="1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9" dur="500"/>
                                        <p:tgtEl>
                                          <p:spTgt spid="1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2" dur="500"/>
                                        <p:tgtEl>
                                          <p:spTgt spid="1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5" dur="500"/>
                                        <p:tgtEl>
                                          <p:spTgt spid="1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8" dur="500"/>
                                        <p:tgtEl>
                                          <p:spTgt spid="11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3" dur="500"/>
                                        <p:tgtEl>
                                          <p:spTgt spid="11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6" dur="500"/>
                                        <p:tgtEl>
                                          <p:spTgt spid="11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9" dur="500"/>
                                        <p:tgtEl>
                                          <p:spTgt spid="11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Masked Language Models (2)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 type="ftr" idx="17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20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484461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Contextualized representations from </a:t>
            </a:r>
            <a:r>
              <a:rPr lang="en-US" sz="2000" b="1" strike="noStrike" spc="-1" dirty="0">
                <a:solidFill>
                  <a:srgbClr val="003056"/>
                </a:solidFill>
                <a:latin typeface="Calibri"/>
              </a:rPr>
              <a:t>bidirectional self-attention layers </a:t>
            </a: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consider </a:t>
            </a:r>
            <a:r>
              <a:rPr lang="en-US" sz="2000" b="1" strike="noStrike" spc="-1" dirty="0">
                <a:solidFill>
                  <a:srgbClr val="003056"/>
                </a:solidFill>
                <a:latin typeface="Calibri"/>
              </a:rPr>
              <a:t>context from both sides of each input word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2000" b="1" spc="-1" dirty="0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2000" b="1" spc="-1" dirty="0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2000" b="1" spc="-1" dirty="0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2000" b="1" spc="-1" dirty="0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2000" b="1" spc="-1" dirty="0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2000" b="1" spc="-1" dirty="0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2000" b="1" spc="-1" dirty="0">
              <a:solidFill>
                <a:srgbClr val="003056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trike="noStrike" spc="-1" dirty="0">
                <a:solidFill>
                  <a:srgbClr val="003056"/>
                </a:solidFill>
                <a:latin typeface="Calibri"/>
              </a:rPr>
              <a:t>Masked language modeling</a:t>
            </a:r>
            <a:r>
              <a:rPr lang="en-US" sz="2000" b="1" spc="-1" dirty="0">
                <a:solidFill>
                  <a:srgbClr val="003056"/>
                </a:solidFill>
                <a:latin typeface="Calibri"/>
              </a:rPr>
              <a:t>: </a:t>
            </a:r>
            <a:r>
              <a:rPr lang="en-US" sz="20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predicting masked words in input sequence</a:t>
            </a:r>
          </a:p>
          <a:p>
            <a:pPr lvl="1" indent="-28575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Masked words: </a:t>
            </a: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hidden, usually replaced with [MASK] token</a:t>
            </a:r>
            <a:endParaRPr lang="de-DE" sz="1600" spc="-1">
              <a:solidFill>
                <a:srgbClr val="003056"/>
              </a:solidFill>
              <a:latin typeface="DejaVu Sans"/>
              <a:ea typeface="Calibri"/>
              <a:cs typeface="Calibri"/>
            </a:endParaRPr>
          </a:p>
          <a:p>
            <a:pPr lvl="1" indent="-28575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Architecture:</a:t>
            </a: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 we use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bidirectional 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transformer encoders to train models to predict 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masked 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words in the input sequence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285750" indent="-3429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 dirty="0">
                <a:solidFill>
                  <a:srgbClr val="003056"/>
                </a:solidFill>
                <a:latin typeface="Calibri"/>
              </a:rPr>
              <a:t>What exactly does </a:t>
            </a:r>
            <a:r>
              <a:rPr lang="en-US" sz="2000" i="1" spc="-1" dirty="0">
                <a:solidFill>
                  <a:srgbClr val="003056"/>
                </a:solidFill>
                <a:latin typeface="Calibri"/>
              </a:rPr>
              <a:t>masking</a:t>
            </a:r>
            <a:r>
              <a:rPr lang="en-US" sz="2000" spc="-1" dirty="0">
                <a:solidFill>
                  <a:srgbClr val="003056"/>
                </a:solidFill>
                <a:latin typeface="Calibri"/>
              </a:rPr>
              <a:t> mean? The training approach should clarify!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00745D4D-ABC5-4BBC-A121-38E268BCF83A}" type="slidenum">
              <a:t>15</a:t>
            </a:fld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704803C-4565-FC66-A972-0D822AEA85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855060"/>
            <a:ext cx="4572000" cy="2233480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500"/>
                                        <p:tgtEl>
                                          <p:spTgt spid="1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4" dur="500"/>
                                        <p:tgtEl>
                                          <p:spTgt spid="12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7" dur="500"/>
                                        <p:tgtEl>
                                          <p:spTgt spid="12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0" dur="500"/>
                                        <p:tgtEl>
                                          <p:spTgt spid="12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5" dur="500"/>
                                        <p:tgtEl>
                                          <p:spTgt spid="12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6097965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de-DE" sz="3000" b="1" spc="-1" dirty="0">
                <a:solidFill>
                  <a:srgbClr val="003056"/>
                </a:solidFill>
                <a:latin typeface="Calibri"/>
              </a:rPr>
              <a:t>Training </a:t>
            </a:r>
            <a:r>
              <a:rPr lang="de-DE" sz="3000" b="1" spc="-1" dirty="0" err="1">
                <a:solidFill>
                  <a:srgbClr val="003056"/>
                </a:solidFill>
                <a:latin typeface="Calibri"/>
              </a:rPr>
              <a:t>Masked</a:t>
            </a:r>
            <a:r>
              <a:rPr lang="de-DE" sz="3000" b="1" strike="noStrike" spc="-1" dirty="0">
                <a:solidFill>
                  <a:srgbClr val="003056"/>
                </a:solidFill>
                <a:latin typeface="Calibri"/>
              </a:rPr>
              <a:t> Language Models</a:t>
            </a:r>
            <a:r>
              <a:rPr lang="de-DE" sz="3000" b="1" spc="-1" dirty="0">
                <a:solidFill>
                  <a:srgbClr val="003056"/>
                </a:solidFill>
                <a:latin typeface="Calibri"/>
              </a:rPr>
              <a:t> (1)</a:t>
            </a:r>
            <a:endParaRPr lang="de-DE" sz="3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 type="ftr" idx="17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20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4673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 dirty="0">
                <a:solidFill>
                  <a:srgbClr val="003056"/>
                </a:solidFill>
                <a:latin typeface="Calibri"/>
              </a:rPr>
              <a:t>Recall training RNNs</a:t>
            </a:r>
            <a:endParaRPr lang="en-US" dirty="0"/>
          </a:p>
          <a:p>
            <a:pPr marL="800100" lvl="1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</a:rPr>
              <a:t>We predict the next word given previous ones</a:t>
            </a:r>
          </a:p>
          <a:p>
            <a:pPr marL="800100" lvl="1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</a:rPr>
              <a:t>The loss corresponding to each input word is measured against next word in input sequence, final loss is average over all tokens</a:t>
            </a:r>
            <a:endParaRPr lang="en-US" sz="1800" dirty="0"/>
          </a:p>
          <a:p>
            <a:pPr marL="0" indent="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None/>
            </a:pPr>
            <a:br>
              <a:rPr lang="en-US" sz="2200" spc="-1" dirty="0">
                <a:solidFill>
                  <a:srgbClr val="003056"/>
                </a:solidFill>
                <a:latin typeface="Calibri"/>
              </a:rPr>
            </a:br>
            <a:endParaRPr lang="en-US" sz="2200" spc="-1" dirty="0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2200" spc="-1" dirty="0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2200" spc="-1" dirty="0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2200" spc="-1" dirty="0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2200" spc="-1" dirty="0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2200" spc="-1" dirty="0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pc="-1" dirty="0">
                <a:solidFill>
                  <a:srgbClr val="003056"/>
                </a:solidFill>
                <a:latin typeface="Calibri"/>
              </a:rPr>
              <a:t>Can we do that here?</a:t>
            </a:r>
          </a:p>
          <a:p>
            <a:pPr marL="800100" lvl="1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pc="-1" dirty="0">
                <a:solidFill>
                  <a:srgbClr val="003056"/>
                </a:solidFill>
                <a:latin typeface="Calibri"/>
              </a:rPr>
              <a:t>No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, bidirectional self-attention looks at next word! </a:t>
            </a:r>
          </a:p>
          <a:p>
            <a:pPr marL="800100" lvl="1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</a:rPr>
              <a:t>Task of predicting next word therefore trivial</a:t>
            </a:r>
            <a:endParaRPr lang="en-US" dirty="0"/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2000" spc="-1" dirty="0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2000" spc="-1" dirty="0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2000" spc="-1" dirty="0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00745D4D-ABC5-4BBC-A121-38E268BCF83A}" type="slidenum">
              <a:t>16</a:t>
            </a:fld>
            <a:endParaRPr/>
          </a:p>
        </p:txBody>
      </p:sp>
      <p:pic>
        <p:nvPicPr>
          <p:cNvPr id="2" name="Picture 1" descr="A diagram of a diagram&#10;&#10;Description automatically generated">
            <a:extLst>
              <a:ext uri="{FF2B5EF4-FFF2-40B4-BE49-F238E27FC236}">
                <a16:creationId xmlns:a16="http://schemas.microsoft.com/office/drawing/2014/main" id="{BB664E1C-9A56-1717-D3DF-1DF702E2F5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2406717"/>
            <a:ext cx="5791200" cy="2654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073059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500"/>
                                        <p:tgtEl>
                                          <p:spTgt spid="1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0" dur="500"/>
                                        <p:tgtEl>
                                          <p:spTgt spid="1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3" dur="500"/>
                                        <p:tgtEl>
                                          <p:spTgt spid="1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0" dur="500"/>
                                        <p:tgtEl>
                                          <p:spTgt spid="12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3" dur="500"/>
                                        <p:tgtEl>
                                          <p:spTgt spid="12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6" dur="500"/>
                                        <p:tgtEl>
                                          <p:spTgt spid="12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6097965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de-DE" sz="3000" b="1" spc="-1" dirty="0">
                <a:solidFill>
                  <a:srgbClr val="003056"/>
                </a:solidFill>
                <a:latin typeface="Calibri"/>
              </a:rPr>
              <a:t>Training </a:t>
            </a:r>
            <a:r>
              <a:rPr lang="de-DE" sz="3000" b="1" spc="-1" dirty="0" err="1">
                <a:solidFill>
                  <a:srgbClr val="003056"/>
                </a:solidFill>
                <a:latin typeface="Calibri"/>
              </a:rPr>
              <a:t>Masked</a:t>
            </a:r>
            <a:r>
              <a:rPr lang="de-DE" sz="3000" b="1" strike="noStrike" spc="-1" dirty="0">
                <a:solidFill>
                  <a:srgbClr val="003056"/>
                </a:solidFill>
                <a:latin typeface="Calibri"/>
              </a:rPr>
              <a:t> Language Models</a:t>
            </a:r>
            <a:r>
              <a:rPr lang="de-DE" sz="3000" b="1" spc="-1" dirty="0">
                <a:solidFill>
                  <a:srgbClr val="003056"/>
                </a:solidFill>
                <a:latin typeface="Calibri"/>
              </a:rPr>
              <a:t> (2)</a:t>
            </a:r>
            <a:endParaRPr lang="de-DE" sz="3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 type="ftr" idx="17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20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491128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 dirty="0">
                <a:solidFill>
                  <a:srgbClr val="003056"/>
                </a:solidFill>
                <a:latin typeface="Calibri"/>
              </a:rPr>
              <a:t>Instead, </a:t>
            </a:r>
            <a:r>
              <a:rPr lang="en-US" sz="2000" b="1" spc="-1" dirty="0">
                <a:solidFill>
                  <a:srgbClr val="003056"/>
                </a:solidFill>
                <a:latin typeface="Calibri"/>
              </a:rPr>
              <a:t>cloze task</a:t>
            </a:r>
            <a:r>
              <a:rPr lang="en-US" sz="2000" spc="-1" dirty="0">
                <a:solidFill>
                  <a:srgbClr val="003056"/>
                </a:solidFill>
                <a:latin typeface="Calibri"/>
              </a:rPr>
              <a:t>, i.e. fill-in the blank (</a:t>
            </a:r>
            <a:r>
              <a:rPr lang="en-US" sz="2000" spc="-1" dirty="0">
                <a:solidFill>
                  <a:srgbClr val="003056"/>
                </a:solidFill>
                <a:latin typeface="Calibri"/>
                <a:hlinkClick r:id="rId2"/>
              </a:rPr>
              <a:t>Taylor, 1953</a:t>
            </a:r>
            <a:r>
              <a:rPr lang="en-US" sz="2000" spc="-1" dirty="0">
                <a:solidFill>
                  <a:srgbClr val="003056"/>
                </a:solidFill>
                <a:latin typeface="Calibri"/>
              </a:rPr>
              <a:t>)</a:t>
            </a: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Font typeface="Arial,Sans-Serif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  <a:cs typeface="Calibri"/>
              </a:rPr>
              <a:t>“Turn ____ homework in.”</a:t>
            </a:r>
            <a:endParaRPr lang="de-DE" sz="1800" spc="-1" dirty="0">
              <a:solidFill>
                <a:srgbClr val="000000"/>
              </a:solidFill>
              <a:latin typeface="Calibri"/>
              <a:cs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Font typeface="Arial,Sans-Serif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  <a:cs typeface="Calibri"/>
              </a:rPr>
              <a:t>Many examples from same sentence: “Turn your __________ in.”</a:t>
            </a:r>
            <a:endParaRPr lang="en-US" dirty="0"/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Font typeface="Arial,Sans-Serif"/>
              <a:buChar char="•"/>
            </a:pPr>
            <a:endParaRPr lang="en-US" sz="1800" spc="-1" dirty="0">
              <a:solidFill>
                <a:srgbClr val="003056"/>
              </a:solidFill>
              <a:latin typeface="Calibri"/>
              <a:cs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Font typeface="Arial,Sans-Serif"/>
              <a:buChar char="•"/>
            </a:pPr>
            <a:endParaRPr lang="en-US" sz="1800" spc="-1" dirty="0">
              <a:solidFill>
                <a:srgbClr val="003056"/>
              </a:solidFill>
              <a:latin typeface="Calibri"/>
              <a:cs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Font typeface="Arial,Sans-Serif"/>
              <a:buChar char="•"/>
            </a:pPr>
            <a:endParaRPr lang="en-US" sz="1800" spc="-1" dirty="0">
              <a:solidFill>
                <a:srgbClr val="003056"/>
              </a:solidFill>
              <a:latin typeface="Calibri"/>
              <a:cs typeface="Calibri"/>
            </a:endParaRPr>
          </a:p>
          <a:p>
            <a:pPr marL="285750" indent="-342900">
              <a:lnSpc>
                <a:spcPct val="100000"/>
              </a:lnSpc>
              <a:spcBef>
                <a:spcPts val="360"/>
              </a:spcBef>
              <a:buFont typeface="Arial,Sans-Serif"/>
              <a:buChar char="•"/>
            </a:pPr>
            <a:endParaRPr lang="en-US" sz="2200" spc="-1" dirty="0">
              <a:solidFill>
                <a:srgbClr val="003056"/>
              </a:solidFill>
              <a:latin typeface="Calibri"/>
              <a:cs typeface="Calibri"/>
            </a:endParaRPr>
          </a:p>
          <a:p>
            <a:pPr marL="285750" indent="-342900">
              <a:lnSpc>
                <a:spcPct val="100000"/>
              </a:lnSpc>
              <a:spcBef>
                <a:spcPts val="360"/>
              </a:spcBef>
              <a:buFont typeface="Arial,Sans-Serif"/>
              <a:buChar char="•"/>
            </a:pPr>
            <a:endParaRPr lang="en-US" sz="2200" spc="-1" dirty="0">
              <a:solidFill>
                <a:srgbClr val="003056"/>
              </a:solidFill>
              <a:latin typeface="Calibri"/>
              <a:cs typeface="Calibri"/>
            </a:endParaRPr>
          </a:p>
          <a:p>
            <a:pPr marL="285750" indent="-342900">
              <a:lnSpc>
                <a:spcPct val="100000"/>
              </a:lnSpc>
              <a:spcBef>
                <a:spcPts val="360"/>
              </a:spcBef>
              <a:buFont typeface="Arial,Sans-Serif"/>
              <a:buChar char="•"/>
            </a:pPr>
            <a:endParaRPr lang="en-US" sz="2200" spc="-1" dirty="0">
              <a:solidFill>
                <a:srgbClr val="003056"/>
              </a:solidFill>
              <a:latin typeface="Calibri"/>
              <a:cs typeface="Calibri"/>
            </a:endParaRPr>
          </a:p>
          <a:p>
            <a:pPr marL="285750" indent="-342900">
              <a:lnSpc>
                <a:spcPct val="100000"/>
              </a:lnSpc>
              <a:spcBef>
                <a:spcPts val="360"/>
              </a:spcBef>
              <a:buFont typeface="Arial,Sans-Serif"/>
              <a:buChar char="•"/>
            </a:pPr>
            <a:endParaRPr lang="en-US" sz="2200" spc="-1" dirty="0">
              <a:solidFill>
                <a:srgbClr val="003056"/>
              </a:solidFill>
              <a:latin typeface="Calibri"/>
              <a:cs typeface="Calibri"/>
            </a:endParaRPr>
          </a:p>
          <a:p>
            <a:pPr marL="285750" indent="-342900">
              <a:lnSpc>
                <a:spcPct val="100000"/>
              </a:lnSpc>
              <a:spcBef>
                <a:spcPts val="360"/>
              </a:spcBef>
              <a:buFont typeface="Arial,Sans-Serif"/>
              <a:buChar char="•"/>
            </a:pPr>
            <a:endParaRPr lang="en-US" sz="2200" spc="-1" dirty="0">
              <a:solidFill>
                <a:srgbClr val="003056"/>
              </a:solidFill>
              <a:latin typeface="Calibri"/>
              <a:cs typeface="Calibri"/>
            </a:endParaRPr>
          </a:p>
          <a:p>
            <a:pPr marL="285750">
              <a:lnSpc>
                <a:spcPct val="100000"/>
              </a:lnSpc>
              <a:spcBef>
                <a:spcPts val="360"/>
              </a:spcBef>
              <a:buFont typeface="Arial,Sans-Serif"/>
              <a:buChar char="•"/>
            </a:pPr>
            <a:r>
              <a:rPr lang="en-US" sz="2000" b="1" spc="-1" dirty="0">
                <a:solidFill>
                  <a:srgbClr val="003056"/>
                </a:solidFill>
                <a:latin typeface="Calibri"/>
                <a:cs typeface="Calibri"/>
              </a:rPr>
              <a:t>Loss averaged over masked tokens only</a:t>
            </a:r>
            <a:r>
              <a:rPr lang="en-US" sz="2000" spc="-1" dirty="0">
                <a:solidFill>
                  <a:srgbClr val="003056"/>
                </a:solidFill>
                <a:latin typeface="Calibri"/>
                <a:cs typeface="Calibri"/>
              </a:rPr>
              <a:t>, all tokens "attended" to</a:t>
            </a: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Font typeface="Arial,Sans-Serif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Note:</a:t>
            </a:r>
            <a:r>
              <a:rPr lang="en-US" sz="1800" b="1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 self-supervision</a:t>
            </a: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,</a:t>
            </a:r>
            <a:r>
              <a:rPr lang="en-US" sz="1800" b="1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predict parts of input using rest of input</a:t>
            </a:r>
            <a:endParaRPr lang="en-US" sz="1800" spc="-1" dirty="0">
              <a:solidFill>
                <a:srgbClr val="003056"/>
              </a:solidFill>
              <a:latin typeface="Calibri"/>
              <a:cs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Font typeface="Arial,Sans-Serif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More details by discussing quintessential MLM: </a:t>
            </a:r>
            <a:r>
              <a:rPr lang="en-US" sz="1800" b="1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BERT</a:t>
            </a: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2200" spc="-1" dirty="0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2200" spc="-1" dirty="0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2200" spc="-1" dirty="0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2200" spc="-1" dirty="0">
              <a:solidFill>
                <a:srgbClr val="003056"/>
              </a:solidFill>
              <a:latin typeface="Calibri"/>
            </a:endParaRPr>
          </a:p>
          <a:p>
            <a:pPr marL="800100" lvl="1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1800" spc="-1" dirty="0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2000" spc="-1" dirty="0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2000" spc="-1" dirty="0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2000" spc="-1" dirty="0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00745D4D-ABC5-4BBC-A121-38E268BCF83A}" type="slidenum">
              <a:t>17</a:t>
            </a:fld>
            <a:endParaRPr/>
          </a:p>
        </p:txBody>
      </p:sp>
      <p:pic>
        <p:nvPicPr>
          <p:cNvPr id="3" name="Picture 2" descr="A diagram of a transformer&#10;&#10;Description automatically generated">
            <a:extLst>
              <a:ext uri="{FF2B5EF4-FFF2-40B4-BE49-F238E27FC236}">
                <a16:creationId xmlns:a16="http://schemas.microsoft.com/office/drawing/2014/main" id="{7FD9D108-340F-8DCE-3C5F-4EFB65A3AE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7350" y="2102948"/>
            <a:ext cx="5819775" cy="2858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009105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The BERT Model (1)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 type="ftr" idx="18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24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4673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trike="noStrike" spc="-1" dirty="0">
                <a:solidFill>
                  <a:srgbClr val="003056"/>
                </a:solidFill>
                <a:latin typeface="Calibri"/>
              </a:rPr>
              <a:t>BERT: B</a:t>
            </a: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idirectional </a:t>
            </a:r>
            <a:r>
              <a:rPr lang="en-US" sz="2000" b="1" strike="noStrike" spc="-1" dirty="0">
                <a:solidFill>
                  <a:srgbClr val="003056"/>
                </a:solidFill>
                <a:latin typeface="Calibri"/>
              </a:rPr>
              <a:t>E</a:t>
            </a: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ncoder </a:t>
            </a:r>
            <a:r>
              <a:rPr lang="en-US" sz="2000" b="1" strike="noStrike" spc="-1" dirty="0">
                <a:solidFill>
                  <a:srgbClr val="003056"/>
                </a:solidFill>
                <a:latin typeface="Calibri"/>
              </a:rPr>
              <a:t>R</a:t>
            </a: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epresentations from </a:t>
            </a:r>
            <a:r>
              <a:rPr lang="en-US" sz="2000" b="1" strike="noStrike" spc="-1" dirty="0">
                <a:solidFill>
                  <a:srgbClr val="003056"/>
                </a:solidFill>
                <a:latin typeface="Calibri"/>
              </a:rPr>
              <a:t>T</a:t>
            </a: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ransformers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Seminal work by </a:t>
            </a:r>
            <a:r>
              <a:rPr lang="en-US" sz="2000" b="0" u="sng" strike="noStrike" spc="-1" dirty="0">
                <a:solidFill>
                  <a:srgbClr val="0000FF"/>
                </a:solidFill>
                <a:uFillTx/>
                <a:latin typeface="Calibri"/>
                <a:hlinkClick r:id="rId2"/>
              </a:rPr>
              <a:t>Devlin et al. 2018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A clear success case is 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transfer learning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trike="noStrike" spc="-1" dirty="0">
                <a:solidFill>
                  <a:srgbClr val="003056"/>
                </a:solidFill>
                <a:latin typeface="Calibri"/>
              </a:rPr>
              <a:t>Revolution: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 jump in state-of-the-art performance in several NLP tasks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Defined masked language modeling as discussed today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285750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pc="-1" dirty="0">
                <a:solidFill>
                  <a:srgbClr val="003056"/>
                </a:solidFill>
                <a:latin typeface="Calibri"/>
              </a:rPr>
              <a:t>Goal:</a:t>
            </a:r>
            <a:r>
              <a:rPr lang="en-US" sz="2000" spc="-1" dirty="0">
                <a:solidFill>
                  <a:srgbClr val="003056"/>
                </a:solidFill>
                <a:latin typeface="Calibri"/>
              </a:rPr>
              <a:t> learn representations of language</a:t>
            </a: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</a:rPr>
              <a:t>Not predict masked words, i.e. not the task from training objective</a:t>
            </a: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</a:rPr>
              <a:t>Thus, similar to word embeddings, but now using transformers</a:t>
            </a: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Their </a:t>
            </a:r>
            <a:r>
              <a:rPr lang="en-US" sz="2000" b="1" strike="noStrike" spc="-1" dirty="0">
                <a:solidFill>
                  <a:srgbClr val="003056"/>
                </a:solidFill>
                <a:latin typeface="Calibri"/>
              </a:rPr>
              <a:t>general architecture</a:t>
            </a: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: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trike="noStrike" spc="-1" dirty="0">
                <a:solidFill>
                  <a:srgbClr val="003056"/>
                </a:solidFill>
                <a:latin typeface="Calibri"/>
              </a:rPr>
              <a:t>Encoder-only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 transformer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12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 stacked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 layers of transformer encoders, each with 12 attention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 heads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Hidden layers of size 728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Max input length: 512 tokens (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recall: attention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 cost quadratic in this length)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Overall: </a:t>
            </a:r>
            <a:r>
              <a:rPr lang="en-US" sz="2000" b="1" strike="noStrike" spc="-1" dirty="0">
                <a:solidFill>
                  <a:srgbClr val="003056"/>
                </a:solidFill>
                <a:latin typeface="Calibri"/>
              </a:rPr>
              <a:t>100M parameters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846026E1-B030-495E-94C0-A79C5405C08B}" type="slidenum">
              <a:t>18</a:t>
            </a:fld>
            <a:endParaRPr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500"/>
                                        <p:tgtEl>
                                          <p:spTgt spid="1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2" dur="500"/>
                                        <p:tgtEl>
                                          <p:spTgt spid="1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5" dur="500"/>
                                        <p:tgtEl>
                                          <p:spTgt spid="1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8" dur="500"/>
                                        <p:tgtEl>
                                          <p:spTgt spid="1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1" dur="500"/>
                                        <p:tgtEl>
                                          <p:spTgt spid="1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6" dur="500"/>
                                        <p:tgtEl>
                                          <p:spTgt spid="1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9" dur="500"/>
                                        <p:tgtEl>
                                          <p:spTgt spid="1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2" dur="500"/>
                                        <p:tgtEl>
                                          <p:spTgt spid="12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7" dur="500"/>
                                        <p:tgtEl>
                                          <p:spTgt spid="12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0" dur="500"/>
                                        <p:tgtEl>
                                          <p:spTgt spid="12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3" dur="500"/>
                                        <p:tgtEl>
                                          <p:spTgt spid="12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6" dur="500"/>
                                        <p:tgtEl>
                                          <p:spTgt spid="12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9" dur="500"/>
                                        <p:tgtEl>
                                          <p:spTgt spid="12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54" dur="500"/>
                                        <p:tgtEl>
                                          <p:spTgt spid="12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The BERT Model (2)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 type="ftr" idx="19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27" name="PlaceHolder 3"/>
          <p:cNvSpPr>
            <a:spLocks noGrp="1"/>
          </p:cNvSpPr>
          <p:nvPr>
            <p:ph/>
          </p:nvPr>
        </p:nvSpPr>
        <p:spPr>
          <a:xfrm>
            <a:off x="684000" y="4714920"/>
            <a:ext cx="7775640" cy="135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3080" indent="-34308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Pre-training -&gt; Fine-tuning framework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743040" lvl="1" indent="-28584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Pre-training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 designed to include both token level and sentence level tasks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743040" lvl="1" indent="-28584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Fine-tuning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 required minimal changes to pre-training architecture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Let’s discuss some of these important design choices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</p:txBody>
      </p:sp>
      <p:pic>
        <p:nvPicPr>
          <p:cNvPr id="128" name="Grafik 6" descr="bert_1.png"/>
          <p:cNvPicPr/>
          <p:nvPr/>
        </p:nvPicPr>
        <p:blipFill>
          <a:blip r:embed="rId2"/>
          <a:stretch/>
        </p:blipFill>
        <p:spPr>
          <a:xfrm>
            <a:off x="642960" y="1351080"/>
            <a:ext cx="7929360" cy="3148920"/>
          </a:xfrm>
          <a:prstGeom prst="rect">
            <a:avLst/>
          </a:prstGeom>
          <a:ln w="0">
            <a:noFill/>
          </a:ln>
        </p:spPr>
      </p:pic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C720B1F9-D9F8-4F85-B83D-26AE813B5FBA}" type="slidenum">
              <a:t>19</a:t>
            </a:fld>
            <a:endParaRPr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500"/>
                                        <p:tgtEl>
                                          <p:spTgt spid="1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0" dur="500"/>
                                        <p:tgtEl>
                                          <p:spTgt spid="1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3" dur="500"/>
                                        <p:tgtEl>
                                          <p:spTgt spid="1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8" dur="500"/>
                                        <p:tgtEl>
                                          <p:spTgt spid="1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Pre-Training BERT (1)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 type="ftr" idx="20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31" name="PlaceHolder 3"/>
          <p:cNvSpPr>
            <a:spLocks noGrp="1"/>
          </p:cNvSpPr>
          <p:nvPr>
            <p:ph/>
          </p:nvPr>
        </p:nvSpPr>
        <p:spPr>
          <a:xfrm>
            <a:off x="684000" y="1071720"/>
            <a:ext cx="3244680" cy="5000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3080" indent="-34308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Two level representations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743040" lvl="1" indent="-285840">
              <a:lnSpc>
                <a:spcPct val="100000"/>
              </a:lnSpc>
              <a:spcBef>
                <a:spcPts val="32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600" b="0" strike="noStrike" spc="-1">
                <a:solidFill>
                  <a:srgbClr val="003056"/>
                </a:solidFill>
                <a:latin typeface="Calibri"/>
              </a:rPr>
              <a:t>Both in same input sequence</a:t>
            </a:r>
            <a:endParaRPr lang="de-DE" sz="1600" b="0" strike="noStrike" spc="-1">
              <a:solidFill>
                <a:srgbClr val="003056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Token level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743040" lvl="1" indent="-285840">
              <a:lnSpc>
                <a:spcPct val="100000"/>
              </a:lnSpc>
              <a:spcBef>
                <a:spcPts val="32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600" b="1" i="1" strike="noStrike" spc="-1">
                <a:solidFill>
                  <a:srgbClr val="003056"/>
                </a:solidFill>
                <a:latin typeface="Calibri"/>
              </a:rPr>
              <a:t>E</a:t>
            </a:r>
            <a:r>
              <a:rPr lang="en-US" sz="1600" b="0" i="1" strike="noStrike" spc="-1" baseline="-25000">
                <a:solidFill>
                  <a:srgbClr val="003056"/>
                </a:solidFill>
                <a:latin typeface="Calibri"/>
              </a:rPr>
              <a:t>i</a:t>
            </a:r>
            <a:r>
              <a:rPr lang="en-US" sz="1600" b="1" strike="noStrike" spc="-1">
                <a:solidFill>
                  <a:srgbClr val="003056"/>
                </a:solidFill>
                <a:latin typeface="Calibri"/>
              </a:rPr>
              <a:t> </a:t>
            </a:r>
            <a:r>
              <a:rPr lang="en-US" sz="1600" b="0" strike="noStrike" spc="-1">
                <a:solidFill>
                  <a:srgbClr val="003056"/>
                </a:solidFill>
                <a:latin typeface="Calibri"/>
              </a:rPr>
              <a:t>inputs,</a:t>
            </a:r>
            <a:r>
              <a:rPr lang="en-US" sz="1600" b="1" strike="noStrike" spc="-1">
                <a:solidFill>
                  <a:srgbClr val="003056"/>
                </a:solidFill>
                <a:latin typeface="Calibri"/>
              </a:rPr>
              <a:t> </a:t>
            </a:r>
            <a:r>
              <a:rPr lang="en-US" sz="1600" b="1" i="1" strike="noStrike" spc="-1">
                <a:solidFill>
                  <a:srgbClr val="003056"/>
                </a:solidFill>
                <a:latin typeface="Calibri"/>
              </a:rPr>
              <a:t>T</a:t>
            </a:r>
            <a:r>
              <a:rPr lang="en-US" sz="1600" b="0" i="1" strike="noStrike" spc="-1" baseline="-25000">
                <a:solidFill>
                  <a:srgbClr val="003056"/>
                </a:solidFill>
                <a:latin typeface="Calibri"/>
              </a:rPr>
              <a:t>i</a:t>
            </a:r>
            <a:r>
              <a:rPr lang="en-US" sz="1600" b="1" strike="noStrike" spc="-1" baseline="-25000">
                <a:solidFill>
                  <a:srgbClr val="003056"/>
                </a:solidFill>
                <a:latin typeface="Calibri"/>
              </a:rPr>
              <a:t> </a:t>
            </a:r>
            <a:r>
              <a:rPr lang="en-US" sz="1600" b="0" strike="noStrike" spc="-1">
                <a:solidFill>
                  <a:srgbClr val="003056"/>
                </a:solidFill>
                <a:latin typeface="Calibri"/>
              </a:rPr>
              <a:t>outputs</a:t>
            </a:r>
            <a:endParaRPr lang="de-DE" sz="1600" b="0" strike="noStrike" spc="-1">
              <a:solidFill>
                <a:srgbClr val="003056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Sentence level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743040" lvl="1" indent="-285840">
              <a:lnSpc>
                <a:spcPct val="100000"/>
              </a:lnSpc>
              <a:spcBef>
                <a:spcPts val="32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600" b="1" strike="noStrike" spc="-1">
                <a:solidFill>
                  <a:srgbClr val="003056"/>
                </a:solidFill>
                <a:latin typeface="Calibri"/>
              </a:rPr>
              <a:t>[CLS]</a:t>
            </a:r>
            <a:r>
              <a:rPr lang="en-US" sz="1600" b="0" strike="noStrike" spc="-1">
                <a:solidFill>
                  <a:srgbClr val="003056"/>
                </a:solidFill>
                <a:latin typeface="Calibri"/>
              </a:rPr>
              <a:t>,</a:t>
            </a:r>
            <a:r>
              <a:rPr lang="en-US" sz="1600" b="1" strike="noStrike" spc="-1">
                <a:solidFill>
                  <a:srgbClr val="003056"/>
                </a:solidFill>
                <a:latin typeface="Calibri"/>
              </a:rPr>
              <a:t> [SEP] </a:t>
            </a:r>
            <a:r>
              <a:rPr lang="en-US" sz="1600" b="0" strike="noStrike" spc="-1">
                <a:solidFill>
                  <a:srgbClr val="003056"/>
                </a:solidFill>
                <a:latin typeface="Calibri"/>
              </a:rPr>
              <a:t>inputs</a:t>
            </a:r>
            <a:endParaRPr lang="de-DE" sz="1600" b="0" strike="noStrike" spc="-1">
              <a:solidFill>
                <a:srgbClr val="003056"/>
              </a:solidFill>
              <a:latin typeface="Calibri"/>
            </a:endParaRPr>
          </a:p>
          <a:p>
            <a:pPr marL="743040" lvl="1" indent="-285840">
              <a:lnSpc>
                <a:spcPct val="100000"/>
              </a:lnSpc>
              <a:spcBef>
                <a:spcPts val="32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600" b="1" strike="noStrike" spc="-1">
                <a:solidFill>
                  <a:srgbClr val="003056"/>
                </a:solidFill>
                <a:latin typeface="Calibri"/>
              </a:rPr>
              <a:t>C</a:t>
            </a:r>
            <a:r>
              <a:rPr lang="en-US" sz="1600" b="0" strike="noStrike" spc="-1">
                <a:solidFill>
                  <a:srgbClr val="003056"/>
                </a:solidFill>
                <a:latin typeface="Calibri"/>
              </a:rPr>
              <a:t>,</a:t>
            </a:r>
            <a:r>
              <a:rPr lang="en-US" sz="1600" b="1" strike="noStrike" spc="-1">
                <a:solidFill>
                  <a:srgbClr val="003056"/>
                </a:solidFill>
                <a:latin typeface="Calibri"/>
              </a:rPr>
              <a:t> T</a:t>
            </a:r>
            <a:r>
              <a:rPr lang="en-US" sz="1600" b="1" strike="noStrike" spc="-1" baseline="-25000">
                <a:solidFill>
                  <a:srgbClr val="003056"/>
                </a:solidFill>
                <a:latin typeface="Calibri"/>
              </a:rPr>
              <a:t>[SEP] </a:t>
            </a:r>
            <a:r>
              <a:rPr lang="en-US" sz="1600" b="0" strike="noStrike" spc="-1">
                <a:solidFill>
                  <a:srgbClr val="003056"/>
                </a:solidFill>
                <a:latin typeface="Calibri"/>
              </a:rPr>
              <a:t>outputs</a:t>
            </a:r>
            <a:endParaRPr lang="de-DE" sz="1600" b="0" strike="noStrike" spc="-1">
              <a:solidFill>
                <a:srgbClr val="003056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Thus, model “aware” of sentence pairs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743040" lvl="1" indent="-285840">
              <a:lnSpc>
                <a:spcPct val="100000"/>
              </a:lnSpc>
              <a:spcBef>
                <a:spcPts val="32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600" b="0" strike="noStrike" spc="-1">
                <a:solidFill>
                  <a:srgbClr val="003056"/>
                </a:solidFill>
                <a:latin typeface="Calibri"/>
              </a:rPr>
              <a:t>Useful for downstream tasks</a:t>
            </a:r>
            <a:endParaRPr lang="de-DE" sz="1600" b="0" strike="noStrike" spc="-1">
              <a:solidFill>
                <a:srgbClr val="003056"/>
              </a:solidFill>
              <a:latin typeface="Calibri"/>
            </a:endParaRPr>
          </a:p>
          <a:p>
            <a:pPr marL="743040" lvl="1" indent="-285840">
              <a:lnSpc>
                <a:spcPct val="100000"/>
              </a:lnSpc>
              <a:spcBef>
                <a:spcPts val="32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600" b="0" strike="noStrike" spc="-1">
                <a:solidFill>
                  <a:srgbClr val="003056"/>
                </a:solidFill>
                <a:latin typeface="Calibri"/>
              </a:rPr>
              <a:t>E.g. (question, answer) pairs</a:t>
            </a:r>
            <a:endParaRPr lang="de-DE" sz="1600" b="0" strike="noStrike" spc="-1">
              <a:solidFill>
                <a:srgbClr val="003056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[CLS] token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 meant for sequence classification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743040" lvl="1" indent="-285840">
              <a:lnSpc>
                <a:spcPct val="100000"/>
              </a:lnSpc>
              <a:spcBef>
                <a:spcPts val="32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600" b="0" strike="noStrike" spc="-1">
                <a:solidFill>
                  <a:srgbClr val="003056"/>
                </a:solidFill>
                <a:latin typeface="Calibri"/>
              </a:rPr>
              <a:t>Final representation C used as sequence representation</a:t>
            </a:r>
            <a:endParaRPr lang="de-DE" sz="1600" b="0" strike="noStrike" spc="-1">
              <a:solidFill>
                <a:srgbClr val="003056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[SEP] token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 separates two input sentences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</p:txBody>
      </p:sp>
      <p:pic>
        <p:nvPicPr>
          <p:cNvPr id="132" name="Grafik 7" descr="bert_pretraining_1.png"/>
          <p:cNvPicPr/>
          <p:nvPr/>
        </p:nvPicPr>
        <p:blipFill>
          <a:blip r:embed="rId2"/>
          <a:stretch/>
        </p:blipFill>
        <p:spPr>
          <a:xfrm>
            <a:off x="3939840" y="1584720"/>
            <a:ext cx="4632480" cy="3915720"/>
          </a:xfrm>
          <a:prstGeom prst="rect">
            <a:avLst/>
          </a:prstGeom>
          <a:ln w="0">
            <a:noFill/>
          </a:ln>
        </p:spPr>
      </p:pic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89EBF826-9A64-4A83-B9A0-6A0B8F4128BB}" type="slidenum">
              <a:t>20</a:t>
            </a:fld>
            <a:endParaRPr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500"/>
                                        <p:tgtEl>
                                          <p:spTgt spid="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0" dur="500"/>
                                        <p:tgtEl>
                                          <p:spTgt spid="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repl">
                                        <p:cTn id="13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8" dur="500"/>
                                        <p:tgtEl>
                                          <p:spTgt spid="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1" dur="500"/>
                                        <p:tgtEl>
                                          <p:spTgt spid="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6" dur="500"/>
                                        <p:tgtEl>
                                          <p:spTgt spid="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9" dur="500"/>
                                        <p:tgtEl>
                                          <p:spTgt spid="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2" dur="500"/>
                                        <p:tgtEl>
                                          <p:spTgt spid="1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7" dur="500"/>
                                        <p:tgtEl>
                                          <p:spTgt spid="1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0" dur="500"/>
                                        <p:tgtEl>
                                          <p:spTgt spid="1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3" dur="500"/>
                                        <p:tgtEl>
                                          <p:spTgt spid="1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8" dur="500"/>
                                        <p:tgtEl>
                                          <p:spTgt spid="13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51" dur="500"/>
                                        <p:tgtEl>
                                          <p:spTgt spid="13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56" dur="500"/>
                                        <p:tgtEl>
                                          <p:spTgt spid="13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Pre-Training BERT (2)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4" name="PlaceHolder 2"/>
          <p:cNvSpPr>
            <a:spLocks noGrp="1"/>
          </p:cNvSpPr>
          <p:nvPr>
            <p:ph type="ftr" idx="21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35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45400" cy="4928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They (pre-)trained with </a:t>
            </a:r>
            <a:r>
              <a:rPr lang="en-US" sz="2000" b="1" strike="noStrike" spc="-1" dirty="0">
                <a:solidFill>
                  <a:srgbClr val="003056"/>
                </a:solidFill>
                <a:latin typeface="Calibri"/>
              </a:rPr>
              <a:t>two self-supervised tasks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800100" lvl="1" indent="-3429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Calibri"/>
              <a:buAutoNum type="arabicPeriod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Masked language modeling (MLM), i.e. fill-in the blank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800100" lvl="1" indent="-3429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Calibri"/>
              <a:buAutoNum type="arabicPeriod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Next sentence prediction (NSP), e.g. for QA, natural language inference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399415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trike="noStrike" spc="-1" dirty="0">
                <a:solidFill>
                  <a:srgbClr val="003056"/>
                </a:solidFill>
                <a:latin typeface="Calibri"/>
              </a:rPr>
              <a:t>For </a:t>
            </a:r>
            <a:r>
              <a:rPr lang="en-US" sz="2000" b="1" spc="-1" dirty="0">
                <a:solidFill>
                  <a:srgbClr val="003056"/>
                </a:solidFill>
                <a:latin typeface="Calibri"/>
              </a:rPr>
              <a:t>MLM</a:t>
            </a:r>
            <a:r>
              <a:rPr lang="en-US" sz="2000" b="1" strike="noStrike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en-US" sz="2000" b="1" spc="-1" dirty="0">
                <a:solidFill>
                  <a:srgbClr val="003056"/>
                </a:solidFill>
                <a:latin typeface="Calibri"/>
              </a:rPr>
              <a:t>training objective</a:t>
            </a: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: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Replaced 15% of input tokens in training corpus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1200150" lvl="2" indent="-228600">
              <a:lnSpc>
                <a:spcPct val="100000"/>
              </a:lnSpc>
              <a:spcBef>
                <a:spcPts val="32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600" b="0" strike="noStrike" spc="-1" dirty="0">
                <a:solidFill>
                  <a:srgbClr val="003056"/>
                </a:solidFill>
                <a:latin typeface="Calibri"/>
              </a:rPr>
              <a:t>80% of that time replaced with [MASK] token</a:t>
            </a:r>
            <a:endParaRPr lang="de-DE" sz="1600" b="0" strike="noStrike" spc="-1" dirty="0">
              <a:solidFill>
                <a:srgbClr val="003056"/>
              </a:solidFill>
              <a:latin typeface="Calibri"/>
            </a:endParaRPr>
          </a:p>
          <a:p>
            <a:pPr marL="1200150" lvl="2" indent="-228600">
              <a:lnSpc>
                <a:spcPct val="100000"/>
              </a:lnSpc>
              <a:spcBef>
                <a:spcPts val="32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600" b="0" strike="noStrike" spc="-1" dirty="0">
                <a:solidFill>
                  <a:srgbClr val="003056"/>
                </a:solidFill>
                <a:latin typeface="Calibri"/>
              </a:rPr>
              <a:t>10% of that time replaced with another random token</a:t>
            </a:r>
            <a:endParaRPr lang="de-DE" sz="1600" b="0" strike="noStrike" spc="-1" dirty="0">
              <a:solidFill>
                <a:srgbClr val="003056"/>
              </a:solidFill>
              <a:latin typeface="Calibri"/>
            </a:endParaRPr>
          </a:p>
          <a:p>
            <a:pPr marL="1200150" lvl="2" indent="-228600">
              <a:lnSpc>
                <a:spcPct val="100000"/>
              </a:lnSpc>
              <a:spcBef>
                <a:spcPts val="32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600" b="0" strike="noStrike" spc="-1" dirty="0">
                <a:solidFill>
                  <a:srgbClr val="003056"/>
                </a:solidFill>
                <a:latin typeface="Calibri"/>
              </a:rPr>
              <a:t>10% left unchanged</a:t>
            </a:r>
            <a:endParaRPr lang="de-DE" sz="1600" b="0" strike="noStrike" spc="-1" dirty="0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Output token </a:t>
            </a:r>
            <a:r>
              <a:rPr lang="en-US" sz="1800" b="1" i="1" strike="noStrike" spc="-1" dirty="0">
                <a:solidFill>
                  <a:srgbClr val="003056"/>
                </a:solidFill>
                <a:latin typeface="Calibri"/>
              </a:rPr>
              <a:t>T</a:t>
            </a:r>
            <a:r>
              <a:rPr lang="en-US" sz="1800" b="0" i="1" strike="noStrike" spc="-1" baseline="-25000" dirty="0">
                <a:solidFill>
                  <a:srgbClr val="003056"/>
                </a:solidFill>
                <a:latin typeface="Calibri"/>
              </a:rPr>
              <a:t>i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fed to </a:t>
            </a:r>
            <a:r>
              <a:rPr lang="en-US" sz="1800" b="0" strike="noStrike" spc="-1" dirty="0" err="1">
                <a:solidFill>
                  <a:srgbClr val="003056"/>
                </a:solidFill>
                <a:latin typeface="Calibri"/>
              </a:rPr>
              <a:t>softmax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 for classification, original word as target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Why all of this? Because [MASK] token never seen at inference time!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1200150" lvl="2">
              <a:lnSpc>
                <a:spcPct val="100000"/>
              </a:lnSpc>
              <a:spcBef>
                <a:spcPts val="32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600" spc="-1">
                <a:solidFill>
                  <a:srgbClr val="003056"/>
                </a:solidFill>
                <a:latin typeface="Calibri"/>
              </a:rPr>
              <a:t>Model</a:t>
            </a:r>
            <a:r>
              <a:rPr lang="en-US" sz="1600" b="0" strike="noStrike" spc="-1">
                <a:solidFill>
                  <a:srgbClr val="003056"/>
                </a:solidFill>
                <a:latin typeface="Calibri"/>
              </a:rPr>
              <a:t> </a:t>
            </a:r>
            <a:r>
              <a:rPr lang="en-US" sz="1600" spc="-1">
                <a:solidFill>
                  <a:srgbClr val="003056"/>
                </a:solidFill>
                <a:latin typeface="Calibri"/>
              </a:rPr>
              <a:t>should not</a:t>
            </a:r>
            <a:r>
              <a:rPr lang="en-US" sz="1600" b="0" strike="noStrike" spc="-1">
                <a:solidFill>
                  <a:srgbClr val="003056"/>
                </a:solidFill>
                <a:latin typeface="Calibri"/>
              </a:rPr>
              <a:t> rely </a:t>
            </a:r>
            <a:r>
              <a:rPr lang="en-US" sz="1600" spc="-1">
                <a:solidFill>
                  <a:srgbClr val="003056"/>
                </a:solidFill>
                <a:latin typeface="Calibri"/>
              </a:rPr>
              <a:t>on signal</a:t>
            </a:r>
            <a:r>
              <a:rPr lang="en-US" sz="1600" b="0" strike="noStrike" spc="-1">
                <a:solidFill>
                  <a:srgbClr val="003056"/>
                </a:solidFill>
                <a:latin typeface="Calibri"/>
              </a:rPr>
              <a:t> </a:t>
            </a:r>
            <a:r>
              <a:rPr lang="en-US" sz="1600" spc="-1">
                <a:solidFill>
                  <a:srgbClr val="003056"/>
                </a:solidFill>
                <a:latin typeface="Calibri"/>
              </a:rPr>
              <a:t>from [MASK] token to</a:t>
            </a:r>
            <a:r>
              <a:rPr lang="en-US" sz="1600" b="0" strike="noStrike" spc="-1">
                <a:solidFill>
                  <a:srgbClr val="003056"/>
                </a:solidFill>
                <a:latin typeface="Calibri"/>
              </a:rPr>
              <a:t> make predictions</a:t>
            </a:r>
            <a:endParaRPr lang="de-DE" sz="1600" b="0" strike="noStrike" spc="-1">
              <a:solidFill>
                <a:srgbClr val="003056"/>
              </a:solidFill>
              <a:latin typeface="Calibri"/>
            </a:endParaRPr>
          </a:p>
          <a:p>
            <a:pPr marL="399415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For </a:t>
            </a:r>
            <a:r>
              <a:rPr lang="en-US" sz="2000" b="1" strike="noStrike" spc="-1" dirty="0">
                <a:solidFill>
                  <a:srgbClr val="003056"/>
                </a:solidFill>
                <a:latin typeface="Calibri"/>
              </a:rPr>
              <a:t>next sentence prediction objective</a:t>
            </a: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: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Binary 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classification: next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 sentence or not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? ([CLS] token to </a:t>
            </a:r>
            <a:r>
              <a:rPr lang="en-US" sz="1800" spc="-1" dirty="0" err="1">
                <a:solidFill>
                  <a:srgbClr val="003056"/>
                </a:solidFill>
                <a:latin typeface="Calibri"/>
              </a:rPr>
              <a:t>softmax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 layer) 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50% of examples were subsequent sentences in training corpus (positives)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50% of examples had 2</a:t>
            </a:r>
            <a:r>
              <a:rPr lang="en-US" sz="1800" b="0" strike="noStrike" spc="-1" baseline="30000" dirty="0">
                <a:solidFill>
                  <a:srgbClr val="003056"/>
                </a:solidFill>
                <a:latin typeface="Calibri"/>
              </a:rPr>
              <a:t>nd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 sentence be a randomly chosen one (negatives)</a:t>
            </a:r>
            <a:endParaRPr lang="en-US" sz="1800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61FDF297-2FF7-4CC3-BA43-C27F1D25E050}" type="slidenum">
              <a:t>21</a:t>
            </a:fld>
            <a:endParaRPr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500"/>
                                        <p:tgtEl>
                                          <p:spTgt spid="1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0" dur="500"/>
                                        <p:tgtEl>
                                          <p:spTgt spid="1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3" dur="500"/>
                                        <p:tgtEl>
                                          <p:spTgt spid="1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8" dur="500"/>
                                        <p:tgtEl>
                                          <p:spTgt spid="1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1" dur="500"/>
                                        <p:tgtEl>
                                          <p:spTgt spid="1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4" dur="500"/>
                                        <p:tgtEl>
                                          <p:spTgt spid="1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7" dur="500"/>
                                        <p:tgtEl>
                                          <p:spTgt spid="1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0" dur="500"/>
                                        <p:tgtEl>
                                          <p:spTgt spid="1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3" dur="500"/>
                                        <p:tgtEl>
                                          <p:spTgt spid="1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6" dur="500"/>
                                        <p:tgtEl>
                                          <p:spTgt spid="1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9" dur="500"/>
                                        <p:tgtEl>
                                          <p:spTgt spid="1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4" dur="500"/>
                                        <p:tgtEl>
                                          <p:spTgt spid="13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7" dur="500"/>
                                        <p:tgtEl>
                                          <p:spTgt spid="13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50" dur="500"/>
                                        <p:tgtEl>
                                          <p:spTgt spid="13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53" dur="500"/>
                                        <p:tgtEl>
                                          <p:spTgt spid="13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Pre-Training BERT (3)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7" name="PlaceHolder 2"/>
          <p:cNvSpPr>
            <a:spLocks noGrp="1"/>
          </p:cNvSpPr>
          <p:nvPr>
            <p:ph type="ftr" idx="22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38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45400" cy="4928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trike="noStrike" spc="-1" dirty="0">
                <a:solidFill>
                  <a:srgbClr val="003056"/>
                </a:solidFill>
                <a:latin typeface="Calibri"/>
              </a:rPr>
              <a:t>Final loss:</a:t>
            </a: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 combined loss of both MLM and NSP training objectives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trike="noStrike" spc="-1" dirty="0">
                <a:solidFill>
                  <a:srgbClr val="003056"/>
                </a:solidFill>
                <a:latin typeface="Calibri"/>
              </a:rPr>
              <a:t>Training corpus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err="1">
                <a:solidFill>
                  <a:srgbClr val="003056"/>
                </a:solidFill>
                <a:latin typeface="Calibri"/>
              </a:rPr>
              <a:t>BooksCorpus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: 800M words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English Wikipedia: 2.5B 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words</a:t>
            </a:r>
            <a:endParaRPr lang="de-DE" sz="1600" spc="-1" dirty="0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</a:rPr>
              <a:t>(Much less data than used for training large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 language models today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)</a:t>
            </a:r>
            <a:endParaRPr lang="en-US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trike="noStrike" spc="-1" dirty="0">
                <a:solidFill>
                  <a:srgbClr val="003056"/>
                </a:solidFill>
                <a:latin typeface="Calibri"/>
              </a:rPr>
              <a:t>Important:</a:t>
            </a: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 training data must be full documents, not shuffled sentences</a:t>
            </a:r>
            <a:r>
              <a:rPr lang="en-US" sz="2000" spc="-1" dirty="0">
                <a:solidFill>
                  <a:srgbClr val="003056"/>
                </a:solidFill>
                <a:latin typeface="Calibri"/>
              </a:rPr>
              <a:t> (often a valid approach)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Why?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trike="noStrike" spc="-1" dirty="0">
                <a:solidFill>
                  <a:srgbClr val="003056"/>
                </a:solidFill>
                <a:latin typeface="Calibri"/>
              </a:rPr>
              <a:t>Tokenization:</a:t>
            </a: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en-US" sz="2000" b="0" i="1" u="sng" strike="noStrike" spc="-1" dirty="0">
                <a:solidFill>
                  <a:srgbClr val="0000FF"/>
                </a:solidFill>
                <a:uFillTx/>
                <a:latin typeface="Calibri"/>
                <a:hlinkClick r:id="rId2"/>
              </a:rPr>
              <a:t>WordPiece</a:t>
            </a: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en-US" sz="2000" b="0" strike="noStrike" spc="-1" err="1">
                <a:solidFill>
                  <a:srgbClr val="003056"/>
                </a:solidFill>
                <a:latin typeface="Calibri"/>
              </a:rPr>
              <a:t>subword</a:t>
            </a: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 embeddings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Vocabulary size: 30K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Recall: </a:t>
            </a:r>
            <a:r>
              <a:rPr lang="en-US" sz="1800" b="0" strike="noStrike" spc="-1" err="1">
                <a:solidFill>
                  <a:srgbClr val="003056"/>
                </a:solidFill>
                <a:latin typeface="Calibri"/>
              </a:rPr>
              <a:t>subwords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 is nice balance between words and characters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It took 40 epochs to converge model during training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2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With the hardware at the time (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64 Google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 TPUs), that was 4 days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C3C7DE63-E728-4FF5-ACB1-957A06F82118}" type="slidenum">
              <a:t>22</a:t>
            </a:fld>
            <a:endParaRPr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500"/>
                                        <p:tgtEl>
                                          <p:spTgt spid="1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2" dur="500"/>
                                        <p:tgtEl>
                                          <p:spTgt spid="1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5" dur="500"/>
                                        <p:tgtEl>
                                          <p:spTgt spid="1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8" dur="500"/>
                                        <p:tgtEl>
                                          <p:spTgt spid="1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1" dur="500"/>
                                        <p:tgtEl>
                                          <p:spTgt spid="1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6" dur="500"/>
                                        <p:tgtEl>
                                          <p:spTgt spid="1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9" dur="500"/>
                                        <p:tgtEl>
                                          <p:spTgt spid="1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4" dur="500"/>
                                        <p:tgtEl>
                                          <p:spTgt spid="1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7" dur="500"/>
                                        <p:tgtEl>
                                          <p:spTgt spid="13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0" dur="500"/>
                                        <p:tgtEl>
                                          <p:spTgt spid="13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5" dur="500"/>
                                        <p:tgtEl>
                                          <p:spTgt spid="13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8" dur="500"/>
                                        <p:tgtEl>
                                          <p:spTgt spid="13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Fine-Tuning BERT</a:t>
            </a:r>
            <a:r>
              <a:rPr lang="de-DE" sz="3000" b="1" spc="-1">
                <a:solidFill>
                  <a:srgbClr val="003056"/>
                </a:solidFill>
                <a:latin typeface="Calibri"/>
              </a:rPr>
              <a:t> (1)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0" name="PlaceHolder 2"/>
          <p:cNvSpPr>
            <a:spLocks noGrp="1"/>
          </p:cNvSpPr>
          <p:nvPr>
            <p:ph type="ftr" idx="23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41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3744720" cy="4928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trike="noStrike" spc="-1" dirty="0">
                <a:solidFill>
                  <a:srgbClr val="003056"/>
                </a:solidFill>
                <a:latin typeface="Calibri"/>
              </a:rPr>
              <a:t>Straightforward: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representations computed by BERT used as input for downstream 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model</a:t>
            </a:r>
            <a:endParaRPr lang="en-US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2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600" b="0" strike="noStrike" spc="-1">
                <a:solidFill>
                  <a:srgbClr val="003056"/>
                </a:solidFill>
                <a:latin typeface="Calibri"/>
              </a:rPr>
              <a:t>Note</a:t>
            </a:r>
            <a:r>
              <a:rPr lang="en-US" sz="1600" spc="-1">
                <a:solidFill>
                  <a:srgbClr val="003056"/>
                </a:solidFill>
                <a:latin typeface="Calibri"/>
              </a:rPr>
              <a:t>:</a:t>
            </a:r>
            <a:r>
              <a:rPr lang="en-US" sz="1600" b="0" strike="noStrike" spc="-1">
                <a:solidFill>
                  <a:srgbClr val="003056"/>
                </a:solidFill>
                <a:latin typeface="Calibri"/>
              </a:rPr>
              <a:t> requires using entire </a:t>
            </a:r>
            <a:r>
              <a:rPr lang="en-US" sz="1600" b="0" strike="noStrike" spc="-1" dirty="0">
                <a:solidFill>
                  <a:srgbClr val="003056"/>
                </a:solidFill>
                <a:latin typeface="Calibri"/>
              </a:rPr>
              <a:t>model, </a:t>
            </a:r>
            <a:r>
              <a:rPr lang="en-US" sz="1600" spc="-1">
                <a:solidFill>
                  <a:srgbClr val="003056"/>
                </a:solidFill>
                <a:latin typeface="Calibri"/>
              </a:rPr>
              <a:t>not</a:t>
            </a:r>
            <a:r>
              <a:rPr lang="en-US" sz="1600" b="0" strike="noStrike" spc="-1">
                <a:solidFill>
                  <a:srgbClr val="003056"/>
                </a:solidFill>
                <a:latin typeface="Calibri"/>
              </a:rPr>
              <a:t> just </a:t>
            </a:r>
            <a:r>
              <a:rPr lang="en-US" sz="1600" spc="-1">
                <a:solidFill>
                  <a:srgbClr val="003056"/>
                </a:solidFill>
                <a:latin typeface="Calibri"/>
              </a:rPr>
              <a:t>its weights </a:t>
            </a:r>
            <a:r>
              <a:rPr lang="en-US" sz="1600" b="0" strike="noStrike" spc="-1">
                <a:solidFill>
                  <a:srgbClr val="003056"/>
                </a:solidFill>
                <a:latin typeface="Calibri"/>
              </a:rPr>
              <a:t>as</a:t>
            </a:r>
            <a:r>
              <a:rPr lang="en-US" sz="1600" b="0" strike="noStrike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en-US" sz="1600" spc="-1">
                <a:solidFill>
                  <a:srgbClr val="003056"/>
                </a:solidFill>
                <a:latin typeface="Calibri"/>
              </a:rPr>
              <a:t>word2vec</a:t>
            </a:r>
            <a:endParaRPr lang="de-DE" sz="1600" b="0" strike="noStrike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Can handle </a:t>
            </a:r>
            <a:r>
              <a:rPr lang="en-US" sz="1800" b="1" strike="noStrike" spc="-1" dirty="0">
                <a:solidFill>
                  <a:srgbClr val="003056"/>
                </a:solidFill>
                <a:latin typeface="Calibri"/>
              </a:rPr>
              <a:t>tasks 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where </a:t>
            </a:r>
            <a:r>
              <a:rPr lang="en-US" sz="1800" b="1" strike="noStrike" spc="-1" dirty="0">
                <a:solidFill>
                  <a:srgbClr val="003056"/>
                </a:solidFill>
                <a:latin typeface="Calibri"/>
              </a:rPr>
              <a:t>input is </a:t>
            </a: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single </a:t>
            </a:r>
            <a:r>
              <a:rPr lang="en-US" sz="1800" b="1" spc="-1">
                <a:solidFill>
                  <a:srgbClr val="003056"/>
                </a:solidFill>
                <a:latin typeface="Calibri"/>
              </a:rPr>
              <a:t>sequence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,</a:t>
            </a:r>
            <a:r>
              <a:rPr lang="en-US" sz="1800" b="1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e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.g. sequence labeling 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(NER) and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 sequence classification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,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 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or </a:t>
            </a: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pairs of sequences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,</a:t>
            </a:r>
            <a:r>
              <a:rPr lang="en-US" sz="1800" b="1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e.g. QA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 (SQuAD) or NLI (MNLI)</a:t>
            </a:r>
            <a:endParaRPr lang="de-DE" sz="1800" strike="noStrike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Given input data, e.g. sequence to classify</a:t>
            </a:r>
            <a:r>
              <a:rPr lang="en-US" sz="1800" b="1" spc="-1">
                <a:solidFill>
                  <a:srgbClr val="003056"/>
                </a:solidFill>
                <a:latin typeface="Calibri"/>
              </a:rPr>
              <a:t>:</a:t>
            </a:r>
            <a:endParaRPr lang="de-DE" sz="1800" spc="-1">
              <a:solidFill>
                <a:srgbClr val="003056"/>
              </a:solidFill>
              <a:latin typeface="Calibri"/>
            </a:endParaRPr>
          </a:p>
          <a:p>
            <a:pPr marL="800100" lvl="1" indent="-3429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600" b="1" spc="-1">
                <a:solidFill>
                  <a:srgbClr val="003056"/>
                </a:solidFill>
                <a:latin typeface="Calibri"/>
              </a:rPr>
              <a:t>Sequence</a:t>
            </a:r>
            <a:r>
              <a:rPr lang="en-US" sz="1600" b="1" strike="noStrike" spc="-1">
                <a:solidFill>
                  <a:srgbClr val="003056"/>
                </a:solidFill>
                <a:latin typeface="Calibri"/>
              </a:rPr>
              <a:t> </a:t>
            </a:r>
            <a:r>
              <a:rPr lang="en-US" sz="1600" b="0" strike="noStrike" spc="-1">
                <a:solidFill>
                  <a:srgbClr val="003056"/>
                </a:solidFill>
                <a:latin typeface="Calibri"/>
              </a:rPr>
              <a:t>fed </a:t>
            </a:r>
            <a:r>
              <a:rPr lang="en-US" sz="1600" spc="-1">
                <a:solidFill>
                  <a:srgbClr val="003056"/>
                </a:solidFill>
                <a:latin typeface="Calibri"/>
              </a:rPr>
              <a:t>as </a:t>
            </a:r>
            <a:r>
              <a:rPr lang="en-US" sz="1600" b="1" spc="-1">
                <a:solidFill>
                  <a:srgbClr val="003056"/>
                </a:solidFill>
                <a:latin typeface="Calibri"/>
              </a:rPr>
              <a:t>input</a:t>
            </a:r>
            <a:r>
              <a:rPr lang="en-US" sz="1600" spc="-1">
                <a:solidFill>
                  <a:srgbClr val="003056"/>
                </a:solidFill>
                <a:latin typeface="Calibri"/>
              </a:rPr>
              <a:t> to</a:t>
            </a:r>
            <a:r>
              <a:rPr lang="en-US" sz="1600" b="0" strike="noStrike" spc="-1">
                <a:solidFill>
                  <a:srgbClr val="003056"/>
                </a:solidFill>
                <a:latin typeface="Calibri"/>
              </a:rPr>
              <a:t> BERT</a:t>
            </a:r>
            <a:endParaRPr lang="en-US" sz="1600" b="1" strike="noStrike" spc="-1">
              <a:solidFill>
                <a:srgbClr val="003056"/>
              </a:solidFill>
              <a:latin typeface="Calibri"/>
            </a:endParaRPr>
          </a:p>
          <a:p>
            <a:pPr marL="800100" lvl="1" indent="-3429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600" b="1" spc="-1">
                <a:solidFill>
                  <a:srgbClr val="003056"/>
                </a:solidFill>
                <a:latin typeface="Calibri"/>
              </a:rPr>
              <a:t>BERT output</a:t>
            </a:r>
            <a:r>
              <a:rPr lang="en-US" sz="1600" b="0" strike="noStrike" spc="-1">
                <a:solidFill>
                  <a:srgbClr val="003056"/>
                </a:solidFill>
                <a:latin typeface="Calibri"/>
              </a:rPr>
              <a:t> </a:t>
            </a:r>
            <a:r>
              <a:rPr lang="en-US" sz="1600" spc="-1">
                <a:solidFill>
                  <a:srgbClr val="003056"/>
                </a:solidFill>
                <a:latin typeface="Calibri"/>
              </a:rPr>
              <a:t>passed to classification head</a:t>
            </a:r>
            <a:r>
              <a:rPr lang="en-US" sz="1600" b="0" strike="noStrike" spc="-1">
                <a:solidFill>
                  <a:srgbClr val="003056"/>
                </a:solidFill>
                <a:latin typeface="Calibri"/>
              </a:rPr>
              <a:t> </a:t>
            </a:r>
            <a:r>
              <a:rPr lang="en-US" sz="1600" spc="-1">
                <a:solidFill>
                  <a:srgbClr val="003056"/>
                </a:solidFill>
                <a:latin typeface="Calibri"/>
              </a:rPr>
              <a:t>(each token for</a:t>
            </a:r>
            <a:r>
              <a:rPr lang="en-US" sz="1600" b="0" strike="noStrike" spc="-1">
                <a:solidFill>
                  <a:srgbClr val="003056"/>
                </a:solidFill>
                <a:latin typeface="Calibri"/>
              </a:rPr>
              <a:t> sequence labeling, </a:t>
            </a:r>
            <a:r>
              <a:rPr lang="en-US" sz="1600" spc="-1">
                <a:solidFill>
                  <a:srgbClr val="003056"/>
                </a:solidFill>
                <a:latin typeface="Calibri"/>
              </a:rPr>
              <a:t>CLS </a:t>
            </a:r>
            <a:r>
              <a:rPr lang="en-US" sz="1600" b="0" strike="noStrike" spc="-1">
                <a:solidFill>
                  <a:srgbClr val="003056"/>
                </a:solidFill>
                <a:latin typeface="Calibri"/>
              </a:rPr>
              <a:t>token</a:t>
            </a:r>
            <a:r>
              <a:rPr lang="en-US" sz="1600" spc="-1">
                <a:solidFill>
                  <a:srgbClr val="003056"/>
                </a:solidFill>
                <a:latin typeface="Calibri"/>
              </a:rPr>
              <a:t> for </a:t>
            </a:r>
            <a:r>
              <a:rPr lang="en-US" sz="1600" b="0" strike="noStrike" spc="-1">
                <a:solidFill>
                  <a:srgbClr val="003056"/>
                </a:solidFill>
                <a:latin typeface="Calibri"/>
              </a:rPr>
              <a:t>sequence classification</a:t>
            </a:r>
            <a:r>
              <a:rPr lang="en-US" sz="1600" spc="-1">
                <a:solidFill>
                  <a:srgbClr val="003056"/>
                </a:solidFill>
                <a:latin typeface="Calibri"/>
              </a:rPr>
              <a:t>)</a:t>
            </a:r>
            <a:endParaRPr lang="de-DE" sz="1600" b="0" strike="noStrike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Let's visualize this!</a:t>
            </a:r>
            <a:endParaRPr lang="en-US" sz="1800" b="0" strike="noStrike" spc="-1">
              <a:solidFill>
                <a:srgbClr val="003056"/>
              </a:solidFill>
              <a:latin typeface="Calibri"/>
            </a:endParaRPr>
          </a:p>
        </p:txBody>
      </p:sp>
      <p:pic>
        <p:nvPicPr>
          <p:cNvPr id="142" name="Grafik 8" descr="bert_finetuning_1.png"/>
          <p:cNvPicPr/>
          <p:nvPr/>
        </p:nvPicPr>
        <p:blipFill>
          <a:blip r:embed="rId2"/>
          <a:stretch/>
        </p:blipFill>
        <p:spPr>
          <a:xfrm>
            <a:off x="4424040" y="1786320"/>
            <a:ext cx="4219560" cy="2999520"/>
          </a:xfrm>
          <a:prstGeom prst="rect">
            <a:avLst/>
          </a:prstGeom>
          <a:ln w="0">
            <a:noFill/>
          </a:ln>
        </p:spPr>
      </p:pic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55B86CA8-DC95-4DCD-867F-BE552C789656}" type="slidenum">
              <a:t>23</a:t>
            </a:fld>
            <a:endParaRPr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500"/>
                                        <p:tgtEl>
                                          <p:spTgt spid="1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0" dur="500"/>
                                        <p:tgtEl>
                                          <p:spTgt spid="1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repl">
                                        <p:cTn id="13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8" dur="500"/>
                                        <p:tgtEl>
                                          <p:spTgt spid="1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3" dur="500"/>
                                        <p:tgtEl>
                                          <p:spTgt spid="1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8" dur="500"/>
                                        <p:tgtEl>
                                          <p:spTgt spid="1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3" dur="500"/>
                                        <p:tgtEl>
                                          <p:spTgt spid="1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8" dur="500"/>
                                        <p:tgtEl>
                                          <p:spTgt spid="14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63A28F-E14C-16EA-279F-C87FB902E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>
            <a:extLst>
              <a:ext uri="{FF2B5EF4-FFF2-40B4-BE49-F238E27FC236}">
                <a16:creationId xmlns:a16="http://schemas.microsoft.com/office/drawing/2014/main" id="{DA20C7D6-65E1-0B13-6A01-7AF98C3EFE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de-DE" sz="3000" b="1" spc="-1">
                <a:solidFill>
                  <a:srgbClr val="003056"/>
                </a:solidFill>
                <a:latin typeface="Calibri"/>
              </a:rPr>
              <a:t>Fine-Tuning BERT (2)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7" name="PlaceHolder 2">
            <a:extLst>
              <a:ext uri="{FF2B5EF4-FFF2-40B4-BE49-F238E27FC236}">
                <a16:creationId xmlns:a16="http://schemas.microsoft.com/office/drawing/2014/main" id="{C10E51D6-52BD-7E46-D427-84D3E745477A}"/>
              </a:ext>
            </a:extLst>
          </p:cNvPr>
          <p:cNvSpPr>
            <a:spLocks noGrp="1"/>
          </p:cNvSpPr>
          <p:nvPr>
            <p:ph type="ftr" idx="22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38" name="PlaceHolder 3">
            <a:extLst>
              <a:ext uri="{FF2B5EF4-FFF2-40B4-BE49-F238E27FC236}">
                <a16:creationId xmlns:a16="http://schemas.microsoft.com/office/drawing/2014/main" id="{042557BC-0885-C8CB-C4D1-7EAF71F4D886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684000" y="1143000"/>
            <a:ext cx="7745400" cy="4928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2000" spc="-1" dirty="0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2000" spc="-1" dirty="0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2000" spc="-1" dirty="0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2000" spc="-1" dirty="0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2000" spc="-1" dirty="0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2000" spc="-1" dirty="0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2000" spc="-1" dirty="0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2000" spc="-1" dirty="0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2000" spc="-1" dirty="0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>
                <a:solidFill>
                  <a:srgbClr val="003056"/>
                </a:solidFill>
                <a:latin typeface="Calibri"/>
              </a:rPr>
              <a:t>Here's an example for sequence labeling, i.e. we classify each token </a:t>
            </a:r>
            <a:r>
              <a:rPr lang="en-US" sz="2000" b="1" i="1" spc="-1">
                <a:solidFill>
                  <a:srgbClr val="003056"/>
                </a:solidFill>
                <a:latin typeface="Calibri"/>
              </a:rPr>
              <a:t>h</a:t>
            </a:r>
            <a:r>
              <a:rPr lang="en-US" sz="2000" i="1" spc="-1" baseline="30000">
                <a:solidFill>
                  <a:srgbClr val="003056"/>
                </a:solidFill>
                <a:latin typeface="Calibri"/>
              </a:rPr>
              <a:t>L</a:t>
            </a:r>
            <a:r>
              <a:rPr lang="en-US" sz="2000" i="1" spc="-1" baseline="-25000">
                <a:solidFill>
                  <a:srgbClr val="003056"/>
                </a:solidFill>
                <a:latin typeface="Calibri"/>
              </a:rPr>
              <a:t>i</a:t>
            </a:r>
            <a:endParaRPr lang="en-US" sz="2000" i="1" spc="-1" baseline="-25000" dirty="0">
              <a:solidFill>
                <a:srgbClr val="003056"/>
              </a:solidFill>
              <a:latin typeface="Calibri"/>
            </a:endParaRP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Downstream model is linear projection </a:t>
            </a:r>
            <a:r>
              <a:rPr lang="en-US" sz="1800" b="1" i="1" spc="-1">
                <a:solidFill>
                  <a:srgbClr val="003056"/>
                </a:solidFill>
                <a:latin typeface="Calibri"/>
              </a:rPr>
              <a:t>W</a:t>
            </a:r>
            <a:r>
              <a:rPr lang="en-US" sz="1800" i="1" spc="-1" baseline="-25000">
                <a:solidFill>
                  <a:srgbClr val="003056"/>
                </a:solidFill>
                <a:latin typeface="Calibri"/>
              </a:rPr>
              <a:t>C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 to classification space </a:t>
            </a:r>
            <a:r>
              <a:rPr lang="en-US" sz="1800" i="1" spc="-1" dirty="0">
                <a:solidFill>
                  <a:srgbClr val="003056"/>
                </a:solidFill>
                <a:latin typeface="Calibri"/>
              </a:rPr>
              <a:t>C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During fine-tuning, </a:t>
            </a:r>
            <a:r>
              <a:rPr lang="en-US" sz="1800" b="1" i="1" spc="-1">
                <a:solidFill>
                  <a:srgbClr val="003056"/>
                </a:solidFill>
                <a:latin typeface="Calibri"/>
              </a:rPr>
              <a:t>W</a:t>
            </a:r>
            <a:r>
              <a:rPr lang="en-US" sz="1800" i="1" spc="-1" baseline="-25000">
                <a:solidFill>
                  <a:srgbClr val="003056"/>
                </a:solidFill>
                <a:latin typeface="Calibri"/>
              </a:rPr>
              <a:t>C 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+ all model parameters were updated</a:t>
            </a:r>
            <a:endParaRPr lang="en-US" sz="1800" spc="-1">
              <a:solidFill>
                <a:srgbClr val="003056"/>
              </a:solidFill>
              <a:latin typeface="DejaVu Sans"/>
              <a:ea typeface="Calibri"/>
              <a:cs typeface="Calibri"/>
            </a:endParaRP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Fine-tuning model often took 1 hour (doable compared to pre-training)</a:t>
            </a:r>
            <a:endParaRPr lang="en-US" sz="1800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For sequence classification task, CLS token used as downstream input </a:t>
            </a:r>
            <a:endParaRPr lang="en-US" sz="2000" spc="-1" dirty="0">
              <a:solidFill>
                <a:srgbClr val="003056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2200" spc="-1" dirty="0">
              <a:solidFill>
                <a:srgbClr val="003056"/>
              </a:solidFill>
              <a:latin typeface="Calibri"/>
              <a:ea typeface="Calibri"/>
              <a:cs typeface="Calibri"/>
            </a:endParaRP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1800" i="1" spc="-1" dirty="0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>
            <a:extLst>
              <a:ext uri="{FF2B5EF4-FFF2-40B4-BE49-F238E27FC236}">
                <a16:creationId xmlns:a16="http://schemas.microsoft.com/office/drawing/2014/main" id="{D8E71053-3DD2-76C4-3809-213321426738}"/>
              </a:ext>
            </a:extLst>
          </p:cNvPr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C3C7DE63-E728-4FF5-ACB1-957A06F82118}" type="slidenum">
              <a:t>24</a:t>
            </a:fld>
            <a:endParaRPr/>
          </a:p>
        </p:txBody>
      </p:sp>
      <p:pic>
        <p:nvPicPr>
          <p:cNvPr id="2" name="Picture 1" descr="A diagram of a software algorithm&#10;&#10;AI-generated content may be incorrect.">
            <a:extLst>
              <a:ext uri="{FF2B5EF4-FFF2-40B4-BE49-F238E27FC236}">
                <a16:creationId xmlns:a16="http://schemas.microsoft.com/office/drawing/2014/main" id="{579F77B5-D141-E90A-7A0E-A66AB88A93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8970" y="1141896"/>
            <a:ext cx="5420847" cy="3044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3741492"/>
      </p:ext>
    </p:extLst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Variations of BERT (1)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4" name="PlaceHolder 2"/>
          <p:cNvSpPr>
            <a:spLocks noGrp="1"/>
          </p:cNvSpPr>
          <p:nvPr>
            <p:ph type="ftr" idx="24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45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45400" cy="4928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BERT’s architecture was highly influential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Spawned several variants of the original model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trike="noStrike" spc="-1" dirty="0" err="1">
                <a:solidFill>
                  <a:srgbClr val="003056"/>
                </a:solidFill>
                <a:latin typeface="Calibri"/>
              </a:rPr>
              <a:t>RoBERTa</a:t>
            </a: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 (</a:t>
            </a:r>
            <a:r>
              <a:rPr lang="en-US" sz="2000" b="0" u="sng" strike="noStrike" spc="-1" dirty="0">
                <a:solidFill>
                  <a:srgbClr val="0000FF"/>
                </a:solidFill>
                <a:uFillTx/>
                <a:latin typeface="Calibri"/>
                <a:hlinkClick r:id="rId2"/>
              </a:rPr>
              <a:t>Liu et al. 2019</a:t>
            </a: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)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More than a variant, the result of a </a:t>
            </a:r>
            <a:r>
              <a:rPr lang="en-US" sz="1800" b="1" strike="noStrike" spc="-1" dirty="0">
                <a:solidFill>
                  <a:srgbClr val="003056"/>
                </a:solidFill>
                <a:latin typeface="Calibri"/>
              </a:rPr>
              <a:t>reproduction study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They </a:t>
            </a:r>
            <a:r>
              <a:rPr lang="en-US" sz="1800" b="1" strike="noStrike" spc="-1" dirty="0">
                <a:solidFill>
                  <a:srgbClr val="003056"/>
                </a:solidFill>
                <a:latin typeface="Calibri"/>
              </a:rPr>
              <a:t>reimplemented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, </a:t>
            </a:r>
            <a:r>
              <a:rPr lang="en-US" sz="1800" b="1" strike="noStrike" spc="-1" dirty="0">
                <a:solidFill>
                  <a:srgbClr val="003056"/>
                </a:solidFill>
                <a:latin typeface="Calibri"/>
              </a:rPr>
              <a:t>retrained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, did more </a:t>
            </a:r>
            <a:r>
              <a:rPr lang="en-US" sz="1800" b="1" strike="noStrike" spc="-1" dirty="0">
                <a:solidFill>
                  <a:srgbClr val="003056"/>
                </a:solidFill>
                <a:latin typeface="Calibri"/>
              </a:rPr>
              <a:t>ablation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trike="noStrike" spc="-1" dirty="0">
                <a:solidFill>
                  <a:srgbClr val="003056"/>
                </a:solidFill>
                <a:latin typeface="Calibri"/>
              </a:rPr>
              <a:t>Proposed changes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 such as: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lvl="2">
              <a:lnSpc>
                <a:spcPct val="100000"/>
              </a:lnSpc>
              <a:spcBef>
                <a:spcPts val="32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600" b="0" strike="noStrike" spc="-1" dirty="0">
                <a:solidFill>
                  <a:srgbClr val="003056"/>
                </a:solidFill>
                <a:latin typeface="Calibri"/>
              </a:rPr>
              <a:t>(1) </a:t>
            </a:r>
            <a:r>
              <a:rPr lang="en-US" sz="1600" b="1" strike="noStrike" spc="-1" dirty="0">
                <a:solidFill>
                  <a:srgbClr val="003056"/>
                </a:solidFill>
                <a:latin typeface="Calibri"/>
              </a:rPr>
              <a:t>Dynamic masking</a:t>
            </a:r>
            <a:r>
              <a:rPr lang="en-US" sz="1600" b="0" strike="noStrike" spc="-1" dirty="0">
                <a:solidFill>
                  <a:srgbClr val="003056"/>
                </a:solidFill>
                <a:latin typeface="Calibri"/>
              </a:rPr>
              <a:t>, i.e. sampling tokens for masking for each input sequence during training (as opposed to once</a:t>
            </a:r>
            <a:r>
              <a:rPr lang="en-US" sz="1600" spc="-1" dirty="0">
                <a:solidFill>
                  <a:srgbClr val="003056"/>
                </a:solidFill>
                <a:latin typeface="Calibri"/>
              </a:rPr>
              <a:t> before entire training run</a:t>
            </a:r>
            <a:r>
              <a:rPr lang="en-US" sz="1600" b="0" strike="noStrike" spc="-1" dirty="0">
                <a:solidFill>
                  <a:srgbClr val="003056"/>
                </a:solidFill>
                <a:latin typeface="Calibri"/>
              </a:rPr>
              <a:t>)</a:t>
            </a:r>
            <a:endParaRPr lang="de-DE" sz="1600" b="0" strike="noStrike" spc="-1" dirty="0">
              <a:solidFill>
                <a:srgbClr val="003056"/>
              </a:solidFill>
              <a:latin typeface="Calibri"/>
            </a:endParaRPr>
          </a:p>
          <a:p>
            <a:pPr lvl="2">
              <a:lnSpc>
                <a:spcPct val="100000"/>
              </a:lnSpc>
              <a:spcBef>
                <a:spcPts val="32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600" b="0" strike="noStrike" spc="-1" dirty="0">
                <a:solidFill>
                  <a:srgbClr val="003056"/>
                </a:solidFill>
                <a:latin typeface="Calibri"/>
              </a:rPr>
              <a:t>(2) </a:t>
            </a:r>
            <a:r>
              <a:rPr lang="en-US" sz="1600" b="1" strike="noStrike" spc="-1" dirty="0">
                <a:solidFill>
                  <a:srgbClr val="003056"/>
                </a:solidFill>
                <a:latin typeface="Calibri"/>
              </a:rPr>
              <a:t>Training without NSP</a:t>
            </a:r>
            <a:r>
              <a:rPr lang="en-US" sz="1600" b="0" strike="noStrike" spc="-1" dirty="0">
                <a:solidFill>
                  <a:srgbClr val="003056"/>
                </a:solidFill>
                <a:latin typeface="Calibri"/>
              </a:rPr>
              <a:t> loss (</a:t>
            </a:r>
            <a:r>
              <a:rPr lang="en-US" sz="1600" spc="-1" dirty="0">
                <a:solidFill>
                  <a:srgbClr val="003056"/>
                </a:solidFill>
                <a:latin typeface="Calibri"/>
              </a:rPr>
              <a:t>no more sentence pairs</a:t>
            </a:r>
            <a:r>
              <a:rPr lang="en-US" sz="1600" b="0" strike="noStrike" spc="-1" dirty="0">
                <a:solidFill>
                  <a:srgbClr val="003056"/>
                </a:solidFill>
                <a:latin typeface="Calibri"/>
              </a:rPr>
              <a:t>)</a:t>
            </a:r>
            <a:endParaRPr lang="de-DE" sz="1600" b="0" strike="noStrike" spc="-1" dirty="0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trike="noStrike" spc="-1" dirty="0" err="1">
                <a:solidFill>
                  <a:srgbClr val="003056"/>
                </a:solidFill>
                <a:latin typeface="Calibri"/>
              </a:rPr>
              <a:t>SpanBERT</a:t>
            </a: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 (</a:t>
            </a:r>
            <a:r>
              <a:rPr lang="en-US" sz="2000" b="0" u="sng" strike="noStrike" spc="-1" dirty="0">
                <a:solidFill>
                  <a:srgbClr val="0000FF"/>
                </a:solidFill>
                <a:uFillTx/>
                <a:latin typeface="Calibri"/>
                <a:hlinkClick r:id="rId3"/>
              </a:rPr>
              <a:t>Joshi et al. 2020</a:t>
            </a: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)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trike="noStrike" spc="-1" dirty="0">
                <a:solidFill>
                  <a:srgbClr val="003056"/>
                </a:solidFill>
                <a:latin typeface="Calibri"/>
              </a:rPr>
              <a:t>Masked entire subsequences 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instead of individual tokens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 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 (i.e. a span)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Marked masked span with special tokens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 (start-of-span, end-of-span)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Model trained on</a:t>
            </a:r>
            <a:r>
              <a:rPr lang="en-US" sz="1800" b="1" strike="noStrike" spc="-1" dirty="0">
                <a:solidFill>
                  <a:srgbClr val="003056"/>
                </a:solidFill>
                <a:latin typeface="Calibri"/>
              </a:rPr>
              <a:t> additional objective 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Span Boundary Objective (SBO)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They outperformed BERT in span-based tasks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, e.g.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span-based QA</a:t>
            </a:r>
            <a:endParaRPr lang="en-US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This model was concurrent with </a:t>
            </a:r>
            <a:r>
              <a:rPr lang="en-US" sz="1800" spc="-1" dirty="0" err="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RoBERTa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15B7BD07-6CDB-429C-B6CA-EF49BB1FDDFE}" type="slidenum">
              <a:t>25</a:t>
            </a:fld>
            <a:endParaRPr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500"/>
                                        <p:tgtEl>
                                          <p:spTgt spid="1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0" dur="500"/>
                                        <p:tgtEl>
                                          <p:spTgt spid="1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5" dur="500"/>
                                        <p:tgtEl>
                                          <p:spTgt spid="1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8" dur="500"/>
                                        <p:tgtEl>
                                          <p:spTgt spid="1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1" dur="500"/>
                                        <p:tgtEl>
                                          <p:spTgt spid="1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4" dur="500"/>
                                        <p:tgtEl>
                                          <p:spTgt spid="14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7" dur="500"/>
                                        <p:tgtEl>
                                          <p:spTgt spid="14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0" dur="500"/>
                                        <p:tgtEl>
                                          <p:spTgt spid="14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5" dur="500"/>
                                        <p:tgtEl>
                                          <p:spTgt spid="14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8" dur="500"/>
                                        <p:tgtEl>
                                          <p:spTgt spid="14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1" dur="500"/>
                                        <p:tgtEl>
                                          <p:spTgt spid="14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4" dur="500"/>
                                        <p:tgtEl>
                                          <p:spTgt spid="14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7" dur="500"/>
                                        <p:tgtEl>
                                          <p:spTgt spid="14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50" dur="500"/>
                                        <p:tgtEl>
                                          <p:spTgt spid="14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Variations of BERT (2)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7" name="PlaceHolder 2"/>
          <p:cNvSpPr>
            <a:spLocks noGrp="1"/>
          </p:cNvSpPr>
          <p:nvPr>
            <p:ph type="ftr" idx="25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48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45400" cy="4928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Sentence-BERT (</a:t>
            </a:r>
            <a:r>
              <a:rPr lang="en-US" sz="2000" b="0" u="sng" strike="noStrike" spc="-1" dirty="0">
                <a:solidFill>
                  <a:srgbClr val="0000FF"/>
                </a:solidFill>
                <a:uFillTx/>
                <a:latin typeface="Calibri"/>
                <a:hlinkClick r:id="rId2"/>
              </a:rPr>
              <a:t>Reimers et al. 2019</a:t>
            </a: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): better </a:t>
            </a:r>
            <a:r>
              <a:rPr lang="en-US" sz="2000" b="1" strike="noStrike" spc="-1" dirty="0">
                <a:solidFill>
                  <a:srgbClr val="003056"/>
                </a:solidFill>
                <a:latin typeface="Calibri"/>
              </a:rPr>
              <a:t>sentence embeddings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Siamese network architecture (</a:t>
            </a:r>
            <a:r>
              <a:rPr lang="en-US" sz="2000" spc="-1" dirty="0">
                <a:solidFill>
                  <a:srgbClr val="003056"/>
                </a:solidFill>
                <a:latin typeface="Calibri"/>
              </a:rPr>
              <a:t>here, two BERTs with shared weights</a:t>
            </a: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)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trike="noStrike" spc="-1" dirty="0">
                <a:solidFill>
                  <a:srgbClr val="003056"/>
                </a:solidFill>
                <a:latin typeface="Calibri"/>
              </a:rPr>
              <a:t>Pooling 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BERT output vectors (MEAN/MAX) to get sentence embedding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trike="noStrike" spc="-1" dirty="0">
                <a:solidFill>
                  <a:srgbClr val="003056"/>
                </a:solidFill>
                <a:latin typeface="Calibri"/>
              </a:rPr>
              <a:t>Training 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(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left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): Feed sentence vectors to classification/regression head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trike="noStrike" spc="-1" dirty="0">
                <a:solidFill>
                  <a:srgbClr val="003056"/>
                </a:solidFill>
                <a:latin typeface="Calibri"/>
              </a:rPr>
              <a:t>Inference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 (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right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): for regression, cosine similarity between sentences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 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 dirty="0">
                <a:solidFill>
                  <a:srgbClr val="003056"/>
                </a:solidFill>
                <a:latin typeface="Calibri"/>
              </a:rPr>
              <a:t>Results: better sentence</a:t>
            </a: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 embeddings </a:t>
            </a:r>
            <a:r>
              <a:rPr lang="en-US" sz="2000" spc="-1" dirty="0">
                <a:solidFill>
                  <a:srgbClr val="003056"/>
                </a:solidFill>
                <a:latin typeface="Calibri"/>
              </a:rPr>
              <a:t>vs </a:t>
            </a: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[CLS]</a:t>
            </a:r>
            <a:r>
              <a:rPr lang="en-US" sz="2000" spc="-1" dirty="0">
                <a:solidFill>
                  <a:srgbClr val="003056"/>
                </a:solidFill>
                <a:latin typeface="Calibri"/>
              </a:rPr>
              <a:t> token, other methods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</p:txBody>
      </p:sp>
      <p:pic>
        <p:nvPicPr>
          <p:cNvPr id="149" name="Grafik 6" descr="sentence_bert_1.png"/>
          <p:cNvPicPr/>
          <p:nvPr/>
        </p:nvPicPr>
        <p:blipFill>
          <a:blip r:embed="rId3"/>
          <a:stretch/>
        </p:blipFill>
        <p:spPr>
          <a:xfrm>
            <a:off x="1428840" y="2871000"/>
            <a:ext cx="6428880" cy="2772360"/>
          </a:xfrm>
          <a:prstGeom prst="rect">
            <a:avLst/>
          </a:prstGeom>
          <a:ln w="0">
            <a:noFill/>
          </a:ln>
        </p:spPr>
      </p:pic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6C4AC2D5-91C6-40E1-9759-40D8F363BEA0}" type="slidenum">
              <a:t>26</a:t>
            </a:fld>
            <a:endParaRPr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500"/>
                                        <p:tgtEl>
                                          <p:spTgt spid="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2" dur="500"/>
                                        <p:tgtEl>
                                          <p:spTgt spid="1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5" dur="500"/>
                                        <p:tgtEl>
                                          <p:spTgt spid="1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8" dur="500"/>
                                        <p:tgtEl>
                                          <p:spTgt spid="1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1" dur="500"/>
                                        <p:tgtEl>
                                          <p:spTgt spid="1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repl">
                                        <p:cTn id="24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9" dur="500"/>
                                        <p:tgtEl>
                                          <p:spTgt spid="14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1" name="PlaceHolder 2"/>
          <p:cNvSpPr>
            <a:spLocks noGrp="1"/>
          </p:cNvSpPr>
          <p:nvPr>
            <p:ph type="ftr" idx="26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52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4673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3080" indent="-34308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  <a:p>
            <a:pPr marL="343080" indent="-343080" algn="ctr">
              <a:lnSpc>
                <a:spcPct val="100000"/>
              </a:lnSpc>
              <a:spcBef>
                <a:spcPts val="879"/>
              </a:spcBef>
              <a:buNone/>
              <a:tabLst>
                <a:tab pos="0" algn="l"/>
              </a:tabLst>
            </a:pPr>
            <a:r>
              <a:rPr lang="en-US" sz="4400" b="1" strike="noStrike" spc="-1">
                <a:solidFill>
                  <a:srgbClr val="003056"/>
                </a:solidFill>
                <a:latin typeface="Calibri"/>
              </a:rPr>
              <a:t>Causal Language Models</a:t>
            </a:r>
            <a:endParaRPr lang="de-DE" sz="4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DB74FEDE-098E-4877-BFF6-ECDD767B9CE9}" type="slidenum">
              <a:t>27</a:t>
            </a:fld>
            <a:endParaRPr/>
          </a:p>
        </p:txBody>
      </p:sp>
    </p:spTree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de-DE" sz="3000" b="1" strike="noStrike" spc="-1" dirty="0">
                <a:solidFill>
                  <a:srgbClr val="003056"/>
                </a:solidFill>
                <a:latin typeface="Calibri"/>
              </a:rPr>
              <a:t>Autoregressive </a:t>
            </a:r>
            <a:r>
              <a:rPr lang="de-DE" sz="3000" b="1" spc="-1" dirty="0">
                <a:solidFill>
                  <a:srgbClr val="003056"/>
                </a:solidFill>
                <a:latin typeface="Calibri"/>
              </a:rPr>
              <a:t>Text Generation</a:t>
            </a:r>
            <a:endParaRPr lang="de-DE" sz="3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8" name="PlaceHolder 2"/>
          <p:cNvSpPr>
            <a:spLocks noGrp="1"/>
          </p:cNvSpPr>
          <p:nvPr>
            <p:ph type="ftr" idx="28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59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4928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pc="-1" dirty="0">
                <a:solidFill>
                  <a:srgbClr val="003056"/>
                </a:solidFill>
                <a:latin typeface="Calibri"/>
              </a:rPr>
              <a:t>Recall autoregressive</a:t>
            </a:r>
            <a:r>
              <a:rPr lang="en-US" sz="2000" b="1" strike="noStrike" spc="-1" dirty="0">
                <a:solidFill>
                  <a:srgbClr val="003056"/>
                </a:solidFill>
                <a:latin typeface="Calibri"/>
              </a:rPr>
              <a:t> generation: </a:t>
            </a: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word generated at each time-step is conditioned on word generated at previous time-step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pc="-1" dirty="0">
                <a:solidFill>
                  <a:srgbClr val="003056"/>
                </a:solidFill>
                <a:latin typeface="Calibri"/>
              </a:rPr>
              <a:t>Concrete steps:</a:t>
            </a:r>
            <a:endParaRPr lang="en-US" sz="2000" b="1" strike="noStrike" spc="-1" dirty="0">
              <a:solidFill>
                <a:srgbClr val="003056"/>
              </a:solidFill>
              <a:latin typeface="Calibri"/>
            </a:endParaRPr>
          </a:p>
          <a:p>
            <a:pPr marL="800100" lvl="1" indent="-342900">
              <a:lnSpc>
                <a:spcPct val="100000"/>
              </a:lnSpc>
              <a:spcBef>
                <a:spcPts val="320"/>
              </a:spcBef>
              <a:buClr>
                <a:srgbClr val="003056"/>
              </a:buClr>
              <a:buFont typeface="Calibri"/>
              <a:buAutoNum type="arabicPeriod"/>
            </a:pPr>
            <a:r>
              <a:rPr lang="en-US" sz="1600" b="0" strike="noStrike" spc="-1" dirty="0">
                <a:solidFill>
                  <a:srgbClr val="003056"/>
                </a:solidFill>
                <a:latin typeface="Calibri"/>
              </a:rPr>
              <a:t>Feed starting symbol </a:t>
            </a:r>
            <a:r>
              <a:rPr lang="en-US" sz="1600" b="0" i="1" strike="noStrike" spc="-1" dirty="0">
                <a:solidFill>
                  <a:srgbClr val="003056"/>
                </a:solidFill>
                <a:latin typeface="Calibri"/>
              </a:rPr>
              <a:t>&lt;s&gt;</a:t>
            </a:r>
            <a:r>
              <a:rPr lang="en-US" sz="1600" b="0" strike="noStrike" spc="-1" dirty="0">
                <a:solidFill>
                  <a:srgbClr val="003056"/>
                </a:solidFill>
                <a:latin typeface="Calibri"/>
              </a:rPr>
              <a:t>, model produces </a:t>
            </a:r>
            <a:r>
              <a:rPr lang="en-US" sz="1600" b="0" strike="noStrike" spc="-1" err="1">
                <a:solidFill>
                  <a:srgbClr val="003056"/>
                </a:solidFill>
                <a:latin typeface="Calibri"/>
              </a:rPr>
              <a:t>softmax</a:t>
            </a:r>
            <a:r>
              <a:rPr lang="en-US" sz="1600" b="0" strike="noStrike" spc="-1" dirty="0">
                <a:solidFill>
                  <a:srgbClr val="003056"/>
                </a:solidFill>
                <a:latin typeface="Calibri"/>
              </a:rPr>
              <a:t> distribution over vocabulary</a:t>
            </a:r>
            <a:endParaRPr lang="de-DE" sz="1600" b="0" strike="noStrike" spc="-1" dirty="0">
              <a:solidFill>
                <a:srgbClr val="003056"/>
              </a:solidFill>
              <a:latin typeface="Calibri"/>
            </a:endParaRPr>
          </a:p>
          <a:p>
            <a:pPr marL="800100" lvl="1" indent="-342900">
              <a:lnSpc>
                <a:spcPct val="100000"/>
              </a:lnSpc>
              <a:spcBef>
                <a:spcPts val="320"/>
              </a:spcBef>
              <a:buClr>
                <a:srgbClr val="003056"/>
              </a:buClr>
              <a:buFont typeface="Calibri"/>
              <a:buAutoNum type="arabicPeriod"/>
            </a:pPr>
            <a:r>
              <a:rPr lang="en-US" sz="1600" b="0" strike="noStrike" spc="-1" dirty="0">
                <a:solidFill>
                  <a:srgbClr val="003056"/>
                </a:solidFill>
                <a:latin typeface="Calibri"/>
              </a:rPr>
              <a:t>Sample next word </a:t>
            </a:r>
            <a:r>
              <a:rPr lang="en-US" sz="1600" i="1" spc="-1" dirty="0" err="1">
                <a:solidFill>
                  <a:srgbClr val="003056"/>
                </a:solidFill>
                <a:latin typeface="Calibri"/>
              </a:rPr>
              <a:t>w</a:t>
            </a:r>
            <a:r>
              <a:rPr lang="en-US" sz="1600" i="1" spc="-1" baseline="-25000" dirty="0" err="1">
                <a:solidFill>
                  <a:srgbClr val="003056"/>
                </a:solidFill>
                <a:latin typeface="Calibri"/>
              </a:rPr>
              <a:t>i</a:t>
            </a:r>
            <a:r>
              <a:rPr lang="en-US" sz="1600" spc="-1" dirty="0">
                <a:solidFill>
                  <a:srgbClr val="003056"/>
                </a:solidFill>
                <a:latin typeface="Calibri"/>
              </a:rPr>
              <a:t> from</a:t>
            </a:r>
            <a:r>
              <a:rPr lang="en-US" sz="1600" b="0" strike="noStrike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en-US" sz="1600" b="0" strike="noStrike" spc="-1" dirty="0" err="1">
                <a:solidFill>
                  <a:srgbClr val="003056"/>
                </a:solidFill>
                <a:latin typeface="Calibri"/>
              </a:rPr>
              <a:t>softmax</a:t>
            </a:r>
            <a:r>
              <a:rPr lang="en-US" sz="1600" b="0" strike="noStrike" spc="-1" dirty="0">
                <a:solidFill>
                  <a:srgbClr val="003056"/>
                </a:solidFill>
                <a:latin typeface="Calibri"/>
              </a:rPr>
              <a:t> distribution (</a:t>
            </a:r>
            <a:r>
              <a:rPr lang="en-US" sz="1600" spc="-1" dirty="0">
                <a:solidFill>
                  <a:srgbClr val="003056"/>
                </a:solidFill>
                <a:latin typeface="Calibri"/>
              </a:rPr>
              <a:t>using some sampling method</a:t>
            </a:r>
            <a:r>
              <a:rPr lang="en-US" sz="1600" b="0" strike="noStrike" spc="-1" dirty="0">
                <a:solidFill>
                  <a:srgbClr val="003056"/>
                </a:solidFill>
                <a:latin typeface="Calibri"/>
              </a:rPr>
              <a:t>)</a:t>
            </a:r>
            <a:endParaRPr lang="de-DE" sz="1600" b="0" strike="noStrike" spc="-1" dirty="0">
              <a:solidFill>
                <a:srgbClr val="003056"/>
              </a:solidFill>
              <a:latin typeface="Calibri"/>
            </a:endParaRPr>
          </a:p>
          <a:p>
            <a:pPr marL="800100" lvl="1" indent="-342900">
              <a:lnSpc>
                <a:spcPct val="100000"/>
              </a:lnSpc>
              <a:spcBef>
                <a:spcPts val="320"/>
              </a:spcBef>
              <a:buClr>
                <a:srgbClr val="003056"/>
              </a:buClr>
              <a:buFont typeface="Calibri"/>
              <a:buAutoNum type="arabicPeriod"/>
            </a:pPr>
            <a:r>
              <a:rPr lang="en-US" sz="1600" b="0" strike="noStrike" spc="-1" dirty="0">
                <a:solidFill>
                  <a:srgbClr val="003056"/>
                </a:solidFill>
                <a:latin typeface="Calibri"/>
              </a:rPr>
              <a:t>Add sampled word to previous input sequence, </a:t>
            </a:r>
            <a:r>
              <a:rPr lang="en-US" sz="1600" spc="-1" dirty="0">
                <a:solidFill>
                  <a:srgbClr val="003056"/>
                </a:solidFill>
                <a:latin typeface="Calibri"/>
              </a:rPr>
              <a:t>i.e. "</a:t>
            </a:r>
            <a:r>
              <a:rPr lang="en-US" sz="1600" i="1" spc="-1" dirty="0">
                <a:solidFill>
                  <a:srgbClr val="003056"/>
                </a:solidFill>
                <a:latin typeface="Calibri"/>
              </a:rPr>
              <a:t>&lt;s&gt; </a:t>
            </a:r>
            <a:r>
              <a:rPr lang="en-US" sz="1600" i="1" spc="-1" dirty="0" err="1">
                <a:solidFill>
                  <a:srgbClr val="003056"/>
                </a:solidFill>
                <a:latin typeface="Calibri"/>
              </a:rPr>
              <a:t>w</a:t>
            </a:r>
            <a:r>
              <a:rPr lang="en-US" sz="1600" i="1" spc="-1" baseline="-25000" dirty="0" err="1">
                <a:solidFill>
                  <a:srgbClr val="003056"/>
                </a:solidFill>
                <a:latin typeface="Calibri"/>
              </a:rPr>
              <a:t>i</a:t>
            </a:r>
            <a:r>
              <a:rPr lang="en-US" sz="1600" spc="-1" dirty="0">
                <a:solidFill>
                  <a:srgbClr val="003056"/>
                </a:solidFill>
                <a:latin typeface="Calibri"/>
              </a:rPr>
              <a:t>", feed</a:t>
            </a:r>
            <a:r>
              <a:rPr lang="en-US" sz="1600" b="0" strike="noStrike" spc="-1" dirty="0">
                <a:solidFill>
                  <a:srgbClr val="003056"/>
                </a:solidFill>
                <a:latin typeface="Calibri"/>
              </a:rPr>
              <a:t> to model</a:t>
            </a:r>
            <a:endParaRPr lang="de-DE" sz="1600" b="0" strike="noStrike" spc="-1" dirty="0">
              <a:solidFill>
                <a:srgbClr val="003056"/>
              </a:solidFill>
              <a:latin typeface="Calibri"/>
            </a:endParaRPr>
          </a:p>
          <a:p>
            <a:pPr marL="800100" lvl="1" indent="-342900">
              <a:lnSpc>
                <a:spcPct val="100000"/>
              </a:lnSpc>
              <a:spcBef>
                <a:spcPts val="320"/>
              </a:spcBef>
              <a:buClr>
                <a:srgbClr val="003056"/>
              </a:buClr>
              <a:buFont typeface="Calibri"/>
              <a:buAutoNum type="arabicPeriod"/>
            </a:pPr>
            <a:r>
              <a:rPr lang="en-US" sz="1600" b="0" strike="noStrike" spc="-1" dirty="0">
                <a:solidFill>
                  <a:srgbClr val="003056"/>
                </a:solidFill>
                <a:latin typeface="Calibri"/>
              </a:rPr>
              <a:t>Model produces new </a:t>
            </a:r>
            <a:r>
              <a:rPr lang="en-US" sz="1600" b="0" strike="noStrike" spc="-1" dirty="0" err="1">
                <a:solidFill>
                  <a:srgbClr val="003056"/>
                </a:solidFill>
                <a:latin typeface="Calibri"/>
              </a:rPr>
              <a:t>softmax</a:t>
            </a:r>
            <a:r>
              <a:rPr lang="en-US" sz="1600" b="0" strike="noStrike" spc="-1" dirty="0">
                <a:solidFill>
                  <a:srgbClr val="003056"/>
                </a:solidFill>
                <a:latin typeface="Calibri"/>
              </a:rPr>
              <a:t> distribution, sample next word </a:t>
            </a:r>
            <a:r>
              <a:rPr lang="en-US" sz="1600" i="1" spc="-1" dirty="0">
                <a:solidFill>
                  <a:srgbClr val="003056"/>
                </a:solidFill>
                <a:latin typeface="Calibri"/>
              </a:rPr>
              <a:t>w</a:t>
            </a:r>
            <a:r>
              <a:rPr lang="en-US" sz="1600" i="1" spc="-1" baseline="-25000" dirty="0">
                <a:solidFill>
                  <a:srgbClr val="003056"/>
                </a:solidFill>
                <a:latin typeface="Calibri"/>
              </a:rPr>
              <a:t>i+1 </a:t>
            </a:r>
            <a:r>
              <a:rPr lang="en-US" sz="1600" spc="-1" dirty="0">
                <a:solidFill>
                  <a:srgbClr val="003056"/>
                </a:solidFill>
                <a:latin typeface="Calibri"/>
              </a:rPr>
              <a:t>again</a:t>
            </a:r>
            <a:endParaRPr lang="de-DE" sz="1600" b="0" strike="noStrike" spc="-1" dirty="0">
              <a:solidFill>
                <a:srgbClr val="003056"/>
              </a:solidFill>
              <a:latin typeface="Calibri"/>
            </a:endParaRPr>
          </a:p>
          <a:p>
            <a:pPr marL="800100" lvl="1" indent="-342900">
              <a:lnSpc>
                <a:spcPct val="100000"/>
              </a:lnSpc>
              <a:spcBef>
                <a:spcPts val="320"/>
              </a:spcBef>
              <a:buClr>
                <a:srgbClr val="003056"/>
              </a:buClr>
              <a:buFont typeface="Calibri"/>
              <a:buAutoNum type="arabicPeriod"/>
            </a:pPr>
            <a:r>
              <a:rPr lang="en-US" sz="1600" b="0" strike="noStrike" spc="-1" dirty="0">
                <a:solidFill>
                  <a:srgbClr val="003056"/>
                </a:solidFill>
                <a:latin typeface="Calibri"/>
              </a:rPr>
              <a:t>Repeat steps 3-4 with latest sampled word until symbol </a:t>
            </a:r>
            <a:r>
              <a:rPr lang="en-US" sz="1600" b="0" i="1" strike="noStrike" spc="-1" dirty="0">
                <a:solidFill>
                  <a:srgbClr val="003056"/>
                </a:solidFill>
                <a:latin typeface="Calibri"/>
              </a:rPr>
              <a:t>&lt;/s&gt;</a:t>
            </a:r>
            <a:r>
              <a:rPr lang="en-US" sz="1600" b="0" strike="noStrike" spc="-1" dirty="0">
                <a:solidFill>
                  <a:srgbClr val="003056"/>
                </a:solidFill>
                <a:latin typeface="Calibri"/>
              </a:rPr>
              <a:t> is sampled</a:t>
            </a:r>
            <a:endParaRPr lang="de-DE" sz="1600" b="0" strike="noStrike" spc="-1" dirty="0">
              <a:solidFill>
                <a:srgbClr val="003056"/>
              </a:solidFill>
              <a:latin typeface="Calibri"/>
            </a:endParaRPr>
          </a:p>
          <a:p>
            <a:pPr marL="399415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pc="-1" dirty="0">
                <a:solidFill>
                  <a:srgbClr val="003056"/>
                </a:solidFill>
                <a:latin typeface="Calibri"/>
              </a:rPr>
              <a:t>Sampling methods important part of generation</a:t>
            </a:r>
            <a:r>
              <a:rPr lang="en-US" sz="2000" spc="-1" dirty="0">
                <a:solidFill>
                  <a:srgbClr val="003056"/>
                </a:solidFill>
                <a:latin typeface="Calibri"/>
              </a:rPr>
              <a:t>, as seen in tutorials</a:t>
            </a:r>
            <a:endParaRPr lang="de-DE" sz="1800" spc="-1" dirty="0">
              <a:solidFill>
                <a:srgbClr val="003056"/>
              </a:solidFill>
              <a:latin typeface="Calibri"/>
            </a:endParaRPr>
          </a:p>
          <a:p>
            <a:pPr marL="856615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pc="-1" dirty="0">
                <a:solidFill>
                  <a:srgbClr val="003056"/>
                </a:solidFill>
                <a:latin typeface="Calibri"/>
              </a:rPr>
              <a:t>Greedy</a:t>
            </a:r>
            <a:r>
              <a:rPr lang="en-US" sz="1800" b="1" strike="noStrike" spc="-1" dirty="0">
                <a:solidFill>
                  <a:srgbClr val="003056"/>
                </a:solidFill>
                <a:latin typeface="Calibri"/>
              </a:rPr>
              <a:t> decoding: 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sample most probable 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word</a:t>
            </a:r>
            <a:endParaRPr lang="de-DE" sz="1800" spc="-1">
              <a:solidFill>
                <a:srgbClr val="003056"/>
              </a:solidFill>
              <a:latin typeface="Calibri"/>
            </a:endParaRPr>
          </a:p>
          <a:p>
            <a:pPr marL="856615" lvl="1" indent="-28575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pc="-1" dirty="0">
                <a:solidFill>
                  <a:srgbClr val="003056"/>
                </a:solidFill>
                <a:latin typeface="Calibri"/>
              </a:rPr>
              <a:t>Top-k: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 sample from top </a:t>
            </a:r>
            <a:r>
              <a:rPr lang="en-US" sz="1800" i="1" spc="-1" dirty="0">
                <a:solidFill>
                  <a:srgbClr val="003056"/>
                </a:solidFill>
                <a:latin typeface="Calibri"/>
              </a:rPr>
              <a:t>k 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words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856615" lvl="1" indent="-28575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pc="-1" dirty="0">
                <a:solidFill>
                  <a:srgbClr val="003056"/>
                </a:solidFill>
                <a:latin typeface="Calibri"/>
              </a:rPr>
              <a:t>Top-p: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 sample from words that make up top </a:t>
            </a:r>
            <a:r>
              <a:rPr lang="en-US" sz="1800" i="1" spc="-1" dirty="0">
                <a:solidFill>
                  <a:srgbClr val="003056"/>
                </a:solidFill>
                <a:latin typeface="Calibri"/>
              </a:rPr>
              <a:t>p 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probability mass</a:t>
            </a:r>
          </a:p>
          <a:p>
            <a:pPr marL="399415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More involved sampling </a:t>
            </a:r>
            <a:r>
              <a:rPr lang="en-US" sz="2000" spc="-1" dirty="0">
                <a:solidFill>
                  <a:srgbClr val="003056"/>
                </a:solidFill>
                <a:latin typeface="Calibri"/>
              </a:rPr>
              <a:t>methods</a:t>
            </a: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 exist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,Sans-Serif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</a:rPr>
              <a:t>Before we look at causal language models, l</a:t>
            </a: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et’s have a quick look at a very common and less simple sampling method in more detail</a:t>
            </a:r>
            <a:endParaRPr lang="de-DE" sz="1800" spc="-1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endParaRPr lang="en-US" sz="1800" spc="-1" dirty="0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6ABCC3B3-F1DD-401B-8ED7-EA8B0874B1B5}" type="slidenum">
              <a:t>28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5834625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500"/>
                                        <p:tgtEl>
                                          <p:spTgt spid="1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2" dur="500"/>
                                        <p:tgtEl>
                                          <p:spTgt spid="1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5" dur="500"/>
                                        <p:tgtEl>
                                          <p:spTgt spid="1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8" dur="500"/>
                                        <p:tgtEl>
                                          <p:spTgt spid="1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1" dur="500"/>
                                        <p:tgtEl>
                                          <p:spTgt spid="1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4" dur="500"/>
                                        <p:tgtEl>
                                          <p:spTgt spid="1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7" dur="500"/>
                                        <p:tgtEl>
                                          <p:spTgt spid="1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2" dur="500"/>
                                        <p:tgtEl>
                                          <p:spTgt spid="1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5" dur="500"/>
                                        <p:tgtEl>
                                          <p:spTgt spid="1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8" dur="500"/>
                                        <p:tgtEl>
                                          <p:spTgt spid="1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1" dur="500"/>
                                        <p:tgtEl>
                                          <p:spTgt spid="15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6" dur="500"/>
                                        <p:tgtEl>
                                          <p:spTgt spid="15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9" dur="500"/>
                                        <p:tgtEl>
                                          <p:spTgt spid="15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Beam Search (1)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1" name="PlaceHolder 2"/>
          <p:cNvSpPr>
            <a:spLocks noGrp="1"/>
          </p:cNvSpPr>
          <p:nvPr>
            <p:ph type="ftr" idx="29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62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4928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Say we have a pre-trained LM that can produce distributions for next word prediction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Assume further our vocabulary is </a:t>
            </a:r>
            <a:r>
              <a:rPr lang="en-US" sz="2000" b="0" i="1" strike="noStrike" spc="-1" dirty="0">
                <a:solidFill>
                  <a:srgbClr val="003056"/>
                </a:solidFill>
                <a:latin typeface="Calibri"/>
              </a:rPr>
              <a:t>V = {yes, ok, &lt;/s&gt;}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In the following example, </a:t>
            </a:r>
            <a:r>
              <a:rPr lang="en-US" sz="2000" spc="-1" dirty="0">
                <a:solidFill>
                  <a:srgbClr val="003056"/>
                </a:solidFill>
                <a:latin typeface="Calibri"/>
              </a:rPr>
              <a:t>the </a:t>
            </a:r>
            <a:r>
              <a:rPr lang="en-US" sz="2000" b="1" spc="-1" dirty="0">
                <a:solidFill>
                  <a:srgbClr val="003056"/>
                </a:solidFill>
                <a:latin typeface="Calibri"/>
              </a:rPr>
              <a:t>most</a:t>
            </a:r>
            <a:r>
              <a:rPr lang="en-US" sz="2000" b="1" strike="noStrike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en-US" sz="2000" b="1" spc="-1" dirty="0">
                <a:solidFill>
                  <a:srgbClr val="003056"/>
                </a:solidFill>
                <a:latin typeface="Calibri"/>
              </a:rPr>
              <a:t>probable </a:t>
            </a:r>
            <a:r>
              <a:rPr lang="en-US" sz="2000" b="1" strike="noStrike" spc="-1" dirty="0">
                <a:solidFill>
                  <a:srgbClr val="003056"/>
                </a:solidFill>
                <a:latin typeface="Calibri"/>
              </a:rPr>
              <a:t>sequence </a:t>
            </a: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is </a:t>
            </a:r>
            <a:r>
              <a:rPr lang="en-US" sz="2000" b="0" i="1" strike="noStrike" spc="-1" dirty="0">
                <a:solidFill>
                  <a:srgbClr val="003056"/>
                </a:solidFill>
                <a:latin typeface="Calibri"/>
              </a:rPr>
              <a:t>“ok </a:t>
            </a:r>
            <a:r>
              <a:rPr lang="en-US" sz="2000" b="0" i="1" strike="noStrike" spc="-1" dirty="0" err="1">
                <a:solidFill>
                  <a:srgbClr val="003056"/>
                </a:solidFill>
                <a:latin typeface="Calibri"/>
              </a:rPr>
              <a:t>ok</a:t>
            </a:r>
            <a:r>
              <a:rPr lang="en-US" sz="2000" b="0" i="1" strike="noStrike" spc="-1" dirty="0">
                <a:solidFill>
                  <a:srgbClr val="003056"/>
                </a:solidFill>
                <a:latin typeface="Calibri"/>
              </a:rPr>
              <a:t> &lt;/s&gt;”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But </a:t>
            </a:r>
            <a:r>
              <a:rPr lang="en-US" sz="1800" b="1" strike="noStrike" spc="-1" dirty="0">
                <a:solidFill>
                  <a:srgbClr val="003056"/>
                </a:solidFill>
                <a:latin typeface="Calibri"/>
              </a:rPr>
              <a:t>greedy sampling would fail 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to predict it, it would first choose “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yes”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</p:txBody>
      </p:sp>
      <p:pic>
        <p:nvPicPr>
          <p:cNvPr id="163" name="Grafik 6" descr="search_tree_1.png"/>
          <p:cNvPicPr/>
          <p:nvPr/>
        </p:nvPicPr>
        <p:blipFill>
          <a:blip r:embed="rId2"/>
          <a:stretch/>
        </p:blipFill>
        <p:spPr>
          <a:xfrm>
            <a:off x="2000160" y="2786040"/>
            <a:ext cx="4909320" cy="3331080"/>
          </a:xfrm>
          <a:prstGeom prst="rect">
            <a:avLst/>
          </a:prstGeom>
          <a:ln w="0">
            <a:noFill/>
          </a:ln>
        </p:spPr>
      </p:pic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08EA64F3-A697-4101-9273-C46092F0057F}" type="slidenum">
              <a:t>29</a:t>
            </a:fld>
            <a:endParaRPr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500"/>
                                        <p:tgtEl>
                                          <p:spTgt spid="1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2" dur="500"/>
                                        <p:tgtEl>
                                          <p:spTgt spid="1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7" dur="500"/>
                                        <p:tgtEl>
                                          <p:spTgt spid="1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0" dur="500"/>
                                        <p:tgtEl>
                                          <p:spTgt spid="1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repl">
                                        <p:cTn id="23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trike="noStrike" spc="-1" dirty="0">
                <a:solidFill>
                  <a:srgbClr val="003056"/>
                </a:solidFill>
                <a:latin typeface="Calibri"/>
              </a:rPr>
              <a:t>Beam Search (</a:t>
            </a:r>
            <a:r>
              <a:rPr lang="de-DE" sz="3000" b="1" spc="-1" dirty="0">
                <a:solidFill>
                  <a:srgbClr val="003056"/>
                </a:solidFill>
                <a:latin typeface="Calibri"/>
              </a:rPr>
              <a:t>2</a:t>
            </a:r>
            <a:r>
              <a:rPr lang="de-DE" sz="3000" b="1" strike="noStrike" spc="-1" dirty="0">
                <a:solidFill>
                  <a:srgbClr val="003056"/>
                </a:solidFill>
                <a:latin typeface="Calibri"/>
              </a:rPr>
              <a:t>)</a:t>
            </a:r>
            <a:endParaRPr lang="de-DE" sz="3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1" name="PlaceHolder 2"/>
          <p:cNvSpPr>
            <a:spLocks noGrp="1"/>
          </p:cNvSpPr>
          <p:nvPr>
            <p:ph type="ftr" idx="29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62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4928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 dirty="0">
                <a:solidFill>
                  <a:srgbClr val="003056"/>
                </a:solidFill>
                <a:latin typeface="Calibri"/>
              </a:rPr>
              <a:t>The previous </a:t>
            </a: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example</a:t>
            </a:r>
            <a:r>
              <a:rPr lang="en-US" sz="2000" spc="-1" dirty="0">
                <a:solidFill>
                  <a:srgbClr val="003056"/>
                </a:solidFill>
                <a:latin typeface="Calibri"/>
              </a:rPr>
              <a:t> illustrates that when we want the </a:t>
            </a:r>
            <a:r>
              <a:rPr lang="en-US" sz="2000" b="1" spc="-1" dirty="0">
                <a:solidFill>
                  <a:srgbClr val="003056"/>
                </a:solidFill>
                <a:latin typeface="Calibri"/>
              </a:rPr>
              <a:t>most probable sequence</a:t>
            </a:r>
            <a:r>
              <a:rPr lang="en-US" sz="2000" spc="-1" dirty="0">
                <a:solidFill>
                  <a:srgbClr val="003056"/>
                </a:solidFill>
                <a:latin typeface="Calibri"/>
              </a:rPr>
              <a:t>, shortsighted approaches may not be suitable</a:t>
            </a:r>
            <a:endParaRPr lang="de-DE" sz="2000" b="1" spc="-1" dirty="0">
              <a:solidFill>
                <a:srgbClr val="003056"/>
              </a:solidFill>
              <a:latin typeface="Calibri"/>
            </a:endParaRP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1800" spc="-1" dirty="0">
                <a:solidFill>
                  <a:srgbClr val="003056"/>
                </a:solidFill>
                <a:latin typeface="Calibri"/>
              </a:rPr>
              <a:t>Shortsighted: only considering the probability of the next word</a:t>
            </a: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pc="-1" dirty="0">
                <a:solidFill>
                  <a:srgbClr val="003056"/>
                </a:solidFill>
                <a:latin typeface="Calibri"/>
              </a:rPr>
              <a:t>Beam Search:</a:t>
            </a:r>
            <a:endParaRPr lang="en-US" sz="2000" spc="-1">
              <a:solidFill>
                <a:srgbClr val="003056"/>
              </a:solidFill>
              <a:latin typeface="Calibri"/>
            </a:endParaRP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1800" b="1" spc="-1" dirty="0">
                <a:solidFill>
                  <a:srgbClr val="003056"/>
                </a:solidFill>
                <a:latin typeface="Calibri"/>
              </a:rPr>
              <a:t>Iteratively sample top </a:t>
            </a:r>
            <a:r>
              <a:rPr lang="en-US" sz="1800" b="1" i="1" spc="-1" dirty="0">
                <a:solidFill>
                  <a:srgbClr val="003056"/>
                </a:solidFill>
                <a:latin typeface="Calibri"/>
              </a:rPr>
              <a:t>k 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most probable words (i.e. also greedy)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1800" spc="-1" dirty="0">
                <a:solidFill>
                  <a:srgbClr val="003056"/>
                </a:solidFill>
                <a:latin typeface="Calibri"/>
              </a:rPr>
              <a:t>The </a:t>
            </a:r>
            <a:r>
              <a:rPr lang="en-US" sz="1800" b="1" spc="-1" dirty="0">
                <a:solidFill>
                  <a:srgbClr val="003056"/>
                </a:solidFill>
                <a:latin typeface="Calibri"/>
              </a:rPr>
              <a:t>score of each possible word 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is based on the probabilities of the previously sampled words, i.e. </a:t>
            </a:r>
            <a:r>
              <a:rPr lang="en-US" sz="1800" b="1" spc="-1" dirty="0">
                <a:solidFill>
                  <a:srgbClr val="003056"/>
                </a:solidFill>
                <a:latin typeface="Calibri"/>
              </a:rPr>
              <a:t>consider the probability of the sequence</a:t>
            </a: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2000" spc="-1" dirty="0">
                <a:solidFill>
                  <a:srgbClr val="003056"/>
                </a:solidFill>
                <a:latin typeface="Calibri"/>
              </a:rPr>
              <a:t>Score of sequence of </a:t>
            </a:r>
            <a:r>
              <a:rPr lang="en-US" sz="2000" i="1" spc="-1" dirty="0" err="1">
                <a:solidFill>
                  <a:srgbClr val="003056"/>
                </a:solidFill>
                <a:latin typeface="Calibri"/>
              </a:rPr>
              <a:t>y</a:t>
            </a:r>
            <a:r>
              <a:rPr lang="en-US" sz="2000" i="1" spc="-1" baseline="-25000" dirty="0" err="1">
                <a:solidFill>
                  <a:srgbClr val="003056"/>
                </a:solidFill>
                <a:latin typeface="Calibri"/>
              </a:rPr>
              <a:t>i</a:t>
            </a:r>
            <a:r>
              <a:rPr lang="en-US" sz="2000" spc="-1" dirty="0">
                <a:solidFill>
                  <a:srgbClr val="003056"/>
                </a:solidFill>
                <a:latin typeface="Calibri"/>
              </a:rPr>
              <a:t> words given some input </a:t>
            </a:r>
            <a:r>
              <a:rPr lang="en-US" sz="2000" i="1" spc="-1" dirty="0">
                <a:solidFill>
                  <a:srgbClr val="003056"/>
                </a:solidFill>
                <a:latin typeface="Calibri"/>
              </a:rPr>
              <a:t>x</a:t>
            </a:r>
            <a:r>
              <a:rPr lang="en-US" sz="2000" spc="-1" dirty="0">
                <a:solidFill>
                  <a:srgbClr val="003056"/>
                </a:solidFill>
                <a:latin typeface="Calibri"/>
              </a:rPr>
              <a:t>, e.g. in translation, is:</a:t>
            </a: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endParaRPr lang="en-US" sz="2000" spc="-1" dirty="0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endParaRPr lang="en-US" sz="2000" spc="-1" dirty="0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endParaRPr lang="en-US" sz="2000" spc="-1" dirty="0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endParaRPr lang="en-US" sz="2000" spc="-1" dirty="0">
              <a:solidFill>
                <a:srgbClr val="003056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20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We normalize by sequence length to avoid favoring shorter sequences:</a:t>
            </a:r>
            <a:endParaRPr lang="en-US" sz="2000" spc="-1" dirty="0">
              <a:solidFill>
                <a:srgbClr val="003056"/>
              </a:solidFill>
              <a:latin typeface="Calibri"/>
            </a:endParaRP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endParaRPr lang="en-US" sz="1800" spc="-1" dirty="0">
              <a:solidFill>
                <a:srgbClr val="003056"/>
              </a:solidFill>
              <a:latin typeface="Calibri"/>
            </a:endParaRP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endParaRPr lang="en-US" sz="1800" spc="-1" dirty="0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08EA64F3-A697-4101-9273-C46092F0057F}" type="slidenum">
              <a:t>30</a:t>
            </a:fld>
            <a:endParaRPr/>
          </a:p>
        </p:txBody>
      </p:sp>
      <p:pic>
        <p:nvPicPr>
          <p:cNvPr id="2" name="Picture 1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513395A7-393E-E015-BDBC-B7EDEF40E2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2823" y="3774817"/>
            <a:ext cx="6298356" cy="1348059"/>
          </a:xfrm>
          <a:prstGeom prst="rect">
            <a:avLst/>
          </a:prstGeom>
        </p:spPr>
      </p:pic>
      <p:pic>
        <p:nvPicPr>
          <p:cNvPr id="3" name="Picture 2" descr="A mathematical equation with numbers and symbols&#10;&#10;Description automatically generated">
            <a:extLst>
              <a:ext uri="{FF2B5EF4-FFF2-40B4-BE49-F238E27FC236}">
                <a16:creationId xmlns:a16="http://schemas.microsoft.com/office/drawing/2014/main" id="{F01F4199-420A-67CA-21B0-1EA5B371DB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5493665"/>
            <a:ext cx="4572000" cy="642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47439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500"/>
                                        <p:tgtEl>
                                          <p:spTgt spid="1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0" dur="500"/>
                                        <p:tgtEl>
                                          <p:spTgt spid="1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5" dur="500"/>
                                        <p:tgtEl>
                                          <p:spTgt spid="1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8" dur="500"/>
                                        <p:tgtEl>
                                          <p:spTgt spid="1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1" dur="500"/>
                                        <p:tgtEl>
                                          <p:spTgt spid="1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6" dur="500"/>
                                        <p:tgtEl>
                                          <p:spTgt spid="1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3" dur="500"/>
                                        <p:tgtEl>
                                          <p:spTgt spid="16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trike="noStrike" spc="-1" dirty="0">
                <a:solidFill>
                  <a:srgbClr val="003056"/>
                </a:solidFill>
                <a:latin typeface="Calibri"/>
              </a:rPr>
              <a:t>Beam Search (</a:t>
            </a:r>
            <a:r>
              <a:rPr lang="de-DE" sz="3000" b="1" spc="-1" dirty="0">
                <a:solidFill>
                  <a:srgbClr val="003056"/>
                </a:solidFill>
                <a:latin typeface="Calibri"/>
              </a:rPr>
              <a:t>3</a:t>
            </a:r>
            <a:r>
              <a:rPr lang="de-DE" sz="3000" b="1" strike="noStrike" spc="-1" dirty="0">
                <a:solidFill>
                  <a:srgbClr val="003056"/>
                </a:solidFill>
                <a:latin typeface="Calibri"/>
              </a:rPr>
              <a:t>)</a:t>
            </a:r>
            <a:endParaRPr lang="de-DE" sz="3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5" name="PlaceHolder 2"/>
          <p:cNvSpPr>
            <a:spLocks noGrp="1"/>
          </p:cNvSpPr>
          <p:nvPr>
            <p:ph type="ftr" idx="30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66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4928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At each time step: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800100" lvl="1" indent="-3429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Calibri"/>
              <a:buAutoNum type="arabicPeriod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Select top 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k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 probably words from distribution over vocabulary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800100" lvl="1" indent="-3429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Calibri"/>
              <a:buAutoNum type="arabicPeriod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Predict next word with each of the 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k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 top words, i.e. 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k</a:t>
            </a:r>
            <a:r>
              <a:rPr lang="en-US" sz="1800" i="1" spc="-1" dirty="0">
                <a:solidFill>
                  <a:srgbClr val="003056"/>
                </a:solidFill>
                <a:latin typeface="Calibri"/>
              </a:rPr>
              <a:t> x 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V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 probabilities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800100" lvl="1" indent="-3429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Calibri"/>
              <a:buAutoNum type="arabicPeriod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Each next word 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is scored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 by its probability times the probability of its path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800100" lvl="1" indent="-3429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Calibri"/>
              <a:buAutoNum type="arabicPeriod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We pick the top 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k 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most probable paths, and continue the process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</p:txBody>
      </p:sp>
      <p:pic>
        <p:nvPicPr>
          <p:cNvPr id="167" name="Grafik 8" descr="beam_search_1.png"/>
          <p:cNvPicPr/>
          <p:nvPr/>
        </p:nvPicPr>
        <p:blipFill>
          <a:blip r:embed="rId2"/>
          <a:stretch/>
        </p:blipFill>
        <p:spPr>
          <a:xfrm>
            <a:off x="1643040" y="2786040"/>
            <a:ext cx="5857560" cy="3318480"/>
          </a:xfrm>
          <a:prstGeom prst="rect">
            <a:avLst/>
          </a:prstGeom>
          <a:ln w="0">
            <a:noFill/>
          </a:ln>
        </p:spPr>
      </p:pic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0F44A3EB-AB45-4795-8F0E-4800E4032747}" type="slidenum">
              <a:t>31</a:t>
            </a:fld>
            <a:endParaRPr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500"/>
                                        <p:tgtEl>
                                          <p:spTgt spid="1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0" dur="500"/>
                                        <p:tgtEl>
                                          <p:spTgt spid="1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3" dur="500"/>
                                        <p:tgtEl>
                                          <p:spTgt spid="1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6" dur="500"/>
                                        <p:tgtEl>
                                          <p:spTgt spid="1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9" dur="500"/>
                                        <p:tgtEl>
                                          <p:spTgt spid="1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repl">
                                        <p:cTn id="22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977F0F-ACC3-1731-7CF4-80FEB7275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>
            <a:extLst>
              <a:ext uri="{FF2B5EF4-FFF2-40B4-BE49-F238E27FC236}">
                <a16:creationId xmlns:a16="http://schemas.microsoft.com/office/drawing/2014/main" id="{9EA3FC16-F11A-0585-1CF7-1E96DA67E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Beam Search (</a:t>
            </a:r>
            <a:r>
              <a:rPr lang="de-DE" sz="3000" b="1" spc="-1">
                <a:solidFill>
                  <a:srgbClr val="003056"/>
                </a:solidFill>
                <a:latin typeface="Calibri"/>
              </a:rPr>
              <a:t>4</a:t>
            </a: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)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5" name="PlaceHolder 2">
            <a:extLst>
              <a:ext uri="{FF2B5EF4-FFF2-40B4-BE49-F238E27FC236}">
                <a16:creationId xmlns:a16="http://schemas.microsoft.com/office/drawing/2014/main" id="{EEB6891C-BA7C-8566-527F-1845DAEDCD4A}"/>
              </a:ext>
            </a:extLst>
          </p:cNvPr>
          <p:cNvSpPr>
            <a:spLocks noGrp="1"/>
          </p:cNvSpPr>
          <p:nvPr>
            <p:ph type="ftr" idx="30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66" name="PlaceHolder 3">
            <a:extLst>
              <a:ext uri="{FF2B5EF4-FFF2-40B4-BE49-F238E27FC236}">
                <a16:creationId xmlns:a16="http://schemas.microsoft.com/office/drawing/2014/main" id="{FFDD08C4-3B0E-171E-3A46-4F1128210234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684000" y="1143000"/>
            <a:ext cx="7775640" cy="4928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pc="-1">
                <a:solidFill>
                  <a:srgbClr val="003056"/>
                </a:solidFill>
                <a:latin typeface="Calibri"/>
              </a:rPr>
              <a:t>Beam search is widely used </a:t>
            </a:r>
            <a:r>
              <a:rPr lang="en-US" sz="2000" spc="-1">
                <a:solidFill>
                  <a:srgbClr val="003056"/>
                </a:solidFill>
                <a:latin typeface="Calibri"/>
              </a:rPr>
              <a:t>in text-generation applications:</a:t>
            </a:r>
            <a:endParaRPr lang="de-DE" sz="2000" spc="-1">
              <a:solidFill>
                <a:srgbClr val="003056"/>
              </a:solidFill>
              <a:latin typeface="Calibri"/>
            </a:endParaRPr>
          </a:p>
          <a:p>
            <a:pPr lvl="1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E.g. machine translation, summarization</a:t>
            </a:r>
            <a:endParaRPr lang="en-US" sz="1800" spc="-1" dirty="0">
              <a:solidFill>
                <a:srgbClr val="003056"/>
              </a:solidFill>
              <a:latin typeface="Calibri"/>
            </a:endParaRPr>
          </a:p>
          <a:p>
            <a:pPr lvl="1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Generally applications where we compare different output sequences</a:t>
            </a:r>
            <a:endParaRPr lang="en-US" sz="1800" spc="-1" dirty="0">
              <a:solidFill>
                <a:srgbClr val="003056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2000" spc="-1">
                <a:solidFill>
                  <a:srgbClr val="003056"/>
                </a:solidFill>
                <a:latin typeface="Calibri"/>
              </a:rPr>
              <a:t>However, it has </a:t>
            </a:r>
            <a:r>
              <a:rPr lang="en-US" sz="2000" b="1" spc="-1">
                <a:solidFill>
                  <a:srgbClr val="003056"/>
                </a:solidFill>
                <a:latin typeface="Calibri"/>
              </a:rPr>
              <a:t>shortcomings</a:t>
            </a:r>
            <a:endParaRPr lang="en-US" sz="2000" b="1" spc="-1" dirty="0">
              <a:solidFill>
                <a:srgbClr val="003056"/>
              </a:solidFill>
              <a:latin typeface="Calibri"/>
            </a:endParaRPr>
          </a:p>
          <a:p>
            <a:pPr lvl="1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Cost intensive</a:t>
            </a:r>
            <a:endParaRPr lang="en-US" sz="1800" spc="-1" dirty="0">
              <a:solidFill>
                <a:srgbClr val="003056"/>
              </a:solidFill>
              <a:latin typeface="Calibri"/>
            </a:endParaRPr>
          </a:p>
          <a:p>
            <a:pPr lvl="1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Size of beam, i.e. value of </a:t>
            </a:r>
            <a:r>
              <a:rPr lang="en-US" sz="1800" i="1" spc="-1">
                <a:solidFill>
                  <a:srgbClr val="003056"/>
                </a:solidFill>
                <a:latin typeface="Calibri"/>
              </a:rPr>
              <a:t>k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, still greedy, can miss better solutions</a:t>
            </a:r>
          </a:p>
          <a:p>
            <a:pPr lvl="1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Sampled sequences often similar to one another (</a:t>
            </a:r>
            <a:r>
              <a:rPr lang="en-US" sz="1800" spc="-1" dirty="0">
                <a:solidFill>
                  <a:srgbClr val="003056"/>
                </a:solidFill>
                <a:latin typeface="Calibri"/>
                <a:hlinkClick r:id="rId2"/>
              </a:rPr>
              <a:t>Li and Jurafsky, 2016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)</a:t>
            </a:r>
          </a:p>
          <a:p>
            <a:pPr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2000" spc="-1">
                <a:solidFill>
                  <a:srgbClr val="003056"/>
                </a:solidFill>
                <a:latin typeface="Calibri"/>
              </a:rPr>
              <a:t>Variants have been proposed, e.g. </a:t>
            </a:r>
            <a:r>
              <a:rPr lang="en-US" sz="2000" spc="-1" dirty="0">
                <a:solidFill>
                  <a:srgbClr val="003056"/>
                </a:solidFill>
                <a:latin typeface="Calibri"/>
                <a:hlinkClick r:id="rId3"/>
              </a:rPr>
              <a:t>diverse beam search</a:t>
            </a:r>
            <a:endParaRPr lang="en-US" sz="2000" spc="-1" dirty="0">
              <a:solidFill>
                <a:srgbClr val="003056"/>
              </a:solidFill>
              <a:latin typeface="Calibri"/>
            </a:endParaRPr>
          </a:p>
          <a:p>
            <a:pPr lvl="1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Divides sampled sequences into different sampling groups</a:t>
            </a:r>
            <a:endParaRPr lang="en-US" sz="1800" spc="-1" dirty="0">
              <a:solidFill>
                <a:srgbClr val="003056"/>
              </a:solidFill>
              <a:latin typeface="Calibri"/>
            </a:endParaRPr>
          </a:p>
          <a:p>
            <a:pPr lvl="1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Promotes diversity between sequences in different sampling groups</a:t>
            </a:r>
            <a:endParaRPr lang="en-US" sz="1800" spc="-1" dirty="0">
              <a:solidFill>
                <a:srgbClr val="003056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2000" spc="-1">
                <a:solidFill>
                  <a:srgbClr val="003056"/>
                </a:solidFill>
                <a:latin typeface="Calibri"/>
              </a:rPr>
              <a:t>Still, </a:t>
            </a:r>
            <a:r>
              <a:rPr lang="en-US" sz="2000" b="1" spc="-1">
                <a:solidFill>
                  <a:srgbClr val="003056"/>
                </a:solidFill>
                <a:latin typeface="Calibri"/>
              </a:rPr>
              <a:t>beam search remains a very common sampling method </a:t>
            </a:r>
            <a:endParaRPr lang="en-US" sz="2000" b="1" spc="-1" dirty="0">
              <a:solidFill>
                <a:srgbClr val="003056"/>
              </a:solidFill>
              <a:latin typeface="Calibri"/>
            </a:endParaRPr>
          </a:p>
          <a:p>
            <a:pPr lvl="1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endParaRPr lang="en-US" sz="1600" spc="-1" dirty="0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>
            <a:extLst>
              <a:ext uri="{FF2B5EF4-FFF2-40B4-BE49-F238E27FC236}">
                <a16:creationId xmlns:a16="http://schemas.microsoft.com/office/drawing/2014/main" id="{433888A4-A848-289A-4B89-8CF60BBA45DD}"/>
              </a:ext>
            </a:extLst>
          </p:cNvPr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0F44A3EB-AB45-4795-8F0E-4800E4032747}" type="slidenum">
              <a:t>32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1416497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6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pc="-1" dirty="0" err="1">
                <a:solidFill>
                  <a:srgbClr val="003056"/>
                </a:solidFill>
                <a:latin typeface="Calibri"/>
              </a:rPr>
              <a:t>Causal</a:t>
            </a:r>
            <a:r>
              <a:rPr lang="de-DE" sz="3000" b="1" strike="noStrike" spc="-1" dirty="0">
                <a:solidFill>
                  <a:srgbClr val="003056"/>
                </a:solidFill>
                <a:latin typeface="Calibri"/>
              </a:rPr>
              <a:t> Language Models</a:t>
            </a:r>
            <a:endParaRPr lang="de-DE" sz="3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 type="ftr" idx="17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20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484461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,Sans-Serif"/>
              <a:buChar char="•"/>
            </a:pPr>
            <a:r>
              <a:rPr lang="en-US" sz="2000" b="1" spc="-1" dirty="0">
                <a:solidFill>
                  <a:srgbClr val="003056"/>
                </a:solidFill>
                <a:latin typeface="Calibri"/>
              </a:rPr>
              <a:t>Causal</a:t>
            </a:r>
            <a:r>
              <a:rPr lang="en-US" sz="2000" b="1" strike="noStrike" spc="-1" dirty="0">
                <a:solidFill>
                  <a:srgbClr val="003056"/>
                </a:solidFill>
                <a:latin typeface="Calibri"/>
              </a:rPr>
              <a:t> language modeling</a:t>
            </a:r>
            <a:r>
              <a:rPr lang="en-US" sz="2000" b="1" spc="-1" dirty="0">
                <a:solidFill>
                  <a:srgbClr val="003056"/>
                </a:solidFill>
                <a:latin typeface="Calibri"/>
              </a:rPr>
              <a:t>:</a:t>
            </a:r>
            <a:r>
              <a:rPr lang="en-US" sz="2000" b="1" strike="noStrike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en-US" sz="2000" spc="-1" dirty="0">
                <a:solidFill>
                  <a:srgbClr val="003056"/>
                </a:solidFill>
                <a:latin typeface="Calibri"/>
              </a:rPr>
              <a:t>given sequence of words, predict next word</a:t>
            </a:r>
            <a:endParaRPr lang="de-DE" sz="2000" spc="-1" dirty="0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,Sans-Serif"/>
              <a:buChar char="•"/>
            </a:pPr>
            <a:r>
              <a:rPr lang="en-US" sz="1800" b="1" spc="-1" dirty="0">
                <a:solidFill>
                  <a:srgbClr val="003056"/>
                </a:solidFill>
                <a:latin typeface="Calibri"/>
              </a:rPr>
              <a:t>Context window/prompt: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 given input sequence words </a:t>
            </a:r>
            <a:endParaRPr lang="en-US" sz="1600" spc="-1" dirty="0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Architecture: </a:t>
            </a: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we use causal self-attention in transformers (only look back)</a:t>
            </a:r>
            <a:endParaRPr lang="en-US" sz="1800" strike="noStrike" spc="-1" dirty="0">
              <a:solidFill>
                <a:srgbClr val="003056"/>
              </a:solidFill>
              <a:latin typeface="Calibri"/>
              <a:ea typeface="Calibri"/>
              <a:cs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1800" spc="-1" dirty="0">
              <a:solidFill>
                <a:srgbClr val="003056"/>
              </a:solidFill>
              <a:latin typeface="Calibri"/>
              <a:ea typeface="Calibri"/>
              <a:cs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1800" spc="-1" dirty="0">
              <a:solidFill>
                <a:srgbClr val="003056"/>
              </a:solidFill>
              <a:latin typeface="Calibri"/>
              <a:ea typeface="Calibri"/>
              <a:cs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1800" spc="-1" dirty="0">
              <a:solidFill>
                <a:srgbClr val="003056"/>
              </a:solidFill>
              <a:latin typeface="Calibri"/>
              <a:ea typeface="Calibri"/>
              <a:cs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1800" spc="-1" dirty="0">
              <a:solidFill>
                <a:srgbClr val="003056"/>
              </a:solidFill>
              <a:latin typeface="Calibri"/>
              <a:ea typeface="Calibri"/>
              <a:cs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1800" spc="-1" dirty="0">
              <a:solidFill>
                <a:srgbClr val="003056"/>
              </a:solidFill>
              <a:latin typeface="Calibri"/>
              <a:ea typeface="Calibri"/>
              <a:cs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1800" spc="-1" dirty="0">
              <a:solidFill>
                <a:srgbClr val="003056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Text autoregressively generated with CLMs generally based on:</a:t>
            </a:r>
            <a:endParaRPr lang="de-DE" sz="2000" spc="-1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Model predictions</a:t>
            </a: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, i.e. </a:t>
            </a:r>
            <a:r>
              <a:rPr lang="en-US" sz="1800" spc="-1" err="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softmax</a:t>
            </a: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 over </a:t>
            </a:r>
            <a:r>
              <a:rPr lang="en-US" sz="1800" i="1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V</a:t>
            </a:r>
            <a:endParaRPr lang="de-DE" sz="1800" i="1" spc="-1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Font typeface="Arial,Sans-Serif"/>
              <a:buChar char="•"/>
            </a:pPr>
            <a:r>
              <a:rPr lang="en-US" sz="1800" b="1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Size of context window</a:t>
            </a: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 (quadratic cost in self-attention using transformers)</a:t>
            </a:r>
            <a:endParaRPr lang="de-DE" sz="1800" spc="-1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Font typeface="Arial,Sans-Serif"/>
              <a:buChar char="•"/>
            </a:pPr>
            <a:r>
              <a:rPr lang="en-US" sz="1800" b="1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Sampling strategy/heuristic </a:t>
            </a: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(beam search a common one)</a:t>
            </a:r>
            <a:endParaRPr lang="en-US" dirty="0"/>
          </a:p>
          <a:p>
            <a:pPr marL="285750" indent="-342900">
              <a:lnSpc>
                <a:spcPct val="100000"/>
              </a:lnSpc>
              <a:spcBef>
                <a:spcPts val="360"/>
              </a:spcBef>
              <a:buFont typeface="Arial"/>
              <a:buChar char="•"/>
            </a:pPr>
            <a:r>
              <a:rPr lang="en-US" sz="20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Let's see how to train a CLM using transformers.</a:t>
            </a:r>
            <a:endParaRPr lang="en-US" sz="2000" spc="-1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742950" lvl="1" indent="-342900">
              <a:lnSpc>
                <a:spcPct val="100000"/>
              </a:lnSpc>
              <a:spcBef>
                <a:spcPts val="360"/>
              </a:spcBef>
              <a:buFont typeface="Arial,Sans-Serif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Then we'll go over some seminal transformer-based CLMs</a:t>
            </a: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endParaRPr lang="en-US" sz="1800" b="1" spc="-1" dirty="0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00745D4D-ABC5-4BBC-A121-38E268BCF83A}" type="slidenum">
              <a:t>33</a:t>
            </a:fld>
            <a:endParaRPr/>
          </a:p>
        </p:txBody>
      </p:sp>
      <p:pic>
        <p:nvPicPr>
          <p:cNvPr id="3" name="Picture 2" descr="A diagram of a machine&#10;&#10;Description automatically generated">
            <a:extLst>
              <a:ext uri="{FF2B5EF4-FFF2-40B4-BE49-F238E27FC236}">
                <a16:creationId xmlns:a16="http://schemas.microsoft.com/office/drawing/2014/main" id="{15730A67-4ED7-D63F-A24E-93DE460674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2623" y="2089253"/>
            <a:ext cx="4078756" cy="1911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62655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500"/>
                                        <p:tgtEl>
                                          <p:spTgt spid="1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0" dur="500"/>
                                        <p:tgtEl>
                                          <p:spTgt spid="1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3" dur="500"/>
                                        <p:tgtEl>
                                          <p:spTgt spid="1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0" dur="500"/>
                                        <p:tgtEl>
                                          <p:spTgt spid="12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5" dur="500"/>
                                        <p:tgtEl>
                                          <p:spTgt spid="12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8" dur="500"/>
                                        <p:tgtEl>
                                          <p:spTgt spid="12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1" dur="500"/>
                                        <p:tgtEl>
                                          <p:spTgt spid="12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6" dur="500"/>
                                        <p:tgtEl>
                                          <p:spTgt spid="12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9" dur="500"/>
                                        <p:tgtEl>
                                          <p:spTgt spid="12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de-DE" sz="3000" b="1" spc="-1" dirty="0">
                <a:solidFill>
                  <a:srgbClr val="003056"/>
                </a:solidFill>
                <a:latin typeface="Calibri"/>
              </a:rPr>
              <a:t>Training </a:t>
            </a:r>
            <a:r>
              <a:rPr lang="de-DE" sz="3000" b="1" spc="-1" dirty="0" err="1">
                <a:solidFill>
                  <a:srgbClr val="003056"/>
                </a:solidFill>
                <a:latin typeface="Calibri"/>
              </a:rPr>
              <a:t>Causal</a:t>
            </a:r>
            <a:r>
              <a:rPr lang="de-DE" sz="3000" b="1" strike="noStrike" spc="-1" dirty="0">
                <a:solidFill>
                  <a:srgbClr val="003056"/>
                </a:solidFill>
                <a:latin typeface="Calibri"/>
              </a:rPr>
              <a:t> Language Models</a:t>
            </a:r>
            <a:endParaRPr lang="de-DE" sz="3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4" name="PlaceHolder 2"/>
          <p:cNvSpPr>
            <a:spLocks noGrp="1"/>
          </p:cNvSpPr>
          <p:nvPr>
            <p:ph type="ftr" idx="27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55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2214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pc="-1" dirty="0">
                <a:solidFill>
                  <a:srgbClr val="003056"/>
                </a:solidFill>
                <a:latin typeface="Calibri"/>
              </a:rPr>
              <a:t>Teacher forcing </a:t>
            </a:r>
            <a:r>
              <a:rPr lang="en-US" sz="2000" spc="-1" dirty="0">
                <a:solidFill>
                  <a:srgbClr val="003056"/>
                </a:solidFill>
                <a:latin typeface="Calibri"/>
              </a:rPr>
              <a:t>does apply here</a:t>
            </a:r>
            <a:r>
              <a:rPr lang="en-US" sz="2000" strike="noStrike" spc="-1" dirty="0">
                <a:solidFill>
                  <a:srgbClr val="003056"/>
                </a:solidFill>
                <a:latin typeface="Calibri"/>
              </a:rPr>
              <a:t>:</a:t>
            </a:r>
            <a:r>
              <a:rPr lang="en-US" sz="2000" b="1" spc="-1" dirty="0">
                <a:solidFill>
                  <a:srgbClr val="003056"/>
                </a:solidFill>
                <a:latin typeface="Calibri"/>
              </a:rPr>
              <a:t> 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800100" lvl="1" indent="-3429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Construct 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training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 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sequences 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from given corpus in self-supervised manner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800100" lvl="1" indent="-3429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Given sequence,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 </a:t>
            </a:r>
            <a:r>
              <a:rPr lang="en-US" sz="1800" i="1" spc="-1">
                <a:solidFill>
                  <a:srgbClr val="003056"/>
                </a:solidFill>
                <a:latin typeface="Calibri"/>
              </a:rPr>
              <a:t>force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 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each subsequence as input, next word as target</a:t>
            </a:r>
            <a:endParaRPr lang="de-DE" sz="1800" spc="-1">
              <a:solidFill>
                <a:srgbClr val="003056"/>
              </a:solidFill>
              <a:latin typeface="Calibri"/>
            </a:endParaRPr>
          </a:p>
          <a:p>
            <a:pPr marL="800100" lvl="1" indent="-3429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</a:rPr>
              <a:t>Compute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 loss between model’s prediction and target word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800100" lvl="1" indent="-3429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Average loss over all predictions in given sequence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800100" lvl="1" indent="-3429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trike="noStrike" spc="-1" dirty="0">
                <a:solidFill>
                  <a:srgbClr val="003056"/>
                </a:solidFill>
                <a:latin typeface="Calibri"/>
              </a:rPr>
              <a:t>Note: 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computing loss for each word is independent, parallelizable</a:t>
            </a:r>
          </a:p>
        </p:txBody>
      </p:sp>
      <p:pic>
        <p:nvPicPr>
          <p:cNvPr id="156" name="Grafik 6" descr="transformer_lm_training_1.png"/>
          <p:cNvPicPr/>
          <p:nvPr/>
        </p:nvPicPr>
        <p:blipFill>
          <a:blip r:embed="rId2"/>
          <a:stretch/>
        </p:blipFill>
        <p:spPr>
          <a:xfrm>
            <a:off x="1500120" y="3122640"/>
            <a:ext cx="6834240" cy="3020760"/>
          </a:xfrm>
          <a:prstGeom prst="rect">
            <a:avLst/>
          </a:prstGeom>
          <a:ln w="0">
            <a:noFill/>
          </a:ln>
        </p:spPr>
      </p:pic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0E95DB22-C4F6-40FF-82D9-82677637B31B}" type="slidenum">
              <a:t>34</a:t>
            </a:fld>
            <a:endParaRPr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500"/>
                                        <p:tgtEl>
                                          <p:spTgt spid="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0" dur="500"/>
                                        <p:tgtEl>
                                          <p:spTgt spid="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3" dur="500"/>
                                        <p:tgtEl>
                                          <p:spTgt spid="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6" dur="500"/>
                                        <p:tgtEl>
                                          <p:spTgt spid="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9" dur="500"/>
                                        <p:tgtEl>
                                          <p:spTgt spid="1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2" dur="500"/>
                                        <p:tgtEl>
                                          <p:spTgt spid="1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repl">
                                        <p:cTn id="25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653076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Generative Pre-Trained Transformer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2" name="PlaceHolder 2"/>
          <p:cNvSpPr>
            <a:spLocks noGrp="1"/>
          </p:cNvSpPr>
          <p:nvPr>
            <p:ph type="ftr" idx="32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73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4928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That is what GPT stands for (</a:t>
            </a:r>
            <a:r>
              <a:rPr lang="en-US" sz="2000" b="0" u="sng" strike="noStrike" spc="-1" dirty="0">
                <a:solidFill>
                  <a:srgbClr val="0000FF"/>
                </a:solidFill>
                <a:uFillTx/>
                <a:latin typeface="Calibri"/>
                <a:hlinkClick r:id="rId2"/>
              </a:rPr>
              <a:t>Radford et al. 2018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)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Published at time when pre-training &amp; fine-tuning framework was new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Unclear what tasks to pre-train on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Unclear how to 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use learned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 representations 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in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 downstream models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Some of this still unclear, but pragmatic success 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with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 some architectures, 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e.g. BERT, GPT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GPT: </a:t>
            </a:r>
            <a:r>
              <a:rPr lang="en-US" sz="2000" b="1" strike="noStrike" spc="-1" dirty="0">
                <a:solidFill>
                  <a:srgbClr val="003056"/>
                </a:solidFill>
                <a:latin typeface="Calibri"/>
              </a:rPr>
              <a:t>autoregressive language modeling </a:t>
            </a: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is a </a:t>
            </a:r>
            <a:r>
              <a:rPr lang="en-US" sz="2000" b="1" strike="noStrike" spc="-1" dirty="0">
                <a:solidFill>
                  <a:srgbClr val="003056"/>
                </a:solidFill>
                <a:latin typeface="Calibri"/>
              </a:rPr>
              <a:t>useful pre-training task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trike="noStrike" spc="-1" dirty="0">
                <a:solidFill>
                  <a:srgbClr val="003056"/>
                </a:solidFill>
                <a:latin typeface="Calibri"/>
              </a:rPr>
              <a:t>Goal: </a:t>
            </a: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“…learn universal representations that transfer with little adaptation to a wide range of tasks.”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So, transfer learning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, important to avoid task-specific customization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 dirty="0">
                <a:solidFill>
                  <a:srgbClr val="003056"/>
                </a:solidFill>
                <a:latin typeface="Calibri"/>
              </a:rPr>
              <a:t>Two-step</a:t>
            </a: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 process: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2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trike="noStrike" spc="-1" dirty="0">
                <a:solidFill>
                  <a:srgbClr val="003056"/>
                </a:solidFill>
                <a:latin typeface="Calibri"/>
              </a:rPr>
              <a:t>Pre-train 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on large corpus in self-supervised manner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2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trike="noStrike" spc="-1" dirty="0">
                <a:solidFill>
                  <a:srgbClr val="003056"/>
                </a:solidFill>
                <a:latin typeface="Calibri"/>
              </a:rPr>
              <a:t>Fine-tune 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model on downstream tasks in supervised manner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2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Supervised downstream tasks need not be related to pre-training corpus (again, transfer learning)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68D1F450-B699-40B5-8A2E-213405FC2B78}" type="slidenum">
              <a:t>35</a:t>
            </a:fld>
            <a:endParaRPr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500"/>
                                        <p:tgtEl>
                                          <p:spTgt spid="1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2" dur="500"/>
                                        <p:tgtEl>
                                          <p:spTgt spid="1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5" dur="500"/>
                                        <p:tgtEl>
                                          <p:spTgt spid="1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8" dur="500"/>
                                        <p:tgtEl>
                                          <p:spTgt spid="17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1" dur="500"/>
                                        <p:tgtEl>
                                          <p:spTgt spid="17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6" dur="500"/>
                                        <p:tgtEl>
                                          <p:spTgt spid="17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1" dur="500"/>
                                        <p:tgtEl>
                                          <p:spTgt spid="17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4" dur="500"/>
                                        <p:tgtEl>
                                          <p:spTgt spid="17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9" dur="500"/>
                                        <p:tgtEl>
                                          <p:spTgt spid="17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2" dur="500"/>
                                        <p:tgtEl>
                                          <p:spTgt spid="17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5" dur="500"/>
                                        <p:tgtEl>
                                          <p:spTgt spid="17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8" dur="500"/>
                                        <p:tgtEl>
                                          <p:spTgt spid="17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653076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de-DE" sz="3000" b="1" strike="noStrike" spc="-1" dirty="0">
                <a:solidFill>
                  <a:srgbClr val="003056"/>
                </a:solidFill>
                <a:latin typeface="Calibri"/>
              </a:rPr>
              <a:t>GPT Architecture</a:t>
            </a:r>
            <a:r>
              <a:rPr lang="de-DE" sz="3000" b="1" spc="-1" dirty="0">
                <a:solidFill>
                  <a:srgbClr val="003056"/>
                </a:solidFill>
                <a:latin typeface="Calibri"/>
              </a:rPr>
              <a:t>, Training, Fine-Tuning</a:t>
            </a:r>
            <a:endParaRPr lang="de-DE" sz="3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5" name="PlaceHolder 2"/>
          <p:cNvSpPr>
            <a:spLocks noGrp="1"/>
          </p:cNvSpPr>
          <p:nvPr>
            <p:ph type="ftr" idx="33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76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4928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Their </a:t>
            </a:r>
            <a:r>
              <a:rPr lang="en-US" sz="2000" b="1" strike="noStrike" spc="-1" dirty="0">
                <a:solidFill>
                  <a:srgbClr val="003056"/>
                </a:solidFill>
                <a:latin typeface="Calibri"/>
              </a:rPr>
              <a:t>general architecture</a:t>
            </a:r>
            <a:r>
              <a:rPr lang="en-US" sz="2000" b="1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en-US" sz="2000" spc="-1" dirty="0">
                <a:solidFill>
                  <a:srgbClr val="003056"/>
                </a:solidFill>
                <a:latin typeface="Calibri"/>
              </a:rPr>
              <a:t>(</a:t>
            </a:r>
            <a:r>
              <a:rPr lang="en-US" sz="2000" b="1" spc="-1" dirty="0">
                <a:solidFill>
                  <a:srgbClr val="003056"/>
                </a:solidFill>
                <a:latin typeface="Calibri"/>
              </a:rPr>
              <a:t>117M parameters</a:t>
            </a:r>
            <a:r>
              <a:rPr lang="en-US" sz="2000" spc="-1" dirty="0">
                <a:solidFill>
                  <a:srgbClr val="003056"/>
                </a:solidFill>
                <a:latin typeface="Calibri"/>
              </a:rPr>
              <a:t>):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trike="noStrike" spc="-1" dirty="0">
                <a:solidFill>
                  <a:srgbClr val="003056"/>
                </a:solidFill>
                <a:latin typeface="Calibri"/>
              </a:rPr>
              <a:t>Decoder-only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 transformer (i.e. no self-attention layer attending to encoder)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12 layers of transformer decoders, each with 12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 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attention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 heads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Hidden layers of size 728, position-independent 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MLP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 of size 3072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Max input length: 512 tokens (attention cost quadratic in this length)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So, architecture </a:t>
            </a:r>
            <a:r>
              <a:rPr lang="en-US" sz="2000" b="1" strike="noStrike" spc="-1" dirty="0">
                <a:solidFill>
                  <a:srgbClr val="003056"/>
                </a:solidFill>
                <a:latin typeface="Calibri"/>
              </a:rPr>
              <a:t>quite similar to BERT</a:t>
            </a: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, except </a:t>
            </a:r>
            <a:r>
              <a:rPr lang="en-US" sz="2000" spc="-1" dirty="0">
                <a:solidFill>
                  <a:srgbClr val="003056"/>
                </a:solidFill>
                <a:latin typeface="Calibri"/>
              </a:rPr>
              <a:t>decoder-only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In fact, BERT heavily borrowed from GPT, as claimed by the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 BERT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 authors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trike="noStrike" spc="-1" dirty="0">
                <a:solidFill>
                  <a:srgbClr val="003056"/>
                </a:solidFill>
                <a:latin typeface="Calibri"/>
              </a:rPr>
              <a:t>Pre-Training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trike="noStrike" spc="-1" dirty="0">
                <a:solidFill>
                  <a:srgbClr val="003056"/>
                </a:solidFill>
                <a:latin typeface="Calibri"/>
              </a:rPr>
              <a:t>Self-supervised 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causal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 language modeling on </a:t>
            </a:r>
            <a:r>
              <a:rPr lang="en-US" sz="1800" b="1" strike="noStrike" spc="-1" err="1">
                <a:solidFill>
                  <a:srgbClr val="003056"/>
                </a:solidFill>
                <a:latin typeface="Calibri"/>
              </a:rPr>
              <a:t>BooksCorpus</a:t>
            </a:r>
            <a:endParaRPr lang="de-DE" sz="1800" b="0" strike="noStrike" spc="-1" err="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trike="noStrike" spc="-1" dirty="0">
                <a:solidFill>
                  <a:srgbClr val="003056"/>
                </a:solidFill>
                <a:latin typeface="Calibri"/>
              </a:rPr>
              <a:t>Tokenization: 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byte pair encoding (</a:t>
            </a:r>
            <a:r>
              <a:rPr lang="en-US" sz="1600" b="0" strike="noStrike" spc="-1" dirty="0">
                <a:solidFill>
                  <a:srgbClr val="003056"/>
                </a:solidFill>
                <a:latin typeface="Calibri"/>
              </a:rPr>
              <a:t>vocabulary size: 40K)</a:t>
            </a:r>
            <a:endParaRPr lang="de-DE" sz="1600" b="0" strike="noStrike" spc="-1" dirty="0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trike="noStrike" spc="-1" dirty="0">
                <a:solidFill>
                  <a:srgbClr val="003056"/>
                </a:solidFill>
                <a:latin typeface="Calibri"/>
              </a:rPr>
              <a:t>Fine-tuning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Task inputs fed to pre-trained model to produce 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final representation </a:t>
            </a:r>
            <a:r>
              <a:rPr lang="en-US" sz="2000" b="1" i="1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h</a:t>
            </a:r>
            <a:r>
              <a:rPr lang="en-US" sz="1800" i="1" spc="-1" baseline="3000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L</a:t>
            </a:r>
            <a:r>
              <a:rPr lang="en-US" sz="1800" i="1" spc="-1" baseline="-2500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N, </a:t>
            </a:r>
            <a:r>
              <a:rPr lang="en-US" sz="18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i.e. representation of token </a:t>
            </a:r>
            <a:r>
              <a:rPr lang="en-US" sz="1800" i="1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N </a:t>
            </a:r>
            <a:r>
              <a:rPr lang="en-US" sz="18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in layer </a:t>
            </a:r>
            <a:r>
              <a:rPr lang="en-US" sz="1800" i="1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L,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en-US" sz="2000" b="1" i="1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h</a:t>
            </a:r>
            <a:r>
              <a:rPr lang="en-US" sz="1800" i="1" spc="-1" baseline="3000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L</a:t>
            </a:r>
            <a:r>
              <a:rPr lang="en-US" sz="1800" i="1" spc="-1" baseline="-2500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N</a:t>
            </a:r>
            <a:r>
              <a:rPr lang="en-US" sz="1200" i="1" spc="-1" baseline="-25000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  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then fed to classification head</a:t>
            </a:r>
            <a:endParaRPr lang="de-DE" sz="1800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They fine-tuned </a:t>
            </a:r>
            <a:r>
              <a:rPr lang="en-US" sz="1800" i="1" spc="-1">
                <a:solidFill>
                  <a:srgbClr val="003056"/>
                </a:solidFill>
                <a:latin typeface="Calibri"/>
              </a:rPr>
              <a:t>all parameters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 using the classification objective + the CLM objective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1ABD2A29-2B64-4D69-AA80-7FC576273621}" type="slidenum">
              <a:t>36</a:t>
            </a:fld>
            <a:endParaRPr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500"/>
                                        <p:tgtEl>
                                          <p:spTgt spid="1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0" dur="500"/>
                                        <p:tgtEl>
                                          <p:spTgt spid="1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3" dur="500"/>
                                        <p:tgtEl>
                                          <p:spTgt spid="1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6" dur="500"/>
                                        <p:tgtEl>
                                          <p:spTgt spid="1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9" dur="500"/>
                                        <p:tgtEl>
                                          <p:spTgt spid="1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4" dur="500"/>
                                        <p:tgtEl>
                                          <p:spTgt spid="1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7" dur="500"/>
                                        <p:tgtEl>
                                          <p:spTgt spid="17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2" dur="500"/>
                                        <p:tgtEl>
                                          <p:spTgt spid="17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5" dur="500"/>
                                        <p:tgtEl>
                                          <p:spTgt spid="17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8" dur="500"/>
                                        <p:tgtEl>
                                          <p:spTgt spid="17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3" dur="500"/>
                                        <p:tgtEl>
                                          <p:spTgt spid="17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6" dur="500"/>
                                        <p:tgtEl>
                                          <p:spTgt spid="17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9" dur="500"/>
                                        <p:tgtEl>
                                          <p:spTgt spid="17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653076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GPT Variants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8" name="PlaceHolder 2"/>
          <p:cNvSpPr>
            <a:spLocks noGrp="1"/>
          </p:cNvSpPr>
          <p:nvPr>
            <p:ph type="ftr" idx="34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79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4928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GPT-2 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(</a:t>
            </a:r>
            <a:r>
              <a:rPr lang="en-US" sz="2000" b="0" u="sng" strike="noStrike" spc="-1" dirty="0">
                <a:solidFill>
                  <a:srgbClr val="0000FF"/>
                </a:solidFill>
                <a:uFillTx/>
                <a:latin typeface="Calibri"/>
                <a:hlinkClick r:id="rId2"/>
              </a:rPr>
              <a:t>Radford et al. 2019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): </a:t>
            </a:r>
            <a:r>
              <a:rPr lang="en-US" sz="2000" spc="-1">
                <a:solidFill>
                  <a:srgbClr val="003056"/>
                </a:solidFill>
                <a:latin typeface="Calibri"/>
              </a:rPr>
              <a:t>mostly same 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architecture as GPT-1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Moved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 around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/added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 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more layer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 normalization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 (more in LLMs lecture)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Initialized weights passed by 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residual 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layers (scaled them down)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Vocabulary expanded to 50K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Context window expanded from 512 to 1024 (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again, quadratic cost)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Largest variant: </a:t>
            </a:r>
            <a:r>
              <a:rPr lang="en-US" sz="1800" b="1" strike="noStrike" spc="-1" dirty="0">
                <a:solidFill>
                  <a:srgbClr val="003056"/>
                </a:solidFill>
                <a:latin typeface="Calibri"/>
              </a:rPr>
              <a:t>1.5B parameters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trike="noStrike" spc="-1" dirty="0">
                <a:solidFill>
                  <a:srgbClr val="003056"/>
                </a:solidFill>
                <a:latin typeface="Calibri"/>
              </a:rPr>
              <a:t>Their language model was able to do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 NLP tasks such as </a:t>
            </a:r>
            <a:r>
              <a:rPr lang="en-US" sz="1800" b="1" strike="noStrike" spc="-1" dirty="0">
                <a:solidFill>
                  <a:srgbClr val="003056"/>
                </a:solidFill>
                <a:latin typeface="Calibri"/>
              </a:rPr>
              <a:t>QA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, </a:t>
            </a:r>
            <a:r>
              <a:rPr lang="en-US" sz="1800" b="1" strike="noStrike" spc="-1" dirty="0">
                <a:solidFill>
                  <a:srgbClr val="003056"/>
                </a:solidFill>
                <a:latin typeface="Calibri"/>
              </a:rPr>
              <a:t>machine translation 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and </a:t>
            </a:r>
            <a:r>
              <a:rPr lang="en-US" sz="1800" b="1" strike="noStrike" spc="-1" dirty="0">
                <a:solidFill>
                  <a:srgbClr val="003056"/>
                </a:solidFill>
                <a:latin typeface="Calibri"/>
              </a:rPr>
              <a:t>summarization 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without training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/tuning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 for it (</a:t>
            </a:r>
            <a:r>
              <a:rPr lang="en-US" sz="1800" b="1" strike="noStrike" spc="-1" dirty="0">
                <a:solidFill>
                  <a:srgbClr val="003056"/>
                </a:solidFill>
                <a:latin typeface="Calibri"/>
              </a:rPr>
              <a:t>zero-shot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)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trike="noStrike" spc="-1" dirty="0">
                <a:solidFill>
                  <a:srgbClr val="003056"/>
                </a:solidFill>
                <a:latin typeface="Calibri"/>
              </a:rPr>
              <a:t>GPT-3</a:t>
            </a: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 (</a:t>
            </a:r>
            <a:r>
              <a:rPr lang="en-US" sz="2000" b="0" u="sng" strike="noStrike" spc="-1" dirty="0">
                <a:solidFill>
                  <a:srgbClr val="0000FF"/>
                </a:solidFill>
                <a:uFillTx/>
                <a:latin typeface="Calibri"/>
                <a:hlinkClick r:id="rId3"/>
              </a:rPr>
              <a:t>Brown et al. 2020</a:t>
            </a: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): same as GPT-2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</a:rPr>
              <a:t>Used </a:t>
            </a:r>
            <a:r>
              <a:rPr lang="en-US" sz="1800" b="0" u="sng" strike="noStrike" spc="-1" dirty="0">
                <a:solidFill>
                  <a:srgbClr val="0000FF"/>
                </a:solidFill>
                <a:uFillTx/>
                <a:latin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sparse attention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, cost from 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O(n</a:t>
            </a:r>
            <a:r>
              <a:rPr lang="en-US" sz="1800" b="0" i="1" strike="noStrike" spc="-1" baseline="30000" dirty="0">
                <a:solidFill>
                  <a:srgbClr val="003056"/>
                </a:solidFill>
                <a:latin typeface="Calibri"/>
              </a:rPr>
              <a:t>2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)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 to 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O(</a:t>
            </a:r>
            <a:r>
              <a:rPr lang="en-US" sz="1800" b="0" i="1" strike="noStrike" spc="-1" err="1">
                <a:solidFill>
                  <a:srgbClr val="003056"/>
                </a:solidFill>
                <a:latin typeface="Calibri"/>
              </a:rPr>
              <a:t>n√n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) 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where 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n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 is input length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trike="noStrike" spc="-1" dirty="0">
                <a:solidFill>
                  <a:srgbClr val="003056"/>
                </a:solidFill>
                <a:latin typeface="Calibri"/>
              </a:rPr>
              <a:t>Corpus: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 Common Crawl dataset (1 trillion words)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Largest variant: </a:t>
            </a:r>
            <a:r>
              <a:rPr lang="en-US" sz="1800" b="1" strike="noStrike" spc="-1" dirty="0">
                <a:solidFill>
                  <a:srgbClr val="003056"/>
                </a:solidFill>
                <a:latin typeface="Calibri"/>
              </a:rPr>
              <a:t>175B parameters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 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Achieved </a:t>
            </a:r>
            <a:r>
              <a:rPr lang="en-US" sz="1800" b="1" strike="noStrike" spc="-1" dirty="0">
                <a:solidFill>
                  <a:srgbClr val="003056"/>
                </a:solidFill>
                <a:latin typeface="Calibri"/>
              </a:rPr>
              <a:t>great performance in few-shot tasks described in prompts</a:t>
            </a:r>
          </a:p>
          <a:p>
            <a:pPr marL="285750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 dirty="0">
                <a:solidFill>
                  <a:srgbClr val="003056"/>
                </a:solidFill>
                <a:latin typeface="Calibri"/>
              </a:rPr>
              <a:t>We'll discuss these </a:t>
            </a:r>
            <a:r>
              <a:rPr lang="en-US" sz="2000" b="1" spc="-1" dirty="0">
                <a:solidFill>
                  <a:srgbClr val="003056"/>
                </a:solidFill>
                <a:latin typeface="Calibri"/>
              </a:rPr>
              <a:t>zero-shot/few-shot </a:t>
            </a:r>
            <a:r>
              <a:rPr lang="en-US" sz="2000" spc="-1" dirty="0">
                <a:solidFill>
                  <a:srgbClr val="003056"/>
                </a:solidFill>
                <a:latin typeface="Calibri"/>
              </a:rPr>
              <a:t>settings in future </a:t>
            </a:r>
            <a:r>
              <a:rPr lang="en-US" sz="2000" b="1" spc="-1" dirty="0">
                <a:solidFill>
                  <a:srgbClr val="003056"/>
                </a:solidFill>
                <a:latin typeface="Calibri"/>
              </a:rPr>
              <a:t>LLMs lecture</a:t>
            </a:r>
            <a:r>
              <a:rPr lang="en-US" sz="2000" spc="-1" dirty="0">
                <a:solidFill>
                  <a:srgbClr val="003056"/>
                </a:solidFill>
                <a:latin typeface="Calibri"/>
              </a:rPr>
              <a:t>.</a:t>
            </a:r>
            <a:endParaRPr lang="en-US" sz="2000" b="1" spc="-1" dirty="0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7452D88E-5325-4F1C-8D40-AD3C45E78B8D}" type="slidenum">
              <a:t>37</a:t>
            </a:fld>
            <a:endParaRPr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500"/>
                                        <p:tgtEl>
                                          <p:spTgt spid="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0" dur="500"/>
                                        <p:tgtEl>
                                          <p:spTgt spid="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3" dur="500"/>
                                        <p:tgtEl>
                                          <p:spTgt spid="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6" dur="500"/>
                                        <p:tgtEl>
                                          <p:spTgt spid="1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9" dur="500"/>
                                        <p:tgtEl>
                                          <p:spTgt spid="1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2" dur="500"/>
                                        <p:tgtEl>
                                          <p:spTgt spid="1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5" dur="500"/>
                                        <p:tgtEl>
                                          <p:spTgt spid="1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0" dur="500"/>
                                        <p:tgtEl>
                                          <p:spTgt spid="1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3" dur="500"/>
                                        <p:tgtEl>
                                          <p:spTgt spid="1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6" dur="500"/>
                                        <p:tgtEl>
                                          <p:spTgt spid="1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9" dur="500"/>
                                        <p:tgtEl>
                                          <p:spTgt spid="17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2" dur="500"/>
                                        <p:tgtEl>
                                          <p:spTgt spid="17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7" dur="500"/>
                                        <p:tgtEl>
                                          <p:spTgt spid="17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653076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Other </a:t>
            </a:r>
            <a:r>
              <a:rPr lang="de-DE" sz="3000" b="1" spc="-1">
                <a:solidFill>
                  <a:srgbClr val="003056"/>
                </a:solidFill>
                <a:latin typeface="Calibri"/>
              </a:rPr>
              <a:t>Transformer-Based</a:t>
            </a: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 </a:t>
            </a:r>
            <a:r>
              <a:rPr lang="de-DE" sz="3000" b="1" spc="-1">
                <a:solidFill>
                  <a:srgbClr val="003056"/>
                </a:solidFill>
                <a:latin typeface="Calibri"/>
              </a:rPr>
              <a:t>Models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1" name="PlaceHolder 2"/>
          <p:cNvSpPr>
            <a:spLocks noGrp="1"/>
          </p:cNvSpPr>
          <p:nvPr>
            <p:ph type="ftr" idx="35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82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4928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trike="noStrike" spc="-1" dirty="0">
                <a:solidFill>
                  <a:srgbClr val="003056"/>
                </a:solidFill>
                <a:latin typeface="Calibri"/>
              </a:rPr>
              <a:t>T5</a:t>
            </a: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 (</a:t>
            </a:r>
            <a:r>
              <a:rPr lang="en-US" sz="2000" b="0" u="sng" strike="noStrike" spc="-1" dirty="0">
                <a:solidFill>
                  <a:srgbClr val="0000FF"/>
                </a:solidFill>
                <a:uFillTx/>
                <a:latin typeface="Calibri"/>
                <a:hlinkClick r:id="rId2"/>
              </a:rPr>
              <a:t>Raffel et al. 2020</a:t>
            </a: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): </a:t>
            </a:r>
            <a:r>
              <a:rPr lang="en-US" sz="2000" spc="-1" dirty="0">
                <a:solidFill>
                  <a:srgbClr val="003056"/>
                </a:solidFill>
                <a:latin typeface="Calibri"/>
              </a:rPr>
              <a:t>explored</a:t>
            </a: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 different training objectives, datasets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pc="-1" dirty="0">
                <a:solidFill>
                  <a:srgbClr val="003056"/>
                </a:solidFill>
                <a:latin typeface="Calibri"/>
              </a:rPr>
              <a:t>Encoder-decoder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architecture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,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so cross attention from decoder to encoder!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They cast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 all tasks as text-to-text for this purpose, e.g.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en-US" sz="1800" b="0" i="1" strike="noStrike" spc="-1" err="1">
                <a:solidFill>
                  <a:srgbClr val="003056"/>
                </a:solidFill>
                <a:latin typeface="Calibri"/>
              </a:rPr>
              <a:t>stsb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 is sentence similarity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, model trained to generate one of possible classes</a:t>
            </a:r>
            <a:endParaRPr lang="en-US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  <a:tabLst>
                <a:tab pos="0" algn="l"/>
              </a:tabLst>
            </a:pPr>
            <a:endParaRPr lang="en-US" sz="1800" b="0" strike="noStrike" spc="-1" dirty="0">
              <a:solidFill>
                <a:srgbClr val="003056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endParaRPr lang="de-DE" sz="2000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1" strike="noStrike" spc="-1" dirty="0">
                <a:solidFill>
                  <a:srgbClr val="003056"/>
                </a:solidFill>
                <a:latin typeface="Calibri"/>
              </a:rPr>
              <a:t>Electra </a:t>
            </a: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(</a:t>
            </a:r>
            <a:r>
              <a:rPr lang="en-US" sz="2000" b="0" u="sng" strike="noStrike" spc="-1" dirty="0">
                <a:solidFill>
                  <a:srgbClr val="0000FF"/>
                </a:solidFill>
                <a:uFillTx/>
                <a:latin typeface="Calibri"/>
                <a:hlinkClick r:id="rId3"/>
              </a:rPr>
              <a:t>Clark et al. 2020</a:t>
            </a: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): </a:t>
            </a:r>
            <a:r>
              <a:rPr lang="en-US" sz="2000" b="1" strike="noStrike" spc="-1" dirty="0">
                <a:solidFill>
                  <a:srgbClr val="003056"/>
                </a:solidFill>
                <a:latin typeface="Calibri"/>
              </a:rPr>
              <a:t>different task</a:t>
            </a: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, predict whether word was replaced randomly or not, so binary classification, not masking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More efficient training, competitive with larger models on some datasets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</p:txBody>
      </p:sp>
      <p:pic>
        <p:nvPicPr>
          <p:cNvPr id="183" name="Grafik 6" descr="t5_1.png"/>
          <p:cNvPicPr/>
          <p:nvPr/>
        </p:nvPicPr>
        <p:blipFill>
          <a:blip r:embed="rId4"/>
          <a:stretch/>
        </p:blipFill>
        <p:spPr>
          <a:xfrm>
            <a:off x="1214280" y="2411468"/>
            <a:ext cx="6643440" cy="2356200"/>
          </a:xfrm>
          <a:prstGeom prst="rect">
            <a:avLst/>
          </a:prstGeom>
          <a:ln w="0">
            <a:noFill/>
          </a:ln>
        </p:spPr>
      </p:pic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CBCD9BCC-D739-47B8-A24E-D8B35B4BC75C}" type="slidenum">
              <a:t>38</a:t>
            </a:fld>
            <a:endParaRPr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500"/>
                                        <p:tgtEl>
                                          <p:spTgt spid="1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0" dur="500"/>
                                        <p:tgtEl>
                                          <p:spTgt spid="1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3" dur="500"/>
                                        <p:tgtEl>
                                          <p:spTgt spid="1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repl">
                                        <p:cTn id="16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1" dur="500"/>
                                        <p:tgtEl>
                                          <p:spTgt spid="18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4" dur="500"/>
                                        <p:tgtEl>
                                          <p:spTgt spid="18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653076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Which Architecture is Best?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5" name="PlaceHolder 2"/>
          <p:cNvSpPr>
            <a:spLocks noGrp="1"/>
          </p:cNvSpPr>
          <p:nvPr>
            <p:ph type="ftr" idx="36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86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4928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trike="noStrike" spc="-1" dirty="0">
                <a:solidFill>
                  <a:srgbClr val="003056"/>
                </a:solidFill>
                <a:latin typeface="Calibri"/>
              </a:rPr>
              <a:t>No golden rule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Encoder-decoder better?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Encoder-only?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Decoder-only?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What about all </a:t>
            </a:r>
            <a:r>
              <a:rPr lang="en-US" sz="2000" b="1" strike="noStrike" spc="-1" dirty="0">
                <a:solidFill>
                  <a:srgbClr val="003056"/>
                </a:solidFill>
                <a:latin typeface="Calibri"/>
              </a:rPr>
              <a:t>other design decisions?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Which positional encodings?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Which tokenization approach?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trike="noStrike" spc="-1" dirty="0">
                <a:solidFill>
                  <a:srgbClr val="003056"/>
                </a:solidFill>
                <a:latin typeface="Calibri"/>
              </a:rPr>
              <a:t>Generally unclear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Pragmatic evidence exists, e.g. studies like </a:t>
            </a:r>
            <a:r>
              <a:rPr lang="en-US" sz="1800" b="0" strike="noStrike" spc="-1" dirty="0" err="1">
                <a:solidFill>
                  <a:srgbClr val="003056"/>
                </a:solidFill>
                <a:latin typeface="Calibri"/>
              </a:rPr>
              <a:t>RoBERTa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, T5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But results change as training/models/data 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change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 or 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scale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 up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A4E8CFD7-7FDE-4A69-B431-0C4EE447E47D}" type="slidenum">
              <a:t>39</a:t>
            </a:fld>
            <a:endParaRPr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500"/>
                                        <p:tgtEl>
                                          <p:spTgt spid="1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0" dur="500"/>
                                        <p:tgtEl>
                                          <p:spTgt spid="1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3" dur="500"/>
                                        <p:tgtEl>
                                          <p:spTgt spid="1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6" dur="500"/>
                                        <p:tgtEl>
                                          <p:spTgt spid="1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1" dur="500"/>
                                        <p:tgtEl>
                                          <p:spTgt spid="1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4" dur="500"/>
                                        <p:tgtEl>
                                          <p:spTgt spid="1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7" dur="500"/>
                                        <p:tgtEl>
                                          <p:spTgt spid="18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2" dur="500"/>
                                        <p:tgtEl>
                                          <p:spTgt spid="18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5" dur="500"/>
                                        <p:tgtEl>
                                          <p:spTgt spid="18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8" dur="500"/>
                                        <p:tgtEl>
                                          <p:spTgt spid="18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D39C6D-0549-8DAF-2385-3C153D770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>
            <a:extLst>
              <a:ext uri="{FF2B5EF4-FFF2-40B4-BE49-F238E27FC236}">
                <a16:creationId xmlns:a16="http://schemas.microsoft.com/office/drawing/2014/main" id="{143652E0-8466-C4B9-BA2F-D1C5559F86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00" y="584640"/>
            <a:ext cx="653076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de-DE" sz="3000" b="1" spc="-1">
                <a:solidFill>
                  <a:srgbClr val="003056"/>
                </a:solidFill>
                <a:latin typeface="Calibri"/>
              </a:rPr>
              <a:t>The BERT Legacy</a:t>
            </a:r>
            <a:endParaRPr lang="en-US"/>
          </a:p>
        </p:txBody>
      </p:sp>
      <p:sp>
        <p:nvSpPr>
          <p:cNvPr id="185" name="PlaceHolder 2">
            <a:extLst>
              <a:ext uri="{FF2B5EF4-FFF2-40B4-BE49-F238E27FC236}">
                <a16:creationId xmlns:a16="http://schemas.microsoft.com/office/drawing/2014/main" id="{2052BC7C-CB58-184D-B434-F609D197EBD7}"/>
              </a:ext>
            </a:extLst>
          </p:cNvPr>
          <p:cNvSpPr>
            <a:spLocks noGrp="1"/>
          </p:cNvSpPr>
          <p:nvPr>
            <p:ph type="ftr" idx="36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86" name="PlaceHolder 3">
            <a:extLst>
              <a:ext uri="{FF2B5EF4-FFF2-40B4-BE49-F238E27FC236}">
                <a16:creationId xmlns:a16="http://schemas.microsoft.com/office/drawing/2014/main" id="{1431F707-DDEA-486B-ED22-D5184923C1E8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684000" y="1143000"/>
            <a:ext cx="7775640" cy="4928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pc="-1" dirty="0">
                <a:solidFill>
                  <a:srgbClr val="003056"/>
                </a:solidFill>
                <a:latin typeface="Calibri"/>
              </a:rPr>
              <a:t>Large language models (LLMs)</a:t>
            </a:r>
            <a:r>
              <a:rPr lang="en-US" sz="2000" spc="-1" dirty="0">
                <a:solidFill>
                  <a:srgbClr val="003056"/>
                </a:solidFill>
                <a:latin typeface="Calibri"/>
              </a:rPr>
              <a:t> currently hugely successful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,Sans-Serif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They are almost exclusively transformer-based </a:t>
            </a:r>
            <a:r>
              <a:rPr lang="en-US" sz="1800" b="1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decoder-only</a:t>
            </a: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 models</a:t>
            </a:r>
            <a:endParaRPr lang="en-US" sz="1800" spc="-1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,Sans-Serif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I.e. they generate tokens one step at a time</a:t>
            </a: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 dirty="0">
                <a:solidFill>
                  <a:srgbClr val="003056"/>
                </a:solidFill>
                <a:latin typeface="Calibri"/>
              </a:rPr>
              <a:t>However, </a:t>
            </a:r>
            <a:r>
              <a:rPr lang="en-US" sz="2000" b="1" spc="-1" dirty="0">
                <a:solidFill>
                  <a:srgbClr val="003056"/>
                </a:solidFill>
                <a:latin typeface="Calibri"/>
              </a:rPr>
              <a:t>for many applications, encoder-only models are arguably more suitable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</a:rPr>
              <a:t>E.g. classification tasks where input is token/sequence representation, retrieval where input is query/document representation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</a:rPr>
              <a:t>Evidence of this: BERT-like models are some of the most popular models in </a:t>
            </a:r>
            <a:r>
              <a:rPr lang="en-US" sz="1800" spc="-1" dirty="0">
                <a:solidFill>
                  <a:srgbClr val="003056"/>
                </a:solidFill>
                <a:latin typeface="Calibri"/>
                <a:hlinkClick r:id="rId2"/>
              </a:rPr>
              <a:t>HuggingFace Hub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 (vast repository of pre-trained models)</a:t>
            </a: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 dirty="0">
                <a:solidFill>
                  <a:srgbClr val="003056"/>
                </a:solidFill>
                <a:latin typeface="Calibri"/>
              </a:rPr>
              <a:t>Recently, BERT has received a "modern touch"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</a:rPr>
              <a:t>Mostly an update after all the lessons from pre-training decoder-only LLMs</a:t>
            </a:r>
            <a:endParaRPr lang="en-US" sz="1600" spc="-1" dirty="0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 dirty="0">
                <a:solidFill>
                  <a:srgbClr val="003056"/>
                </a:solidFill>
                <a:latin typeface="Calibri"/>
                <a:hlinkClick r:id="rId3"/>
              </a:rPr>
              <a:t>ModernBERT (2024)</a:t>
            </a:r>
            <a:r>
              <a:rPr lang="en-US" sz="2000" spc="-1" dirty="0">
                <a:solidFill>
                  <a:srgbClr val="003056"/>
                </a:solidFill>
                <a:latin typeface="Calibri"/>
              </a:rPr>
              <a:t>: introduces improvements mostly for speed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E.g. different positional embeddings, </a:t>
            </a:r>
            <a:r>
              <a:rPr lang="en-US" sz="1800" spc="-1" dirty="0">
                <a:solidFill>
                  <a:srgbClr val="003056"/>
                </a:solidFill>
                <a:latin typeface="Calibri"/>
                <a:hlinkClick r:id="rId4"/>
              </a:rPr>
              <a:t>alternating attention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 (not all layers attend to entire input sequence), multilingual variant </a:t>
            </a:r>
            <a:r>
              <a:rPr lang="en-US" sz="1800" spc="-1" dirty="0">
                <a:solidFill>
                  <a:srgbClr val="003056"/>
                </a:solidFill>
                <a:latin typeface="Calibri"/>
                <a:hlinkClick r:id="rId5"/>
              </a:rPr>
              <a:t>released in 2005</a:t>
            </a:r>
            <a:endParaRPr lang="en-US" sz="1800" spc="-1" dirty="0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 dirty="0">
                <a:solidFill>
                  <a:srgbClr val="003056"/>
                </a:solidFill>
                <a:latin typeface="Calibri"/>
                <a:ea typeface="+mn-lt"/>
                <a:cs typeface="+mn-lt"/>
                <a:hlinkClick r:id="rId6"/>
              </a:rPr>
              <a:t>NeoBERT (2025</a:t>
            </a:r>
            <a:r>
              <a:rPr lang="en-US" sz="2000" spc="-1" dirty="0">
                <a:solidFill>
                  <a:srgbClr val="003056"/>
                </a:solidFill>
                <a:latin typeface="Calibri"/>
                <a:hlinkClick r:id="rId6"/>
              </a:rPr>
              <a:t>)</a:t>
            </a:r>
            <a:r>
              <a:rPr lang="en-US" sz="2000" spc="-1" dirty="0">
                <a:solidFill>
                  <a:srgbClr val="003056"/>
                </a:solidFill>
                <a:latin typeface="Calibri"/>
              </a:rPr>
              <a:t>: concurrent with </a:t>
            </a:r>
            <a:r>
              <a:rPr lang="en-US" sz="2000" spc="-1" dirty="0" err="1">
                <a:solidFill>
                  <a:srgbClr val="003056"/>
                </a:solidFill>
                <a:latin typeface="Calibri"/>
              </a:rPr>
              <a:t>ModernBERT</a:t>
            </a:r>
            <a:r>
              <a:rPr lang="en-US" sz="2000" spc="-1" dirty="0">
                <a:solidFill>
                  <a:srgbClr val="003056"/>
                </a:solidFill>
                <a:latin typeface="Calibri"/>
              </a:rPr>
              <a:t>, similar improvements</a:t>
            </a: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2000" spc="-1" dirty="0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>
            <a:extLst>
              <a:ext uri="{FF2B5EF4-FFF2-40B4-BE49-F238E27FC236}">
                <a16:creationId xmlns:a16="http://schemas.microsoft.com/office/drawing/2014/main" id="{45080C89-260D-42A5-1955-BA996279BEBB}"/>
              </a:ext>
            </a:extLst>
          </p:cNvPr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A4E8CFD7-7FDE-4A69-B431-0C4EE447E47D}" type="slidenum">
              <a:t>40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5007565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6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653076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de-DE" sz="3000" b="1" spc="-1" dirty="0">
                <a:solidFill>
                  <a:srgbClr val="003056"/>
                </a:solidFill>
                <a:latin typeface="Calibri"/>
              </a:rPr>
              <a:t>Summary: </a:t>
            </a:r>
            <a:r>
              <a:rPr lang="de-DE" sz="3000" b="1" spc="-1" dirty="0" err="1">
                <a:solidFill>
                  <a:srgbClr val="003056"/>
                </a:solidFill>
                <a:latin typeface="Calibri"/>
              </a:rPr>
              <a:t>Pre</a:t>
            </a:r>
            <a:r>
              <a:rPr lang="de-DE" sz="3000" b="1" spc="-1" dirty="0">
                <a:solidFill>
                  <a:srgbClr val="003056"/>
                </a:solidFill>
                <a:latin typeface="Calibri"/>
              </a:rPr>
              <a:t>-Training</a:t>
            </a:r>
            <a:endParaRPr lang="de-DE" sz="3000" b="1" strike="noStrike" spc="-1" dirty="0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185" name="PlaceHolder 2"/>
          <p:cNvSpPr>
            <a:spLocks noGrp="1"/>
          </p:cNvSpPr>
          <p:nvPr>
            <p:ph type="ftr" idx="36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86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4928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pc="-1" dirty="0">
                <a:solidFill>
                  <a:srgbClr val="003056"/>
                </a:solidFill>
                <a:latin typeface="Calibri"/>
              </a:rPr>
              <a:t>Transfer learning:</a:t>
            </a:r>
          </a:p>
          <a:p>
            <a:pPr marL="800100" lvl="1" indent="-342900">
              <a:lnSpc>
                <a:spcPct val="100000"/>
              </a:lnSpc>
              <a:spcBef>
                <a:spcPts val="360"/>
              </a:spcBef>
              <a:buAutoNum type="arabicPeriod"/>
            </a:pPr>
            <a:r>
              <a:rPr lang="en-US" sz="1800" b="1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Pre-training: </a:t>
            </a: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train model on some task(s) that “allows” model to learn </a:t>
            </a:r>
            <a:r>
              <a:rPr lang="en-US" sz="18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rich representations, usually from large amounts of text. Representations then useful </a:t>
            </a: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in downstream applications</a:t>
            </a:r>
            <a:endParaRPr lang="de-DE" sz="1800" spc="-1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800100" lvl="1" indent="-342900">
              <a:lnSpc>
                <a:spcPct val="100000"/>
              </a:lnSpc>
              <a:spcBef>
                <a:spcPts val="360"/>
              </a:spcBef>
              <a:buAutoNum type="arabicPeriod"/>
            </a:pPr>
            <a:r>
              <a:rPr lang="en-US" sz="1800" b="1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Fine-tuning:</a:t>
            </a: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 update learned representations (weights) in context of new downstream application, usually using new downstream model/component, e.g. a classification head</a:t>
            </a:r>
            <a:endParaRPr lang="en-US" dirty="0">
              <a:solidFill>
                <a:srgbClr val="000000"/>
              </a:solidFill>
              <a:latin typeface="Arial"/>
              <a:ea typeface="Calibri"/>
              <a:cs typeface="Calibri"/>
            </a:endParaRPr>
          </a:p>
          <a:p>
            <a:pPr marL="342900">
              <a:lnSpc>
                <a:spcPct val="100000"/>
              </a:lnSpc>
              <a:spcBef>
                <a:spcPts val="360"/>
              </a:spcBef>
              <a:buFont typeface="Arial"/>
              <a:buChar char="•"/>
            </a:pPr>
            <a:r>
              <a:rPr lang="en-US" sz="2000" b="1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Pre-training </a:t>
            </a:r>
            <a:r>
              <a:rPr lang="en-US" sz="20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now </a:t>
            </a:r>
            <a:r>
              <a:rPr lang="en-US" sz="2000" b="1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mostly done with transformer-based models</a:t>
            </a:r>
            <a:endParaRPr lang="en-US" sz="2200" spc="-1" dirty="0">
              <a:solidFill>
                <a:srgbClr val="003056"/>
              </a:solidFill>
              <a:latin typeface="Calibri"/>
              <a:ea typeface="Calibri"/>
              <a:cs typeface="Calibri"/>
            </a:endParaRPr>
          </a:p>
          <a:p>
            <a:pPr marL="342900">
              <a:lnSpc>
                <a:spcPct val="100000"/>
              </a:lnSpc>
              <a:spcBef>
                <a:spcPts val="360"/>
              </a:spcBef>
              <a:buFont typeface="Arial"/>
              <a:buChar char="•"/>
            </a:pPr>
            <a:r>
              <a:rPr lang="en-US" sz="20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Different kinds of </a:t>
            </a:r>
            <a:r>
              <a:rPr lang="en-US" sz="2000" b="1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pre-training objectives</a:t>
            </a:r>
            <a:r>
              <a:rPr lang="en-US" sz="20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, two dominant ones</a:t>
            </a:r>
          </a:p>
          <a:p>
            <a:pPr marL="800100" lvl="1" indent="-342900">
              <a:lnSpc>
                <a:spcPct val="100000"/>
              </a:lnSpc>
              <a:spcBef>
                <a:spcPts val="360"/>
              </a:spcBef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Masked language modeling (</a:t>
            </a:r>
            <a:r>
              <a:rPr lang="en-US" sz="1800" b="1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MLM</a:t>
            </a: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)</a:t>
            </a:r>
          </a:p>
          <a:p>
            <a:pPr marL="800100" lvl="1" indent="-342900">
              <a:lnSpc>
                <a:spcPct val="100000"/>
              </a:lnSpc>
              <a:spcBef>
                <a:spcPts val="360"/>
              </a:spcBef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Causal language modeling (</a:t>
            </a:r>
            <a:r>
              <a:rPr lang="en-US" sz="1800" b="1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CLM</a:t>
            </a: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)</a:t>
            </a:r>
            <a:endParaRPr lang="en-US" sz="1600" spc="-1" dirty="0">
              <a:solidFill>
                <a:srgbClr val="003056"/>
              </a:solidFill>
              <a:latin typeface="Calibri"/>
              <a:ea typeface="Calibri"/>
              <a:cs typeface="Calibri"/>
            </a:endParaRPr>
          </a:p>
          <a:p>
            <a:pPr marL="342900">
              <a:lnSpc>
                <a:spcPct val="100000"/>
              </a:lnSpc>
              <a:spcBef>
                <a:spcPts val="360"/>
              </a:spcBef>
              <a:buFont typeface="Arial"/>
              <a:buChar char="•"/>
            </a:pPr>
            <a:r>
              <a:rPr lang="en-US" sz="20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Different kinds of </a:t>
            </a:r>
            <a:r>
              <a:rPr lang="en-US" sz="2000" b="1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architectures</a:t>
            </a:r>
            <a:endParaRPr lang="en-US" sz="2000" spc="-1">
              <a:solidFill>
                <a:srgbClr val="003056"/>
              </a:solidFill>
              <a:latin typeface="Calibri"/>
              <a:ea typeface="Calibri"/>
              <a:cs typeface="Calibri"/>
            </a:endParaRPr>
          </a:p>
          <a:p>
            <a:pPr marL="800100" lvl="1" indent="-342900">
              <a:lnSpc>
                <a:spcPct val="100000"/>
              </a:lnSpc>
              <a:spcBef>
                <a:spcPts val="360"/>
              </a:spcBef>
              <a:buFont typeface="Arial"/>
            </a:pPr>
            <a:r>
              <a:rPr lang="en-US" sz="1800" b="1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Encoder-only</a:t>
            </a: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, typically used for training MLMs</a:t>
            </a:r>
          </a:p>
          <a:p>
            <a:pPr marL="800100" lvl="1" indent="-342900">
              <a:lnSpc>
                <a:spcPct val="100000"/>
              </a:lnSpc>
              <a:spcBef>
                <a:spcPts val="360"/>
              </a:spcBef>
              <a:buFont typeface="Arial"/>
            </a:pPr>
            <a:r>
              <a:rPr lang="en-US" sz="1800" b="1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Decoder-only</a:t>
            </a: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, typically used for training CLMs</a:t>
            </a:r>
          </a:p>
          <a:p>
            <a:pPr marL="800100" lvl="1" indent="-342900">
              <a:lnSpc>
                <a:spcPct val="100000"/>
              </a:lnSpc>
              <a:spcBef>
                <a:spcPts val="360"/>
              </a:spcBef>
              <a:buFont typeface="Arial"/>
            </a:pPr>
            <a:r>
              <a:rPr lang="en-US" sz="1800" b="1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Encoder-decoder</a:t>
            </a: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, cross-attention (decoder also attends to encoder outputs)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A4E8CFD7-7FDE-4A69-B431-0C4EE447E47D}" type="slidenum">
              <a:t>41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8110327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500"/>
                                        <p:tgtEl>
                                          <p:spTgt spid="1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0" dur="500"/>
                                        <p:tgtEl>
                                          <p:spTgt spid="1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3" dur="500"/>
                                        <p:tgtEl>
                                          <p:spTgt spid="1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8" dur="500"/>
                                        <p:tgtEl>
                                          <p:spTgt spid="1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3" dur="500"/>
                                        <p:tgtEl>
                                          <p:spTgt spid="1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6" dur="500"/>
                                        <p:tgtEl>
                                          <p:spTgt spid="1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9" dur="500"/>
                                        <p:tgtEl>
                                          <p:spTgt spid="18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4" dur="500"/>
                                        <p:tgtEl>
                                          <p:spTgt spid="18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7" dur="500"/>
                                        <p:tgtEl>
                                          <p:spTgt spid="18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0" dur="500"/>
                                        <p:tgtEl>
                                          <p:spTgt spid="18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3" dur="500"/>
                                        <p:tgtEl>
                                          <p:spTgt spid="18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8" name="PlaceHolder 2"/>
          <p:cNvSpPr>
            <a:spLocks noGrp="1"/>
          </p:cNvSpPr>
          <p:nvPr>
            <p:ph type="ftr" idx="37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89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4673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  <a:p>
            <a:pPr marL="342900" indent="-342900" algn="ctr">
              <a:lnSpc>
                <a:spcPct val="100000"/>
              </a:lnSpc>
              <a:spcBef>
                <a:spcPts val="879"/>
              </a:spcBef>
              <a:buNone/>
              <a:tabLst>
                <a:tab pos="0" algn="l"/>
              </a:tabLst>
            </a:pPr>
            <a:r>
              <a:rPr lang="en-US" sz="4400" b="1" strike="noStrike" spc="-1" dirty="0">
                <a:solidFill>
                  <a:srgbClr val="003056"/>
                </a:solidFill>
                <a:latin typeface="Calibri"/>
              </a:rPr>
              <a:t>Fine-Tuning</a:t>
            </a:r>
          </a:p>
          <a:p>
            <a:pPr marL="342900" indent="-342900" algn="ctr">
              <a:lnSpc>
                <a:spcPct val="100000"/>
              </a:lnSpc>
              <a:spcBef>
                <a:spcPts val="878"/>
              </a:spcBef>
              <a:buNone/>
              <a:tabLst>
                <a:tab pos="0" algn="l"/>
              </a:tabLst>
            </a:pPr>
            <a:endParaRPr lang="en-US" sz="4400" b="1" spc="-1" dirty="0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FA00700D-FA4F-4773-A9F0-30F6AA66354F}" type="slidenum">
              <a:t>42</a:t>
            </a:fld>
            <a:endParaRPr/>
          </a:p>
        </p:txBody>
      </p:sp>
    </p:spTree>
  </p:cSld>
  <p:clrMapOvr>
    <a:masterClrMapping/>
  </p:clrMapOvr>
  <p:transition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653076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What is Fine-Tuning?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1" name="PlaceHolder 2"/>
          <p:cNvSpPr>
            <a:spLocks noGrp="1"/>
          </p:cNvSpPr>
          <p:nvPr>
            <p:ph type="ftr" idx="38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92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235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99415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pc="-1" dirty="0">
                <a:solidFill>
                  <a:srgbClr val="003056"/>
                </a:solidFill>
                <a:latin typeface="Calibri"/>
              </a:rPr>
              <a:t>Traditionally, updating</a:t>
            </a:r>
            <a:r>
              <a:rPr lang="en-US" sz="2000" b="1" strike="noStrike" spc="-1" dirty="0">
                <a:solidFill>
                  <a:srgbClr val="003056"/>
                </a:solidFill>
                <a:latin typeface="Calibri"/>
              </a:rPr>
              <a:t> weights </a:t>
            </a: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of pre-trained model when training on </a:t>
            </a:r>
            <a:r>
              <a:rPr lang="en-US" sz="2000" b="1" strike="noStrike" spc="-1" dirty="0">
                <a:solidFill>
                  <a:srgbClr val="003056"/>
                </a:solidFill>
                <a:latin typeface="Calibri"/>
              </a:rPr>
              <a:t>new</a:t>
            </a: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 downstream task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Resulting </a:t>
            </a:r>
            <a:r>
              <a:rPr lang="en-US" sz="1800" b="1" strike="noStrike" spc="-1" dirty="0">
                <a:solidFill>
                  <a:srgbClr val="003056"/>
                </a:solidFill>
                <a:latin typeface="Calibri"/>
              </a:rPr>
              <a:t>contextualized representations </a:t>
            </a:r>
            <a:r>
              <a:rPr lang="en-US" sz="1800" b="1" i="1" strike="noStrike" spc="-1" dirty="0">
                <a:solidFill>
                  <a:srgbClr val="003056"/>
                </a:solidFill>
                <a:latin typeface="Calibri"/>
              </a:rPr>
              <a:t>tuned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en-US" sz="1800" b="1" strike="noStrike" spc="-1" dirty="0">
                <a:solidFill>
                  <a:srgbClr val="003056"/>
                </a:solidFill>
                <a:latin typeface="Calibri"/>
              </a:rPr>
              <a:t>to 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the </a:t>
            </a:r>
            <a:r>
              <a:rPr lang="en-US" sz="1800" b="1" strike="noStrike" spc="-1" dirty="0">
                <a:solidFill>
                  <a:srgbClr val="003056"/>
                </a:solidFill>
                <a:latin typeface="Calibri"/>
              </a:rPr>
              <a:t>new task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trike="noStrike" spc="-1" dirty="0">
                <a:solidFill>
                  <a:srgbClr val="003056"/>
                </a:solidFill>
                <a:latin typeface="Calibri"/>
              </a:rPr>
              <a:t>New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 = not used/seen during pre-training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399415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Downstream task usually implies additional </a:t>
            </a:r>
            <a:r>
              <a:rPr lang="en-US" sz="2000" b="1" strike="noStrike" spc="-1" dirty="0">
                <a:solidFill>
                  <a:srgbClr val="003056"/>
                </a:solidFill>
                <a:latin typeface="Calibri"/>
              </a:rPr>
              <a:t>downstream model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Downstream model usually comes with its separate weights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These weights 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must be trained 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(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e.g. </a:t>
            </a:r>
            <a:r>
              <a:rPr lang="en-US" sz="1800" b="1" strike="noStrike" spc="-1" dirty="0">
                <a:solidFill>
                  <a:srgbClr val="003056"/>
                </a:solidFill>
                <a:latin typeface="Calibri"/>
              </a:rPr>
              <a:t>classification head 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in image below)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</p:txBody>
      </p:sp>
      <p:pic>
        <p:nvPicPr>
          <p:cNvPr id="193" name="Grafik 6" descr="finetuning_pipeline_1.png"/>
          <p:cNvPicPr/>
          <p:nvPr/>
        </p:nvPicPr>
        <p:blipFill>
          <a:blip r:embed="rId2"/>
          <a:stretch/>
        </p:blipFill>
        <p:spPr>
          <a:xfrm>
            <a:off x="2076405" y="3429000"/>
            <a:ext cx="4992480" cy="2682360"/>
          </a:xfrm>
          <a:prstGeom prst="rect">
            <a:avLst/>
          </a:prstGeom>
          <a:ln w="0">
            <a:noFill/>
          </a:ln>
        </p:spPr>
      </p:pic>
      <p:sp>
        <p:nvSpPr>
          <p:cNvPr id="194" name="Textfeld 7"/>
          <p:cNvSpPr/>
          <p:nvPr/>
        </p:nvSpPr>
        <p:spPr>
          <a:xfrm>
            <a:off x="6072120" y="5978880"/>
            <a:ext cx="1285560" cy="30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u="sng" strike="noStrike" spc="-1">
                <a:solidFill>
                  <a:srgbClr val="0000FF"/>
                </a:solidFill>
                <a:uFillTx/>
                <a:latin typeface="Calibri"/>
                <a:hlinkClick r:id="rId3"/>
              </a:rPr>
              <a:t>Image source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FE81A565-4733-45D9-8D42-FF3587FE41F2}" type="slidenum">
              <a:t>43</a:t>
            </a:fld>
            <a:endParaRPr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500"/>
                                        <p:tgtEl>
                                          <p:spTgt spid="1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0" dur="500"/>
                                        <p:tgtEl>
                                          <p:spTgt spid="1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3" dur="500"/>
                                        <p:tgtEl>
                                          <p:spTgt spid="1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8" dur="500"/>
                                        <p:tgtEl>
                                          <p:spTgt spid="1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1" dur="500"/>
                                        <p:tgtEl>
                                          <p:spTgt spid="1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4" dur="500"/>
                                        <p:tgtEl>
                                          <p:spTgt spid="19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repl">
                                        <p:cTn id="27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repl">
                                        <p:cTn id="30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653076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de-DE" sz="3000" b="1" strike="noStrike" spc="-1" dirty="0" err="1">
                <a:solidFill>
                  <a:srgbClr val="003056"/>
                </a:solidFill>
                <a:latin typeface="Calibri"/>
              </a:rPr>
              <a:t>To</a:t>
            </a:r>
            <a:r>
              <a:rPr lang="de-DE" sz="3000" b="1" strike="noStrike" spc="-1" dirty="0">
                <a:solidFill>
                  <a:srgbClr val="003056"/>
                </a:solidFill>
                <a:latin typeface="Calibri"/>
              </a:rPr>
              <a:t> Update </a:t>
            </a:r>
            <a:r>
              <a:rPr lang="de-DE" sz="3000" b="1" strike="noStrike" spc="-1" dirty="0" err="1">
                <a:solidFill>
                  <a:srgbClr val="003056"/>
                </a:solidFill>
                <a:latin typeface="Calibri"/>
              </a:rPr>
              <a:t>or</a:t>
            </a:r>
            <a:r>
              <a:rPr lang="de-DE" sz="3000" b="1" strike="noStrike" spc="-1" dirty="0">
                <a:solidFill>
                  <a:srgbClr val="003056"/>
                </a:solidFill>
                <a:latin typeface="Calibri"/>
              </a:rPr>
              <a:t> Not </a:t>
            </a:r>
            <a:r>
              <a:rPr lang="de-DE" sz="3000" b="1" strike="noStrike" spc="-1" dirty="0" err="1">
                <a:solidFill>
                  <a:srgbClr val="003056"/>
                </a:solidFill>
                <a:latin typeface="Calibri"/>
              </a:rPr>
              <a:t>to</a:t>
            </a:r>
            <a:r>
              <a:rPr lang="de-DE" sz="3000" b="1" strike="noStrike" spc="-1" dirty="0">
                <a:solidFill>
                  <a:srgbClr val="003056"/>
                </a:solidFill>
                <a:latin typeface="Calibri"/>
              </a:rPr>
              <a:t> Update</a:t>
            </a:r>
            <a:r>
              <a:rPr lang="de-DE" sz="3000" b="1" spc="-1" dirty="0">
                <a:solidFill>
                  <a:srgbClr val="003056"/>
                </a:solidFill>
                <a:latin typeface="Calibri"/>
              </a:rPr>
              <a:t> (1)</a:t>
            </a:r>
            <a:endParaRPr lang="de-DE" sz="3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6" name="PlaceHolder 2"/>
          <p:cNvSpPr>
            <a:spLocks noGrp="1"/>
          </p:cNvSpPr>
          <p:nvPr>
            <p:ph type="ftr" idx="39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97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4928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99415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Updating pre-trained weights </a:t>
            </a:r>
            <a:r>
              <a:rPr lang="en-US" sz="2000" b="1" strike="noStrike" spc="-1" dirty="0">
                <a:solidFill>
                  <a:srgbClr val="003056"/>
                </a:solidFill>
                <a:latin typeface="Calibri"/>
              </a:rPr>
              <a:t>may result in “catastrophic forgetting”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Encoded information during pre-training lost/replaced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342900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endParaRPr lang="en-US" sz="2000" b="0" strike="noStrike" spc="-1" dirty="0">
              <a:solidFill>
                <a:srgbClr val="003056"/>
              </a:solidFill>
              <a:latin typeface="Calibri"/>
            </a:endParaRPr>
          </a:p>
          <a:p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r>
              <a:rPr lang="de-DE" sz="2000" spc="-1" err="1">
                <a:solidFill>
                  <a:srgbClr val="003056"/>
                </a:solidFill>
                <a:latin typeface="Calibri"/>
              </a:rPr>
              <a:t>Pre</a:t>
            </a:r>
            <a:r>
              <a:rPr lang="de-DE" sz="2000" spc="-1" dirty="0">
                <a:solidFill>
                  <a:srgbClr val="003056"/>
                </a:solidFill>
                <a:latin typeface="Calibri"/>
              </a:rPr>
              <a:t>-training </a:t>
            </a:r>
            <a:r>
              <a:rPr lang="de-DE" sz="2000" spc="-1" err="1">
                <a:solidFill>
                  <a:srgbClr val="003056"/>
                </a:solidFill>
                <a:latin typeface="Calibri"/>
              </a:rPr>
              <a:t>can</a:t>
            </a:r>
            <a:r>
              <a:rPr lang="de-DE" sz="2000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de-DE" sz="2000" spc="-1" err="1">
                <a:solidFill>
                  <a:srgbClr val="003056"/>
                </a:solidFill>
                <a:latin typeface="Calibri"/>
              </a:rPr>
              <a:t>be</a:t>
            </a:r>
            <a:r>
              <a:rPr lang="de-DE" sz="2000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de-DE" sz="2000" spc="-1" err="1">
                <a:solidFill>
                  <a:srgbClr val="003056"/>
                </a:solidFill>
                <a:latin typeface="Calibri"/>
              </a:rPr>
              <a:t>very</a:t>
            </a:r>
            <a:r>
              <a:rPr lang="de-DE" sz="2000" spc="-1" dirty="0">
                <a:solidFill>
                  <a:srgbClr val="003056"/>
                </a:solidFill>
                <a:latin typeface="Calibri"/>
              </a:rPr>
              <a:t> expensive</a:t>
            </a:r>
          </a:p>
          <a:p>
            <a:pPr lvl="1"/>
            <a:r>
              <a:rPr lang="de-DE" sz="1800" spc="-1" dirty="0">
                <a:solidFill>
                  <a:srgbClr val="003056"/>
                </a:solidFill>
                <a:latin typeface="Calibri"/>
              </a:rPr>
              <a:t>E.g. META </a:t>
            </a:r>
            <a:r>
              <a:rPr lang="de-DE" sz="1800" spc="-1" err="1">
                <a:solidFill>
                  <a:srgbClr val="003056"/>
                </a:solidFill>
                <a:latin typeface="Calibri"/>
              </a:rPr>
              <a:t>AI's</a:t>
            </a:r>
            <a:r>
              <a:rPr lang="de-DE" sz="1800" spc="-1" dirty="0">
                <a:solidFill>
                  <a:srgbClr val="003056"/>
                </a:solidFill>
                <a:latin typeface="Calibri"/>
              </a:rPr>
              <a:t> </a:t>
            </a:r>
            <a:r>
              <a:rPr lang="de-DE" sz="1800" spc="-1" dirty="0">
                <a:solidFill>
                  <a:srgbClr val="003056"/>
                </a:solidFill>
                <a:latin typeface="Calibri"/>
                <a:hlinkClick r:id="rId2"/>
              </a:rPr>
              <a:t>Llama3</a:t>
            </a:r>
            <a:r>
              <a:rPr lang="de-DE" sz="1800" spc="-1">
                <a:solidFill>
                  <a:srgbClr val="003056"/>
                </a:solidFill>
                <a:latin typeface="Calibri"/>
              </a:rPr>
              <a:t> CLM (400B </a:t>
            </a:r>
            <a:r>
              <a:rPr lang="de-DE" sz="1800" spc="-1" err="1">
                <a:solidFill>
                  <a:srgbClr val="003056"/>
                </a:solidFill>
                <a:latin typeface="Calibri"/>
              </a:rPr>
              <a:t>parameters</a:t>
            </a:r>
            <a:r>
              <a:rPr lang="de-DE" sz="1800" spc="-1">
                <a:solidFill>
                  <a:srgbClr val="003056"/>
                </a:solidFill>
                <a:latin typeface="Calibri"/>
              </a:rPr>
              <a:t>) trained</a:t>
            </a:r>
            <a:r>
              <a:rPr lang="de-DE" sz="1800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de-DE" sz="1800" spc="-1" err="1">
                <a:solidFill>
                  <a:srgbClr val="003056"/>
                </a:solidFill>
                <a:latin typeface="Calibri"/>
              </a:rPr>
              <a:t>with</a:t>
            </a:r>
            <a:r>
              <a:rPr lang="de-DE" sz="1800" spc="-1" dirty="0">
                <a:solidFill>
                  <a:srgbClr val="003056"/>
                </a:solidFill>
                <a:latin typeface="Calibri"/>
              </a:rPr>
              <a:t> 16.000 GPUs</a:t>
            </a:r>
          </a:p>
          <a:p>
            <a:pPr lvl="1"/>
            <a:r>
              <a:rPr lang="de-DE" sz="1800" spc="-1" err="1">
                <a:solidFill>
                  <a:srgbClr val="003056"/>
                </a:solidFill>
                <a:latin typeface="Calibri"/>
              </a:rPr>
              <a:t>Catastrophic</a:t>
            </a:r>
            <a:r>
              <a:rPr lang="de-DE" sz="1800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de-DE" sz="1800" spc="-1" err="1">
                <a:solidFill>
                  <a:srgbClr val="003056"/>
                </a:solidFill>
                <a:latin typeface="Calibri"/>
              </a:rPr>
              <a:t>forgetting</a:t>
            </a:r>
            <a:r>
              <a:rPr lang="de-DE" sz="1800" spc="-1" dirty="0">
                <a:solidFill>
                  <a:srgbClr val="003056"/>
                </a:solidFill>
                <a:latin typeface="Calibri"/>
              </a:rPr>
              <a:t> </a:t>
            </a:r>
            <a:r>
              <a:rPr lang="de-DE" sz="1800" spc="-1" err="1">
                <a:solidFill>
                  <a:srgbClr val="003056"/>
                </a:solidFill>
                <a:latin typeface="Calibri"/>
              </a:rPr>
              <a:t>can</a:t>
            </a:r>
            <a:r>
              <a:rPr lang="de-DE" sz="1800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de-DE" sz="1800" spc="-1" err="1">
                <a:solidFill>
                  <a:srgbClr val="003056"/>
                </a:solidFill>
                <a:latin typeface="Calibri"/>
              </a:rPr>
              <a:t>potentially</a:t>
            </a:r>
            <a:r>
              <a:rPr lang="de-DE" sz="1800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de-DE" sz="1800" spc="-1" err="1">
                <a:solidFill>
                  <a:srgbClr val="003056"/>
                </a:solidFill>
                <a:latin typeface="Calibri"/>
              </a:rPr>
              <a:t>undo</a:t>
            </a:r>
            <a:r>
              <a:rPr lang="de-DE" sz="1800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de-DE" sz="1800" spc="-1" err="1">
                <a:solidFill>
                  <a:srgbClr val="003056"/>
                </a:solidFill>
                <a:latin typeface="Calibri"/>
              </a:rPr>
              <a:t>some</a:t>
            </a:r>
            <a:r>
              <a:rPr lang="de-DE" sz="1800" spc="-1" dirty="0">
                <a:solidFill>
                  <a:srgbClr val="003056"/>
                </a:solidFill>
                <a:latin typeface="Calibri"/>
              </a:rPr>
              <a:t>/</a:t>
            </a:r>
            <a:r>
              <a:rPr lang="de-DE" sz="1800" spc="-1" err="1">
                <a:solidFill>
                  <a:srgbClr val="003056"/>
                </a:solidFill>
                <a:latin typeface="Calibri"/>
              </a:rPr>
              <a:t>much</a:t>
            </a:r>
            <a:r>
              <a:rPr lang="de-DE" sz="1800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de-DE" sz="1800" spc="-1" err="1">
                <a:solidFill>
                  <a:srgbClr val="003056"/>
                </a:solidFill>
                <a:latin typeface="Calibri"/>
              </a:rPr>
              <a:t>of</a:t>
            </a:r>
            <a:r>
              <a:rPr lang="de-DE" sz="1800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de-DE" sz="1800" spc="-1" err="1">
                <a:solidFill>
                  <a:srgbClr val="003056"/>
                </a:solidFill>
                <a:latin typeface="Calibri"/>
              </a:rPr>
              <a:t>that</a:t>
            </a:r>
            <a:r>
              <a:rPr lang="de-DE" sz="1800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de-DE" sz="1800" spc="-1" err="1">
                <a:solidFill>
                  <a:srgbClr val="003056"/>
                </a:solidFill>
                <a:latin typeface="Calibri"/>
              </a:rPr>
              <a:t>effort</a:t>
            </a:r>
            <a:endParaRPr lang="de-DE" sz="1800" spc="-1" dirty="0">
              <a:solidFill>
                <a:srgbClr val="003056"/>
              </a:solidFill>
              <a:latin typeface="Calibri"/>
            </a:endParaRPr>
          </a:p>
          <a:p>
            <a:pPr lvl="1"/>
            <a:r>
              <a:rPr lang="de-DE" sz="1800" spc="-1">
                <a:solidFill>
                  <a:srgbClr val="003056"/>
                </a:solidFill>
                <a:latin typeface="Calibri"/>
              </a:rPr>
              <a:t>Understanding </a:t>
            </a:r>
            <a:r>
              <a:rPr lang="de-DE" sz="1800" spc="-1" err="1">
                <a:solidFill>
                  <a:srgbClr val="003056"/>
                </a:solidFill>
                <a:latin typeface="Calibri"/>
              </a:rPr>
              <a:t>how</a:t>
            </a:r>
            <a:r>
              <a:rPr lang="de-DE" sz="1800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de-DE" sz="1800" spc="-1" err="1">
                <a:solidFill>
                  <a:srgbClr val="003056"/>
                </a:solidFill>
                <a:latin typeface="Calibri"/>
              </a:rPr>
              <a:t>specific</a:t>
            </a:r>
            <a:r>
              <a:rPr lang="de-DE" sz="1800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de-DE" sz="1800" spc="-1" err="1">
                <a:solidFill>
                  <a:srgbClr val="003056"/>
                </a:solidFill>
                <a:latin typeface="Calibri"/>
              </a:rPr>
              <a:t>knowledge</a:t>
            </a:r>
            <a:r>
              <a:rPr lang="de-DE" sz="1800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de-DE" sz="1800" spc="-1" err="1">
                <a:solidFill>
                  <a:srgbClr val="003056"/>
                </a:solidFill>
                <a:latin typeface="Calibri"/>
              </a:rPr>
              <a:t>is</a:t>
            </a:r>
            <a:r>
              <a:rPr lang="de-DE" sz="1800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de-DE" sz="1800" spc="-1" err="1">
                <a:solidFill>
                  <a:srgbClr val="003056"/>
                </a:solidFill>
                <a:latin typeface="Calibri"/>
              </a:rPr>
              <a:t>stored</a:t>
            </a:r>
            <a:r>
              <a:rPr lang="de-DE" sz="1800" spc="-1">
                <a:solidFill>
                  <a:srgbClr val="003056"/>
                </a:solidFill>
                <a:latin typeface="Calibri"/>
              </a:rPr>
              <a:t> in </a:t>
            </a:r>
            <a:r>
              <a:rPr lang="de-DE" sz="1800" spc="-1" err="1">
                <a:solidFill>
                  <a:srgbClr val="003056"/>
                </a:solidFill>
                <a:latin typeface="Calibri"/>
              </a:rPr>
              <a:t>weights</a:t>
            </a:r>
            <a:r>
              <a:rPr lang="de-DE" sz="1800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de-DE" sz="1800" spc="-1" err="1">
                <a:solidFill>
                  <a:srgbClr val="003056"/>
                </a:solidFill>
                <a:latin typeface="Calibri"/>
              </a:rPr>
              <a:t>is</a:t>
            </a:r>
            <a:r>
              <a:rPr lang="de-DE" sz="1800" spc="-1" dirty="0">
                <a:solidFill>
                  <a:srgbClr val="003056"/>
                </a:solidFill>
                <a:latin typeface="Calibri"/>
              </a:rPr>
              <a:t> </a:t>
            </a:r>
            <a:r>
              <a:rPr lang="de-DE" sz="1800" spc="-1">
                <a:solidFill>
                  <a:srgbClr val="003056"/>
                </a:solidFill>
                <a:latin typeface="Calibri"/>
              </a:rPr>
              <a:t>open question</a:t>
            </a:r>
          </a:p>
        </p:txBody>
      </p:sp>
      <p:pic>
        <p:nvPicPr>
          <p:cNvPr id="198" name="Grafik 6" descr="finetuning_unfrozen_1.png"/>
          <p:cNvPicPr/>
          <p:nvPr/>
        </p:nvPicPr>
        <p:blipFill>
          <a:blip r:embed="rId3"/>
          <a:stretch/>
        </p:blipFill>
        <p:spPr>
          <a:xfrm>
            <a:off x="2039687" y="1832733"/>
            <a:ext cx="5071680" cy="3022920"/>
          </a:xfrm>
          <a:prstGeom prst="rect">
            <a:avLst/>
          </a:prstGeom>
          <a:ln w="0">
            <a:noFill/>
          </a:ln>
        </p:spPr>
      </p:pic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A661AB12-6C74-4550-8D94-CA52BD562CB6}" type="slidenum">
              <a:t>44</a:t>
            </a:fld>
            <a:endParaRPr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500"/>
                                        <p:tgtEl>
                                          <p:spTgt spid="1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0" dur="500"/>
                                        <p:tgtEl>
                                          <p:spTgt spid="1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repl">
                                        <p:cTn id="13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8" dur="500"/>
                                        <p:tgtEl>
                                          <p:spTgt spid="19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1" dur="500"/>
                                        <p:tgtEl>
                                          <p:spTgt spid="19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4" dur="500"/>
                                        <p:tgtEl>
                                          <p:spTgt spid="19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7" dur="500"/>
                                        <p:tgtEl>
                                          <p:spTgt spid="19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653076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de-DE" sz="3000" b="1" strike="noStrike" spc="-1" dirty="0" err="1">
                <a:solidFill>
                  <a:srgbClr val="003056"/>
                </a:solidFill>
                <a:latin typeface="Calibri"/>
              </a:rPr>
              <a:t>To</a:t>
            </a:r>
            <a:r>
              <a:rPr lang="de-DE" sz="3000" b="1" strike="noStrike" spc="-1" dirty="0">
                <a:solidFill>
                  <a:srgbClr val="003056"/>
                </a:solidFill>
                <a:latin typeface="Calibri"/>
              </a:rPr>
              <a:t> Update </a:t>
            </a:r>
            <a:r>
              <a:rPr lang="de-DE" sz="3000" b="1" strike="noStrike" spc="-1" dirty="0" err="1">
                <a:solidFill>
                  <a:srgbClr val="003056"/>
                </a:solidFill>
                <a:latin typeface="Calibri"/>
              </a:rPr>
              <a:t>or</a:t>
            </a:r>
            <a:r>
              <a:rPr lang="de-DE" sz="3000" b="1" strike="noStrike" spc="-1" dirty="0">
                <a:solidFill>
                  <a:srgbClr val="003056"/>
                </a:solidFill>
                <a:latin typeface="Calibri"/>
              </a:rPr>
              <a:t> Not </a:t>
            </a:r>
            <a:r>
              <a:rPr lang="de-DE" sz="3000" b="1" strike="noStrike" spc="-1" dirty="0" err="1">
                <a:solidFill>
                  <a:srgbClr val="003056"/>
                </a:solidFill>
                <a:latin typeface="Calibri"/>
              </a:rPr>
              <a:t>to</a:t>
            </a:r>
            <a:r>
              <a:rPr lang="de-DE" sz="3000" b="1" strike="noStrike" spc="-1" dirty="0">
                <a:solidFill>
                  <a:srgbClr val="003056"/>
                </a:solidFill>
                <a:latin typeface="Calibri"/>
              </a:rPr>
              <a:t> Update</a:t>
            </a:r>
            <a:r>
              <a:rPr lang="de-DE" sz="3000" b="1" spc="-1" dirty="0">
                <a:solidFill>
                  <a:srgbClr val="003056"/>
                </a:solidFill>
                <a:latin typeface="Calibri"/>
              </a:rPr>
              <a:t> (2)</a:t>
            </a:r>
            <a:endParaRPr lang="de-DE" sz="3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6" name="PlaceHolder 2"/>
          <p:cNvSpPr>
            <a:spLocks noGrp="1"/>
          </p:cNvSpPr>
          <p:nvPr>
            <p:ph type="ftr" idx="39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97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4928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trike="noStrike" spc="-1" dirty="0">
                <a:solidFill>
                  <a:srgbClr val="003056"/>
                </a:solidFill>
                <a:latin typeface="Calibri"/>
              </a:rPr>
              <a:t>“Freezing”</a:t>
            </a: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 (some or all) pre-trained weights </a:t>
            </a:r>
            <a:r>
              <a:rPr lang="en-US" sz="2000" spc="-1" dirty="0">
                <a:solidFill>
                  <a:srgbClr val="003056"/>
                </a:solidFill>
                <a:latin typeface="Calibri"/>
              </a:rPr>
              <a:t>means</a:t>
            </a: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 not updating them</a:t>
            </a:r>
            <a:r>
              <a:rPr lang="en-US" sz="2000" spc="-1" dirty="0">
                <a:solidFill>
                  <a:srgbClr val="003056"/>
                </a:solidFill>
                <a:latin typeface="Calibri"/>
              </a:rPr>
              <a:t> </a:t>
            </a:r>
            <a:endParaRPr lang="de-DE" sz="2000" spc="-1" dirty="0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</a:rPr>
              <a:t>Still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 referred to as fine-tuning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, because we use a downstream model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endParaRPr lang="de-DE" sz="1800" b="1" strike="noStrike" spc="-1" dirty="0">
              <a:solidFill>
                <a:srgbClr val="003056"/>
              </a:solidFill>
              <a:latin typeface="Calibri"/>
            </a:endParaRPr>
          </a:p>
          <a:p>
            <a:r>
              <a:rPr lang="en-US" sz="2000" spc="-1" dirty="0">
                <a:solidFill>
                  <a:srgbClr val="003056"/>
                </a:solidFill>
                <a:latin typeface="Calibri"/>
              </a:rPr>
              <a:t>Definition unclear, so </a:t>
            </a:r>
            <a:r>
              <a:rPr lang="en-US" sz="2000" b="1" spc="-1" dirty="0">
                <a:solidFill>
                  <a:srgbClr val="003056"/>
                </a:solidFill>
                <a:latin typeface="Calibri"/>
              </a:rPr>
              <a:t>relevant questions when discussing fine-tuning: </a:t>
            </a:r>
            <a:endParaRPr lang="de-DE" sz="2000" spc="-1" dirty="0">
              <a:solidFill>
                <a:srgbClr val="003056"/>
              </a:solidFill>
              <a:latin typeface="Calibri"/>
            </a:endParaRPr>
          </a:p>
          <a:p>
            <a:pPr marL="800100" lvl="1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</a:rPr>
              <a:t>Freezing or not freezing weights? Same or different training objective?</a:t>
            </a:r>
            <a:endParaRPr lang="en-US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800100" lvl="1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</a:rPr>
              <a:t>Which downstream model? How does it interact with pre-trained model?</a:t>
            </a:r>
          </a:p>
          <a:p>
            <a:pPr marL="800100" lvl="1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</a:rPr>
              <a:t>How are downstream examples constructed/fed to model?</a:t>
            </a:r>
          </a:p>
          <a:p>
            <a:pPr marL="285750">
              <a:lnSpc>
                <a:spcPct val="100000"/>
              </a:lnSpc>
              <a:spcBef>
                <a:spcPts val="32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 dirty="0">
                <a:solidFill>
                  <a:srgbClr val="003056"/>
                </a:solidFill>
                <a:latin typeface="Calibri"/>
              </a:rPr>
              <a:t> This section: downstream tasks, basic/parameter efficient </a:t>
            </a: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fine-tuning</a:t>
            </a:r>
          </a:p>
        </p:txBody>
      </p:sp>
      <p:pic>
        <p:nvPicPr>
          <p:cNvPr id="199" name="Grafik 7" descr="finetuning_frozen_1.png"/>
          <p:cNvPicPr/>
          <p:nvPr/>
        </p:nvPicPr>
        <p:blipFill>
          <a:blip r:embed="rId2"/>
          <a:stretch/>
        </p:blipFill>
        <p:spPr>
          <a:xfrm>
            <a:off x="1935757" y="1785113"/>
            <a:ext cx="5269905" cy="2687729"/>
          </a:xfrm>
          <a:prstGeom prst="rect">
            <a:avLst/>
          </a:prstGeom>
          <a:ln w="0">
            <a:noFill/>
          </a:ln>
        </p:spPr>
      </p:pic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A661AB12-6C74-4550-8D94-CA52BD562CB6}" type="slidenum">
              <a:t>45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3115518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500"/>
                                        <p:tgtEl>
                                          <p:spTgt spid="1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0" dur="500"/>
                                        <p:tgtEl>
                                          <p:spTgt spid="1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repl">
                                        <p:cTn id="13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8" dur="500"/>
                                        <p:tgtEl>
                                          <p:spTgt spid="19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3" dur="500"/>
                                        <p:tgtEl>
                                          <p:spTgt spid="19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8" dur="500"/>
                                        <p:tgtEl>
                                          <p:spTgt spid="19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3" dur="500"/>
                                        <p:tgtEl>
                                          <p:spTgt spid="19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8" dur="500"/>
                                        <p:tgtEl>
                                          <p:spTgt spid="19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653076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Types of Downstream Tasks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1" name="PlaceHolder 2"/>
          <p:cNvSpPr>
            <a:spLocks noGrp="1"/>
          </p:cNvSpPr>
          <p:nvPr>
            <p:ph type="ftr" idx="40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202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4928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99415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Two main types: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856615" lvl="1" indent="-3429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trike="noStrike" spc="-1" dirty="0">
                <a:solidFill>
                  <a:srgbClr val="003056"/>
                </a:solidFill>
                <a:latin typeface="Calibri"/>
              </a:rPr>
              <a:t>Sequence classification: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 predict label for entire input sequence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856615" lvl="1" indent="-3429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trike="noStrike" spc="-1" dirty="0">
                <a:solidFill>
                  <a:srgbClr val="003056"/>
                </a:solidFill>
                <a:latin typeface="Calibri"/>
              </a:rPr>
              <a:t>Sequence labeling: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 predict label for each input token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4572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trike="noStrike" spc="-1" dirty="0">
                <a:solidFill>
                  <a:srgbClr val="003056"/>
                </a:solidFill>
                <a:latin typeface="Calibri"/>
              </a:rPr>
              <a:t>In each case, we need to</a:t>
            </a: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: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914400" lvl="1" indent="-3429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Calibri"/>
              <a:buAutoNum type="arabicPeriod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Get general information encoded in pre-trained model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914400" lvl="1" indent="-3429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Calibri"/>
              <a:buAutoNum type="arabicPeriod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Use this information with downstream model</a:t>
            </a:r>
            <a:r>
              <a:rPr lang="en-US" sz="1800" b="1" strike="noStrike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designed for downstream application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571500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Calibri"/>
              <a:buAutoNum type="arabicPeriod"/>
            </a:pPr>
            <a:r>
              <a:rPr lang="en-US" sz="2000" b="1" strike="noStrike" spc="-1" dirty="0">
                <a:solidFill>
                  <a:srgbClr val="003056"/>
                </a:solidFill>
                <a:latin typeface="Calibri"/>
              </a:rPr>
              <a:t>How to get information </a:t>
            </a:r>
            <a:r>
              <a:rPr lang="en-US" sz="2000" b="1" spc="-1" dirty="0">
                <a:solidFill>
                  <a:srgbClr val="003056"/>
                </a:solidFill>
                <a:latin typeface="Calibri"/>
              </a:rPr>
              <a:t>encoded in</a:t>
            </a:r>
            <a:r>
              <a:rPr lang="en-US" sz="2000" b="1" strike="noStrike" spc="-1" dirty="0">
                <a:solidFill>
                  <a:srgbClr val="003056"/>
                </a:solidFill>
                <a:latin typeface="Calibri"/>
              </a:rPr>
              <a:t> pre-trained model?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856615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Depends on downstream task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856615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</a:rPr>
              <a:t>Generally, we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use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 some of the representations 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in 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the 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model, e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.g. tokens in any (usually last) encoder layers</a:t>
            </a:r>
            <a:endParaRPr lang="de-DE" sz="1800" spc="-1" dirty="0">
              <a:solidFill>
                <a:srgbClr val="003056"/>
              </a:solidFill>
              <a:latin typeface="Calibri"/>
            </a:endParaRPr>
          </a:p>
          <a:p>
            <a:pPr marL="856615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trike="noStrike" spc="-1" dirty="0">
                <a:solidFill>
                  <a:srgbClr val="003056"/>
                </a:solidFill>
                <a:latin typeface="Calibri"/>
              </a:rPr>
              <a:t>No golden rules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, open question 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is what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 each layer encodes, usability for different tasks, e.g. multilingual transformers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571500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Calibri"/>
              <a:buAutoNum type="arabicPeriod"/>
            </a:pPr>
            <a:r>
              <a:rPr lang="en-US" sz="2000" b="1" strike="noStrike" spc="-1" dirty="0">
                <a:solidFill>
                  <a:srgbClr val="003056"/>
                </a:solidFill>
                <a:latin typeface="Calibri"/>
              </a:rPr>
              <a:t>How to use pre-trained information with downstream models?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856615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Again, depends on application (let’s see some cases)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EAAFED07-13C6-4EE1-A324-9D8CC602192A}" type="slidenum">
              <a:t>46</a:t>
            </a:fld>
            <a:endParaRPr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500"/>
                                        <p:tgtEl>
                                          <p:spTgt spid="2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0" dur="500"/>
                                        <p:tgtEl>
                                          <p:spTgt spid="2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3" dur="500"/>
                                        <p:tgtEl>
                                          <p:spTgt spid="2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8" dur="500"/>
                                        <p:tgtEl>
                                          <p:spTgt spid="2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1" dur="500"/>
                                        <p:tgtEl>
                                          <p:spTgt spid="2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4" dur="500"/>
                                        <p:tgtEl>
                                          <p:spTgt spid="2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9" dur="500"/>
                                        <p:tgtEl>
                                          <p:spTgt spid="2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2" dur="500"/>
                                        <p:tgtEl>
                                          <p:spTgt spid="20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5" dur="500"/>
                                        <p:tgtEl>
                                          <p:spTgt spid="20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8" dur="500"/>
                                        <p:tgtEl>
                                          <p:spTgt spid="20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3" dur="500"/>
                                        <p:tgtEl>
                                          <p:spTgt spid="20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6" dur="500"/>
                                        <p:tgtEl>
                                          <p:spTgt spid="20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653076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Sequence Classification (1)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4" name="PlaceHolder 2"/>
          <p:cNvSpPr>
            <a:spLocks noGrp="1"/>
          </p:cNvSpPr>
          <p:nvPr>
            <p:ph type="ftr" idx="41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205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4928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99960" indent="-34308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Example: 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Say we are interested in </a:t>
            </a: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sentiment classification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800280" lvl="1" indent="-28584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Three labels: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 positive, negative, neutral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99960" indent="-34308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We have: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800280" lvl="1" indent="-28584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A good mount of input sequences and corresponding sentiment labels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800280" lvl="1" indent="-28584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A pre-trained transformer LM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99960" indent="-34308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How can we use these resources to solve this task?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800280" lvl="1" indent="-28584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In other words, how do we use this pre-trained model to solve this task?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800280" lvl="1" indent="-28584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Is it clear why we think this is a good idea in the first place?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99960" indent="-34308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Usually: </a:t>
            </a: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we get single sentence representation from model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800280" lvl="1" indent="-28584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Then feed this representation to a classifier that predicts 1 of three possible labels.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800280" lvl="1" indent="-28584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Downstream classifier usually referred to as </a:t>
            </a: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classification head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99960" indent="-34308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How can we get a sentence representation?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800280" lvl="1" indent="-28584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And what types of architecture can our classifier head have?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192F5CC0-BC14-4F57-B6BA-F9987CC92E9C}" type="slidenum">
              <a:t>47</a:t>
            </a:fld>
            <a:endParaRPr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500"/>
                                        <p:tgtEl>
                                          <p:spTgt spid="2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0" dur="500"/>
                                        <p:tgtEl>
                                          <p:spTgt spid="2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5" dur="500"/>
                                        <p:tgtEl>
                                          <p:spTgt spid="20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8" dur="500"/>
                                        <p:tgtEl>
                                          <p:spTgt spid="20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1" dur="500"/>
                                        <p:tgtEl>
                                          <p:spTgt spid="20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6" dur="500"/>
                                        <p:tgtEl>
                                          <p:spTgt spid="20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9" dur="500"/>
                                        <p:tgtEl>
                                          <p:spTgt spid="20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2" dur="500"/>
                                        <p:tgtEl>
                                          <p:spTgt spid="20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7" dur="500"/>
                                        <p:tgtEl>
                                          <p:spTgt spid="20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0" dur="500"/>
                                        <p:tgtEl>
                                          <p:spTgt spid="20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3" dur="500"/>
                                        <p:tgtEl>
                                          <p:spTgt spid="20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8" dur="500"/>
                                        <p:tgtEl>
                                          <p:spTgt spid="20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51" dur="500"/>
                                        <p:tgtEl>
                                          <p:spTgt spid="20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653076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Sequence Classification (2)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7" name="PlaceHolder 2"/>
          <p:cNvSpPr>
            <a:spLocks noGrp="1"/>
          </p:cNvSpPr>
          <p:nvPr>
            <p:ph type="ftr" idx="42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208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4928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99415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How to get a </a:t>
            </a:r>
            <a:r>
              <a:rPr lang="en-US" sz="2000" b="1" strike="noStrike" spc="-1" dirty="0">
                <a:solidFill>
                  <a:srgbClr val="003056"/>
                </a:solidFill>
                <a:latin typeface="Calibri"/>
              </a:rPr>
              <a:t>sentence representation </a:t>
            </a: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from our </a:t>
            </a:r>
            <a:r>
              <a:rPr lang="en-US" sz="2000" b="1" strike="noStrike" spc="-1" dirty="0">
                <a:solidFill>
                  <a:srgbClr val="003056"/>
                </a:solidFill>
                <a:latin typeface="Calibri"/>
              </a:rPr>
              <a:t>transformer</a:t>
            </a: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?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trike="noStrike" spc="-1" dirty="0">
                <a:solidFill>
                  <a:srgbClr val="003056"/>
                </a:solidFill>
                <a:latin typeface="Calibri"/>
              </a:rPr>
              <a:t>[CLS] token 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if available, e.g. in BERT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trike="noStrike" spc="-1" dirty="0">
                <a:solidFill>
                  <a:srgbClr val="003056"/>
                </a:solidFill>
                <a:latin typeface="Calibri"/>
              </a:rPr>
              <a:t>Mean pooling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 over (contextualized) output tokens (as in T5)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399415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What types of </a:t>
            </a:r>
            <a:r>
              <a:rPr lang="en-US" sz="2000" b="1" strike="noStrike" spc="-1" dirty="0">
                <a:solidFill>
                  <a:srgbClr val="003056"/>
                </a:solidFill>
                <a:latin typeface="Calibri"/>
              </a:rPr>
              <a:t>architectures </a:t>
            </a: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can we use </a:t>
            </a:r>
            <a:r>
              <a:rPr lang="en-US" sz="2000" b="1" strike="noStrike" spc="-1" dirty="0">
                <a:solidFill>
                  <a:srgbClr val="003056"/>
                </a:solidFill>
                <a:latin typeface="Calibri"/>
              </a:rPr>
              <a:t>for </a:t>
            </a: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our </a:t>
            </a:r>
            <a:r>
              <a:rPr lang="en-US" sz="2000" b="1" strike="noStrike" spc="-1" dirty="0">
                <a:solidFill>
                  <a:srgbClr val="003056"/>
                </a:solidFill>
                <a:latin typeface="Calibri"/>
              </a:rPr>
              <a:t>classifier head</a:t>
            </a: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?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No general restrictions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Simple/common approach? </a:t>
            </a:r>
            <a:r>
              <a:rPr lang="en-US" sz="1800" b="1" strike="noStrike" spc="-1" err="1">
                <a:solidFill>
                  <a:srgbClr val="003056"/>
                </a:solidFill>
                <a:latin typeface="Calibri"/>
              </a:rPr>
              <a:t>Softmax</a:t>
            </a:r>
            <a:r>
              <a:rPr lang="en-US" sz="1800" b="1" strike="noStrike" spc="-1" dirty="0">
                <a:solidFill>
                  <a:srgbClr val="003056"/>
                </a:solidFill>
                <a:latin typeface="Calibri"/>
              </a:rPr>
              <a:t> layer 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(linear layer + </a:t>
            </a:r>
            <a:r>
              <a:rPr lang="en-US" sz="1800" b="0" strike="noStrike" spc="-1" err="1">
                <a:solidFill>
                  <a:srgbClr val="003056"/>
                </a:solidFill>
                <a:latin typeface="Calibri"/>
              </a:rPr>
              <a:t>softmax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 function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)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399415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In the case of our sentiment classification task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Let </a:t>
            </a:r>
            <a:r>
              <a:rPr lang="en-US" sz="1800" b="1" i="1" strike="noStrike" spc="-1" dirty="0">
                <a:solidFill>
                  <a:srgbClr val="003056"/>
                </a:solidFill>
                <a:latin typeface="Calibri"/>
              </a:rPr>
              <a:t>y</a:t>
            </a:r>
            <a:r>
              <a:rPr lang="en-US" sz="1800" b="0" i="1" strike="noStrike" spc="-1" baseline="-25000" dirty="0">
                <a:solidFill>
                  <a:srgbClr val="003056"/>
                </a:solidFill>
                <a:latin typeface="Calibri"/>
              </a:rPr>
              <a:t> </a:t>
            </a:r>
            <a:r>
              <a:rPr lang="az-Cyrl-AZ" sz="1800" b="0" i="1" strike="noStrike" spc="-1">
                <a:solidFill>
                  <a:srgbClr val="003056"/>
                </a:solidFill>
                <a:latin typeface="Calibri"/>
              </a:rPr>
              <a:t>Є</a:t>
            </a:r>
            <a:r>
              <a:rPr lang="en-US" sz="1800" b="1" i="1" strike="noStrike" spc="-1" dirty="0">
                <a:solidFill>
                  <a:srgbClr val="003056"/>
                </a:solidFill>
                <a:latin typeface="Calibri"/>
              </a:rPr>
              <a:t> R</a:t>
            </a:r>
            <a:r>
              <a:rPr lang="en-US" sz="1800" b="0" i="1" strike="noStrike" spc="-1" baseline="30000" dirty="0">
                <a:solidFill>
                  <a:srgbClr val="003056"/>
                </a:solidFill>
                <a:latin typeface="Calibri"/>
              </a:rPr>
              <a:t>d 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be the sentence embedding we use, e.g. CLS token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Then, our classifier is </a:t>
            </a:r>
            <a:r>
              <a:rPr lang="en-US" sz="1800" b="1" i="1" strike="noStrike" spc="-1" err="1">
                <a:solidFill>
                  <a:srgbClr val="003056"/>
                </a:solidFill>
                <a:latin typeface="Calibri"/>
              </a:rPr>
              <a:t>y</a:t>
            </a:r>
            <a:r>
              <a:rPr lang="en-US" sz="1800" b="0" i="1" strike="noStrike" spc="-1" baseline="-25000" err="1">
                <a:solidFill>
                  <a:srgbClr val="003056"/>
                </a:solidFill>
                <a:latin typeface="Calibri"/>
              </a:rPr>
              <a:t>CLS</a:t>
            </a:r>
            <a:r>
              <a:rPr lang="en-US" sz="1800" b="1" i="1" strike="noStrike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= </a:t>
            </a:r>
            <a:r>
              <a:rPr lang="en-US" sz="1800" b="0" i="1" strike="noStrike" spc="-1" err="1">
                <a:solidFill>
                  <a:srgbClr val="003056"/>
                </a:solidFill>
                <a:latin typeface="Calibri"/>
              </a:rPr>
              <a:t>Softmax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(</a:t>
            </a:r>
            <a:r>
              <a:rPr lang="en-US" sz="1800" b="1" i="1" strike="noStrike" spc="-1" dirty="0">
                <a:solidFill>
                  <a:srgbClr val="003056"/>
                </a:solidFill>
                <a:latin typeface="Calibri"/>
              </a:rPr>
              <a:t>W</a:t>
            </a:r>
            <a:r>
              <a:rPr lang="en-US" sz="1800" b="0" i="1" strike="noStrike" spc="-1" baseline="-25000" dirty="0">
                <a:solidFill>
                  <a:srgbClr val="003056"/>
                </a:solidFill>
                <a:latin typeface="Calibri"/>
              </a:rPr>
              <a:t>C</a:t>
            </a:r>
            <a:r>
              <a:rPr lang="en-US" sz="1800" b="1" i="1" strike="noStrike" spc="-1" dirty="0">
                <a:solidFill>
                  <a:srgbClr val="003056"/>
                </a:solidFill>
                <a:latin typeface="Calibri"/>
              </a:rPr>
              <a:t> y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), 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parameterized by </a:t>
            </a:r>
            <a:r>
              <a:rPr lang="en-US" sz="1800" b="1" i="1" strike="noStrike" spc="-1" dirty="0">
                <a:solidFill>
                  <a:srgbClr val="003056"/>
                </a:solidFill>
                <a:latin typeface="Calibri"/>
              </a:rPr>
              <a:t>W</a:t>
            </a:r>
            <a:r>
              <a:rPr lang="en-US" sz="1800" b="0" i="1" strike="noStrike" spc="-1" baseline="-25000" dirty="0">
                <a:solidFill>
                  <a:srgbClr val="003056"/>
                </a:solidFill>
                <a:latin typeface="Calibri"/>
              </a:rPr>
              <a:t>C </a:t>
            </a:r>
            <a:r>
              <a:rPr lang="az-Cyrl-AZ" sz="1800" b="0" i="1" strike="noStrike" spc="-1">
                <a:solidFill>
                  <a:srgbClr val="003056"/>
                </a:solidFill>
                <a:latin typeface="Calibri"/>
              </a:rPr>
              <a:t>Є</a:t>
            </a:r>
            <a:r>
              <a:rPr lang="en-US" sz="1800" b="1" i="1" strike="noStrike" spc="-1" dirty="0">
                <a:solidFill>
                  <a:srgbClr val="003056"/>
                </a:solidFill>
                <a:latin typeface="Calibri"/>
              </a:rPr>
              <a:t> R</a:t>
            </a:r>
            <a:r>
              <a:rPr lang="en-US" sz="1800" b="0" i="1" strike="noStrike" spc="-1" baseline="30000" dirty="0">
                <a:solidFill>
                  <a:srgbClr val="003056"/>
                </a:solidFill>
                <a:latin typeface="Calibri"/>
              </a:rPr>
              <a:t>3xd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399415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>
                <a:solidFill>
                  <a:srgbClr val="003056"/>
                </a:solidFill>
                <a:latin typeface="Calibri"/>
              </a:rPr>
              <a:t>But the classifier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 can be move involved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E.g. fully-connected FNN with as many layers/architecture you want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</a:rPr>
              <a:t>As usual, the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 more parameters, the more data required for training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429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</a:pPr>
            <a:r>
              <a:rPr lang="en-US" sz="2000" spc="-1" dirty="0">
                <a:solidFill>
                  <a:srgbClr val="003056"/>
                </a:solidFill>
                <a:latin typeface="Calibri"/>
              </a:rPr>
              <a:t>Let's visualize this!</a:t>
            </a:r>
            <a:endParaRPr lang="en-US" sz="2200" b="0" strike="noStrike" spc="-1" dirty="0">
              <a:solidFill>
                <a:srgbClr val="003056"/>
              </a:solidFill>
              <a:latin typeface="Calibri"/>
            </a:endParaRPr>
          </a:p>
          <a:p>
            <a:endParaRPr lang="de-DE" sz="1800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9E431DF7-7063-4A49-B09D-CA9C94C44EF8}" type="slidenum">
              <a:t>48</a:t>
            </a:fld>
            <a:endParaRPr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500"/>
                                        <p:tgtEl>
                                          <p:spTgt spid="2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2" dur="500"/>
                                        <p:tgtEl>
                                          <p:spTgt spid="2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5" dur="500"/>
                                        <p:tgtEl>
                                          <p:spTgt spid="2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0" dur="500"/>
                                        <p:tgtEl>
                                          <p:spTgt spid="20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5" dur="500"/>
                                        <p:tgtEl>
                                          <p:spTgt spid="20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8" dur="500"/>
                                        <p:tgtEl>
                                          <p:spTgt spid="20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3" dur="500"/>
                                        <p:tgtEl>
                                          <p:spTgt spid="20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6" dur="500"/>
                                        <p:tgtEl>
                                          <p:spTgt spid="20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9" dur="500"/>
                                        <p:tgtEl>
                                          <p:spTgt spid="20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4" dur="500"/>
                                        <p:tgtEl>
                                          <p:spTgt spid="20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7" dur="500"/>
                                        <p:tgtEl>
                                          <p:spTgt spid="20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50" dur="500"/>
                                        <p:tgtEl>
                                          <p:spTgt spid="20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53" dur="500"/>
                                        <p:tgtEl>
                                          <p:spTgt spid="20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653076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Sequence Classification (3)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0" name="PlaceHolder 2"/>
          <p:cNvSpPr>
            <a:spLocks noGrp="1"/>
          </p:cNvSpPr>
          <p:nvPr>
            <p:ph type="ftr" idx="43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211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4928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400"/>
              </a:spcBef>
              <a:buNone/>
            </a:pP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399415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 dirty="0">
                <a:solidFill>
                  <a:srgbClr val="003056"/>
                </a:solidFill>
                <a:latin typeface="Calibri"/>
              </a:rPr>
              <a:t>We assume an architecture where [CLS] token is available</a:t>
            </a:r>
          </a:p>
          <a:p>
            <a:pPr marL="399415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 dirty="0">
                <a:solidFill>
                  <a:srgbClr val="003056"/>
                </a:solidFill>
                <a:latin typeface="Calibri"/>
              </a:rPr>
              <a:t>Recall: </a:t>
            </a:r>
            <a:r>
              <a:rPr lang="en-US" sz="2000" b="1" spc="-1" dirty="0">
                <a:solidFill>
                  <a:srgbClr val="003056"/>
                </a:solidFill>
                <a:latin typeface="Calibri"/>
              </a:rPr>
              <a:t>we</a:t>
            </a:r>
            <a:r>
              <a:rPr lang="en-US" sz="2000" b="1" strike="noStrike" spc="-1" dirty="0">
                <a:solidFill>
                  <a:srgbClr val="003056"/>
                </a:solidFill>
                <a:latin typeface="Calibri"/>
              </a:rPr>
              <a:t> need labeled data</a:t>
            </a: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 for our task to train </a:t>
            </a:r>
            <a:r>
              <a:rPr lang="en-US" sz="2000" b="1" i="1" strike="noStrike" spc="-1">
                <a:solidFill>
                  <a:srgbClr val="003056"/>
                </a:solidFill>
                <a:latin typeface="Calibri"/>
              </a:rPr>
              <a:t>W</a:t>
            </a:r>
            <a:r>
              <a:rPr lang="en-US" sz="2000" b="0" i="1" strike="noStrike" spc="-1" baseline="-25000">
                <a:solidFill>
                  <a:srgbClr val="003056"/>
                </a:solidFill>
                <a:latin typeface="Calibri"/>
              </a:rPr>
              <a:t>C</a:t>
            </a:r>
            <a:r>
              <a:rPr lang="en-US" sz="2000" i="1" spc="-1" baseline="-25000">
                <a:solidFill>
                  <a:srgbClr val="003056"/>
                </a:solidFill>
                <a:latin typeface="Calibri"/>
              </a:rPr>
              <a:t> </a:t>
            </a:r>
            <a:r>
              <a:rPr lang="en-US" sz="2000" spc="-1">
                <a:solidFill>
                  <a:srgbClr val="003056"/>
                </a:solidFill>
                <a:latin typeface="Calibri"/>
              </a:rPr>
              <a:t>(not pre-trained), i.e. no more self-supervision, but loss is still typically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 cross entropy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</p:txBody>
      </p:sp>
      <p:pic>
        <p:nvPicPr>
          <p:cNvPr id="212" name="Grafik 6" descr="sequence_classification_1.png"/>
          <p:cNvPicPr/>
          <p:nvPr/>
        </p:nvPicPr>
        <p:blipFill>
          <a:blip r:embed="rId2"/>
          <a:stretch/>
        </p:blipFill>
        <p:spPr>
          <a:xfrm>
            <a:off x="1000080" y="1219680"/>
            <a:ext cx="7357680" cy="3555000"/>
          </a:xfrm>
          <a:prstGeom prst="rect">
            <a:avLst/>
          </a:prstGeom>
          <a:ln w="0">
            <a:noFill/>
          </a:ln>
        </p:spPr>
      </p:pic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6FABC77F-5962-4BF6-A6F6-EC2890E5D34B}" type="slidenum">
              <a:t>49</a:t>
            </a:fld>
            <a:endParaRPr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repl">
                                        <p:cTn id="7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0" dur="500"/>
                                        <p:tgtEl>
                                          <p:spTgt spid="2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5" dur="500"/>
                                        <p:tgtEl>
                                          <p:spTgt spid="2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653076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Pair-Wise Sequence Classification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4" name="PlaceHolder 2"/>
          <p:cNvSpPr>
            <a:spLocks noGrp="1"/>
          </p:cNvSpPr>
          <p:nvPr>
            <p:ph type="ftr" idx="44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215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4928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99415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trike="noStrike" spc="-1" dirty="0">
                <a:solidFill>
                  <a:srgbClr val="003056"/>
                </a:solidFill>
                <a:latin typeface="Calibri"/>
              </a:rPr>
              <a:t>Some problems</a:t>
            </a: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 involve </a:t>
            </a:r>
            <a:r>
              <a:rPr lang="en-US" sz="2000" b="1" strike="noStrike" spc="-1" dirty="0">
                <a:solidFill>
                  <a:srgbClr val="003056"/>
                </a:solidFill>
                <a:latin typeface="Calibri"/>
              </a:rPr>
              <a:t>classifying two sentences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</a:rPr>
              <a:t>Logical entailment: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 does one sentence entail the other?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Paraphrase detection: is one sentence paraphrasing the other?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399415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Common such task:</a:t>
            </a:r>
            <a:r>
              <a:rPr lang="en-US" sz="2000" b="1" strike="noStrike" spc="-1" dirty="0">
                <a:solidFill>
                  <a:srgbClr val="003056"/>
                </a:solidFill>
                <a:latin typeface="Calibri"/>
              </a:rPr>
              <a:t> natural language inference (NLI)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Given two sentences, identify relation between the two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E.g. entails, contradicts, neutral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399415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How can we </a:t>
            </a:r>
            <a:r>
              <a:rPr lang="en-US" sz="2000" b="1" strike="noStrike" spc="-1" dirty="0">
                <a:solidFill>
                  <a:srgbClr val="003056"/>
                </a:solidFill>
                <a:latin typeface="Calibri"/>
              </a:rPr>
              <a:t>fine-tune</a:t>
            </a: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 a</a:t>
            </a:r>
            <a:r>
              <a:rPr lang="en-US" sz="2000" b="1" strike="noStrike" spc="-1" dirty="0">
                <a:solidFill>
                  <a:srgbClr val="003056"/>
                </a:solidFill>
                <a:latin typeface="Calibri"/>
              </a:rPr>
              <a:t> pre-trained transformer for NLI?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Feed single representation for entire input sequence to classifier head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Input sequence includes pair of sentences, [SEP] token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Any other way?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399415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Again, </a:t>
            </a:r>
            <a:r>
              <a:rPr lang="en-US" sz="2000" b="1" strike="noStrike" spc="-1" dirty="0">
                <a:solidFill>
                  <a:srgbClr val="003056"/>
                </a:solidFill>
                <a:latin typeface="Calibri"/>
              </a:rPr>
              <a:t>no golden rules</a:t>
            </a: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!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E.g. feed each sentence separately, concatenate representations for classifier input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Different approaches may have different impact on pre-trained weights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 during fine-tuning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23A10F30-7B16-439C-99D7-262911756218}" type="slidenum">
              <a:t>50</a:t>
            </a:fld>
            <a:endParaRPr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500"/>
                                        <p:tgtEl>
                                          <p:spTgt spid="2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0" dur="500"/>
                                        <p:tgtEl>
                                          <p:spTgt spid="2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3" dur="500"/>
                                        <p:tgtEl>
                                          <p:spTgt spid="2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8" dur="500"/>
                                        <p:tgtEl>
                                          <p:spTgt spid="2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1" dur="500"/>
                                        <p:tgtEl>
                                          <p:spTgt spid="2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4" dur="500"/>
                                        <p:tgtEl>
                                          <p:spTgt spid="2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9" dur="500"/>
                                        <p:tgtEl>
                                          <p:spTgt spid="2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4" dur="500"/>
                                        <p:tgtEl>
                                          <p:spTgt spid="2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7" dur="500"/>
                                        <p:tgtEl>
                                          <p:spTgt spid="2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0" dur="500"/>
                                        <p:tgtEl>
                                          <p:spTgt spid="2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5" dur="500"/>
                                        <p:tgtEl>
                                          <p:spTgt spid="2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8" dur="500"/>
                                        <p:tgtEl>
                                          <p:spTgt spid="21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51" dur="500"/>
                                        <p:tgtEl>
                                          <p:spTgt spid="21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653076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Sequence Labeling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7" name="PlaceHolder 2"/>
          <p:cNvSpPr>
            <a:spLocks noGrp="1"/>
          </p:cNvSpPr>
          <p:nvPr>
            <p:ph type="ftr" idx="45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218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4928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99960" indent="-34308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Example: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 Say we are interested in </a:t>
            </a: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part-of-speech (POS) tagging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800280" lvl="1" indent="-28584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Each input token gets </a:t>
            </a: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one of </a:t>
            </a:r>
            <a:r>
              <a:rPr lang="en-US" sz="1800" b="1" i="1" strike="noStrike" spc="-1">
                <a:solidFill>
                  <a:srgbClr val="003056"/>
                </a:solidFill>
                <a:latin typeface="Calibri"/>
              </a:rPr>
              <a:t>k </a:t>
            </a: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labels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, e.g. verb, noun, modifier, etc.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99960" indent="-34308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 How do we fine-tune a classifier for this approach?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800280" lvl="1" indent="-28584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Classifier head fed each output token for prediction, i.e. </a:t>
            </a:r>
            <a:r>
              <a:rPr lang="en-US" sz="1800" b="1" i="1" strike="noStrike" spc="-1">
                <a:solidFill>
                  <a:srgbClr val="003056"/>
                </a:solidFill>
                <a:latin typeface="Calibri"/>
              </a:rPr>
              <a:t>y</a:t>
            </a:r>
            <a:r>
              <a:rPr lang="en-US" sz="1800" b="0" i="1" strike="noStrike" spc="-1" baseline="-25000">
                <a:solidFill>
                  <a:srgbClr val="003056"/>
                </a:solidFill>
                <a:latin typeface="Calibri"/>
              </a:rPr>
              <a:t>i</a:t>
            </a:r>
            <a:r>
              <a:rPr lang="en-US" sz="1800" b="1" i="1" strike="noStrike" spc="-1">
                <a:solidFill>
                  <a:srgbClr val="003056"/>
                </a:solidFill>
                <a:latin typeface="Calibri"/>
              </a:rPr>
              <a:t> = Softmax(W</a:t>
            </a:r>
            <a:r>
              <a:rPr lang="en-US" sz="1800" b="0" i="1" strike="noStrike" spc="-1" baseline="-25000">
                <a:solidFill>
                  <a:srgbClr val="003056"/>
                </a:solidFill>
                <a:latin typeface="Calibri"/>
              </a:rPr>
              <a:t>K</a:t>
            </a:r>
            <a:r>
              <a:rPr lang="en-US" sz="1800" b="1" i="1" strike="noStrike" spc="-1">
                <a:solidFill>
                  <a:srgbClr val="003056"/>
                </a:solidFill>
                <a:latin typeface="Calibri"/>
              </a:rPr>
              <a:t>z</a:t>
            </a:r>
            <a:r>
              <a:rPr lang="en-US" sz="1800" b="0" i="1" strike="noStrike" spc="-1" baseline="-25000">
                <a:solidFill>
                  <a:srgbClr val="003056"/>
                </a:solidFill>
                <a:latin typeface="Calibri"/>
              </a:rPr>
              <a:t>i</a:t>
            </a:r>
            <a:r>
              <a:rPr lang="en-US" sz="1800" b="1" i="1" strike="noStrike" spc="-1">
                <a:solidFill>
                  <a:srgbClr val="003056"/>
                </a:solidFill>
                <a:latin typeface="Calibri"/>
              </a:rPr>
              <a:t>) 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where </a:t>
            </a:r>
            <a:r>
              <a:rPr lang="en-US" sz="1800" b="1" i="1" strike="noStrike" spc="-1">
                <a:solidFill>
                  <a:srgbClr val="003056"/>
                </a:solidFill>
                <a:latin typeface="Calibri"/>
              </a:rPr>
              <a:t>z</a:t>
            </a:r>
            <a:r>
              <a:rPr lang="en-US" sz="1800" b="0" i="1" strike="noStrike" spc="-1" baseline="-25000">
                <a:solidFill>
                  <a:srgbClr val="003056"/>
                </a:solidFill>
                <a:latin typeface="Calibri"/>
              </a:rPr>
              <a:t>i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 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is contextualized representation of token 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i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</p:txBody>
      </p:sp>
      <p:pic>
        <p:nvPicPr>
          <p:cNvPr id="219" name="Grafik 6" descr="sequence_labeling_1.png"/>
          <p:cNvPicPr/>
          <p:nvPr/>
        </p:nvPicPr>
        <p:blipFill>
          <a:blip r:embed="rId2"/>
          <a:stretch/>
        </p:blipFill>
        <p:spPr>
          <a:xfrm>
            <a:off x="1928880" y="2777400"/>
            <a:ext cx="5357520" cy="3294360"/>
          </a:xfrm>
          <a:prstGeom prst="rect">
            <a:avLst/>
          </a:prstGeom>
          <a:ln w="0">
            <a:noFill/>
          </a:ln>
        </p:spPr>
      </p:pic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559B9755-C260-4D25-AEE2-8646DBCFA047}" type="slidenum">
              <a:t>51</a:t>
            </a:fld>
            <a:endParaRPr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500"/>
                                        <p:tgtEl>
                                          <p:spTgt spid="2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0" dur="500"/>
                                        <p:tgtEl>
                                          <p:spTgt spid="2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5" dur="500"/>
                                        <p:tgtEl>
                                          <p:spTgt spid="2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8" dur="500"/>
                                        <p:tgtEl>
                                          <p:spTgt spid="2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repl">
                                        <p:cTn id="21"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653076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How Feasible is Fine-Tuning?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1" name="PlaceHolder 2"/>
          <p:cNvSpPr>
            <a:spLocks noGrp="1"/>
          </p:cNvSpPr>
          <p:nvPr>
            <p:ph type="ftr" idx="46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222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4928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99415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trike="noStrike" spc="-1" dirty="0">
                <a:solidFill>
                  <a:srgbClr val="003056"/>
                </a:solidFill>
                <a:latin typeface="Calibri"/>
              </a:rPr>
              <a:t>Pre-training </a:t>
            </a: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a (large) language model is </a:t>
            </a:r>
            <a:r>
              <a:rPr lang="en-US" sz="2000" b="1" strike="noStrike" spc="-1" dirty="0">
                <a:solidFill>
                  <a:srgbClr val="003056"/>
                </a:solidFill>
                <a:latin typeface="Calibri"/>
              </a:rPr>
              <a:t>expensive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BERT (2018) had 100M parameters, 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LLMs today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in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 the billions/trillions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399415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Is fine-tuning LMs less costly</a:t>
            </a:r>
            <a:r>
              <a:rPr lang="en-US" sz="2000" b="1" spc="-1">
                <a:solidFill>
                  <a:srgbClr val="003056"/>
                </a:solidFill>
                <a:latin typeface="Calibri"/>
              </a:rPr>
              <a:t> than pre-training</a:t>
            </a: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?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Not necessarily,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 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still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 tuning the entire pre-trained model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</a:rPr>
              <a:t>E.g. fine-tuning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with same objective -&gt;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continued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pre-training</a:t>
            </a: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i="1" spc="-1" dirty="0">
                <a:solidFill>
                  <a:srgbClr val="003056"/>
                </a:solidFill>
                <a:latin typeface="Calibri"/>
              </a:rPr>
              <a:t>Store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 copy of tuned model for each task you tune it for!</a:t>
            </a: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But, usually requires less time/data due to pre-trained "bootstrap"</a:t>
            </a:r>
            <a:endParaRPr lang="en-US" sz="1800" spc="-1" dirty="0">
              <a:solidFill>
                <a:srgbClr val="003056"/>
              </a:solidFill>
              <a:latin typeface="Calibri"/>
            </a:endParaRPr>
          </a:p>
          <a:p>
            <a:pPr marL="399415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trike="noStrike" spc="-1" dirty="0">
                <a:solidFill>
                  <a:srgbClr val="003056"/>
                </a:solidFill>
                <a:latin typeface="Calibri"/>
              </a:rPr>
              <a:t>Do you need to fine-tune entire pre-trained LM?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Perhaps just train a few layers, perhaps the last layers only?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Recall concept of hierarchical representations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We can 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choose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 what to freeze!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399415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That is the basic idea behind </a:t>
            </a:r>
            <a:r>
              <a:rPr lang="en-US" sz="2000" b="1" strike="noStrike" spc="-1" dirty="0">
                <a:solidFill>
                  <a:srgbClr val="003056"/>
                </a:solidFill>
                <a:latin typeface="Calibri"/>
              </a:rPr>
              <a:t>parameter efficient fine-tuning (PEFT)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This name used in NLP community, relatively new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Similar approaches already used in Computer Vision before that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CAE43CB8-93C5-41D9-9F9D-763FBDE5ED5D}" type="slidenum">
              <a:t>52</a:t>
            </a:fld>
            <a:endParaRPr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500"/>
                                        <p:tgtEl>
                                          <p:spTgt spid="2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0" dur="500"/>
                                        <p:tgtEl>
                                          <p:spTgt spid="2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5" dur="500"/>
                                        <p:tgtEl>
                                          <p:spTgt spid="2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8" dur="500"/>
                                        <p:tgtEl>
                                          <p:spTgt spid="2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1" dur="500"/>
                                        <p:tgtEl>
                                          <p:spTgt spid="2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4" dur="500"/>
                                        <p:tgtEl>
                                          <p:spTgt spid="2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7" dur="500"/>
                                        <p:tgtEl>
                                          <p:spTgt spid="2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2" dur="500"/>
                                        <p:tgtEl>
                                          <p:spTgt spid="2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5" dur="500"/>
                                        <p:tgtEl>
                                          <p:spTgt spid="22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8" dur="500"/>
                                        <p:tgtEl>
                                          <p:spTgt spid="22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1" dur="500"/>
                                        <p:tgtEl>
                                          <p:spTgt spid="22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6" dur="500"/>
                                        <p:tgtEl>
                                          <p:spTgt spid="22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9" dur="500"/>
                                        <p:tgtEl>
                                          <p:spTgt spid="22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52" dur="500"/>
                                        <p:tgtEl>
                                          <p:spTgt spid="22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653076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Parameter Efficient Fine-Tuning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4" name="PlaceHolder 2"/>
          <p:cNvSpPr>
            <a:spLocks noGrp="1"/>
          </p:cNvSpPr>
          <p:nvPr>
            <p:ph type="ftr" idx="47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225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4928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99415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What if you have </a:t>
            </a:r>
            <a:r>
              <a:rPr lang="en-US" sz="2000" b="1" strike="noStrike" spc="-1" dirty="0">
                <a:solidFill>
                  <a:srgbClr val="003056"/>
                </a:solidFill>
                <a:latin typeface="Calibri"/>
              </a:rPr>
              <a:t>small amount of data</a:t>
            </a: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?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Or </a:t>
            </a:r>
            <a:r>
              <a:rPr lang="en-US" sz="1800" b="1" strike="noStrike" spc="-1" dirty="0">
                <a:solidFill>
                  <a:srgbClr val="003056"/>
                </a:solidFill>
                <a:latin typeface="Calibri"/>
              </a:rPr>
              <a:t>not enough compute power 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to continue training a large transformer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Lots of weights -&gt; lots of data for training, lots of compute power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399415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trike="noStrike" spc="-1" dirty="0">
                <a:solidFill>
                  <a:srgbClr val="003056"/>
                </a:solidFill>
                <a:latin typeface="Calibri"/>
              </a:rPr>
              <a:t>PEFT:</a:t>
            </a: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 fine-tune small subset of pre-trained weights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399415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trike="noStrike" spc="-1" dirty="0">
                <a:solidFill>
                  <a:srgbClr val="003056"/>
                </a:solidFill>
                <a:latin typeface="Calibri"/>
              </a:rPr>
              <a:t>Advantages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Requires less data, compute power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Less prone to overfitting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 to whatever data you have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399415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trike="noStrike" spc="-1" dirty="0">
                <a:solidFill>
                  <a:srgbClr val="003056"/>
                </a:solidFill>
                <a:latin typeface="Calibri"/>
              </a:rPr>
              <a:t>Disadvantages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Usually worse performance than standard fine-tuning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399415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Different approaches suggested in recent years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Let’s go over some of the most popular ones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7AA5BFF3-E7B3-4589-BC6A-09D14A0F6826}" type="slidenum">
              <a:t>53</a:t>
            </a:fld>
            <a:endParaRPr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500"/>
                                        <p:tgtEl>
                                          <p:spTgt spid="2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0" dur="500"/>
                                        <p:tgtEl>
                                          <p:spTgt spid="2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3" dur="500"/>
                                        <p:tgtEl>
                                          <p:spTgt spid="2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8" dur="500"/>
                                        <p:tgtEl>
                                          <p:spTgt spid="2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3" dur="500"/>
                                        <p:tgtEl>
                                          <p:spTgt spid="2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6" dur="500"/>
                                        <p:tgtEl>
                                          <p:spTgt spid="2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9" dur="500"/>
                                        <p:tgtEl>
                                          <p:spTgt spid="2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4" dur="500"/>
                                        <p:tgtEl>
                                          <p:spTgt spid="22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7" dur="500"/>
                                        <p:tgtEl>
                                          <p:spTgt spid="22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2" dur="500"/>
                                        <p:tgtEl>
                                          <p:spTgt spid="22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5" dur="500"/>
                                        <p:tgtEl>
                                          <p:spTgt spid="22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653076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Adapters (1)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7" name="PlaceHolder 2"/>
          <p:cNvSpPr>
            <a:spLocks noGrp="1"/>
          </p:cNvSpPr>
          <p:nvPr>
            <p:ph type="ftr" idx="48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228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4928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99415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Used by </a:t>
            </a:r>
            <a:r>
              <a:rPr lang="en-US" sz="2000" b="0" u="sng" strike="noStrike" spc="-1" dirty="0">
                <a:solidFill>
                  <a:srgbClr val="0000FF"/>
                </a:solidFill>
                <a:uFillTx/>
                <a:latin typeface="Calibri"/>
                <a:hlinkClick r:id="rId2"/>
              </a:rPr>
              <a:t>Rebuffi et al.</a:t>
            </a: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 for computer vision</a:t>
            </a:r>
            <a:r>
              <a:rPr lang="en-US" sz="2000" spc="-1" dirty="0">
                <a:solidFill>
                  <a:srgbClr val="003056"/>
                </a:solidFill>
                <a:latin typeface="Calibri"/>
              </a:rPr>
              <a:t> </a:t>
            </a: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tasks in 2017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399415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u="sng" strike="noStrike" spc="-1" dirty="0">
                <a:solidFill>
                  <a:srgbClr val="0000FF"/>
                </a:solidFill>
                <a:uFillTx/>
                <a:latin typeface="Calibri"/>
                <a:hlinkClick r:id="rId3"/>
              </a:rPr>
              <a:t>Houlsby et al. (2019)</a:t>
            </a: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 proposed it in NLP, applied it to transformers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399415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trike="noStrike" spc="-1" dirty="0">
                <a:solidFill>
                  <a:srgbClr val="003056"/>
                </a:solidFill>
                <a:latin typeface="Calibri"/>
              </a:rPr>
              <a:t>Main idea:</a:t>
            </a: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 insert adapter modules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399415" indent="-3429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	in transformer block, tune adapter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399415" indent="-3429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	weights only during fine-tuning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399415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1" strike="noStrike" spc="-1" dirty="0">
                <a:solidFill>
                  <a:srgbClr val="003056"/>
                </a:solidFill>
                <a:latin typeface="Calibri"/>
              </a:rPr>
              <a:t>Adapter layer: </a:t>
            </a: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tunable layer added to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399415" indent="-3429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1" strike="noStrike" spc="-1" dirty="0">
                <a:solidFill>
                  <a:srgbClr val="003056"/>
                </a:solidFill>
                <a:latin typeface="Calibri"/>
              </a:rPr>
              <a:t>	</a:t>
            </a: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transformer block, originally two, one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399415" indent="-3429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	after self-attention layer and another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399415" indent="-3429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	after projection layer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</p:txBody>
      </p:sp>
      <p:pic>
        <p:nvPicPr>
          <p:cNvPr id="229" name="Grafik 6" descr="adapters_in_transformers_1.png"/>
          <p:cNvPicPr/>
          <p:nvPr/>
        </p:nvPicPr>
        <p:blipFill>
          <a:blip r:embed="rId4"/>
          <a:stretch/>
        </p:blipFill>
        <p:spPr>
          <a:xfrm>
            <a:off x="5286240" y="1785960"/>
            <a:ext cx="2711520" cy="4357440"/>
          </a:xfrm>
          <a:prstGeom prst="rect">
            <a:avLst/>
          </a:prstGeom>
          <a:ln w="0">
            <a:noFill/>
          </a:ln>
        </p:spPr>
      </p:pic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C405B1DD-1A23-4BE8-9986-8CC109691F16}" type="slidenum">
              <a:t>54</a:t>
            </a:fld>
            <a:endParaRPr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500"/>
                                        <p:tgtEl>
                                          <p:spTgt spid="2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2" dur="500"/>
                                        <p:tgtEl>
                                          <p:spTgt spid="2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7" dur="500"/>
                                        <p:tgtEl>
                                          <p:spTgt spid="2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0" dur="500"/>
                                        <p:tgtEl>
                                          <p:spTgt spid="2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3" dur="500"/>
                                        <p:tgtEl>
                                          <p:spTgt spid="2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8" dur="500"/>
                                        <p:tgtEl>
                                          <p:spTgt spid="2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1" dur="500"/>
                                        <p:tgtEl>
                                          <p:spTgt spid="2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4" dur="500"/>
                                        <p:tgtEl>
                                          <p:spTgt spid="22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7" dur="500"/>
                                        <p:tgtEl>
                                          <p:spTgt spid="22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repl">
                                        <p:cTn id="40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653076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Adapters (2)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1" name="PlaceHolder 2"/>
          <p:cNvSpPr>
            <a:spLocks noGrp="1"/>
          </p:cNvSpPr>
          <p:nvPr>
            <p:ph type="ftr" idx="49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232" name="PlaceHolder 3"/>
          <p:cNvSpPr>
            <a:spLocks noGrp="1"/>
          </p:cNvSpPr>
          <p:nvPr>
            <p:ph/>
          </p:nvPr>
        </p:nvSpPr>
        <p:spPr>
          <a:xfrm>
            <a:off x="684000" y="1071720"/>
            <a:ext cx="7775640" cy="4928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99960" indent="-34308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Adapter layer should not have many parameters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800280" lvl="1" indent="-28584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Thus, easier/less expensive to tune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800280" lvl="1" indent="-28584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Originally, between 0.5 and 8% of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800280" indent="-28584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	pre-trained model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99960" indent="-34308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Components in adapter layer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800280" lvl="1" indent="-28584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Projection layer down to 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bottleneck 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800280" indent="-28584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	dimension 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m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800280" lvl="1" indent="-28584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Non-linearity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800280" lvl="1" indent="-28584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Projection up to original input size 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d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99960" indent="-34308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# parameters: </a:t>
            </a:r>
            <a:r>
              <a:rPr lang="en-US" sz="2000" b="0" i="1" strike="noStrike" spc="-1">
                <a:solidFill>
                  <a:srgbClr val="003056"/>
                </a:solidFill>
                <a:latin typeface="Calibri"/>
              </a:rPr>
              <a:t>2md + m + d 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800280" lvl="1" indent="-28584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Two projections + output biases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99960" indent="-34308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Bottleneck size: 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controls trade-off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399960" indent="-34308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	between model performance and 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399960" indent="-34308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	parameter efficiency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</p:txBody>
      </p:sp>
      <p:pic>
        <p:nvPicPr>
          <p:cNvPr id="233" name="Grafik 7" descr="adapter_layer_1.png"/>
          <p:cNvPicPr/>
          <p:nvPr/>
        </p:nvPicPr>
        <p:blipFill>
          <a:blip r:embed="rId2"/>
          <a:stretch/>
        </p:blipFill>
        <p:spPr>
          <a:xfrm>
            <a:off x="5253010" y="1571760"/>
            <a:ext cx="2853000" cy="4643280"/>
          </a:xfrm>
          <a:prstGeom prst="rect">
            <a:avLst/>
          </a:prstGeom>
          <a:ln w="0">
            <a:noFill/>
          </a:ln>
        </p:spPr>
      </p:pic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E688DF58-5174-4F91-9437-B61E0CD9E2DD}" type="slidenum">
              <a:t>55</a:t>
            </a:fld>
            <a:endParaRPr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500"/>
                                        <p:tgtEl>
                                          <p:spTgt spid="2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0" dur="500"/>
                                        <p:tgtEl>
                                          <p:spTgt spid="2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3" dur="500"/>
                                        <p:tgtEl>
                                          <p:spTgt spid="2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6" dur="500"/>
                                        <p:tgtEl>
                                          <p:spTgt spid="2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1" dur="500"/>
                                        <p:tgtEl>
                                          <p:spTgt spid="2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4" dur="500"/>
                                        <p:tgtEl>
                                          <p:spTgt spid="2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7" dur="500"/>
                                        <p:tgtEl>
                                          <p:spTgt spid="2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0" dur="500"/>
                                        <p:tgtEl>
                                          <p:spTgt spid="23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3" dur="500"/>
                                        <p:tgtEl>
                                          <p:spTgt spid="23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repl">
                                        <p:cTn id="36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1" dur="500"/>
                                        <p:tgtEl>
                                          <p:spTgt spid="23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4" dur="500"/>
                                        <p:tgtEl>
                                          <p:spTgt spid="23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9" dur="500"/>
                                        <p:tgtEl>
                                          <p:spTgt spid="23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52" dur="500"/>
                                        <p:tgtEl>
                                          <p:spTgt spid="23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55" dur="500"/>
                                        <p:tgtEl>
                                          <p:spTgt spid="23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653076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Adapters (3)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5" name="PlaceHolder 2"/>
          <p:cNvSpPr>
            <a:spLocks noGrp="1"/>
          </p:cNvSpPr>
          <p:nvPr>
            <p:ph type="ftr" idx="50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236" name="PlaceHolder 3"/>
          <p:cNvSpPr>
            <a:spLocks noGrp="1"/>
          </p:cNvSpPr>
          <p:nvPr>
            <p:ph/>
          </p:nvPr>
        </p:nvSpPr>
        <p:spPr>
          <a:xfrm>
            <a:off x="684000" y="1051956"/>
            <a:ext cx="7775640" cy="4928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99415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trike="noStrike" spc="-1" dirty="0">
                <a:solidFill>
                  <a:srgbClr val="003056"/>
                </a:solidFill>
                <a:latin typeface="Calibri"/>
              </a:rPr>
              <a:t>Important: </a:t>
            </a: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initialization should result in (close to) identity function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Why?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399415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Training needs to </a:t>
            </a:r>
            <a:r>
              <a:rPr lang="en-US" sz="2000" b="1" i="1" strike="noStrike" spc="-1" dirty="0">
                <a:solidFill>
                  <a:srgbClr val="003056"/>
                </a:solidFill>
                <a:latin typeface="Calibri"/>
              </a:rPr>
              <a:t>continue </a:t>
            </a: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in</a:t>
            </a:r>
            <a:r>
              <a:rPr lang="en-US" sz="2000" spc="-1" dirty="0">
                <a:solidFill>
                  <a:srgbClr val="003056"/>
                </a:solidFill>
                <a:latin typeface="Calibri"/>
              </a:rPr>
              <a:t> 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399415" indent="-3429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	fine-tuning process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We 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start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with 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a working forward pass!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spc="-1" dirty="0">
                <a:solidFill>
                  <a:srgbClr val="003056"/>
                </a:solidFill>
                <a:latin typeface="Calibri"/>
              </a:rPr>
              <a:t>Random </a:t>
            </a:r>
            <a:r>
              <a:rPr lang="en-US" sz="1800" i="1" spc="-1" err="1">
                <a:solidFill>
                  <a:srgbClr val="003056"/>
                </a:solidFill>
                <a:latin typeface="Calibri"/>
              </a:rPr>
              <a:t>init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 would break that function!</a:t>
            </a:r>
          </a:p>
          <a:p>
            <a:pPr marL="399415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1" strike="noStrike" spc="-1" dirty="0">
                <a:solidFill>
                  <a:srgbClr val="003056"/>
                </a:solidFill>
                <a:latin typeface="Calibri"/>
              </a:rPr>
              <a:t>Residual connection inside adapter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399415" indent="-3429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1" strike="noStrike" spc="-1" dirty="0">
                <a:solidFill>
                  <a:srgbClr val="003056"/>
                </a:solidFill>
                <a:latin typeface="Calibri"/>
              </a:rPr>
              <a:t>	layer serves this purpose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Initialize adapter weights to zero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Then you get identity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399415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1" strike="noStrike" spc="-1" dirty="0">
                <a:solidFill>
                  <a:srgbClr val="003056"/>
                </a:solidFill>
                <a:latin typeface="Calibri"/>
              </a:rPr>
              <a:t>Recall residual connections </a:t>
            </a: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add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399415" indent="-3429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	input back to output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Let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 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y = f(x)</a:t>
            </a:r>
            <a:r>
              <a:rPr lang="en-US" sz="1800" i="1" spc="-1">
                <a:solidFill>
                  <a:srgbClr val="003056"/>
                </a:solidFill>
                <a:latin typeface="Calibri"/>
              </a:rPr>
              <a:t> 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be the operator.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With residual connection, 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y = f(x) + x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Thus operator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is identity if 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f(x) = 0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</p:txBody>
      </p:sp>
      <p:pic>
        <p:nvPicPr>
          <p:cNvPr id="237" name="Grafik 7" descr="adapter_layer_1.png"/>
          <p:cNvPicPr/>
          <p:nvPr/>
        </p:nvPicPr>
        <p:blipFill>
          <a:blip r:embed="rId2"/>
          <a:stretch/>
        </p:blipFill>
        <p:spPr>
          <a:xfrm>
            <a:off x="5255674" y="1571760"/>
            <a:ext cx="2853000" cy="4643280"/>
          </a:xfrm>
          <a:prstGeom prst="rect">
            <a:avLst/>
          </a:prstGeom>
          <a:ln w="0">
            <a:noFill/>
          </a:ln>
        </p:spPr>
      </p:pic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177898A1-7A5B-4516-9CD3-77FEF53FD18F}" type="slidenum">
              <a:t>56</a:t>
            </a:fld>
            <a:endParaRPr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500"/>
                                        <p:tgtEl>
                                          <p:spTgt spid="2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0" dur="500"/>
                                        <p:tgtEl>
                                          <p:spTgt spid="2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repl">
                                        <p:cTn id="13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8" dur="500"/>
                                        <p:tgtEl>
                                          <p:spTgt spid="2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1" dur="500"/>
                                        <p:tgtEl>
                                          <p:spTgt spid="2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4" dur="500"/>
                                        <p:tgtEl>
                                          <p:spTgt spid="2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7" dur="500"/>
                                        <p:tgtEl>
                                          <p:spTgt spid="2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2" dur="500"/>
                                        <p:tgtEl>
                                          <p:spTgt spid="23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5" dur="500"/>
                                        <p:tgtEl>
                                          <p:spTgt spid="23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8" dur="500"/>
                                        <p:tgtEl>
                                          <p:spTgt spid="23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1" dur="500"/>
                                        <p:tgtEl>
                                          <p:spTgt spid="23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6" dur="500"/>
                                        <p:tgtEl>
                                          <p:spTgt spid="23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9" dur="500"/>
                                        <p:tgtEl>
                                          <p:spTgt spid="23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52" dur="500"/>
                                        <p:tgtEl>
                                          <p:spTgt spid="23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55" dur="500"/>
                                        <p:tgtEl>
                                          <p:spTgt spid="23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58" dur="500"/>
                                        <p:tgtEl>
                                          <p:spTgt spid="23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653076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Adapters (4)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9" name="PlaceHolder 2"/>
          <p:cNvSpPr>
            <a:spLocks noGrp="1"/>
          </p:cNvSpPr>
          <p:nvPr>
            <p:ph type="ftr" idx="51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240" name="PlaceHolder 3"/>
          <p:cNvSpPr>
            <a:spLocks noGrp="1"/>
          </p:cNvSpPr>
          <p:nvPr>
            <p:ph/>
          </p:nvPr>
        </p:nvSpPr>
        <p:spPr>
          <a:xfrm>
            <a:off x="684000" y="1071720"/>
            <a:ext cx="7775640" cy="4928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99415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Other architectures possible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399415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u="sng" strike="noStrike" spc="-1" dirty="0">
                <a:solidFill>
                  <a:srgbClr val="0000FF"/>
                </a:solidFill>
                <a:uFillTx/>
                <a:latin typeface="Calibri"/>
                <a:hlinkClick r:id="rId2"/>
              </a:rPr>
              <a:t>Bapna et al.</a:t>
            </a:r>
            <a:r>
              <a:rPr lang="en-US" sz="2000" b="0" strike="noStrike" spc="-1" dirty="0">
                <a:solidFill>
                  <a:srgbClr val="003056"/>
                </a:solidFill>
                <a:latin typeface="Calibri"/>
                <a:hlinkClick r:id="rId2"/>
              </a:rPr>
              <a:t> </a:t>
            </a:r>
            <a:r>
              <a:rPr lang="en-US" sz="2000" spc="-1" dirty="0">
                <a:solidFill>
                  <a:srgbClr val="003056"/>
                </a:solidFill>
                <a:latin typeface="Calibri"/>
                <a:hlinkClick r:id="rId2"/>
              </a:rPr>
              <a:t>(2019)</a:t>
            </a:r>
            <a:r>
              <a:rPr lang="en-US" sz="2000" spc="-1">
                <a:solidFill>
                  <a:srgbClr val="003056"/>
                </a:solidFill>
                <a:latin typeface="Calibri"/>
              </a:rPr>
              <a:t> 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use only single adapter</a:t>
            </a:r>
            <a:r>
              <a:rPr lang="en-US" sz="2000" spc="-1">
                <a:solidFill>
                  <a:srgbClr val="003056"/>
                </a:solidFill>
                <a:latin typeface="Calibri"/>
              </a:rPr>
              <a:t> 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399415" indent="-3429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	layer after projection layer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399415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sng" strike="noStrike" spc="-1" dirty="0">
                <a:solidFill>
                  <a:srgbClr val="0000FF"/>
                </a:solidFill>
                <a:uFillTx/>
                <a:latin typeface="Calibri"/>
                <a:hlinkClick r:id="rId3"/>
              </a:rPr>
              <a:t>Pffeifer et al. </a:t>
            </a:r>
            <a:r>
              <a:rPr lang="en-US" sz="2000" u="sng" spc="-1" dirty="0">
                <a:solidFill>
                  <a:srgbClr val="0000FF"/>
                </a:solidFill>
                <a:latin typeface="Calibri"/>
                <a:hlinkClick r:id="rId3"/>
              </a:rPr>
              <a:t>(2021)</a:t>
            </a:r>
            <a:r>
              <a:rPr lang="en-US" sz="2000" spc="-1">
                <a:solidFill>
                  <a:srgbClr val="003056"/>
                </a:solidFill>
                <a:latin typeface="Calibri"/>
              </a:rPr>
              <a:t> 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proposed to </a:t>
            </a:r>
            <a:endParaRPr lang="de-DE" sz="2000" spc="-1">
              <a:solidFill>
                <a:srgbClr val="003056"/>
              </a:solidFill>
              <a:latin typeface="Calibri"/>
            </a:endParaRPr>
          </a:p>
          <a:p>
            <a:pPr marL="56515" indent="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None/>
              <a:tabLst>
                <a:tab pos="0" algn="l"/>
              </a:tabLst>
            </a:pPr>
            <a:r>
              <a:rPr lang="en-US" sz="2000" b="1" spc="-1">
                <a:solidFill>
                  <a:srgbClr val="003056"/>
                </a:solidFill>
                <a:latin typeface="Calibri"/>
              </a:rPr>
              <a:t>   combine several</a:t>
            </a: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 </a:t>
            </a:r>
            <a:r>
              <a:rPr lang="en-US" sz="2000" b="1" spc="-1">
                <a:solidFill>
                  <a:srgbClr val="003056"/>
                </a:solidFill>
                <a:latin typeface="Calibri"/>
              </a:rPr>
              <a:t>task-specific adapters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Task-specific adapters combined with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800100" indent="-28575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	</a:t>
            </a:r>
            <a:r>
              <a:rPr lang="en-US" sz="1800" b="1" strike="noStrike" spc="-1" dirty="0">
                <a:solidFill>
                  <a:srgbClr val="003056"/>
                </a:solidFill>
                <a:latin typeface="Calibri"/>
              </a:rPr>
              <a:t>attention mechanism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Allows classifier to use </a:t>
            </a:r>
            <a:r>
              <a:rPr lang="en-US" sz="1800" b="1" strike="noStrike" spc="-1" dirty="0">
                <a:solidFill>
                  <a:srgbClr val="003056"/>
                </a:solidFill>
                <a:latin typeface="Calibri"/>
              </a:rPr>
              <a:t>information</a:t>
            </a:r>
            <a:r>
              <a:rPr lang="en-US" sz="1800" b="1" spc="-1" dirty="0">
                <a:solidFill>
                  <a:srgbClr val="003056"/>
                </a:solidFill>
                <a:latin typeface="Calibri"/>
              </a:rPr>
              <a:t> 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800100" indent="-28575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r>
              <a:rPr lang="en-US" sz="1800" b="1" strike="noStrike" spc="-1" dirty="0">
                <a:solidFill>
                  <a:srgbClr val="003056"/>
                </a:solidFill>
                <a:latin typeface="Calibri"/>
              </a:rPr>
              <a:t>	from several different tasks in</a:t>
            </a:r>
            <a:r>
              <a:rPr lang="en-US" sz="1800" b="1" spc="-1" dirty="0">
                <a:solidFill>
                  <a:srgbClr val="003056"/>
                </a:solidFill>
                <a:latin typeface="Calibri"/>
              </a:rPr>
              <a:t> 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800100" indent="-28575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r>
              <a:rPr lang="en-US" sz="1800" b="1" strike="noStrike" spc="-1" dirty="0">
                <a:solidFill>
                  <a:srgbClr val="003056"/>
                </a:solidFill>
                <a:latin typeface="Calibri"/>
              </a:rPr>
              <a:t>	non-destructive manner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No catastrophic forgetting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 compared to</a:t>
            </a:r>
            <a:endParaRPr lang="de-DE" sz="1800" spc="-1" dirty="0">
              <a:solidFill>
                <a:srgbClr val="003056"/>
              </a:solidFill>
              <a:latin typeface="Calibri"/>
            </a:endParaRPr>
          </a:p>
          <a:p>
            <a:pPr marL="514350" lvl="1" indent="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None/>
              <a:tabLst>
                <a:tab pos="0" algn="l"/>
              </a:tabLst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      fine-tuning same adapter on new task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</p:txBody>
      </p:sp>
      <p:pic>
        <p:nvPicPr>
          <p:cNvPr id="241" name="Grafik 8" descr="adapter_pfeiffer_1.png"/>
          <p:cNvPicPr/>
          <p:nvPr/>
        </p:nvPicPr>
        <p:blipFill>
          <a:blip r:embed="rId4"/>
          <a:stretch/>
        </p:blipFill>
        <p:spPr>
          <a:xfrm>
            <a:off x="5678908" y="1285920"/>
            <a:ext cx="2777760" cy="4642920"/>
          </a:xfrm>
          <a:prstGeom prst="rect">
            <a:avLst/>
          </a:prstGeom>
          <a:ln w="0">
            <a:noFill/>
          </a:ln>
        </p:spPr>
      </p:pic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F243BA68-8550-42C9-A7BC-4445EFB967C0}" type="slidenum">
              <a:t>57</a:t>
            </a:fld>
            <a:endParaRPr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500"/>
                                        <p:tgtEl>
                                          <p:spTgt spid="2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2" dur="500"/>
                                        <p:tgtEl>
                                          <p:spTgt spid="2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5" dur="500"/>
                                        <p:tgtEl>
                                          <p:spTgt spid="2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0" dur="500"/>
                                        <p:tgtEl>
                                          <p:spTgt spid="2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3" dur="500"/>
                                        <p:tgtEl>
                                          <p:spTgt spid="2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6" dur="500"/>
                                        <p:tgtEl>
                                          <p:spTgt spid="2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9" dur="500"/>
                                        <p:tgtEl>
                                          <p:spTgt spid="24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2" dur="500"/>
                                        <p:tgtEl>
                                          <p:spTgt spid="24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5" dur="500"/>
                                        <p:tgtEl>
                                          <p:spTgt spid="24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8" dur="500"/>
                                        <p:tgtEl>
                                          <p:spTgt spid="24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1" dur="500"/>
                                        <p:tgtEl>
                                          <p:spTgt spid="24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4" dur="500"/>
                                        <p:tgtEl>
                                          <p:spTgt spid="24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repl">
                                        <p:cTn id="47"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653076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Low-Rank Adaptation</a:t>
            </a:r>
            <a:r>
              <a:rPr lang="de-DE" sz="3000" b="1" spc="-1">
                <a:solidFill>
                  <a:srgbClr val="003056"/>
                </a:solidFill>
                <a:latin typeface="Calibri"/>
              </a:rPr>
              <a:t> (1)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3" name="PlaceHolder 2"/>
          <p:cNvSpPr>
            <a:spLocks noGrp="1"/>
          </p:cNvSpPr>
          <p:nvPr>
            <p:ph type="ftr" idx="52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244" name="PlaceHolder 3"/>
          <p:cNvSpPr>
            <a:spLocks noGrp="1"/>
          </p:cNvSpPr>
          <p:nvPr>
            <p:ph/>
          </p:nvPr>
        </p:nvSpPr>
        <p:spPr>
          <a:xfrm>
            <a:off x="684000" y="1071720"/>
            <a:ext cx="7775640" cy="4928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99415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pc="-1" err="1">
                <a:solidFill>
                  <a:srgbClr val="003056"/>
                </a:solidFill>
                <a:latin typeface="Calibri"/>
              </a:rPr>
              <a:t>LoRA</a:t>
            </a:r>
            <a:r>
              <a:rPr lang="en-US" sz="2000" b="1" strike="noStrike" spc="-1" dirty="0">
                <a:solidFill>
                  <a:srgbClr val="003056"/>
                </a:solidFill>
                <a:latin typeface="Calibri"/>
              </a:rPr>
              <a:t>:</a:t>
            </a: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 Low-rank adaptation (</a:t>
            </a:r>
            <a:r>
              <a:rPr lang="en-US" sz="2000" b="0" u="sng" strike="noStrike" spc="-1" dirty="0">
                <a:solidFill>
                  <a:srgbClr val="0000FF"/>
                </a:solidFill>
                <a:uFillTx/>
                <a:latin typeface="Calibri"/>
                <a:hlinkClick r:id="rId2"/>
              </a:rPr>
              <a:t>Hu et al. 2021</a:t>
            </a: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)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399415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Similar to adapters, adds trainable modules to transformer block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399415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Specifically, </a:t>
            </a:r>
            <a:r>
              <a:rPr lang="en-US" sz="2000" b="1" strike="noStrike" spc="-1" dirty="0">
                <a:solidFill>
                  <a:srgbClr val="003056"/>
                </a:solidFill>
                <a:latin typeface="Calibri"/>
              </a:rPr>
              <a:t>two projection layers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399415" indent="-3429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	</a:t>
            </a:r>
            <a:r>
              <a:rPr lang="en-US" sz="2000" b="1" strike="noStrike" spc="-1" dirty="0">
                <a:solidFill>
                  <a:srgbClr val="003056"/>
                </a:solidFill>
                <a:latin typeface="Calibri"/>
              </a:rPr>
              <a:t>parallel </a:t>
            </a: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to projection layer in</a:t>
            </a:r>
            <a:r>
              <a:rPr lang="en-US" sz="2000" spc="-1" dirty="0">
                <a:solidFill>
                  <a:srgbClr val="003056"/>
                </a:solidFill>
                <a:latin typeface="Calibri"/>
              </a:rPr>
              <a:t> </a:t>
            </a:r>
            <a:endParaRPr lang="de-DE" sz="2000" spc="-1">
              <a:solidFill>
                <a:srgbClr val="003056"/>
              </a:solidFill>
              <a:latin typeface="Calibri"/>
            </a:endParaRPr>
          </a:p>
          <a:p>
            <a:pPr marL="399415" indent="-3429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spc="-1" dirty="0">
                <a:solidFill>
                  <a:srgbClr val="003056"/>
                </a:solidFill>
                <a:latin typeface="Calibri"/>
              </a:rPr>
              <a:t>	</a:t>
            </a: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transformer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399415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spc="-1" dirty="0">
                <a:solidFill>
                  <a:srgbClr val="003056"/>
                </a:solidFill>
                <a:latin typeface="Calibri"/>
              </a:rPr>
              <a:t>Perspective: </a:t>
            </a: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updated weight </a:t>
            </a:r>
            <a:r>
              <a:rPr lang="en-US" sz="2000" b="1" i="1" strike="noStrike" spc="-1" dirty="0">
                <a:solidFill>
                  <a:srgbClr val="003056"/>
                </a:solidFill>
                <a:latin typeface="Calibri"/>
              </a:rPr>
              <a:t>W’</a:t>
            </a:r>
            <a:r>
              <a:rPr lang="en-US" sz="2000" b="1" i="1" spc="-1" dirty="0">
                <a:solidFill>
                  <a:srgbClr val="003056"/>
                </a:solidFill>
                <a:latin typeface="Calibri"/>
              </a:rPr>
              <a:t> 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399415" indent="-3429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	during fine-tuning </a:t>
            </a:r>
            <a:r>
              <a:rPr lang="en-US" sz="2000" spc="-1" dirty="0">
                <a:solidFill>
                  <a:srgbClr val="003056"/>
                </a:solidFill>
                <a:latin typeface="Calibri"/>
              </a:rPr>
              <a:t>is</a:t>
            </a: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en-US" sz="2000" b="1" i="1" strike="noStrike" spc="-1" dirty="0">
                <a:solidFill>
                  <a:srgbClr val="003056"/>
                </a:solidFill>
                <a:latin typeface="Calibri"/>
              </a:rPr>
              <a:t>W’</a:t>
            </a:r>
            <a:r>
              <a:rPr lang="en-US" sz="2000" b="0" i="1" strike="noStrike" spc="-1" dirty="0">
                <a:solidFill>
                  <a:srgbClr val="003056"/>
                </a:solidFill>
                <a:latin typeface="Calibri"/>
              </a:rPr>
              <a:t> = </a:t>
            </a:r>
            <a:r>
              <a:rPr lang="en-US" sz="2000" b="1" i="1" spc="-1">
                <a:solidFill>
                  <a:srgbClr val="003056"/>
                </a:solidFill>
                <a:latin typeface="Calibri"/>
              </a:rPr>
              <a:t>W</a:t>
            </a:r>
            <a:r>
              <a:rPr lang="en-US" sz="2000" i="1" spc="-1" baseline="-25000">
                <a:solidFill>
                  <a:srgbClr val="003056"/>
                </a:solidFill>
                <a:latin typeface="Calibri"/>
              </a:rPr>
              <a:t>O</a:t>
            </a:r>
            <a:r>
              <a:rPr lang="en-US" sz="2000" b="0" i="1" strike="noStrike" spc="-1" dirty="0">
                <a:solidFill>
                  <a:srgbClr val="003056"/>
                </a:solidFill>
                <a:latin typeface="Calibri"/>
              </a:rPr>
              <a:t> + ∆</a:t>
            </a:r>
            <a:r>
              <a:rPr lang="en-US" sz="2000" b="1" i="1" spc="-1">
                <a:solidFill>
                  <a:srgbClr val="003056"/>
                </a:solidFill>
                <a:latin typeface="Calibri"/>
              </a:rPr>
              <a:t>W</a:t>
            </a:r>
            <a:r>
              <a:rPr lang="en-US" sz="2000" i="1" spc="-1" baseline="-25000">
                <a:solidFill>
                  <a:srgbClr val="003056"/>
                </a:solidFill>
                <a:latin typeface="Calibri"/>
              </a:rPr>
              <a:t>O</a:t>
            </a:r>
            <a:endParaRPr lang="de-DE" sz="2000" strike="noStrike" spc="-1" dirty="0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Simulate this effect by freezing </a:t>
            </a:r>
            <a:r>
              <a:rPr lang="en-US" sz="1800" b="1" i="1" spc="-1">
                <a:solidFill>
                  <a:srgbClr val="003056"/>
                </a:solidFill>
                <a:latin typeface="Calibri"/>
              </a:rPr>
              <a:t>W</a:t>
            </a:r>
            <a:r>
              <a:rPr lang="en-US" sz="1800" i="1" spc="-1" baseline="-25000">
                <a:solidFill>
                  <a:srgbClr val="003056"/>
                </a:solidFill>
                <a:latin typeface="Calibri"/>
              </a:rPr>
              <a:t>O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,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800100" indent="-28575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	adding parallel projections </a:t>
            </a:r>
            <a:r>
              <a:rPr lang="en-US" sz="1800" b="1" i="1" strike="noStrike" spc="-1" dirty="0">
                <a:solidFill>
                  <a:srgbClr val="003056"/>
                </a:solidFill>
                <a:latin typeface="Calibri"/>
              </a:rPr>
              <a:t>AB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Thus, </a:t>
            </a:r>
            <a:r>
              <a:rPr lang="en-US" sz="1800" b="1" i="1" strike="noStrike" spc="-1" dirty="0">
                <a:solidFill>
                  <a:srgbClr val="003056"/>
                </a:solidFill>
                <a:latin typeface="Calibri"/>
              </a:rPr>
              <a:t>W’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 = </a:t>
            </a:r>
            <a:r>
              <a:rPr lang="en-US" sz="1800" b="1" i="1" spc="-1">
                <a:solidFill>
                  <a:srgbClr val="003056"/>
                </a:solidFill>
                <a:latin typeface="Calibri"/>
              </a:rPr>
              <a:t>W</a:t>
            </a:r>
            <a:r>
              <a:rPr lang="en-US" sz="1800" i="1" spc="-1" baseline="-25000">
                <a:solidFill>
                  <a:srgbClr val="003056"/>
                </a:solidFill>
                <a:latin typeface="Calibri"/>
              </a:rPr>
              <a:t>O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 + </a:t>
            </a:r>
            <a:r>
              <a:rPr lang="en-US" sz="1800" b="1" i="1" strike="noStrike" spc="-1" dirty="0">
                <a:solidFill>
                  <a:srgbClr val="003056"/>
                </a:solidFill>
                <a:latin typeface="Calibri"/>
              </a:rPr>
              <a:t>AB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399415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1" i="1" strike="noStrike" spc="-1" dirty="0">
                <a:solidFill>
                  <a:srgbClr val="003056"/>
                </a:solidFill>
                <a:latin typeface="Calibri"/>
              </a:rPr>
              <a:t>A </a:t>
            </a: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projects down to small size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800100" indent="-28575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Thus, </a:t>
            </a:r>
            <a:r>
              <a:rPr lang="en-US" sz="1800" b="1" i="1" strike="noStrike" spc="-1" dirty="0">
                <a:solidFill>
                  <a:srgbClr val="003056"/>
                </a:solidFill>
                <a:latin typeface="Calibri"/>
              </a:rPr>
              <a:t>AB</a:t>
            </a:r>
            <a:r>
              <a:rPr lang="en-US" sz="1800" b="1" strike="noStrike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is low-rank factorization of 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∆</a:t>
            </a:r>
            <a:r>
              <a:rPr lang="en-US" sz="1800" b="1" i="1" spc="-1">
                <a:solidFill>
                  <a:srgbClr val="003056"/>
                </a:solidFill>
                <a:latin typeface="Calibri"/>
              </a:rPr>
              <a:t>W</a:t>
            </a:r>
            <a:r>
              <a:rPr lang="en-US" sz="1800" i="1" spc="-1" baseline="-25000">
                <a:solidFill>
                  <a:srgbClr val="003056"/>
                </a:solidFill>
                <a:latin typeface="Calibri"/>
              </a:rPr>
              <a:t>O</a:t>
            </a:r>
            <a:endParaRPr lang="de-DE" sz="1800" strike="noStrike" spc="-1" baseline="-25000" dirty="0">
              <a:solidFill>
                <a:srgbClr val="003056"/>
              </a:solidFill>
              <a:latin typeface="Calibri"/>
            </a:endParaRPr>
          </a:p>
          <a:p>
            <a:pPr marL="399415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As with adapters, initialization must be identity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They achieve this by setting </a:t>
            </a:r>
            <a:r>
              <a:rPr lang="en-US" sz="1800" b="1" strike="noStrike" spc="-1" dirty="0">
                <a:solidFill>
                  <a:srgbClr val="003056"/>
                </a:solidFill>
                <a:latin typeface="Calibri"/>
              </a:rPr>
              <a:t>B 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= </a:t>
            </a:r>
            <a:r>
              <a:rPr lang="en-US" sz="1800" b="1" strike="noStrike" spc="-1" dirty="0">
                <a:solidFill>
                  <a:srgbClr val="003056"/>
                </a:solidFill>
                <a:latin typeface="Calibri"/>
              </a:rPr>
              <a:t>0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, so that </a:t>
            </a:r>
            <a:r>
              <a:rPr lang="en-US" sz="1800" b="1" i="1" strike="noStrike" spc="-1" dirty="0">
                <a:solidFill>
                  <a:srgbClr val="003056"/>
                </a:solidFill>
                <a:latin typeface="Calibri"/>
              </a:rPr>
              <a:t>AB 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= </a:t>
            </a:r>
            <a:r>
              <a:rPr lang="en-US" sz="1800" b="1" i="1" strike="noStrike" spc="-1" dirty="0">
                <a:solidFill>
                  <a:srgbClr val="003056"/>
                </a:solidFill>
                <a:latin typeface="Calibri"/>
              </a:rPr>
              <a:t>0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399415" indent="-3429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</p:txBody>
      </p:sp>
      <p:pic>
        <p:nvPicPr>
          <p:cNvPr id="245" name="Grafik 7" descr="lora_1.png"/>
          <p:cNvPicPr/>
          <p:nvPr/>
        </p:nvPicPr>
        <p:blipFill>
          <a:blip r:embed="rId3"/>
          <a:stretch/>
        </p:blipFill>
        <p:spPr>
          <a:xfrm>
            <a:off x="5239424" y="1848240"/>
            <a:ext cx="3297240" cy="3080520"/>
          </a:xfrm>
          <a:prstGeom prst="rect">
            <a:avLst/>
          </a:prstGeom>
          <a:ln w="0">
            <a:noFill/>
          </a:ln>
        </p:spPr>
      </p:pic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D90A2A86-8429-4F5A-94D7-AEA86AB82C19}" type="slidenum">
              <a:t>58</a:t>
            </a:fld>
            <a:endParaRPr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500"/>
                                        <p:tgtEl>
                                          <p:spTgt spid="2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0" dur="500"/>
                                        <p:tgtEl>
                                          <p:spTgt spid="2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5" dur="500"/>
                                        <p:tgtEl>
                                          <p:spTgt spid="2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8" dur="500"/>
                                        <p:tgtEl>
                                          <p:spTgt spid="2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1" dur="500"/>
                                        <p:tgtEl>
                                          <p:spTgt spid="2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repl">
                                        <p:cTn id="24" dur="5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9" dur="500"/>
                                        <p:tgtEl>
                                          <p:spTgt spid="2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2" dur="500"/>
                                        <p:tgtEl>
                                          <p:spTgt spid="2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5" dur="500"/>
                                        <p:tgtEl>
                                          <p:spTgt spid="24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8" dur="500"/>
                                        <p:tgtEl>
                                          <p:spTgt spid="24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1" dur="500"/>
                                        <p:tgtEl>
                                          <p:spTgt spid="24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6" dur="500"/>
                                        <p:tgtEl>
                                          <p:spTgt spid="24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9" dur="500"/>
                                        <p:tgtEl>
                                          <p:spTgt spid="24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54" dur="500"/>
                                        <p:tgtEl>
                                          <p:spTgt spid="24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57" dur="500"/>
                                        <p:tgtEl>
                                          <p:spTgt spid="24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DD10D5-32DF-04BE-5590-4929D825E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laceHolder 1">
            <a:extLst>
              <a:ext uri="{FF2B5EF4-FFF2-40B4-BE49-F238E27FC236}">
                <a16:creationId xmlns:a16="http://schemas.microsoft.com/office/drawing/2014/main" id="{FCF92D3B-A1FD-61E8-0851-E459322EDD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00" y="584640"/>
            <a:ext cx="653076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Low-Rank Adaptation</a:t>
            </a:r>
            <a:r>
              <a:rPr lang="de-DE" sz="3000" b="1" spc="-1">
                <a:solidFill>
                  <a:srgbClr val="003056"/>
                </a:solidFill>
                <a:latin typeface="Calibri"/>
              </a:rPr>
              <a:t> (2)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3" name="PlaceHolder 2">
            <a:extLst>
              <a:ext uri="{FF2B5EF4-FFF2-40B4-BE49-F238E27FC236}">
                <a16:creationId xmlns:a16="http://schemas.microsoft.com/office/drawing/2014/main" id="{3F5199B1-9FB6-1A4D-C3AF-54C16382B794}"/>
              </a:ext>
            </a:extLst>
          </p:cNvPr>
          <p:cNvSpPr>
            <a:spLocks noGrp="1"/>
          </p:cNvSpPr>
          <p:nvPr>
            <p:ph type="ftr" idx="52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244" name="PlaceHolder 3">
            <a:extLst>
              <a:ext uri="{FF2B5EF4-FFF2-40B4-BE49-F238E27FC236}">
                <a16:creationId xmlns:a16="http://schemas.microsoft.com/office/drawing/2014/main" id="{A501F918-69EC-5529-8625-CF04471E7AC7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684000" y="1071720"/>
            <a:ext cx="7775640" cy="4928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99415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 dirty="0">
                <a:solidFill>
                  <a:srgbClr val="003056"/>
                </a:solidFill>
                <a:latin typeface="Calibri"/>
              </a:rPr>
              <a:t>Downside to </a:t>
            </a:r>
            <a:r>
              <a:rPr lang="en-US" sz="2000" i="1" spc="-1" dirty="0">
                <a:solidFill>
                  <a:srgbClr val="003056"/>
                </a:solidFill>
                <a:latin typeface="Calibri"/>
              </a:rPr>
              <a:t>all adapters </a:t>
            </a:r>
            <a:r>
              <a:rPr lang="en-US" sz="2000" spc="-1" dirty="0">
                <a:solidFill>
                  <a:srgbClr val="003056"/>
                </a:solidFill>
                <a:latin typeface="Calibri"/>
              </a:rPr>
              <a:t>in general?</a:t>
            </a:r>
          </a:p>
          <a:p>
            <a:pPr marL="856615" lvl="1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</a:rPr>
              <a:t>(Slightly) higher inference costs</a:t>
            </a:r>
          </a:p>
          <a:p>
            <a:pPr marL="856615" lvl="1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</a:rPr>
              <a:t>We add more parameters!</a:t>
            </a:r>
          </a:p>
          <a:p>
            <a:pPr marL="399415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 dirty="0" err="1">
                <a:solidFill>
                  <a:srgbClr val="003056"/>
                </a:solidFill>
                <a:latin typeface="Calibri"/>
              </a:rPr>
              <a:t>LoRA</a:t>
            </a:r>
            <a:r>
              <a:rPr lang="en-US" sz="2000" spc="-1" dirty="0">
                <a:solidFill>
                  <a:srgbClr val="003056"/>
                </a:solidFill>
                <a:latin typeface="Calibri"/>
              </a:rPr>
              <a:t> designed to prevent this</a:t>
            </a:r>
          </a:p>
          <a:p>
            <a:pPr marL="856615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</a:rPr>
              <a:t>Once adapter is learned, original </a:t>
            </a:r>
          </a:p>
          <a:p>
            <a:pPr marL="56515" indent="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None/>
            </a:pPr>
            <a:r>
              <a:rPr lang="en-US" sz="1800" spc="-1" dirty="0">
                <a:solidFill>
                  <a:srgbClr val="003056"/>
                </a:solidFill>
                <a:latin typeface="Calibri"/>
              </a:rPr>
              <a:t>                </a:t>
            </a:r>
            <a:r>
              <a:rPr lang="en-US" sz="1800" b="1" i="1" spc="-1" dirty="0">
                <a:solidFill>
                  <a:srgbClr val="003056"/>
                </a:solidFill>
                <a:latin typeface="Calibri"/>
              </a:rPr>
              <a:t>W</a:t>
            </a:r>
            <a:r>
              <a:rPr lang="en-US" sz="1800" i="1" spc="-1" baseline="-25000" dirty="0">
                <a:solidFill>
                  <a:srgbClr val="003056"/>
                </a:solidFill>
                <a:latin typeface="Calibri"/>
              </a:rPr>
              <a:t>O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 can be </a:t>
            </a: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updated by </a:t>
            </a:r>
            <a:r>
              <a:rPr lang="en-US" sz="1800" i="1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merging back</a:t>
            </a: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800" b="1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AB</a:t>
            </a:r>
            <a:endParaRPr lang="en-US" sz="1800" spc="-1" dirty="0">
              <a:solidFill>
                <a:srgbClr val="003056"/>
              </a:solidFill>
              <a:latin typeface="Calibri"/>
              <a:ea typeface="Calibri"/>
              <a:cs typeface="Calibri"/>
            </a:endParaRPr>
          </a:p>
          <a:p>
            <a:pPr marL="856615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</a:rPr>
              <a:t>That is, </a:t>
            </a: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final</a:t>
            </a:r>
            <a:r>
              <a:rPr lang="en-US" sz="20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weight </a:t>
            </a:r>
            <a:r>
              <a:rPr lang="en-US" sz="1800" b="1" i="1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W</a:t>
            </a:r>
            <a:r>
              <a:rPr lang="en-US" sz="1800" i="1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 = </a:t>
            </a:r>
            <a:r>
              <a:rPr lang="en-US" sz="1800" b="1" i="1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W</a:t>
            </a:r>
            <a:r>
              <a:rPr lang="en-US" sz="1800" i="1" spc="-1" baseline="-25000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O</a:t>
            </a:r>
            <a:r>
              <a:rPr lang="en-US" sz="1800" i="1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 + </a:t>
            </a:r>
            <a:r>
              <a:rPr lang="en-US" sz="1800" b="1" i="1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AB</a:t>
            </a:r>
            <a:endParaRPr lang="en-US" sz="2000" spc="-1" dirty="0">
              <a:solidFill>
                <a:srgbClr val="003056"/>
              </a:solidFill>
              <a:latin typeface="Calibri"/>
            </a:endParaRPr>
          </a:p>
          <a:p>
            <a:pPr marL="856615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Thus, </a:t>
            </a:r>
            <a:r>
              <a:rPr lang="en-US" sz="1800" b="1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no additional inference costs</a:t>
            </a:r>
          </a:p>
          <a:p>
            <a:pPr marL="856615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But catastrophic forgetting possible</a:t>
            </a:r>
          </a:p>
          <a:p>
            <a:pPr marL="399415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Generally, </a:t>
            </a:r>
            <a:r>
              <a:rPr lang="en-US" sz="2000" b="1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adapters have trade-offs</a:t>
            </a:r>
            <a:endParaRPr lang="en-US" sz="2000" b="1" i="1" spc="-1" dirty="0">
              <a:solidFill>
                <a:srgbClr val="003056"/>
              </a:solidFill>
              <a:latin typeface="Calibri"/>
              <a:ea typeface="Calibri"/>
              <a:cs typeface="Calibri"/>
            </a:endParaRPr>
          </a:p>
          <a:p>
            <a:pPr marL="856615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CON:</a:t>
            </a: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 increased inference cost</a:t>
            </a:r>
          </a:p>
          <a:p>
            <a:pPr marL="856615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PRO: </a:t>
            </a: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prevent catastrophic forgetting,</a:t>
            </a:r>
          </a:p>
          <a:p>
            <a:pPr marL="513715" lvl="1" indent="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None/>
            </a:pP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   original model frozen, adapters can </a:t>
            </a:r>
            <a:endParaRPr lang="en-US">
              <a:solidFill>
                <a:srgbClr val="000000"/>
              </a:solidFill>
              <a:latin typeface="Arial"/>
              <a:ea typeface="Calibri"/>
              <a:cs typeface="Calibri"/>
            </a:endParaRPr>
          </a:p>
          <a:p>
            <a:pPr marL="513715" lvl="1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      always be removed (gives rise to </a:t>
            </a:r>
            <a:endParaRPr lang="en-US" dirty="0">
              <a:solidFill>
                <a:srgbClr val="000000"/>
              </a:solidFill>
              <a:latin typeface="Arial"/>
              <a:ea typeface="Calibri"/>
              <a:cs typeface="Calibri"/>
            </a:endParaRPr>
          </a:p>
          <a:p>
            <a:pPr marL="513715" lvl="1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      </a:t>
            </a: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  <a:hlinkClick r:id="rId2"/>
              </a:rPr>
              <a:t>modular deep learning</a:t>
            </a: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)</a:t>
            </a:r>
            <a:endParaRPr lang="en-US" dirty="0">
              <a:solidFill>
                <a:srgbClr val="000000"/>
              </a:solidFill>
              <a:latin typeface="Arial"/>
              <a:ea typeface="Calibri"/>
              <a:cs typeface="Calibri"/>
            </a:endParaRPr>
          </a:p>
          <a:p>
            <a:pPr marL="856615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1800" spc="-1" dirty="0">
              <a:solidFill>
                <a:srgbClr val="003056"/>
              </a:solidFill>
              <a:latin typeface="Calibri"/>
              <a:ea typeface="Calibri"/>
              <a:cs typeface="Calibri"/>
            </a:endParaRPr>
          </a:p>
          <a:p>
            <a:pPr marL="56515" indent="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None/>
            </a:pPr>
            <a:endParaRPr lang="en-US" sz="2200" spc="-1" dirty="0">
              <a:solidFill>
                <a:srgbClr val="003056"/>
              </a:solidFill>
              <a:latin typeface="Calibri"/>
            </a:endParaRPr>
          </a:p>
        </p:txBody>
      </p:sp>
      <p:pic>
        <p:nvPicPr>
          <p:cNvPr id="245" name="Grafik 7" descr="lora_1.png">
            <a:extLst>
              <a:ext uri="{FF2B5EF4-FFF2-40B4-BE49-F238E27FC236}">
                <a16:creationId xmlns:a16="http://schemas.microsoft.com/office/drawing/2014/main" id="{84723D83-4138-1BAD-42C5-90ED66D4CA18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5357458" y="1848240"/>
            <a:ext cx="3297240" cy="3080520"/>
          </a:xfrm>
          <a:prstGeom prst="rect">
            <a:avLst/>
          </a:prstGeom>
          <a:ln w="0">
            <a:noFill/>
          </a:ln>
        </p:spPr>
      </p:pic>
      <p:sp>
        <p:nvSpPr>
          <p:cNvPr id="5" name="PlaceHolder 4">
            <a:extLst>
              <a:ext uri="{FF2B5EF4-FFF2-40B4-BE49-F238E27FC236}">
                <a16:creationId xmlns:a16="http://schemas.microsoft.com/office/drawing/2014/main" id="{5E1048D6-4BA0-661E-F941-D1CA0A34FF71}"/>
              </a:ext>
            </a:extLst>
          </p:cNvPr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D90A2A86-8429-4F5A-94D7-AEA86AB82C19}" type="slidenum">
              <a:t>59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6864857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repl">
                                        <p:cTn id="17" dur="5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4" grpId="0" build="p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653076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Prompt Tuning (1)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7" name="PlaceHolder 2"/>
          <p:cNvSpPr>
            <a:spLocks noGrp="1"/>
          </p:cNvSpPr>
          <p:nvPr>
            <p:ph type="ftr" idx="53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248" name="PlaceHolder 3"/>
          <p:cNvSpPr>
            <a:spLocks noGrp="1"/>
          </p:cNvSpPr>
          <p:nvPr>
            <p:ph/>
          </p:nvPr>
        </p:nvSpPr>
        <p:spPr>
          <a:xfrm>
            <a:off x="684000" y="1071720"/>
            <a:ext cx="7775640" cy="4928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99415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>
                <a:solidFill>
                  <a:srgbClr val="003056"/>
                </a:solidFill>
                <a:latin typeface="Calibri"/>
              </a:rPr>
              <a:t>PEFT method, different from adapters, proposed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 by </a:t>
            </a:r>
            <a:r>
              <a:rPr lang="en-US" sz="2000" b="0" u="sng" strike="noStrike" spc="-1" dirty="0">
                <a:solidFill>
                  <a:srgbClr val="0000FF"/>
                </a:solidFill>
                <a:uFillTx/>
                <a:latin typeface="Calibri"/>
                <a:hlinkClick r:id="rId2"/>
              </a:rPr>
              <a:t>Lester el al. (2021</a:t>
            </a:r>
            <a:r>
              <a:rPr lang="en-US" sz="2000" u="sng" spc="-1" dirty="0">
                <a:solidFill>
                  <a:srgbClr val="0000FF"/>
                </a:solidFill>
                <a:latin typeface="Calibri"/>
                <a:hlinkClick r:id="rId2"/>
              </a:rPr>
              <a:t>)</a:t>
            </a:r>
            <a:endParaRPr lang="en-US" sz="2000" b="0" u="sng" strike="noStrike" spc="-1" dirty="0">
              <a:solidFill>
                <a:srgbClr val="0000FF"/>
              </a:solidFill>
              <a:latin typeface="Calibri"/>
            </a:endParaRPr>
          </a:p>
          <a:p>
            <a:pPr marL="399415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trike="noStrike" spc="-1" dirty="0">
                <a:solidFill>
                  <a:srgbClr val="003056"/>
                </a:solidFill>
                <a:latin typeface="Calibri"/>
              </a:rPr>
              <a:t>GPT-3:</a:t>
            </a: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en-US" sz="2000" spc="-1" dirty="0">
                <a:solidFill>
                  <a:srgbClr val="003056"/>
                </a:solidFill>
                <a:latin typeface="Calibri"/>
              </a:rPr>
              <a:t>performs</a:t>
            </a: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 well on new tasks </a:t>
            </a:r>
            <a:r>
              <a:rPr lang="en-US" sz="2000" spc="-1" dirty="0">
                <a:solidFill>
                  <a:srgbClr val="003056"/>
                </a:solidFill>
                <a:latin typeface="Calibri"/>
              </a:rPr>
              <a:t>using </a:t>
            </a:r>
            <a:r>
              <a:rPr lang="en-US" sz="2000" b="1" strike="noStrike" spc="-1" dirty="0">
                <a:solidFill>
                  <a:srgbClr val="003056"/>
                </a:solidFill>
                <a:latin typeface="Calibri"/>
              </a:rPr>
              <a:t>in-context learning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In-context learning: describe task and provide few examples in prompt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trike="noStrike" spc="-1" dirty="0">
                <a:solidFill>
                  <a:srgbClr val="003056"/>
                </a:solidFill>
                <a:latin typeface="Calibri"/>
              </a:rPr>
              <a:t>Advantage?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 No fine-tuning! Same frozen model used for different tasks!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trike="noStrike" spc="-1" dirty="0">
                <a:solidFill>
                  <a:srgbClr val="003056"/>
                </a:solidFill>
                <a:latin typeface="Calibri"/>
              </a:rPr>
              <a:t>Problem?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 Approach sensitive to prompt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, gives rise to </a:t>
            </a:r>
            <a:r>
              <a:rPr lang="en-US" sz="1800" i="1" spc="-1" dirty="0">
                <a:solidFill>
                  <a:srgbClr val="003056"/>
                </a:solidFill>
                <a:latin typeface="Calibri"/>
              </a:rPr>
              <a:t>prompt design</a:t>
            </a:r>
            <a:endParaRPr lang="de-DE" sz="1800" b="0" i="1" strike="noStrike" spc="-1" dirty="0">
              <a:solidFill>
                <a:srgbClr val="003056"/>
              </a:solidFill>
              <a:latin typeface="Calibri"/>
            </a:endParaRPr>
          </a:p>
          <a:p>
            <a:pPr marL="399415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trike="noStrike" spc="-1" dirty="0">
                <a:solidFill>
                  <a:srgbClr val="003056"/>
                </a:solidFill>
                <a:latin typeface="Calibri"/>
              </a:rPr>
              <a:t>Main idea: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 prepend </a:t>
            </a:r>
            <a:r>
              <a:rPr lang="en-US" sz="2000" spc="-1">
                <a:solidFill>
                  <a:srgbClr val="003056"/>
                </a:solidFill>
                <a:latin typeface="Calibri"/>
              </a:rPr>
              <a:t>task-specific 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tokens to input sequences (prompt)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Then, during 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fine-tuning,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 only new task-specific tokens are updated</a:t>
            </a:r>
            <a:endParaRPr lang="de-DE" sz="1800" spc="-1" dirty="0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Each task A, 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B, C gets </a:t>
            </a:r>
          </a:p>
          <a:p>
            <a:pPr marL="514350" lvl="1" indent="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None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      new task token </a:t>
            </a:r>
            <a:r>
              <a:rPr lang="en-US" sz="1800" b="1" spc="-1" dirty="0">
                <a:solidFill>
                  <a:srgbClr val="003056"/>
                </a:solidFill>
                <a:latin typeface="Calibri"/>
              </a:rPr>
              <a:t>A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,</a:t>
            </a:r>
            <a:r>
              <a:rPr lang="en-US" sz="1800" b="1" spc="-1" dirty="0">
                <a:solidFill>
                  <a:srgbClr val="003056"/>
                </a:solidFill>
                <a:latin typeface="Calibri"/>
              </a:rPr>
              <a:t> B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,</a:t>
            </a:r>
            <a:r>
              <a:rPr lang="en-US" sz="1800" b="1" spc="-1" dirty="0">
                <a:solidFill>
                  <a:srgbClr val="003056"/>
                </a:solidFill>
                <a:latin typeface="Calibri"/>
              </a:rPr>
              <a:t> C</a:t>
            </a: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Font typeface="Arial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Prepend task examples</a:t>
            </a:r>
            <a:endParaRPr lang="en-US" sz="1800" spc="-1" dirty="0">
              <a:solidFill>
                <a:srgbClr val="003056"/>
              </a:solidFill>
              <a:latin typeface="Calibri"/>
            </a:endParaRPr>
          </a:p>
          <a:p>
            <a:pPr marL="514350" lvl="1" indent="0">
              <a:lnSpc>
                <a:spcPct val="100000"/>
              </a:lnSpc>
              <a:spcBef>
                <a:spcPts val="360"/>
              </a:spcBef>
              <a:buNone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      with task tokens, e.g. </a:t>
            </a:r>
          </a:p>
          <a:p>
            <a:pPr marL="514350" lvl="1" indent="0">
              <a:lnSpc>
                <a:spcPct val="100000"/>
              </a:lnSpc>
              <a:spcBef>
                <a:spcPts val="360"/>
              </a:spcBef>
              <a:buNone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      prepend </a:t>
            </a:r>
            <a:r>
              <a:rPr lang="en-US" sz="1800" b="1" spc="-1" dirty="0">
                <a:solidFill>
                  <a:srgbClr val="003056"/>
                </a:solidFill>
                <a:latin typeface="Calibri"/>
              </a:rPr>
              <a:t>A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 to a1, a2</a:t>
            </a:r>
            <a:endParaRPr lang="en-US" sz="1800" spc="-1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Font typeface="Arial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Tune only task tokens</a:t>
            </a:r>
            <a:endParaRPr lang="en-US" sz="1800" spc="-1" dirty="0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Font typeface="Arial"/>
            </a:pPr>
            <a:r>
              <a:rPr lang="en-US" sz="1800" spc="-1" dirty="0">
                <a:solidFill>
                  <a:srgbClr val="003056"/>
                </a:solidFill>
                <a:latin typeface="Calibri"/>
              </a:rPr>
              <a:t>At inference, use new</a:t>
            </a:r>
          </a:p>
          <a:p>
            <a:pPr marL="514350" lvl="1" indent="0">
              <a:lnSpc>
                <a:spcPct val="100000"/>
              </a:lnSpc>
              <a:spcBef>
                <a:spcPts val="360"/>
              </a:spcBef>
              <a:buNone/>
            </a:pPr>
            <a:r>
              <a:rPr lang="en-US" sz="1800" spc="-1" dirty="0">
                <a:solidFill>
                  <a:srgbClr val="003056"/>
                </a:solidFill>
                <a:latin typeface="Calibri"/>
              </a:rPr>
              <a:t>      tokens in same way</a:t>
            </a:r>
          </a:p>
        </p:txBody>
      </p:sp>
      <p:pic>
        <p:nvPicPr>
          <p:cNvPr id="249" name="Grafik 6" descr="prompt_tuning_1.png"/>
          <p:cNvPicPr/>
          <p:nvPr/>
        </p:nvPicPr>
        <p:blipFill>
          <a:blip r:embed="rId3"/>
          <a:stretch/>
        </p:blipFill>
        <p:spPr>
          <a:xfrm>
            <a:off x="3665770" y="3435743"/>
            <a:ext cx="5106240" cy="2638080"/>
          </a:xfrm>
          <a:prstGeom prst="rect">
            <a:avLst/>
          </a:prstGeom>
          <a:ln w="0">
            <a:noFill/>
          </a:ln>
        </p:spPr>
      </p:pic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1622AFC4-CFA8-4C4C-B9A9-C80C2B1FE14A}" type="slidenum">
              <a:t>60</a:t>
            </a:fld>
            <a:endParaRPr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500"/>
                                        <p:tgtEl>
                                          <p:spTgt spid="2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2" dur="500"/>
                                        <p:tgtEl>
                                          <p:spTgt spid="2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5" dur="500"/>
                                        <p:tgtEl>
                                          <p:spTgt spid="2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8" dur="500"/>
                                        <p:tgtEl>
                                          <p:spTgt spid="2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1" dur="500"/>
                                        <p:tgtEl>
                                          <p:spTgt spid="2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6" dur="500"/>
                                        <p:tgtEl>
                                          <p:spTgt spid="24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9" dur="500"/>
                                        <p:tgtEl>
                                          <p:spTgt spid="24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2" dur="500"/>
                                        <p:tgtEl>
                                          <p:spTgt spid="24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5" dur="500"/>
                                        <p:tgtEl>
                                          <p:spTgt spid="24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8" dur="500"/>
                                        <p:tgtEl>
                                          <p:spTgt spid="24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1" dur="500"/>
                                        <p:tgtEl>
                                          <p:spTgt spid="24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4" dur="500"/>
                                        <p:tgtEl>
                                          <p:spTgt spid="24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7" dur="500"/>
                                        <p:tgtEl>
                                          <p:spTgt spid="24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50" dur="500"/>
                                        <p:tgtEl>
                                          <p:spTgt spid="24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53" dur="500"/>
                                        <p:tgtEl>
                                          <p:spTgt spid="24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repl">
                                        <p:cTn id="56" dur="5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653076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Prompt Tuning (2)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1" name="PlaceHolder 2"/>
          <p:cNvSpPr>
            <a:spLocks noGrp="1"/>
          </p:cNvSpPr>
          <p:nvPr>
            <p:ph type="ftr" idx="54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r>
              <a:rPr lang="de-DE" sz="1200" b="0" strike="noStrike" spc="-1" dirty="0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252" name="PlaceHolder 3"/>
          <p:cNvSpPr>
            <a:spLocks noGrp="1"/>
          </p:cNvSpPr>
          <p:nvPr>
            <p:ph/>
          </p:nvPr>
        </p:nvSpPr>
        <p:spPr>
          <a:xfrm>
            <a:off x="684000" y="1071720"/>
            <a:ext cx="7775640" cy="4928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99415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As with T5 model, they cast tasks as text-to-text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trike="noStrike" spc="-1" dirty="0">
                <a:solidFill>
                  <a:srgbClr val="003056"/>
                </a:solidFill>
                <a:latin typeface="Calibri"/>
              </a:rPr>
              <a:t>Normally: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 downstream classification is 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p(</a:t>
            </a:r>
            <a:r>
              <a:rPr lang="en-US" sz="1800" b="0" i="1" strike="noStrike" spc="-1" dirty="0" err="1">
                <a:solidFill>
                  <a:srgbClr val="003056"/>
                </a:solidFill>
                <a:latin typeface="Calibri"/>
              </a:rPr>
              <a:t>y|</a:t>
            </a:r>
            <a:r>
              <a:rPr lang="en-US" sz="1800" b="1" i="1" strike="noStrike" spc="-1" dirty="0" err="1">
                <a:solidFill>
                  <a:srgbClr val="003056"/>
                </a:solidFill>
                <a:latin typeface="Calibri"/>
              </a:rPr>
              <a:t>X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)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 where </a:t>
            </a:r>
            <a:r>
              <a:rPr lang="en-US" sz="1800" b="1" i="1" strike="noStrike" spc="-1" dirty="0">
                <a:solidFill>
                  <a:srgbClr val="003056"/>
                </a:solidFill>
                <a:latin typeface="Calibri"/>
              </a:rPr>
              <a:t>X 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is input sequence (prompt) and 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y 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is single class label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, e.g. </a:t>
            </a:r>
            <a:r>
              <a:rPr lang="en-US" sz="1800" i="1" spc="-1" dirty="0">
                <a:solidFill>
                  <a:srgbClr val="003056"/>
                </a:solidFill>
                <a:latin typeface="Calibri"/>
              </a:rPr>
              <a:t>0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 or </a:t>
            </a:r>
            <a:r>
              <a:rPr lang="en-US" sz="1800" i="1" spc="-1" dirty="0">
                <a:solidFill>
                  <a:srgbClr val="003056"/>
                </a:solidFill>
                <a:latin typeface="Calibri"/>
              </a:rPr>
              <a:t>1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 if binary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trike="noStrike" spc="-1" dirty="0">
                <a:solidFill>
                  <a:srgbClr val="003056"/>
                </a:solidFill>
                <a:latin typeface="Calibri"/>
              </a:rPr>
              <a:t>Text-to-text: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 we have 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p(</a:t>
            </a:r>
            <a:r>
              <a:rPr lang="en-US" sz="1800" b="1" i="1" strike="noStrike" spc="-1" dirty="0">
                <a:solidFill>
                  <a:srgbClr val="003056"/>
                </a:solidFill>
                <a:latin typeface="Calibri"/>
              </a:rPr>
              <a:t>Y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|</a:t>
            </a:r>
            <a:r>
              <a:rPr lang="en-US" sz="1800" b="1" i="1" strike="noStrike" spc="-1" dirty="0">
                <a:solidFill>
                  <a:srgbClr val="003056"/>
                </a:solidFill>
                <a:latin typeface="Calibri"/>
              </a:rPr>
              <a:t>X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)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, where </a:t>
            </a:r>
            <a:r>
              <a:rPr lang="en-US" sz="1800" b="1" i="1" strike="noStrike" spc="-1" dirty="0">
                <a:solidFill>
                  <a:srgbClr val="003056"/>
                </a:solidFill>
                <a:latin typeface="Calibri"/>
              </a:rPr>
              <a:t>Y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 is generated output sequence that represent class label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, e.g. "neutral" for sentiment analysis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trike="noStrike" spc="-1" dirty="0">
                <a:solidFill>
                  <a:srgbClr val="003056"/>
                </a:solidFill>
                <a:latin typeface="Calibri"/>
              </a:rPr>
              <a:t>Fine-tuning: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p</a:t>
            </a:r>
            <a:r>
              <a:rPr lang="az-Cyrl-AZ" sz="1800" b="1" i="1" strike="noStrike" spc="-1" baseline="-25000">
                <a:solidFill>
                  <a:srgbClr val="003056"/>
                </a:solidFill>
                <a:latin typeface="Calibri"/>
              </a:rPr>
              <a:t>Ѳ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(</a:t>
            </a:r>
            <a:r>
              <a:rPr lang="en-US" sz="1800" b="1" i="1" strike="noStrike" spc="-1" dirty="0">
                <a:solidFill>
                  <a:srgbClr val="003056"/>
                </a:solidFill>
                <a:latin typeface="Calibri"/>
              </a:rPr>
              <a:t>Y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|</a:t>
            </a:r>
            <a:r>
              <a:rPr lang="en-US" sz="1800" b="1" i="1" strike="noStrike" spc="-1" dirty="0">
                <a:solidFill>
                  <a:srgbClr val="003056"/>
                </a:solidFill>
                <a:latin typeface="Calibri"/>
              </a:rPr>
              <a:t>X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) 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where </a:t>
            </a:r>
            <a:r>
              <a:rPr lang="az-Cyrl-AZ" sz="1800" b="1" i="1" strike="noStrike" spc="-1">
                <a:solidFill>
                  <a:srgbClr val="003056"/>
                </a:solidFill>
                <a:latin typeface="Calibri"/>
              </a:rPr>
              <a:t>Ѳ</a:t>
            </a:r>
            <a:r>
              <a:rPr lang="en-US" sz="1800" b="1" i="1" strike="noStrike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is pre-trained model parameters we tune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99415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pc="-1" dirty="0">
                <a:solidFill>
                  <a:srgbClr val="003056"/>
                </a:solidFill>
                <a:latin typeface="Calibri"/>
              </a:rPr>
              <a:t>Prompting</a:t>
            </a:r>
            <a:r>
              <a:rPr lang="en-US" sz="2000" b="1" strike="noStrike" spc="-1" dirty="0">
                <a:solidFill>
                  <a:srgbClr val="003056"/>
                </a:solidFill>
                <a:latin typeface="Calibri"/>
              </a:rPr>
              <a:t>: </a:t>
            </a: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prepend tokens </a:t>
            </a:r>
            <a:r>
              <a:rPr lang="en-US" sz="2000" b="1" i="1" strike="noStrike" spc="-1" dirty="0">
                <a:solidFill>
                  <a:srgbClr val="003056"/>
                </a:solidFill>
                <a:latin typeface="Calibri"/>
              </a:rPr>
              <a:t>P</a:t>
            </a:r>
            <a:r>
              <a:rPr lang="en-US" sz="2000" b="1" strike="noStrike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to input sequence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az-Cyrl-AZ" sz="1800" spc="-1">
                <a:solidFill>
                  <a:srgbClr val="003056"/>
                </a:solidFill>
                <a:latin typeface="Calibri"/>
              </a:rPr>
              <a:t>Normally, </a:t>
            </a:r>
            <a:r>
              <a:rPr lang="az-Cyrl-AZ" sz="1800" b="1" i="1" spc="-1">
                <a:solidFill>
                  <a:srgbClr val="003056"/>
                </a:solidFill>
                <a:latin typeface="Calibri"/>
              </a:rPr>
              <a:t>P</a:t>
            </a:r>
            <a:r>
              <a:rPr lang="az-Cyrl-AZ" sz="1800" spc="-1">
                <a:solidFill>
                  <a:srgbClr val="003056"/>
                </a:solidFill>
                <a:latin typeface="Calibri"/>
              </a:rPr>
              <a:t> made up of known tokens from pre-trained embedding layer</a:t>
            </a:r>
            <a:endParaRPr lang="az-Cyrl-AZ" sz="1800" strike="noStrike" spc="-1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az-Cyrl-AZ" sz="1800" spc="-1">
                <a:solidFill>
                  <a:srgbClr val="003056"/>
                </a:solidFill>
                <a:latin typeface="Calibri"/>
              </a:rPr>
              <a:t>E.g. </a:t>
            </a:r>
            <a:r>
              <a:rPr lang="az-Cyrl-AZ" sz="1800" b="1" i="1" spc="-1">
                <a:solidFill>
                  <a:srgbClr val="003056"/>
                </a:solidFill>
                <a:latin typeface="Calibri"/>
              </a:rPr>
              <a:t>P</a:t>
            </a:r>
            <a:r>
              <a:rPr lang="az-Cyrl-AZ" sz="1800" spc="-1">
                <a:solidFill>
                  <a:srgbClr val="003056"/>
                </a:solidFill>
                <a:latin typeface="Calibri"/>
              </a:rPr>
              <a:t> = "Summarize the following article into a single sentence"</a:t>
            </a:r>
            <a:endParaRPr lang="az-Cyrl-AZ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az-Cyrl-AZ" sz="18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Performance sensitive to chosen prompt, may require prompt design </a:t>
            </a:r>
          </a:p>
          <a:p>
            <a:pPr marL="399415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,Sans-Serif"/>
              <a:buChar char="•"/>
            </a:pPr>
            <a:r>
              <a:rPr lang="en-US" sz="2000" b="1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Prompt tuning: </a:t>
            </a:r>
            <a:r>
              <a:rPr lang="en-US" sz="20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add fixed prompt </a:t>
            </a:r>
            <a:r>
              <a:rPr lang="en-US" sz="2000" b="1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P </a:t>
            </a:r>
            <a:r>
              <a:rPr lang="en-US" sz="20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per task</a:t>
            </a:r>
            <a:r>
              <a:rPr lang="en-US" sz="2000" b="1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20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using special new tokens</a:t>
            </a: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Font typeface="Arial,Sans-Serif"/>
              <a:buChar char="•"/>
            </a:pPr>
            <a:r>
              <a:rPr lang="az-Cyrl-AZ" sz="1800" b="1" i="1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Ѳ</a:t>
            </a:r>
            <a:r>
              <a:rPr lang="en-US" sz="1200" i="1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P</a:t>
            </a:r>
            <a:r>
              <a:rPr lang="en-US" sz="1800" i="1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 = n</a:t>
            </a: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ew tokens added to vocabulary</a:t>
            </a:r>
            <a:endParaRPr lang="de-DE" sz="1800" spc="-1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Font typeface="Arial,Sans-Serif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Then: </a:t>
            </a:r>
            <a:r>
              <a:rPr lang="en-US" sz="1800" i="1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p</a:t>
            </a:r>
            <a:r>
              <a:rPr lang="az-Cyrl-AZ" sz="1200" b="1" i="1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Ѳ</a:t>
            </a:r>
            <a:r>
              <a:rPr lang="en-US" sz="1200" b="1" i="1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;</a:t>
            </a:r>
            <a:r>
              <a:rPr lang="az-Cyrl-AZ" sz="1200" b="1" i="1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Ѳ</a:t>
            </a:r>
            <a:r>
              <a:rPr lang="en-US" sz="1200" i="1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P</a:t>
            </a:r>
            <a:r>
              <a:rPr lang="en-US" sz="1800" i="1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(</a:t>
            </a:r>
            <a:r>
              <a:rPr lang="en-US" sz="1800" b="1" i="1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Y</a:t>
            </a:r>
            <a:r>
              <a:rPr lang="en-US" sz="1800" i="1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|[</a:t>
            </a:r>
            <a:r>
              <a:rPr lang="en-US" sz="1800" b="1" i="1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P,X]</a:t>
            </a:r>
            <a:r>
              <a:rPr lang="en-US" sz="1800" i="1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) </a:t>
            </a: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but we only tune </a:t>
            </a:r>
            <a:r>
              <a:rPr lang="az-Cyrl-AZ" sz="1800" b="1" i="1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Ѳ</a:t>
            </a:r>
            <a:r>
              <a:rPr lang="en-US" sz="1200" i="1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P</a:t>
            </a:r>
            <a:endParaRPr lang="de-DE" sz="1200" spc="-1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Font typeface="Arial,Sans-Serif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Fixed prompt removes need for prompt design</a:t>
            </a:r>
          </a:p>
          <a:p>
            <a:pPr marL="399415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Similar approaches: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 prefix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 tuning 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by </a:t>
            </a:r>
            <a:r>
              <a:rPr lang="en-US" sz="1800" u="sng" spc="-1" dirty="0">
                <a:solidFill>
                  <a:srgbClr val="0000FF"/>
                </a:solidFill>
                <a:latin typeface="Calibri"/>
                <a:hlinkClick r:id="rId2"/>
              </a:rPr>
              <a:t>Li</a:t>
            </a:r>
            <a:r>
              <a:rPr lang="en-US" sz="1800" b="0" u="sng" strike="noStrike" spc="-1" dirty="0">
                <a:solidFill>
                  <a:srgbClr val="0000FF"/>
                </a:solidFill>
                <a:uFillTx/>
                <a:latin typeface="Calibri"/>
                <a:hlinkClick r:id="rId2"/>
              </a:rPr>
              <a:t> et al. </a:t>
            </a:r>
            <a:r>
              <a:rPr lang="en-US" sz="1800" u="sng" spc="-1" dirty="0">
                <a:solidFill>
                  <a:srgbClr val="0000FF"/>
                </a:solidFill>
                <a:latin typeface="Calibri"/>
                <a:hlinkClick r:id="rId2"/>
              </a:rPr>
              <a:t>(</a:t>
            </a:r>
            <a:r>
              <a:rPr lang="en-US" sz="1800" b="0" u="sng" strike="noStrike" spc="-1" dirty="0">
                <a:solidFill>
                  <a:srgbClr val="0000FF"/>
                </a:solidFill>
                <a:uFillTx/>
                <a:latin typeface="Calibri"/>
                <a:hlinkClick r:id="rId2"/>
              </a:rPr>
              <a:t>2021</a:t>
            </a:r>
            <a:r>
              <a:rPr lang="en-US" sz="1800" u="sng" spc="-1" dirty="0">
                <a:solidFill>
                  <a:srgbClr val="0000FF"/>
                </a:solidFill>
                <a:latin typeface="Calibri"/>
                <a:hlinkClick r:id="rId2"/>
              </a:rPr>
              <a:t>)</a:t>
            </a:r>
            <a:r>
              <a:rPr lang="en-US" sz="1800" spc="-1" dirty="0">
                <a:solidFill>
                  <a:srgbClr val="0000FF"/>
                </a:solidFill>
                <a:latin typeface="Calibri"/>
              </a:rPr>
              <a:t>, 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P-Tuning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by </a:t>
            </a:r>
            <a:r>
              <a:rPr lang="en-US" sz="1800" u="sng" spc="-1" dirty="0">
                <a:solidFill>
                  <a:srgbClr val="0000FF"/>
                </a:solidFill>
                <a:latin typeface="Calibri"/>
                <a:hlinkClick r:id="rId3"/>
              </a:rPr>
              <a:t>Liu</a:t>
            </a:r>
            <a:r>
              <a:rPr lang="en-US" sz="1800" b="0" u="sng" strike="noStrike" spc="-1" dirty="0">
                <a:solidFill>
                  <a:srgbClr val="0000FF"/>
                </a:solidFill>
                <a:uFillTx/>
                <a:latin typeface="Calibri"/>
                <a:hlinkClick r:id="rId3"/>
              </a:rPr>
              <a:t> et al. </a:t>
            </a:r>
            <a:r>
              <a:rPr lang="en-US" sz="1800" u="sng" spc="-1" dirty="0">
                <a:solidFill>
                  <a:srgbClr val="0000FF"/>
                </a:solidFill>
                <a:latin typeface="Calibri"/>
                <a:hlinkClick r:id="rId3"/>
              </a:rPr>
              <a:t>(</a:t>
            </a:r>
            <a:r>
              <a:rPr lang="en-US" sz="1800" b="0" u="sng" strike="noStrike" spc="-1" dirty="0">
                <a:solidFill>
                  <a:srgbClr val="0000FF"/>
                </a:solidFill>
                <a:uFillTx/>
                <a:latin typeface="Calibri"/>
                <a:hlinkClick r:id="rId3"/>
              </a:rPr>
              <a:t>2022</a:t>
            </a:r>
            <a:r>
              <a:rPr lang="en-US" sz="1800" u="sng" spc="-1" dirty="0">
                <a:solidFill>
                  <a:srgbClr val="0000FF"/>
                </a:solidFill>
                <a:latin typeface="Calibri"/>
                <a:hlinkClick r:id="rId3"/>
              </a:rPr>
              <a:t>)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endParaRPr lang="en-US" sz="1800" b="0" strike="noStrike" spc="-1" dirty="0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93F8E451-A2D7-4C6D-B6DA-9B6E768A61EA}" type="slidenum">
              <a:t>61</a:t>
            </a:fld>
            <a:endParaRPr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500"/>
                                        <p:tgtEl>
                                          <p:spTgt spid="2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0" dur="500"/>
                                        <p:tgtEl>
                                          <p:spTgt spid="2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3" dur="500"/>
                                        <p:tgtEl>
                                          <p:spTgt spid="2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6" dur="500"/>
                                        <p:tgtEl>
                                          <p:spTgt spid="2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1" dur="500"/>
                                        <p:tgtEl>
                                          <p:spTgt spid="25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4" dur="500"/>
                                        <p:tgtEl>
                                          <p:spTgt spid="25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7" dur="500"/>
                                        <p:tgtEl>
                                          <p:spTgt spid="25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0" dur="500"/>
                                        <p:tgtEl>
                                          <p:spTgt spid="25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5" dur="500"/>
                                        <p:tgtEl>
                                          <p:spTgt spid="25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8" dur="500"/>
                                        <p:tgtEl>
                                          <p:spTgt spid="25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1" dur="500"/>
                                        <p:tgtEl>
                                          <p:spTgt spid="25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4" dur="500"/>
                                        <p:tgtEl>
                                          <p:spTgt spid="25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9" dur="500"/>
                                        <p:tgtEl>
                                          <p:spTgt spid="25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653076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pc="-1" dirty="0" err="1">
                <a:solidFill>
                  <a:srgbClr val="003056"/>
                </a:solidFill>
                <a:latin typeface="Calibri"/>
              </a:rPr>
              <a:t>Another</a:t>
            </a:r>
            <a:r>
              <a:rPr lang="de-DE" sz="3000" b="1" strike="noStrike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de-DE" sz="3000" b="1" strike="noStrike" spc="-1" dirty="0" err="1">
                <a:solidFill>
                  <a:srgbClr val="003056"/>
                </a:solidFill>
                <a:latin typeface="Calibri"/>
              </a:rPr>
              <a:t>Perspective</a:t>
            </a:r>
            <a:r>
              <a:rPr lang="de-DE" sz="3000" b="1" strike="noStrike" spc="-1" dirty="0">
                <a:solidFill>
                  <a:srgbClr val="003056"/>
                </a:solidFill>
                <a:latin typeface="Calibri"/>
              </a:rPr>
              <a:t> on Tasks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4" name="PlaceHolder 2"/>
          <p:cNvSpPr>
            <a:spLocks noGrp="1"/>
          </p:cNvSpPr>
          <p:nvPr>
            <p:ph type="ftr" idx="55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255" name="PlaceHolder 3"/>
          <p:cNvSpPr>
            <a:spLocks noGrp="1"/>
          </p:cNvSpPr>
          <p:nvPr>
            <p:ph/>
          </p:nvPr>
        </p:nvSpPr>
        <p:spPr>
          <a:xfrm>
            <a:off x="684000" y="1052749"/>
            <a:ext cx="7775640" cy="4928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99415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We can classify downstream tasks as follows: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Sequence classification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Sequence labeling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Etc.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99415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We can also </a:t>
            </a:r>
            <a:r>
              <a:rPr lang="en-US" sz="2000" b="1" strike="noStrike" spc="-1" dirty="0">
                <a:solidFill>
                  <a:srgbClr val="003056"/>
                </a:solidFill>
                <a:latin typeface="Calibri"/>
              </a:rPr>
              <a:t>classify tasks based on available data</a:t>
            </a:r>
            <a:r>
              <a:rPr lang="en-US" sz="2000" b="1" spc="-1" dirty="0">
                <a:solidFill>
                  <a:srgbClr val="003056"/>
                </a:solidFill>
                <a:latin typeface="Calibri"/>
              </a:rPr>
              <a:t>, usually: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trike="noStrike" spc="-1" dirty="0">
                <a:solidFill>
                  <a:srgbClr val="003056"/>
                </a:solidFill>
                <a:latin typeface="Calibri"/>
              </a:rPr>
              <a:t>Few shot: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 few examples available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trike="noStrike" spc="-1" dirty="0">
                <a:solidFill>
                  <a:srgbClr val="003056"/>
                </a:solidFill>
                <a:latin typeface="Calibri"/>
              </a:rPr>
              <a:t>Zero shot: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 no examples available (just text description)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42900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</a:rPr>
              <a:t>These definitions are not so consistent in the literature</a:t>
            </a:r>
            <a:endParaRPr lang="en-US" sz="2200" spc="-1" dirty="0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</a:rPr>
              <a:t>More details in future LLM lecture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r>
              <a:rPr lang="en-US" dirty="0"/>
              <a:t>62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500"/>
                                        <p:tgtEl>
                                          <p:spTgt spid="2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0" dur="500"/>
                                        <p:tgtEl>
                                          <p:spTgt spid="2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3" dur="500"/>
                                        <p:tgtEl>
                                          <p:spTgt spid="2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6" dur="500"/>
                                        <p:tgtEl>
                                          <p:spTgt spid="2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1" dur="500"/>
                                        <p:tgtEl>
                                          <p:spTgt spid="2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4" dur="500"/>
                                        <p:tgtEl>
                                          <p:spTgt spid="2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7" dur="500"/>
                                        <p:tgtEl>
                                          <p:spTgt spid="2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0" dur="500"/>
                                        <p:tgtEl>
                                          <p:spTgt spid="2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3" dur="500"/>
                                        <p:tgtEl>
                                          <p:spTgt spid="2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653076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de-DE" sz="3000" b="1" spc="-1" dirty="0">
                <a:solidFill>
                  <a:srgbClr val="003056"/>
                </a:solidFill>
                <a:latin typeface="Calibri"/>
              </a:rPr>
              <a:t> Summary: Fine-Tuning</a:t>
            </a:r>
            <a:endParaRPr lang="de-DE" sz="3000" b="1" strike="noStrike" spc="-1" dirty="0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254" name="PlaceHolder 2"/>
          <p:cNvSpPr>
            <a:spLocks noGrp="1"/>
          </p:cNvSpPr>
          <p:nvPr>
            <p:ph type="ftr" idx="55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255" name="PlaceHolder 3"/>
          <p:cNvSpPr>
            <a:spLocks noGrp="1"/>
          </p:cNvSpPr>
          <p:nvPr>
            <p:ph/>
          </p:nvPr>
        </p:nvSpPr>
        <p:spPr>
          <a:xfrm>
            <a:off x="684000" y="1052749"/>
            <a:ext cx="7775640" cy="4928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99415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 dirty="0">
                <a:solidFill>
                  <a:srgbClr val="003056"/>
                </a:solidFill>
                <a:latin typeface="Calibri"/>
              </a:rPr>
              <a:t>Difficult to define</a:t>
            </a:r>
          </a:p>
          <a:p>
            <a:pPr marL="856615" lvl="1" indent="-28575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1800" spc="-1" dirty="0">
                <a:solidFill>
                  <a:srgbClr val="003056"/>
                </a:solidFill>
                <a:latin typeface="Calibri"/>
              </a:rPr>
              <a:t>Generally, using pre-trained model PT on new task not seen during training</a:t>
            </a:r>
          </a:p>
          <a:p>
            <a:pPr marL="856615" lvl="1" indent="-28575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1800" spc="-1" dirty="0">
                <a:solidFill>
                  <a:srgbClr val="003056"/>
                </a:solidFill>
                <a:latin typeface="Calibri"/>
              </a:rPr>
              <a:t>May or may not imply updating pre-trained model parameters </a:t>
            </a:r>
            <a:r>
              <a:rPr lang="az-Cyrl-AZ" sz="1800" b="1" i="1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Ѳ</a:t>
            </a:r>
            <a:r>
              <a:rPr lang="az-Cyrl-AZ" sz="1800" i="1" spc="-1" baseline="-2500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PT</a:t>
            </a:r>
          </a:p>
          <a:p>
            <a:pPr marL="856615" lvl="1" indent="-28575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1800" spc="-1" dirty="0">
                <a:solidFill>
                  <a:srgbClr val="003056"/>
                </a:solidFill>
                <a:latin typeface="Calibri"/>
              </a:rPr>
              <a:t>Usually includes use of downstream model DM, e.g. classification head</a:t>
            </a:r>
          </a:p>
          <a:p>
            <a:pPr marL="856615" lvl="1" indent="-28575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1800" spc="-1" dirty="0">
                <a:solidFill>
                  <a:srgbClr val="003056"/>
                </a:solidFill>
                <a:latin typeface="Calibri"/>
              </a:rPr>
              <a:t>Parameters of downstream model </a:t>
            </a:r>
            <a:r>
              <a:rPr lang="az-Cyrl-AZ" sz="1800" b="1" i="1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Ѳ</a:t>
            </a:r>
            <a:r>
              <a:rPr lang="az-Cyrl-AZ" sz="1800" i="1" spc="-1" baseline="-2500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DM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 are definitely trained </a:t>
            </a:r>
          </a:p>
          <a:p>
            <a:pPr>
              <a:buClr>
                <a:srgbClr val="003056"/>
              </a:buClr>
            </a:pPr>
            <a:r>
              <a:rPr lang="en-US" sz="2000" b="1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Relevant questions when discussing fine-tuning: </a:t>
            </a:r>
            <a:endParaRPr lang="de-DE" sz="2000" spc="-1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800100" lvl="1">
              <a:lnSpc>
                <a:spcPct val="100000"/>
              </a:lnSpc>
              <a:spcBef>
                <a:spcPts val="360"/>
              </a:spcBef>
              <a:buFont typeface="Arial,Sans-Serif" panose="020B0604020202020204" pitchFamily="34" charset="0"/>
            </a:pP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Freezing or not freezing weights? Same or different training objective?</a:t>
            </a:r>
            <a:endParaRPr lang="en-US" sz="1800" spc="-1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800100" lvl="1">
              <a:lnSpc>
                <a:spcPct val="100000"/>
              </a:lnSpc>
              <a:spcBef>
                <a:spcPts val="360"/>
              </a:spcBef>
              <a:buFont typeface="Arial,Sans-Serif" panose="020B0604020202020204" pitchFamily="34" charset="0"/>
            </a:pP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Which downstream model? How does it interact with pre-trained model?</a:t>
            </a:r>
            <a:endParaRPr lang="en-US" sz="1800" spc="-1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800100" lvl="1">
              <a:lnSpc>
                <a:spcPct val="100000"/>
              </a:lnSpc>
              <a:spcBef>
                <a:spcPts val="360"/>
              </a:spcBef>
              <a:buFont typeface="Arial,Sans-Serif" panose="020B0604020202020204" pitchFamily="34" charset="0"/>
            </a:pP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How are downstream examples constructed/fed to model?</a:t>
            </a:r>
            <a:endParaRPr lang="en-US" sz="1800" spc="-1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342900">
              <a:lnSpc>
                <a:spcPct val="100000"/>
              </a:lnSpc>
              <a:spcBef>
                <a:spcPts val="360"/>
              </a:spcBef>
              <a:buFont typeface="Arial,Sans-Serif" panose="020B0604020202020204" pitchFamily="34" charset="0"/>
            </a:pPr>
            <a:r>
              <a:rPr lang="en-US" sz="2000" b="1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Parameter Efficient Fine-Tuning</a:t>
            </a:r>
            <a:r>
              <a:rPr lang="en-US" sz="20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 (PEFT)</a:t>
            </a:r>
          </a:p>
          <a:p>
            <a:pPr marL="800100" lvl="1">
              <a:lnSpc>
                <a:spcPct val="100000"/>
              </a:lnSpc>
              <a:spcBef>
                <a:spcPts val="360"/>
              </a:spcBef>
              <a:buFont typeface="Arial,Sans-Serif" panose="020B0604020202020204" pitchFamily="34" charset="0"/>
            </a:pP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Updating all model parameters </a:t>
            </a:r>
            <a:r>
              <a:rPr lang="az-Cyrl-AZ" sz="1800" b="1" i="1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Ѳ</a:t>
            </a:r>
            <a:r>
              <a:rPr lang="az-Cyrl-AZ" sz="1200" i="1" spc="-1" baseline="-2500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PT  </a:t>
            </a:r>
            <a:r>
              <a:rPr lang="az-Cyrl-AZ" sz="18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can be prohibitely expensive</a:t>
            </a:r>
          </a:p>
          <a:p>
            <a:pPr marL="800100" lvl="1">
              <a:lnSpc>
                <a:spcPct val="100000"/>
              </a:lnSpc>
              <a:spcBef>
                <a:spcPts val="360"/>
              </a:spcBef>
              <a:buFont typeface="Arial,Sans-Serif" panose="020B0604020202020204" pitchFamily="34" charset="0"/>
            </a:pP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PEFT: tune only subset of parameters of </a:t>
            </a:r>
            <a:r>
              <a:rPr lang="az-Cyrl-AZ" sz="1800" b="1" i="1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Ѳ</a:t>
            </a:r>
            <a:r>
              <a:rPr lang="az-Cyrl-AZ" sz="1800" i="1" spc="-1" baseline="-2500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PT</a:t>
            </a:r>
            <a:r>
              <a:rPr lang="az-Cyrl-AZ" sz="1200" i="1" spc="-1" baseline="-2500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, or new added parameters </a:t>
            </a:r>
            <a:r>
              <a:rPr lang="az-Cyrl-AZ" sz="1800" b="1" i="1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Ѳ</a:t>
            </a:r>
            <a:r>
              <a:rPr lang="az-Cyrl-AZ" sz="1800" i="1" spc="-1" baseline="-2500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FT </a:t>
            </a:r>
          </a:p>
          <a:p>
            <a:pPr marL="399415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20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Most common PEFT approaches: </a:t>
            </a:r>
            <a:r>
              <a:rPr lang="en-US" sz="2000" b="1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adapters, </a:t>
            </a:r>
            <a:r>
              <a:rPr lang="en-US" sz="2000" b="1" spc="-1" dirty="0" err="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LoRA</a:t>
            </a:r>
            <a:endParaRPr lang="en-US" sz="2000" spc="-1">
              <a:solidFill>
                <a:srgbClr val="003056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3CFABC27-89D8-49C7-A6D6-BA564C453FE9}" type="slidenum">
              <a:t>63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9375043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5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5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5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5" grpId="0" build="p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617364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References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7" name="PlaceHolder 2"/>
          <p:cNvSpPr>
            <a:spLocks noGrp="1"/>
          </p:cNvSpPr>
          <p:nvPr>
            <p:ph type="ftr" idx="56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258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4673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742950" lvl="1" indent="-28575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Speech and Language Processing, </a:t>
            </a:r>
            <a:r>
              <a:rPr lang="en-US" sz="2000" b="0" strike="noStrike" spc="-1" dirty="0" err="1">
                <a:solidFill>
                  <a:srgbClr val="003056"/>
                </a:solidFill>
                <a:latin typeface="Calibri"/>
              </a:rPr>
              <a:t>Jurafsky</a:t>
            </a: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 et al., </a:t>
            </a:r>
            <a:r>
              <a:rPr lang="en-US" sz="2000" spc="-1" dirty="0">
                <a:solidFill>
                  <a:srgbClr val="003056"/>
                </a:solidFill>
                <a:latin typeface="Calibri"/>
              </a:rPr>
              <a:t>2024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1143000" lvl="2" indent="-2286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Chapters 10 and 11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Natural Language Processing: A Machine Learning Perspective, Zhang et al., 2021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1143000" lvl="2" indent="-2286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Chapter 17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References linked in corresponding slides</a:t>
            </a:r>
          </a:p>
          <a:p>
            <a:pPr marL="28575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2400" spc="-1" dirty="0">
              <a:solidFill>
                <a:srgbClr val="003056"/>
              </a:solidFill>
              <a:latin typeface="Calibri"/>
            </a:endParaRPr>
          </a:p>
          <a:p>
            <a:pPr marL="57150" indent="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None/>
            </a:pPr>
            <a:r>
              <a:rPr lang="en-US" sz="2400" spc="-1" dirty="0">
                <a:solidFill>
                  <a:srgbClr val="003056"/>
                </a:solidFill>
                <a:latin typeface="Calibri"/>
              </a:rPr>
              <a:t>            </a:t>
            </a:r>
            <a:r>
              <a:rPr lang="en-GB" sz="20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© University of Mannheim</a:t>
            </a:r>
          </a:p>
          <a:p>
            <a:pPr marL="742950" lvl="1" indent="-28575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2000" spc="-1" dirty="0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r>
              <a:rPr lang="en-US" dirty="0"/>
              <a:t>64</a:t>
            </a:r>
            <a:endParaRPr dirty="0"/>
          </a:p>
        </p:txBody>
      </p:sp>
      <p:pic>
        <p:nvPicPr>
          <p:cNvPr id="2" name="Picture 1" descr="A logo for a university&#10;&#10;AI-generated content may be incorrect.">
            <a:extLst>
              <a:ext uri="{FF2B5EF4-FFF2-40B4-BE49-F238E27FC236}">
                <a16:creationId xmlns:a16="http://schemas.microsoft.com/office/drawing/2014/main" id="{1C5D9195-2E8F-0B69-DEF9-6D1E96EA40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4596" y="3352521"/>
            <a:ext cx="2000250" cy="9429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500"/>
                                        <p:tgtEl>
                                          <p:spTgt spid="2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0" dur="500"/>
                                        <p:tgtEl>
                                          <p:spTgt spid="2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3" dur="500"/>
                                        <p:tgtEl>
                                          <p:spTgt spid="2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6" dur="500"/>
                                        <p:tgtEl>
                                          <p:spTgt spid="2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9" dur="500"/>
                                        <p:tgtEl>
                                          <p:spTgt spid="2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2" dur="500"/>
                                        <p:tgtEl>
                                          <p:spTgt spid="25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4356</Words>
  <Application>Microsoft Office PowerPoint</Application>
  <PresentationFormat>On-screen Show (4:3)</PresentationFormat>
  <Paragraphs>697</Paragraphs>
  <Slides>64</Slides>
  <Notes>0</Notes>
  <HiddenSlides>0</HiddenSlide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64</vt:i4>
      </vt:variant>
    </vt:vector>
  </HeadingPairs>
  <TitlesOfParts>
    <vt:vector size="67" baseType="lpstr">
      <vt:lpstr>Office Theme</vt:lpstr>
      <vt:lpstr>Office Theme</vt:lpstr>
      <vt:lpstr>Office Theme</vt:lpstr>
      <vt:lpstr>Advanced Methods in Text Analytics</vt:lpstr>
      <vt:lpstr>What is Transfer Learning?</vt:lpstr>
      <vt:lpstr>But First, a Word on Tokenization</vt:lpstr>
      <vt:lpstr>Outline</vt:lpstr>
      <vt:lpstr>PowerPoint Presentation</vt:lpstr>
      <vt:lpstr>Pre-Training Methods</vt:lpstr>
      <vt:lpstr>Encoder-Only and Decoder-Only</vt:lpstr>
      <vt:lpstr>Recap: Self-Attention Layer (1)</vt:lpstr>
      <vt:lpstr>Recap: Self-Attention Layer (2)</vt:lpstr>
      <vt:lpstr> The Language Modeling Head (1)</vt:lpstr>
      <vt:lpstr> The Language Modeling Head (2)</vt:lpstr>
      <vt:lpstr>Transformer-Based LMs</vt:lpstr>
      <vt:lpstr>PowerPoint Presentation</vt:lpstr>
      <vt:lpstr>Masked Language Models (1)</vt:lpstr>
      <vt:lpstr>Masked Language Models (2)</vt:lpstr>
      <vt:lpstr>Training Masked Language Models (1)</vt:lpstr>
      <vt:lpstr>Training Masked Language Models (2)</vt:lpstr>
      <vt:lpstr>The BERT Model (1)</vt:lpstr>
      <vt:lpstr>The BERT Model (2)</vt:lpstr>
      <vt:lpstr>Pre-Training BERT (1)</vt:lpstr>
      <vt:lpstr>Pre-Training BERT (2)</vt:lpstr>
      <vt:lpstr>Pre-Training BERT (3)</vt:lpstr>
      <vt:lpstr>Fine-Tuning BERT (1)</vt:lpstr>
      <vt:lpstr>Fine-Tuning BERT (2)</vt:lpstr>
      <vt:lpstr>Variations of BERT (1)</vt:lpstr>
      <vt:lpstr>Variations of BERT (2)</vt:lpstr>
      <vt:lpstr>PowerPoint Presentation</vt:lpstr>
      <vt:lpstr>Autoregressive Text Generation</vt:lpstr>
      <vt:lpstr>Beam Search (1)</vt:lpstr>
      <vt:lpstr>Beam Search (2)</vt:lpstr>
      <vt:lpstr>Beam Search (3)</vt:lpstr>
      <vt:lpstr>Beam Search (4)</vt:lpstr>
      <vt:lpstr>Causal Language Models</vt:lpstr>
      <vt:lpstr>Training Causal Language Models</vt:lpstr>
      <vt:lpstr>Generative Pre-Trained Transformer</vt:lpstr>
      <vt:lpstr>GPT Architecture, Training, Fine-Tuning</vt:lpstr>
      <vt:lpstr>GPT Variants</vt:lpstr>
      <vt:lpstr>Other Transformer-Based Models</vt:lpstr>
      <vt:lpstr>Which Architecture is Best?</vt:lpstr>
      <vt:lpstr>The BERT Legacy</vt:lpstr>
      <vt:lpstr>Summary: Pre-Training</vt:lpstr>
      <vt:lpstr>PowerPoint Presentation</vt:lpstr>
      <vt:lpstr>What is Fine-Tuning?</vt:lpstr>
      <vt:lpstr>To Update or Not to Update (1)</vt:lpstr>
      <vt:lpstr>To Update or Not to Update (2)</vt:lpstr>
      <vt:lpstr>Types of Downstream Tasks</vt:lpstr>
      <vt:lpstr>Sequence Classification (1)</vt:lpstr>
      <vt:lpstr>Sequence Classification (2)</vt:lpstr>
      <vt:lpstr>Sequence Classification (3)</vt:lpstr>
      <vt:lpstr>Pair-Wise Sequence Classification</vt:lpstr>
      <vt:lpstr>Sequence Labeling</vt:lpstr>
      <vt:lpstr>How Feasible is Fine-Tuning?</vt:lpstr>
      <vt:lpstr>Parameter Efficient Fine-Tuning</vt:lpstr>
      <vt:lpstr>Adapters (1)</vt:lpstr>
      <vt:lpstr>Adapters (2)</vt:lpstr>
      <vt:lpstr>Adapters (3)</vt:lpstr>
      <vt:lpstr>Adapters (4)</vt:lpstr>
      <vt:lpstr>Low-Rank Adaptation (1)</vt:lpstr>
      <vt:lpstr>Low-Rank Adaptation (2)</vt:lpstr>
      <vt:lpstr>Prompt Tuning (1)</vt:lpstr>
      <vt:lpstr>Prompt Tuning (2)</vt:lpstr>
      <vt:lpstr>Another Perspective on Tasks</vt:lpstr>
      <vt:lpstr> Summary: Fine-Tuning</vt:lpstr>
      <vt:lpstr>References</vt:lpstr>
    </vt:vector>
  </TitlesOfParts>
  <Company>Uni-Mannheim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subject/>
  <dc:creator>Koschorreck, Maartje</dc:creator>
  <dc:description/>
  <cp:lastModifiedBy/>
  <cp:revision>4725</cp:revision>
  <dcterms:created xsi:type="dcterms:W3CDTF">2018-06-20T08:14:01Z</dcterms:created>
  <dcterms:modified xsi:type="dcterms:W3CDTF">2026-03-24T11:32:20Z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Bildschirmpräsentation (4:3)</vt:lpwstr>
  </property>
  <property fmtid="{D5CDD505-2E9C-101B-9397-08002B2CF9AE}" pid="3" name="Slides">
    <vt:i4>50</vt:i4>
  </property>
</Properties>
</file>