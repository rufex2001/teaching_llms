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sldIdLst>
    <p:sldId id="325" r:id="rId4"/>
    <p:sldId id="257" r:id="rId5"/>
    <p:sldId id="258" r:id="rId6"/>
    <p:sldId id="259" r:id="rId7"/>
    <p:sldId id="260" r:id="rId8"/>
    <p:sldId id="261" r:id="rId9"/>
    <p:sldId id="262" r:id="rId10"/>
    <p:sldId id="264" r:id="rId11"/>
    <p:sldId id="306" r:id="rId12"/>
    <p:sldId id="310" r:id="rId13"/>
    <p:sldId id="312" r:id="rId14"/>
    <p:sldId id="313" r:id="rId15"/>
    <p:sldId id="263" r:id="rId16"/>
    <p:sldId id="265" r:id="rId17"/>
    <p:sldId id="266" r:id="rId18"/>
    <p:sldId id="308" r:id="rId19"/>
    <p:sldId id="309" r:id="rId20"/>
    <p:sldId id="267" r:id="rId21"/>
    <p:sldId id="268" r:id="rId22"/>
    <p:sldId id="269" r:id="rId23"/>
    <p:sldId id="270" r:id="rId24"/>
    <p:sldId id="271" r:id="rId25"/>
    <p:sldId id="272" r:id="rId26"/>
    <p:sldId id="322" r:id="rId27"/>
    <p:sldId id="273" r:id="rId28"/>
    <p:sldId id="274" r:id="rId29"/>
    <p:sldId id="275" r:id="rId30"/>
    <p:sldId id="314" r:id="rId31"/>
    <p:sldId id="278" r:id="rId32"/>
    <p:sldId id="315" r:id="rId33"/>
    <p:sldId id="279" r:id="rId34"/>
    <p:sldId id="320" r:id="rId35"/>
    <p:sldId id="316" r:id="rId36"/>
    <p:sldId id="276" r:id="rId37"/>
    <p:sldId id="281" r:id="rId38"/>
    <p:sldId id="282" r:id="rId39"/>
    <p:sldId id="283" r:id="rId40"/>
    <p:sldId id="284" r:id="rId41"/>
    <p:sldId id="285" r:id="rId42"/>
    <p:sldId id="321" r:id="rId43"/>
    <p:sldId id="317" r:id="rId44"/>
    <p:sldId id="286" r:id="rId45"/>
    <p:sldId id="287" r:id="rId46"/>
    <p:sldId id="288" r:id="rId47"/>
    <p:sldId id="318" r:id="rId48"/>
    <p:sldId id="289" r:id="rId49"/>
    <p:sldId id="290" r:id="rId50"/>
    <p:sldId id="291" r:id="rId51"/>
    <p:sldId id="292" r:id="rId52"/>
    <p:sldId id="293" r:id="rId53"/>
    <p:sldId id="294" r:id="rId54"/>
    <p:sldId id="295" r:id="rId55"/>
    <p:sldId id="296" r:id="rId56"/>
    <p:sldId id="297" r:id="rId57"/>
    <p:sldId id="298" r:id="rId58"/>
    <p:sldId id="299" r:id="rId59"/>
    <p:sldId id="300" r:id="rId60"/>
    <p:sldId id="301" r:id="rId61"/>
    <p:sldId id="323" r:id="rId62"/>
    <p:sldId id="302" r:id="rId63"/>
    <p:sldId id="303" r:id="rId64"/>
    <p:sldId id="304" r:id="rId65"/>
    <p:sldId id="319" r:id="rId66"/>
    <p:sldId id="305" r:id="rId67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E8CC16-E2D4-DEE5-B515-1ED231928F58}" v="19" dt="2025-09-10T12:51:01.2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presProps" Target="presProps.xml"/><Relationship Id="rId7" Type="http://schemas.openxmlformats.org/officeDocument/2006/relationships/slide" Target="slides/slide4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microsoft.com/office/2015/10/relationships/revisionInfo" Target="revisionInfo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962DD0A-602E-4A8F-89E9-B5BC79E82EB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A0FE0AE-2EE7-4E62-B146-6AC7D4E175D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566C2B0-62E4-49E4-9CDF-EFAC2364D94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3A2B7A6-C85B-4A8E-93FE-6C0C6A6DA2C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47E21B8-A36B-47DB-9F79-F8681486043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7C57CF-587B-4151-93CA-E32D3D0DCE6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1446D9B-9695-4A1D-9F05-27136DBC976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7930181-C612-40B6-A269-DA662507F97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3639E02-CD6E-4C4C-BD65-F484B62E467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B8071A7-AAB2-4142-8B26-14510BE3A9D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EC1B05F-A6D8-4B0C-AFDD-5B44EF54815D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C15D7FD-F6E9-4186-A92C-04C328ADD910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85C51A9-11D2-458D-8645-63E621A6F6F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B19E80-1C3F-4330-A67B-A0A012D7613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4CF991-389C-4C0A-8758-72D98B55D15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4B07C55-1B8E-4F31-8A1A-215D3BD75E4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AC540A3-B7D8-448F-B0EC-AD3C1E5B3C5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B172534-CF53-4E71-ABE5-BE348BF112F6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7C3BC56-5075-4239-B0CC-510B2CC9F7F9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80D29BB-0E38-4184-8319-9FB76EAF6B2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2E5CC00-36F9-4ADA-956C-51A70F9F4FA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4CD824A-A5EF-4880-96C0-09D23DDADC5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E639DCF-5707-43B0-BE1A-27A2BDB1265E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032B626-9F61-4F59-85BE-466A00186FE1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CFC3136-9EB3-4F92-BBC0-FBCC2B4795D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823245F-13E0-4EA2-8547-C016672FFEA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1149CE-8790-4EF0-9D77-76EE4D55648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B0AFF47-A613-4AD4-8709-E6FB8D44531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342FD9B-9DA9-4577-91B7-A03DA30A6B2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8BA856D-BB37-4986-87A8-E8A0C53A31D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09C7EE7-3FBC-4E80-B370-0CCAA72E0D4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D5871A-3409-4E1D-A922-23F5D052278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C200855-B0F1-4E05-9058-C1E1B01F34A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B7EB0DD-DFCA-4257-AE6A-42797DDE95C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0095FB3-FA80-493D-89B6-D41426A6FA4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0E6E15-24AE-4A45-A7DF-6FBE4474F20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C8508E-B35F-4A56-8FD3-AC0DEAF0C572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0BE7103-EC84-4A0B-B05A-777F461E2598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4C143E-6237-4F72-A38B-0520E408C469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801.06146.pdf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ic.googleusercontent.com/media/research.google.com/en/pubs/archive/37842.pdf" TargetMode="External"/><Relationship Id="rId2" Type="http://schemas.openxmlformats.org/officeDocument/2006/relationships/hyperlink" Target="https://arxiv.org/abs/1508.07909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1808.06226.pdf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rxiv.org/abs/1608.05859" TargetMode="Externa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wern.net/doc/psychology/writing/1953-taylor.pdf" TargetMode="Externa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810.04805.pdf" TargetMode="Externa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609.08144.pdf" TargetMode="Externa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7.10529.pdf" TargetMode="External"/><Relationship Id="rId2" Type="http://schemas.openxmlformats.org/officeDocument/2006/relationships/hyperlink" Target="https://arxiv.org/pdf/1907.11692.pdf" TargetMode="Externa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arxiv.org/pdf/1908.10084.pdf" TargetMode="Externa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610.02424" TargetMode="External"/><Relationship Id="rId2" Type="http://schemas.openxmlformats.org/officeDocument/2006/relationships/hyperlink" Target="https://arxiv.org/pdf/1601.00372" TargetMode="Externa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cdn.openai.com/research-covers/language-unsupervised/language_understanding_paper.pdf" TargetMode="Externa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5.14165.pdf" TargetMode="External"/><Relationship Id="rId2" Type="http://schemas.openxmlformats.org/officeDocument/2006/relationships/hyperlink" Target="https://cdn.openai.com/better-language-models/language_models_are_unsupervised_multitask_learners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pdf/1904.10509.pdf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review.net/pdf?id=r1xMH1BtvB" TargetMode="External"/><Relationship Id="rId2" Type="http://schemas.openxmlformats.org/officeDocument/2006/relationships/hyperlink" Target="https://arxiv.org/pdf/1910.10683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412.13663" TargetMode="External"/><Relationship Id="rId2" Type="http://schemas.openxmlformats.org/officeDocument/2006/relationships/hyperlink" Target="https://huggingface.co/models?sort=downloads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arxiv.org/pdf/2502.19587" TargetMode="External"/><Relationship Id="rId5" Type="http://schemas.openxmlformats.org/officeDocument/2006/relationships/hyperlink" Target="https://arxiv.org/pdf/2509.06888" TargetMode="External"/><Relationship Id="rId4" Type="http://schemas.openxmlformats.org/officeDocument/2006/relationships/hyperlink" Target="https://arxiv.org/pdf/2408.00118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://fancyerii.github.io/2022/10/24/learn-huggingface-transformers02/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llama.meta.com/llama3/" TargetMode="Externa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://proceedings.mlr.press/v97/houlsby19a/houlsby19a.pdf" TargetMode="External"/><Relationship Id="rId2" Type="http://schemas.openxmlformats.org/officeDocument/2006/relationships/hyperlink" Target="https://proceedings.neurips.cc/paper_files/paper/2017/file/e7b24b112a44fdd9ee93bdf998c6ca0e-Paper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5.00247" TargetMode="External"/><Relationship Id="rId2" Type="http://schemas.openxmlformats.org/officeDocument/2006/relationships/hyperlink" Target="https://aclanthology.org/D19-1165.pdf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arxiv.org/pdf/2106.09685.pdf" TargetMode="External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openreview.net/pdf?id=z9EkXfvxta" TargetMode="External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arxiv.org/pdf/2104.08691.pdf" TargetMode="External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10.07602.pdf" TargetMode="External"/><Relationship Id="rId2" Type="http://schemas.openxmlformats.org/officeDocument/2006/relationships/hyperlink" Target="https://aclanthology.org/2021.acl-long.353.pdf" TargetMode="Externa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6924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tabLst>
                <a:tab pos="0" algn="l"/>
              </a:tabLst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Transfer Learning</a:t>
            </a:r>
            <a:endParaRPr lang="en-US" sz="3000" b="0" strike="noStrike" spc="-1" dirty="0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78A2266-F34C-47F6-BEA5-1DDF729F4A51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4810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Transfer Learning?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“Acquiring knowledge from one task or domain, and then applying it (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transferring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it) to solve a new task.”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2025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Common approach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follows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two-steps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Howard and Ruder, 2018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Pre-training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model on some tasks that “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allows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” model to learn rich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Fine-tuning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the learned representations (weights) in the context of a new downstream application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Why is it called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pre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-training?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Train model for general use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before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using it on specific applications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Fine-tuning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refers to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further updating weights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pre-trained model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Downstream task usually implies using a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downstream model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combination with the pre-trained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Updating weights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may result in “catastrophic forgetting”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Focus this week: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pre-training tasks and architectures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Next week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 fine-tuning methods and applications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6BA57D-F94E-4042-A44D-1E6FA0D3A49E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But First, a Word on Tokenization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Recall introduction lecture: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tokenization is important!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Should we tokenize words? What are words?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Should we tokenize characters? What meaning do they encode?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Nice sweet spot: tokenize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subwords</a:t>
            </a:r>
            <a:endParaRPr lang="de-DE" sz="20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unlikeliest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-&gt;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un-likely-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est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a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morpheme, i.e. a meaning-bearing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unit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Byte-Pair Encoding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Sennrich et al. 2016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): very common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subword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tokenizer, roughly as follows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Starting vocabulary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set of characters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Find most common two-character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subword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create token for it, add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Keep finding common and longer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subwords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until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new tokens are created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can handle unknown words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by breaking them into characters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Variants exist, e.g. 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WordPiece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4"/>
              </a:rPr>
              <a:t>SentencePiece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Tokenization is the focus of an entire future lecture</a:t>
            </a:r>
            <a:endParaRPr lang="de-DE" sz="200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35486B5-FEA3-4FBC-8390-FF95CFC976B3}" type="slidenum">
              <a:t>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9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9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9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2400" b="1" strike="noStrike" spc="-1" dirty="0">
                <a:solidFill>
                  <a:srgbClr val="003056"/>
                </a:solidFill>
                <a:latin typeface="Calibri"/>
              </a:rPr>
              <a:t>Pre-Training</a:t>
            </a:r>
            <a:endParaRPr lang="en-US" sz="2400" b="1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Transformer-based language models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Masked Language Models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Causal (or Autoregressive) Language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Models</a:t>
            </a:r>
            <a:endParaRPr lang="de-D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400" b="1" spc="-1" dirty="0">
                <a:solidFill>
                  <a:srgbClr val="003056"/>
                </a:solidFill>
                <a:latin typeface="Calibri"/>
              </a:rPr>
              <a:t> Fine-Tuning</a:t>
            </a: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F1E7751-1D71-4EF6-94DE-605937CA22BF}" type="slidenum">
              <a:t>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Pre-Training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4D3C2A7-3D96-4B67-8365-34C7C8CCF740}" type="slidenum">
              <a:t>5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Pre-Training Methods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84000" y="1136413"/>
            <a:ext cx="7775640" cy="50025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Take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skip-gram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as an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example of pre-training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learn useful (static) 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predict whether two words are likely to be in context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other words, the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actual goal is not necessarily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solving the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There are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tasks for pre-training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a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different training objective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Multi-task training possible, e.g. objective is linear combination of tasks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Most common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pre-training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tasks/approaches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Masked Language Models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(MLMs)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Causal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(or Autoregressive) Language Models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(CLMs)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Different task -&gt; usually different architecture and objective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MLM: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BERT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encoder-only transformer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CLM: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GPTs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decoder-only transformer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Other variants exist, all based on the transformer architecture</a:t>
            </a: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First: transformer-based LMs, then: MLMs and CLMs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9846575-361F-4CED-B35D-8DAD2376AD8B}" type="slidenum">
              <a:t>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Encoder-Only and Decoder-Only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03056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Recall the transformer architecture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Encoder-decoder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Some models use only the encoder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tokenized input sequence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contextualized input tokens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Other models use only the decoder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start symbol, previous outputs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new generated word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Both can be stacked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06" name="Grafik 6" descr="transformer_1.png"/>
          <p:cNvPicPr/>
          <p:nvPr/>
        </p:nvPicPr>
        <p:blipFill>
          <a:blip r:embed="rId2"/>
          <a:stretch/>
        </p:blipFill>
        <p:spPr>
          <a:xfrm>
            <a:off x="5143680" y="1214280"/>
            <a:ext cx="3317400" cy="48574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5E2662D-6030-49C0-8C48-3F5431852FC3}" type="slidenum">
              <a:t>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Recap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: Self-Attention Layer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Input: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sequence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tokens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tokens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(here,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bidirectional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Layer is parameterized by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dirty="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a transformation for using tokens as: queries, keys, values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same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words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gets different representations based on context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“They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broke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tears when they heard they got the new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flat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“They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broke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world record by 2 seconds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flat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5A0C99-E069-40FD-B134-F90C03E5ACDD}" type="slidenum">
              <a:t>8</a:t>
            </a:fld>
            <a:endParaRPr/>
          </a:p>
        </p:txBody>
      </p:sp>
      <p:pic>
        <p:nvPicPr>
          <p:cNvPr id="2" name="Picture 1" descr="A diagram of a machine learning&#10;&#10;Description automatically generated">
            <a:extLst>
              <a:ext uri="{FF2B5EF4-FFF2-40B4-BE49-F238E27FC236}">
                <a16:creationId xmlns:a16="http://schemas.microsoft.com/office/drawing/2014/main" id="{5E8E05A5-316E-7BE7-ACDD-97637AC48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175" y="1826485"/>
            <a:ext cx="4819650" cy="235730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Recap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: Self-Attention Layer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(2)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Self-attention can also be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causal</a:t>
            </a:r>
            <a:endParaRPr lang="en-US" sz="2000" spc="-1" dirty="0" err="1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Token at time step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attends only to previous inputs (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&lt; 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Input and output still the same as any self-attention layer</a:t>
            </a:r>
            <a:endParaRPr lang="en-US" dirty="0"/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"context"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of each output embedding is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only inputs from previous steps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Recall that without positional embeddings, there is no "time"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5A0C99-E069-40FD-B134-F90C03E5ACDD}" type="slidenum">
              <a:t>9</a:t>
            </a:fld>
            <a:endParaRPr/>
          </a:p>
        </p:txBody>
      </p:sp>
      <p:pic>
        <p:nvPicPr>
          <p:cNvPr id="3" name="Picture 2" descr="A diagram of a algorithm&#10;&#10;Description automatically generated">
            <a:extLst>
              <a:ext uri="{FF2B5EF4-FFF2-40B4-BE49-F238E27FC236}">
                <a16:creationId xmlns:a16="http://schemas.microsoft.com/office/drawing/2014/main" id="{AB289EA1-6688-4913-E5B3-53E9F36EA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846977"/>
            <a:ext cx="5734050" cy="2773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3845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The Language Modeling Head (1)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84000" y="1148953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transformer block/layer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typically outputs token representations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Transformer block/layer = self-attention + MLP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Output embeddings are same size as input embeddings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Can either be a sequence in encoder-only models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Or a single token per time-step in decoder-only models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How do we turn these outputs into a language model?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Each representation fed to a "classification head" (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 downstream model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Classification head: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layer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that projects to space of possible classes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Language modeling head: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projects to vocabulary space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I.e. same mechanism used for language modeling with RNNs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If the 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task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is to 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predict next word: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Feed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representation of input at time step 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to LM head to predict word at time step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t + 1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Let's visualize this!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5A0C99-E069-40FD-B134-F90C03E5ACDD}" type="slidenum"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30894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The Language Modeling Head (2)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89953" y="1071562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i="1" spc="-1" baseline="30000" dirty="0" err="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100" spc="-1" dirty="0">
                <a:solidFill>
                  <a:srgbClr val="202122"/>
                </a:solidFill>
                <a:ea typeface="+mn-lt"/>
                <a:cs typeface="+mn-lt"/>
              </a:rPr>
              <a:t>∈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 R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is output embedding of block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L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at time step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N</a:t>
            </a:r>
            <a:endParaRPr lang="en-US" sz="2000" i="1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Unembedding layer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 dirty="0">
                <a:solidFill>
                  <a:srgbClr val="202122"/>
                </a:solidFill>
                <a:latin typeface="Arial"/>
                <a:cs typeface="Arial"/>
              </a:rPr>
              <a:t>∈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R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 x |V|</a:t>
            </a:r>
            <a:r>
              <a:rPr lang="en-US" sz="13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projects 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from 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to 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|V|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(vocabulary space)</a:t>
            </a:r>
            <a:endParaRPr lang="en-US" sz="20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Output is logits, used as input to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(no weights)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is same size as initial (static) embedding layer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E </a:t>
            </a:r>
            <a:r>
              <a:rPr lang="en-US" sz="1600" spc="-1" dirty="0">
                <a:solidFill>
                  <a:srgbClr val="202122"/>
                </a:solidFill>
                <a:latin typeface="Arial"/>
                <a:cs typeface="Arial"/>
              </a:rPr>
              <a:t>∈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R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|V| x d</a:t>
            </a:r>
            <a:endParaRPr lang="en-US" sz="1800" i="1" spc="-1" dirty="0">
              <a:solidFill>
                <a:srgbClr val="003056"/>
              </a:solidFill>
              <a:latin typeface="DejaVu Sans"/>
              <a:ea typeface="Calibri"/>
              <a:cs typeface="Arial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Hence, we usually set to be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U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(weight tying,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Press et al. 2017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Weight tying: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use same matrix as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and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U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 known to improve performance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5A0C99-E069-40FD-B134-F90C03E5ACDD}" type="slidenum">
              <a:t>11</a:t>
            </a:fld>
            <a:endParaRPr/>
          </a:p>
        </p:txBody>
      </p:sp>
      <p:pic>
        <p:nvPicPr>
          <p:cNvPr id="2" name="Picture 1" descr="A diagram of a machine&#10;&#10;Description automatically generated">
            <a:extLst>
              <a:ext uri="{FF2B5EF4-FFF2-40B4-BE49-F238E27FC236}">
                <a16:creationId xmlns:a16="http://schemas.microsoft.com/office/drawing/2014/main" id="{E92DE11D-AA71-C875-B34C-F9F3B4B05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470" y="1144865"/>
            <a:ext cx="6209108" cy="259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54461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Transformer-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Based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LMs</a:t>
            </a:r>
          </a:p>
        </p:txBody>
      </p:sp>
      <p:sp>
        <p:nvSpPr>
          <p:cNvPr id="111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99439" y="1062077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All together: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(Static) input embeddings </a:t>
            </a:r>
            <a:r>
              <a:rPr lang="en-US" sz="1600" b="1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E</a:t>
            </a:r>
            <a:r>
              <a:rPr lang="en-US" sz="16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[</a:t>
            </a:r>
            <a:r>
              <a:rPr lang="en-US" sz="1600" i="1" spc="-1" dirty="0" err="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w</a:t>
            </a:r>
            <a:r>
              <a:rPr lang="en-US" sz="1600" i="1" spc="-1" baseline="-25000" dirty="0" err="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i</a:t>
            </a:r>
            <a:r>
              <a:rPr lang="en-US" sz="16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]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Positional embeddings </a:t>
            </a:r>
            <a:r>
              <a:rPr lang="en-US" sz="1600" b="1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p</a:t>
            </a:r>
            <a:r>
              <a:rPr lang="en-US" sz="1600" i="1" spc="-1" baseline="-25000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i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(added)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L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transformer layers (blocks)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Language model head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For each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transformer layer/block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Input: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sequence of embeddings of size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Output: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sequence of embeddings of size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d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For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language model head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Input: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single embedding of size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Output:</a:t>
            </a: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 probability of each token in vocab.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V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Input to downstream model depends on task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E.g. for sequence classification, we need to</a:t>
            </a:r>
          </a:p>
          <a:p>
            <a:pPr marL="51435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   represent entire input sequence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spc="-1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For sequence labelling, each token </a:t>
            </a:r>
          </a:p>
          <a:p>
            <a:pPr marL="51435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600" spc="-1" dirty="0">
                <a:solidFill>
                  <a:srgbClr val="003056"/>
                </a:solidFill>
                <a:latin typeface="Calibri"/>
                <a:ea typeface="Calibri"/>
                <a:cs typeface="Arial"/>
              </a:rPr>
              <a:t>   representation is classified</a:t>
            </a:r>
            <a:endParaRPr lang="en-US" dirty="0"/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 dirty="0">
              <a:solidFill>
                <a:srgbClr val="003056"/>
              </a:solidFill>
              <a:latin typeface="Calibri"/>
              <a:ea typeface="Calibri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  <a:ea typeface="Calibri"/>
              <a:cs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5A0C99-E069-40FD-B134-F90C03E5ACDD}" type="slidenum">
              <a:t>12</a:t>
            </a:fld>
            <a:endParaRPr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82DD943-4F0B-3B06-A024-1457D61E8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9" y="1134437"/>
            <a:ext cx="3462849" cy="499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87866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Masked Language Models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10AB569-A09B-4E69-B5DE-1A9092975EE9}" type="slidenum">
              <a:t>13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Masked Language Models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Using information about the future in a sequence is often not suitable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in text generation, we use past generated words to generate new ones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don’t want to train a model to use information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that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isn't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available at inference time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often the entire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input sequence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is available during inference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!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in machine translation we get an entire document to translate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 dialogue scenarios, we get entire input from user at each turn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looking at subsequent tokens can be useful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certain tasks </a:t>
            </a:r>
            <a:endParaRPr lang="de-DE" sz="2000" b="1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Tasks that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require labeling each sequence element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(token-level classification)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part-of-speech tagging (adjectives come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before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nouns in English)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Generally, we obtain richer representations by using more context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With transformers,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we control that in the self-attention layers</a:t>
            </a:r>
            <a:endParaRPr lang="de-DE" sz="20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spc="-1" err="1">
                <a:solidFill>
                  <a:srgbClr val="003056"/>
                </a:solidFill>
                <a:latin typeface="Calibri"/>
              </a:rPr>
              <a:t>If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we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can't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look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at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future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tokens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: </a:t>
            </a:r>
            <a:r>
              <a:rPr lang="de-DE" sz="1800" b="1" spc="-1" err="1">
                <a:solidFill>
                  <a:srgbClr val="003056"/>
                </a:solidFill>
                <a:latin typeface="Calibri"/>
              </a:rPr>
              <a:t>causal</a:t>
            </a:r>
            <a:r>
              <a:rPr lang="de-DE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b="1" spc="-1" err="1">
                <a:solidFill>
                  <a:srgbClr val="003056"/>
                </a:solidFill>
                <a:latin typeface="Calibri"/>
              </a:rPr>
              <a:t>self</a:t>
            </a:r>
            <a:r>
              <a:rPr lang="de-DE" sz="1800" b="1" spc="-1" dirty="0">
                <a:solidFill>
                  <a:srgbClr val="003056"/>
                </a:solidFill>
                <a:latin typeface="Calibri"/>
              </a:rPr>
              <a:t>-attention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spc="-1" dirty="0" err="1">
                <a:solidFill>
                  <a:srgbClr val="003056"/>
                </a:solidFill>
                <a:latin typeface="Calibri"/>
              </a:rPr>
              <a:t>If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dirty="0" err="1">
                <a:solidFill>
                  <a:srgbClr val="003056"/>
                </a:solidFill>
                <a:latin typeface="Calibri"/>
              </a:rPr>
              <a:t>we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dirty="0" err="1">
                <a:solidFill>
                  <a:srgbClr val="003056"/>
                </a:solidFill>
                <a:latin typeface="Calibri"/>
              </a:rPr>
              <a:t>can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dirty="0" err="1">
                <a:solidFill>
                  <a:srgbClr val="003056"/>
                </a:solidFill>
                <a:latin typeface="Calibri"/>
              </a:rPr>
              <a:t>look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at </a:t>
            </a:r>
            <a:r>
              <a:rPr lang="de-DE" sz="1800" spc="-1" dirty="0" err="1">
                <a:solidFill>
                  <a:srgbClr val="003056"/>
                </a:solidFill>
                <a:latin typeface="Calibri"/>
              </a:rPr>
              <a:t>future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dirty="0" err="1">
                <a:solidFill>
                  <a:srgbClr val="003056"/>
                </a:solidFill>
                <a:latin typeface="Calibri"/>
              </a:rPr>
              <a:t>tokens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: </a:t>
            </a:r>
            <a:r>
              <a:rPr lang="de-DE" sz="1800" b="1" spc="-1" dirty="0" err="1">
                <a:solidFill>
                  <a:srgbClr val="003056"/>
                </a:solidFill>
                <a:latin typeface="Calibri"/>
              </a:rPr>
              <a:t>bidirectional</a:t>
            </a:r>
            <a:r>
              <a:rPr lang="de-DE" sz="1800" b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de-DE" sz="1800" b="1" spc="-1" dirty="0" err="1">
                <a:solidFill>
                  <a:srgbClr val="003056"/>
                </a:solidFill>
                <a:latin typeface="Calibri"/>
              </a:rPr>
              <a:t>self</a:t>
            </a:r>
            <a:r>
              <a:rPr lang="de-DE" sz="1800" b="1" spc="-1" dirty="0">
                <a:solidFill>
                  <a:srgbClr val="003056"/>
                </a:solidFill>
                <a:latin typeface="Calibri"/>
              </a:rPr>
              <a:t>-attention 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6C840BF-878D-4391-9F14-77D8CA96B4FF}" type="slidenum">
              <a:t>14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1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1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Masked Language Models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446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Contextualized representations from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bidirectional self-attention layers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consider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context from both sides of each input word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Masked language modeling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: 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predicting masked words in input sequence</a:t>
            </a:r>
          </a:p>
          <a:p>
            <a:pPr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Masked words: 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hidden, usually replaced with [MASK] token</a:t>
            </a:r>
            <a:endParaRPr lang="de-DE" sz="16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Architecture: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we use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bidirectional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transformer encoders to train models to predict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masked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words in the input sequence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What exactly does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masking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mean? The training approach should clarify!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0745D4D-ABC5-4BBC-A121-38E268BCF83A}" type="slidenum">
              <a:t>15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04803C-4565-FC66-A972-0D822AEA8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55060"/>
            <a:ext cx="4572000" cy="2233480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4" dur="500"/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97965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Training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Masked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Language Models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Recall training RNNs</a:t>
            </a:r>
            <a:endParaRPr lang="en-US" dirty="0"/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We predict the next word given previous ones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 loss corresponding to each input word is measured against next word in input sequence, final loss is average over all tokens</a:t>
            </a: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br>
              <a:rPr lang="en-US" sz="2200" spc="-1" dirty="0">
                <a:solidFill>
                  <a:srgbClr val="003056"/>
                </a:solidFill>
                <a:latin typeface="Calibri"/>
              </a:rPr>
            </a:b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Can we do that here?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bidirectional self-attention looks at next word! 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Task of predicting next word therefore trivial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0745D4D-ABC5-4BBC-A121-38E268BCF83A}" type="slidenum">
              <a:t>16</a:t>
            </a:fld>
            <a:endParaRPr/>
          </a:p>
        </p:txBody>
      </p:sp>
      <p:pic>
        <p:nvPicPr>
          <p:cNvPr id="2" name="Picture 1" descr="A diagram of a diagram&#10;&#10;Description automatically generated">
            <a:extLst>
              <a:ext uri="{FF2B5EF4-FFF2-40B4-BE49-F238E27FC236}">
                <a16:creationId xmlns:a16="http://schemas.microsoft.com/office/drawing/2014/main" id="{BB664E1C-9A56-1717-D3DF-1DF702E2F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2406717"/>
            <a:ext cx="5791200" cy="265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73059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97965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Training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Masked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Language Models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(2)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112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Instead,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cloze task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i.e. fill-in the blank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Taylor, 1953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“Turn ____ homework in.”</a:t>
            </a:r>
            <a:endParaRPr lang="de-DE" sz="18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cs typeface="Calibri"/>
              </a:rPr>
              <a:t>Many examples from same sentence: “Turn your __________ in.”</a:t>
            </a:r>
            <a:endParaRPr lang="en-US" dirty="0"/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cs typeface="Calibri"/>
              </a:rPr>
              <a:t>Loss averaged over masked tokens only</a:t>
            </a:r>
            <a:r>
              <a:rPr lang="en-US" sz="2000" spc="-1" dirty="0">
                <a:solidFill>
                  <a:srgbClr val="003056"/>
                </a:solidFill>
                <a:latin typeface="Calibri"/>
                <a:cs typeface="Calibri"/>
              </a:rPr>
              <a:t>, all tokens "attended" to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Note: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self-supervision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predict parts of input using rest of input</a:t>
            </a:r>
            <a:endParaRPr lang="en-US" sz="18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More details by discussing quintessential MLM: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BERT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0745D4D-ABC5-4BBC-A121-38E268BCF83A}" type="slidenum">
              <a:t>17</a:t>
            </a:fld>
            <a:endParaRPr/>
          </a:p>
        </p:txBody>
      </p:sp>
      <p:pic>
        <p:nvPicPr>
          <p:cNvPr id="3" name="Picture 2" descr="A diagram of a transformer&#10;&#10;Description automatically generated">
            <a:extLst>
              <a:ext uri="{FF2B5EF4-FFF2-40B4-BE49-F238E27FC236}">
                <a16:creationId xmlns:a16="http://schemas.microsoft.com/office/drawing/2014/main" id="{7FD9D108-340F-8DCE-3C5F-4EFB65A3A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0" y="2102948"/>
            <a:ext cx="5819775" cy="28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0910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BERT Model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BERT: B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idirectional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ncoder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R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epresentations from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ransformers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Seminal work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Devlin et al. 2018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clear success case is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transfer learning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Revolution: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jump in state-of-the-art performance in several NLP tasks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Defined masked language modeling as discussed today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learn representations of language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Not predict masked words, i.e. not the task from training objective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Thus, similar to word embeddings, but now using transformers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Their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general architecture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Encoder-only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transformer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12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stacked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layers of transformer encoders, each with 12 attention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heads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Hidden layers of size 728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Max input length: 512 tokens (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recall: attention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cost quadratic in this length)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Overall: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100M parameters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46026E1-B030-495E-94C0-A79C5405C08B}" type="slidenum">
              <a:t>18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BERT Model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684000" y="471492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Pre-training -&gt; Fine-tuning framework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Pre-training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designed to include both token level and sentence level 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Fine-tuning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required minimal changes to pre-training architecture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discuss some of these important design choices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28" name="Grafik 6" descr="bert_1.png"/>
          <p:cNvPicPr/>
          <p:nvPr/>
        </p:nvPicPr>
        <p:blipFill>
          <a:blip r:embed="rId2"/>
          <a:stretch/>
        </p:blipFill>
        <p:spPr>
          <a:xfrm>
            <a:off x="642960" y="1351080"/>
            <a:ext cx="7929360" cy="31489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720B1F9-D9F8-4F85-B83D-26AE813B5FBA}" type="slidenum">
              <a:t>19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Pre-Training BERT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84000" y="1071720"/>
            <a:ext cx="324468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Two level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Both in same input sequence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Token level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inputs,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outputs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Sentence level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[CLS]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[SEP]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T</a:t>
            </a:r>
            <a:r>
              <a:rPr lang="en-US" sz="1600" b="1" strike="noStrike" spc="-1" baseline="-25000">
                <a:solidFill>
                  <a:srgbClr val="003056"/>
                </a:solidFill>
                <a:latin typeface="Calibri"/>
              </a:rPr>
              <a:t>[SEP]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outputs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model “aware” of sentence pairs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Useful for downstream tasks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E.g. (question, answer) pairs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[CLS] token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meant for sequence classification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Final representation C used as sequence representation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[SEP] token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separates two input sentences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2" name="Grafik 7" descr="bert_pretraining_1.png"/>
          <p:cNvPicPr/>
          <p:nvPr/>
        </p:nvPicPr>
        <p:blipFill>
          <a:blip r:embed="rId2"/>
          <a:stretch/>
        </p:blipFill>
        <p:spPr>
          <a:xfrm>
            <a:off x="3939840" y="1584720"/>
            <a:ext cx="4632480" cy="39157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9EBF826-9A64-4A83-B9A0-6A0B8F4128BB}" type="slidenum">
              <a:t>20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6" dur="500"/>
                                        <p:tgtEl>
                                          <p:spTgt spid="1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Pre-Training BERT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454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They (pre-)trained with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two self-supervised tasks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Masked language modeling (MLM), i.e. fill-in the blank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Next sentence prediction (NSP), e.g. for QA, natural language inference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MLM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training objective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Replaced 15% of input tokens in training corpus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120015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80% of that time replaced with [MASK] token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120015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10% of that time replaced with another random token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120015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10% left unchanged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Output token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fed to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classification, original word as target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Why all of this? Because [MASK] token never seen at inference time!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1200150" lvl="2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So, model does 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should not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rely on this signal to make such predictions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next sentence prediction objective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Binary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classification: next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sentence or not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? ([CLS] token to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layer)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50% of examples were subsequent sentences in training corpus (positives)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50% of examples had 2</a:t>
            </a:r>
            <a:r>
              <a:rPr lang="en-US" sz="1800" b="0" strike="noStrike" spc="-1" baseline="30000" dirty="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sentence be a randomly chosen one (negatives)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1FDF297-2FF7-4CC3-BA43-C27F1D25E050}" type="slidenum">
              <a:t>21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1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3" dur="500"/>
                                        <p:tgtEl>
                                          <p:spTgt spid="1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Pre-Training BERT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454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Final loss: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combined loss of both MLM and NSP training objectives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Training corpus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BooksCorpus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 800M words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English Wikipedia: 2.5B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words</a:t>
            </a:r>
            <a:endParaRPr lang="de-DE" sz="16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(Much less data than used for training large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language models today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Important: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training data must be full documents, not shuffled sentences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(often a valid approach)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Why?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Tokenization: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WordPiece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subword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embeddings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Vocabulary size: 30K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Recall: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subwords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nice balance between words and characters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It took 40 epochs to converge model during training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With the hardware at the time (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64 Google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TPUs), that was 4 days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3C7DE63-E728-4FF5-ACB1-957A06F82118}" type="slidenum">
              <a:t>22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Fine-Tuning BERT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37447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Straightforward: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representations computed by BERT used as input for downstream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model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Note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requires using entire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model,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not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just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its weights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as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Can handle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tasks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input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single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sequence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.g. sequence labeling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(NER) and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sequence classification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pairs of sequences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QA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(SQuAD) or NLI (MNLI)</a:t>
            </a:r>
            <a:endParaRPr lang="de-DE" sz="180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Given input data, e.g. sequence to classify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: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>
                <a:solidFill>
                  <a:srgbClr val="003056"/>
                </a:solidFill>
                <a:latin typeface="Calibri"/>
              </a:rPr>
              <a:t>Sequence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fed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as </a:t>
            </a:r>
            <a:r>
              <a:rPr lang="en-US" sz="1600" b="1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 to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BERT</a:t>
            </a:r>
            <a:endParaRPr lang="en-US" sz="1600" b="1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pc="-1">
                <a:solidFill>
                  <a:srgbClr val="003056"/>
                </a:solidFill>
                <a:latin typeface="Calibri"/>
              </a:rPr>
              <a:t>BERT output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passed to classification head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(each token for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sequence labeling,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CLS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token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 for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sequence classification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Let's visualize this!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2" name="Grafik 8" descr="bert_finetuning_1.png"/>
          <p:cNvPicPr/>
          <p:nvPr/>
        </p:nvPicPr>
        <p:blipFill>
          <a:blip r:embed="rId2"/>
          <a:stretch/>
        </p:blipFill>
        <p:spPr>
          <a:xfrm>
            <a:off x="4424040" y="1786320"/>
            <a:ext cx="4219560" cy="29995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5B86CA8-DC95-4DCD-867F-BE552C789656}" type="slidenum">
              <a:t>23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A28F-E14C-16EA-279F-C87FB902E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>
            <a:extLst>
              <a:ext uri="{FF2B5EF4-FFF2-40B4-BE49-F238E27FC236}">
                <a16:creationId xmlns:a16="http://schemas.microsoft.com/office/drawing/2014/main" id="{DA20C7D6-65E1-0B13-6A01-7AF98C3E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Fine-Tuning BERT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7" name="PlaceHolder 2">
            <a:extLst>
              <a:ext uri="{FF2B5EF4-FFF2-40B4-BE49-F238E27FC236}">
                <a16:creationId xmlns:a16="http://schemas.microsoft.com/office/drawing/2014/main" id="{C10E51D6-52BD-7E46-D427-84D3E745477A}"/>
              </a:ext>
            </a:extLst>
          </p:cNvPr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8" name="PlaceHolder 3">
            <a:extLst>
              <a:ext uri="{FF2B5EF4-FFF2-40B4-BE49-F238E27FC236}">
                <a16:creationId xmlns:a16="http://schemas.microsoft.com/office/drawing/2014/main" id="{042557BC-0885-C8CB-C4D1-7EAF71F4D88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454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Here's an example for sequence labeling, i.e. we classify each token </a:t>
            </a:r>
            <a:r>
              <a:rPr lang="en-US" sz="2000" b="1" i="1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i="1" spc="-1" baseline="30000">
                <a:solidFill>
                  <a:srgbClr val="003056"/>
                </a:solidFill>
                <a:latin typeface="Calibri"/>
              </a:rPr>
              <a:t>L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</a:rPr>
              <a:t>i</a:t>
            </a:r>
            <a:endParaRPr lang="en-US" sz="2000" i="1" spc="-1" baseline="-25000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Downstream model is linear projection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to classification space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C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During fine-tuning, 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+ all model parameters were updated</a:t>
            </a:r>
            <a:endParaRPr lang="en-US" sz="18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Fine-tuning model often took 1 hour (doable compared to pre-training)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For sequence classification task, CLS token used as downstream input </a:t>
            </a:r>
            <a:endParaRPr lang="en-US" sz="20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i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D8E71053-3DD2-76C4-3809-213321426738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3C7DE63-E728-4FF5-ACB1-957A06F82118}" type="slidenum">
              <a:t>24</a:t>
            </a:fld>
            <a:endParaRPr/>
          </a:p>
        </p:txBody>
      </p:sp>
      <p:pic>
        <p:nvPicPr>
          <p:cNvPr id="2" name="Picture 1" descr="A diagram of a software algorithm&#10;&#10;AI-generated content may be incorrect.">
            <a:extLst>
              <a:ext uri="{FF2B5EF4-FFF2-40B4-BE49-F238E27FC236}">
                <a16:creationId xmlns:a16="http://schemas.microsoft.com/office/drawing/2014/main" id="{579F77B5-D141-E90A-7A0E-A66AB88A9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0" y="1141896"/>
            <a:ext cx="5420847" cy="304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74149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Variations of BERT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454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BERT’s architecture was highly influential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Spawned several variants of the original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 err="1">
                <a:solidFill>
                  <a:srgbClr val="003056"/>
                </a:solidFill>
                <a:latin typeface="Calibri"/>
              </a:rPr>
              <a:t>RoBERTa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Liu et al. 2019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More than a variant, the result of a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reproduction study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reimplemented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retrained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did more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ablation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Proposed changes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such as: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lvl="2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(1) </a:t>
            </a: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Dynamic masking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, i.e. sampling tokens for masking for each input sequence during training (as opposed to once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 before entire training run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lvl="2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(2) </a:t>
            </a: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Training without NSP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loss (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no more sentence pairs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 err="1">
                <a:solidFill>
                  <a:srgbClr val="003056"/>
                </a:solidFill>
                <a:latin typeface="Calibri"/>
              </a:rPr>
              <a:t>SpanBERT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Joshi et al. 2020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Masked entire subsequences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instead of individual tokens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(i.e. a span)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Marked masked span with special tokens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(start-of-span, end-of-span)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Model trained on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additional objective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Span Boundary Objective (SBO)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outperformed BERT in span-based tasks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span-based QA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This model was concurrent with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RoBERTa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5B7BD07-6CDB-429C-B6CA-EF49BB1FDDFE}" type="slidenum">
              <a:t>25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1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Variations of BERT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454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Sentence-BERT 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Reimers et al. 2019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): better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sentence embeddings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Siamese network architecture (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here, two BERTs with shared weights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Pooling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BERT output vectors (MEAN/MAX) to get sentence embedding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Training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left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): Feed sentence vectors to classification/regression head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Inference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right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): for regression, cosine similarity between sentences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Results: better sentence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embeddings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vs 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[CLS]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token, other methods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9" name="Grafik 6" descr="sentence_bert_1.png"/>
          <p:cNvPicPr/>
          <p:nvPr/>
        </p:nvPicPr>
        <p:blipFill>
          <a:blip r:embed="rId3"/>
          <a:stretch/>
        </p:blipFill>
        <p:spPr>
          <a:xfrm>
            <a:off x="1428840" y="2871000"/>
            <a:ext cx="6428880" cy="2772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C4AC2D5-91C6-40E1-9759-40D8F363BEA0}" type="slidenum">
              <a:t>26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4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4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Causal Language Models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74FEDE-098E-4877-BFF6-ECDD767B9CE9}" type="slidenum">
              <a:t>27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Autoregressive 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Text Generation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Recall autoregressive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generation: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word generated at each time-step is conditioned on word generated at previous time-step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Concrete steps:</a:t>
            </a:r>
            <a:endParaRPr lang="en-US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Feed starting symbol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&lt;s&gt;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, model produces </a:t>
            </a:r>
            <a:r>
              <a:rPr lang="en-US" sz="16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distribution over vocabulary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Sample next word </a:t>
            </a:r>
            <a:r>
              <a:rPr lang="en-US" sz="1600" i="1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6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 from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distribution (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using some sampling method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Add sampled word to previous input sequence, 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i.e. "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&lt;s&gt; </a:t>
            </a:r>
            <a:r>
              <a:rPr lang="en-US" sz="1600" i="1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6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", feed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to model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Model produces new </a:t>
            </a:r>
            <a:r>
              <a:rPr lang="en-US" sz="16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distribution, sample next word 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600" i="1" spc="-1" baseline="-25000" dirty="0">
                <a:solidFill>
                  <a:srgbClr val="003056"/>
                </a:solidFill>
                <a:latin typeface="Calibri"/>
              </a:rPr>
              <a:t>i+1 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again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Repeat steps 3-4 with latest sampled word until symbol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&lt;/s&gt;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is sampled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Sampling methods important part of generation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 as seen in tutorials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Greedy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decoding: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sample most probable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word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Top-k: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sample from top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words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Top-p: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sample from words that make up top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p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probability mass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More involved sampling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methods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exist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Before we look at causal language models, l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et’s have a quick look at a very common and less simple sampling method in more detail</a:t>
            </a:r>
            <a:endParaRPr lang="de-DE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ABCC3B3-F1DD-401B-8ED7-EA8B0874B1B5}" type="slidenum"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583462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Beam Search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Say we have a pre-trained LM that can produce distributions for next word prediction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Assume further our vocabulary is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V = {yes, ok, &lt;/s&gt;}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the following example,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most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probable 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sequence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“ok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ok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&lt;/s&gt;”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greedy sampling would fail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predict it, it would first choose “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yes”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3" name="Grafik 6" descr="search_tree_1.png"/>
          <p:cNvPicPr/>
          <p:nvPr/>
        </p:nvPicPr>
        <p:blipFill>
          <a:blip r:embed="rId2"/>
          <a:stretch/>
        </p:blipFill>
        <p:spPr>
          <a:xfrm>
            <a:off x="2000160" y="2786040"/>
            <a:ext cx="4909320" cy="33310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8EA64F3-A697-4101-9273-C46092F0057F}" type="slidenum">
              <a:t>29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Beam Search (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2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The previous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example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illustrates that when we want the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most probable sequence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shortsighted approaches may not be suitable</a:t>
            </a:r>
            <a:endParaRPr lang="de-DE" sz="2000" b="1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Shortsighted: only considering the probability of the next word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Beam Search: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Iteratively sample top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most probable words (i.e. also greedy)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score of each possible word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is based on the probabilities of the previously sampled words, i.e. 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consider the probability of the sequence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Score of sequence of 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words given some input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e.g. in translation, is: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20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 normalize by sequence length to avoid favoring shorter sequences: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8EA64F3-A697-4101-9273-C46092F0057F}" type="slidenum">
              <a:t>30</a:t>
            </a:fld>
            <a:endParaRPr/>
          </a:p>
        </p:txBody>
      </p:sp>
      <p:pic>
        <p:nvPicPr>
          <p:cNvPr id="2" name="Picture 1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513395A7-393E-E015-BDBC-B7EDEF40E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23" y="3774817"/>
            <a:ext cx="6298356" cy="1348059"/>
          </a:xfrm>
          <a:prstGeom prst="rect">
            <a:avLst/>
          </a:prstGeom>
        </p:spPr>
      </p:pic>
      <p:pic>
        <p:nvPicPr>
          <p:cNvPr id="3" name="Picture 2" descr="A mathematical equation with numbers and symbols&#10;&#10;Description automatically generated">
            <a:extLst>
              <a:ext uri="{FF2B5EF4-FFF2-40B4-BE49-F238E27FC236}">
                <a16:creationId xmlns:a16="http://schemas.microsoft.com/office/drawing/2014/main" id="{F01F4199-420A-67CA-21B0-1EA5B371D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5493665"/>
            <a:ext cx="4572000" cy="642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4743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6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Beam Search (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3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At each time step: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Select top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probably words from distribution over vocabulary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Predict next word with each of the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top words, i.e.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x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probabilities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next word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is scored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by its probability times the probability of its path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pick the top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most probable paths, and continue the process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7" name="Grafik 8" descr="beam_search_1.png"/>
          <p:cNvPicPr/>
          <p:nvPr/>
        </p:nvPicPr>
        <p:blipFill>
          <a:blip r:embed="rId2"/>
          <a:stretch/>
        </p:blipFill>
        <p:spPr>
          <a:xfrm>
            <a:off x="1643040" y="2786040"/>
            <a:ext cx="5857560" cy="33184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4A3EB-AB45-4795-8F0E-4800E4032747}" type="slidenum">
              <a:t>31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7F0F-ACC3-1731-7CF4-80FEB727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>
            <a:extLst>
              <a:ext uri="{FF2B5EF4-FFF2-40B4-BE49-F238E27FC236}">
                <a16:creationId xmlns:a16="http://schemas.microsoft.com/office/drawing/2014/main" id="{9EA3FC16-F11A-0585-1CF7-1E96DA67E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Beam Search (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4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5" name="PlaceHolder 2">
            <a:extLst>
              <a:ext uri="{FF2B5EF4-FFF2-40B4-BE49-F238E27FC236}">
                <a16:creationId xmlns:a16="http://schemas.microsoft.com/office/drawing/2014/main" id="{EEB6891C-BA7C-8566-527F-1845DAEDCD4A}"/>
              </a:ext>
            </a:extLst>
          </p:cNvPr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6" name="PlaceHolder 3">
            <a:extLst>
              <a:ext uri="{FF2B5EF4-FFF2-40B4-BE49-F238E27FC236}">
                <a16:creationId xmlns:a16="http://schemas.microsoft.com/office/drawing/2014/main" id="{FFDD08C4-3B0E-171E-3A46-4F112821023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Beam search is widely used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text-generation applications: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machine translation, summarization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Generally applications where we compare different output sequences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However, it has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shortcomings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Cost intensive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Size of beam, i.e. value of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still greedy, can miss better solutions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Sampled sequences often similar to one another (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Li and Jurafsky, 2016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Variants have been proposed, e.g.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diverse beam search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Divides sampled sequences into different sampling groups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Promotes diversity between sequences in different sampling groups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Still,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beam search remains a very common sampling method 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endParaRPr lang="en-US" sz="16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433888A4-A848-289A-4B89-8CF60BBA45DD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4A3EB-AB45-4795-8F0E-4800E4032747}" type="slidenum"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141649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1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Causal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Language Models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446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Causal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language modeling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given sequence of words, predict next word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Context window/prompt: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given input sequence words 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Architecture: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 use causal self-attention in transformers (only look back)</a:t>
            </a:r>
            <a:endParaRPr lang="en-US" sz="1800" strike="noStrike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Text autoregressively generated with CLMs generally based on: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Model predictions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i.e. </a:t>
            </a:r>
            <a:r>
              <a:rPr lang="en-US" sz="1800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softmax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over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V</a:t>
            </a:r>
            <a:endParaRPr lang="de-DE" sz="1800" i="1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Size of context window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(quadratic cost in self-attention using transformers)</a:t>
            </a:r>
            <a:endParaRPr lang="de-DE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Sampling strategy/heuristic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(beam search a common one)</a:t>
            </a:r>
            <a:endParaRPr lang="en-US" dirty="0"/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Let's see how to train a CLM using transformers.</a:t>
            </a:r>
            <a:endParaRPr lang="en-US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3429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Then we'll go over some seminal transformer-based CLMs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0745D4D-ABC5-4BBC-A121-38E268BCF83A}" type="slidenum">
              <a:t>33</a:t>
            </a:fld>
            <a:endParaRPr/>
          </a:p>
        </p:txBody>
      </p:sp>
      <p:pic>
        <p:nvPicPr>
          <p:cNvPr id="3" name="Picture 2" descr="A diagram of a machine&#10;&#10;Description automatically generated">
            <a:extLst>
              <a:ext uri="{FF2B5EF4-FFF2-40B4-BE49-F238E27FC236}">
                <a16:creationId xmlns:a16="http://schemas.microsoft.com/office/drawing/2014/main" id="{15730A67-4ED7-D63F-A24E-93DE46067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623" y="2089253"/>
            <a:ext cx="4078756" cy="1911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265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Training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Causal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Language Models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214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Teacher forcing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does apply here</a:t>
            </a:r>
            <a:r>
              <a:rPr lang="en-US" sz="2000" strike="noStrike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Construct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sequences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given corpus in self-supervised manner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Given sequence,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force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each subsequence as input, next word as target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Compute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loss between model’s prediction and target word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Average loss over all predictions in given sequence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Note: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computing loss for each word is independent, parallelizable</a:t>
            </a:r>
          </a:p>
        </p:txBody>
      </p:sp>
      <p:pic>
        <p:nvPicPr>
          <p:cNvPr id="156" name="Grafik 6" descr="transformer_lm_training_1.png"/>
          <p:cNvPicPr/>
          <p:nvPr/>
        </p:nvPicPr>
        <p:blipFill>
          <a:blip r:embed="rId2"/>
          <a:stretch/>
        </p:blipFill>
        <p:spPr>
          <a:xfrm>
            <a:off x="1500120" y="3122640"/>
            <a:ext cx="6834240" cy="3020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E95DB22-C4F6-40FF-82D9-82677637B31B}" type="slidenum">
              <a:t>34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5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Generative Pre-Trained Transformer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 what GPT stands for 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Radford et al. 2018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Published at time when pre-training &amp; fine-tuning framework was new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Unclear what tasks to pre-train 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Unclear how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use learned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representations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downstream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Some of this still unclear, but pragmatic success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with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some architectures,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BERT, GPT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GPT: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autoregressive language modeling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is a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useful pre-training task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Goal: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“…learn universal representations that transfer with little adaptation to a wide range of tasks.”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So, transfer learning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important to avoid task-specific customization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Two-step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process: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Pre-train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on large corpus in self-supervised manner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Fine-tune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model on downstream tasks in supervised manner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Supervised downstream tasks need not be related to pre-training corpus (again, transfer learning)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8D1F450-B699-40B5-8A2E-213405FC2B78}" type="slidenum">
              <a:t>35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7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7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7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GPT Architecture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, Training, Fine-Tuning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Their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general architecture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117M parameters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Decoder-only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transformer (i.e. no self-attention layer attending to encoder)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12 layers of transformer decoders, each with 12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Hidden layers of size 728, position-independent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MLP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of size 3072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Max input length: 512 tokens (attention cost quadratic in this length)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So, architecture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quite similar to BERT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except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decoder-only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fact, BERT heavily borrowed from GPT, as claimed by the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BERT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authors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Pre-Training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Self-supervised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causal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language modeling on </a:t>
            </a: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BooksCorpus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Tokenization: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byte pair encoding (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vocabulary size: 40K)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Fine-tuning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Task inputs fed to pre-trained model to produce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final representation 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</a:t>
            </a:r>
            <a:r>
              <a:rPr lang="en-US" sz="18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N,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i.e. representation of token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 layer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</a:t>
            </a:r>
            <a:r>
              <a:rPr lang="en-US" sz="1800" i="1" spc="-1" baseline="30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2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then fed to classification head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fine-tuned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all parameters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using the classification objective + the CLM objective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ABD2A29-2B64-4D69-AA80-7FC576273621}" type="slidenum">
              <a:t>36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GPT Variants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GPT-2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Radford et al. 2019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mostly same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architecture as GPT-1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Moved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around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/added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more layer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normalization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(more in LLMs lecture)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Initialized weights passed by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residual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layers (scaled them down)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Vocabulary expanded to 50K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Context window expanded from 512 to 1024 (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again, quadratic cost)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Largest variant: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1.5B parameters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Their language model was able to do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NLP tasks such as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QA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machine translation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summarization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without training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/tuning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it (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zero-shot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GPT-3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Brown et al. 2020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): same as GPT-2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Used 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sparse attention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cost from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O(n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O(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n√n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input length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Corpus: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Common Crawl dataset (1 trillion words)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Largest variant: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175B parameters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Achieved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great performance in few-shot tasks described in prompts</a:t>
            </a: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We'll discuss these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zero-shot/few-shot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settings in future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LLMs lecture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.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452D88E-5325-4F1C-8D40-AD3C45E78B8D}" type="slidenum">
              <a:t>37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Other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Transformer-Based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T5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Raffel et al. 2020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):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explored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different training objectives, datasets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Encoder-decoder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architecture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so cross attention from decoder to encoder!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They cast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all tasks as text-to-text for this purpose, e.g.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stsb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sentence similarity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model trained to generate one of possible classes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Electra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Clark et al. 2020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task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predict whether word was replaced randomly or not, so binary classification, not masking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More efficient training, competitive with larger models on some datasets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3" name="Grafik 6" descr="t5_1.png"/>
          <p:cNvPicPr/>
          <p:nvPr/>
        </p:nvPicPr>
        <p:blipFill>
          <a:blip r:embed="rId4"/>
          <a:stretch/>
        </p:blipFill>
        <p:spPr>
          <a:xfrm>
            <a:off x="1214280" y="2411468"/>
            <a:ext cx="6643440" cy="2356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BCD9BCC-D739-47B8-A24E-D8B35B4BC75C}" type="slidenum">
              <a:t>38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Which Architecture is Best?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No golden rule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Encoder-decoder better?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Encoder-only?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Decoder-only?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What about all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other design decisions?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Which positional encodings?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Which tokenization approach?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Generally unclear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Pragmatic evidence exists, e.g. studies like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RoBERTa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T5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results change as training/models/data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change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or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scale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up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4E8CFD7-7FDE-4A69-B431-0C4EE447E47D}" type="slidenum">
              <a:t>39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8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39C6D-0549-8DAF-2385-3C153D77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>
            <a:extLst>
              <a:ext uri="{FF2B5EF4-FFF2-40B4-BE49-F238E27FC236}">
                <a16:creationId xmlns:a16="http://schemas.microsoft.com/office/drawing/2014/main" id="{143652E0-8466-C4B9-BA2F-D1C5559F8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The BERT Legacy</a:t>
            </a:r>
            <a:endParaRPr lang="en-US"/>
          </a:p>
        </p:txBody>
      </p:sp>
      <p:sp>
        <p:nvSpPr>
          <p:cNvPr id="185" name="PlaceHolder 2">
            <a:extLst>
              <a:ext uri="{FF2B5EF4-FFF2-40B4-BE49-F238E27FC236}">
                <a16:creationId xmlns:a16="http://schemas.microsoft.com/office/drawing/2014/main" id="{2052BC7C-CB58-184D-B434-F609D197EBD7}"/>
              </a:ext>
            </a:extLst>
          </p:cNvPr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6" name="PlaceHolder 3">
            <a:extLst>
              <a:ext uri="{FF2B5EF4-FFF2-40B4-BE49-F238E27FC236}">
                <a16:creationId xmlns:a16="http://schemas.microsoft.com/office/drawing/2014/main" id="{1431F707-DDEA-486B-ED22-D5184923C1E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Large language models (LLMs)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currently hugely successful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They are almost exclusively transformer-based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decoder-only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models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I.e. they generate tokens one step at a time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However,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for many applications, encoder-only models are arguably more suitable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classification tasks where input is token/sequence representation, retrieval where input is query/document representation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Evidence of this: BERT-like models are some of the most popular models in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HuggingFace Hub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(vast repository of pre-trained models)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Recently, BERT has received a "modern touch"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Mostly an update after all the lessons from pre-training decoder-only LLMs</a:t>
            </a:r>
            <a:endParaRPr lang="en-US" sz="16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hlinkClick r:id="rId3"/>
              </a:rPr>
              <a:t>ModernBERT (2024)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 introduces improvements mostly for speed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different positional embeddings,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4"/>
              </a:rPr>
              <a:t>alternating attention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(not all layers attend to entire input sequence), multilingual variant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5"/>
              </a:rPr>
              <a:t>released in 2005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+mn-lt"/>
                <a:cs typeface="+mn-lt"/>
                <a:hlinkClick r:id="rId6"/>
              </a:rPr>
              <a:t>NeoBERT (2025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6"/>
              </a:rPr>
              <a:t>)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: concurrent with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ModernBERT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similar improvements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45080C89-260D-42A5-1955-BA996279BEBB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4E8CFD7-7FDE-4A69-B431-0C4EE447E47D}" type="slidenum"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500756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8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18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Summary: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Pre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-Training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Transfer learning: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AutoNum type="arabicPeriod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Pre-training: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train model on some task(s) that “allows” model to learn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rich representations, usually from large amounts of text. Representations then useful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 downstream applications</a:t>
            </a:r>
            <a:endParaRPr lang="de-DE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AutoNum type="arabicPeriod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Fine-tuning: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update learned representations (weights) in context of new downstream application, usually using new downstream model/component, e.g. a classification head</a:t>
            </a:r>
            <a:endParaRPr lang="en-US" dirty="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Pre-training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now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mostly done with transformer-based models</a:t>
            </a:r>
            <a:endParaRPr lang="en-US" sz="22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Different kinds of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pre-training objectives</a:t>
            </a: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two dominant ones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Masked language modeling (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MLM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Causal language modeling (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CLM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 sz="16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Different kinds of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architectures</a:t>
            </a: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Encoder-only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typically used for training MLMs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Decoder-only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typically used for training CLMs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Font typeface="Arial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Encoder-decoder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 cross-attention (decoder also attends to encoder outputs)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4E8CFD7-7FDE-4A69-B431-0C4EE447E47D}" type="slidenum"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11032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8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8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 dirty="0">
                <a:solidFill>
                  <a:srgbClr val="003056"/>
                </a:solidFill>
                <a:latin typeface="Calibri"/>
              </a:rPr>
              <a:t>Fine-Tuning</a:t>
            </a:r>
          </a:p>
          <a:p>
            <a:pPr marL="342900" indent="-342900" algn="ctr">
              <a:lnSpc>
                <a:spcPct val="100000"/>
              </a:lnSpc>
              <a:spcBef>
                <a:spcPts val="878"/>
              </a:spcBef>
              <a:buNone/>
              <a:tabLst>
                <a:tab pos="0" algn="l"/>
              </a:tabLst>
            </a:pPr>
            <a:endParaRPr lang="en-US" sz="4400" b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A00700D-FA4F-4773-A9F0-30F6AA66354F}" type="slidenum">
              <a:t>42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Fine-Tuning?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ftr" idx="3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35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Traditionally, updating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weights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pre-trained model when training on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new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downstream task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Resulting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contextualized representations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tuned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to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new task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New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= not used/seen during pre-training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Downstream task usually implies additional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downstream model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Downstream model usually comes with its separate weights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These weights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must be trained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 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classification head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image below)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93" name="Grafik 6" descr="finetuning_pipeline_1.png"/>
          <p:cNvPicPr/>
          <p:nvPr/>
        </p:nvPicPr>
        <p:blipFill>
          <a:blip r:embed="rId2"/>
          <a:stretch/>
        </p:blipFill>
        <p:spPr>
          <a:xfrm>
            <a:off x="2076405" y="3429000"/>
            <a:ext cx="4992480" cy="2682360"/>
          </a:xfrm>
          <a:prstGeom prst="rect">
            <a:avLst/>
          </a:prstGeom>
          <a:ln w="0">
            <a:noFill/>
          </a:ln>
        </p:spPr>
      </p:pic>
      <p:sp>
        <p:nvSpPr>
          <p:cNvPr id="194" name="Textfeld 7"/>
          <p:cNvSpPr/>
          <p:nvPr/>
        </p:nvSpPr>
        <p:spPr>
          <a:xfrm>
            <a:off x="6072120" y="597888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E81A565-4733-45D9-8D42-FF3587FE41F2}" type="slidenum">
              <a:t>43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7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To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Update </a:t>
            </a: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or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Not </a:t>
            </a: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to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Update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Updating pre-trained weights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may result in “catastrophic forgetting”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Encoded information during pre-training lost/replaced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b="0" strike="noStrike" spc="-1" dirty="0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r>
              <a:rPr lang="de-DE" sz="2000" spc="-1" err="1">
                <a:solidFill>
                  <a:srgbClr val="003056"/>
                </a:solidFill>
                <a:latin typeface="Calibri"/>
              </a:rPr>
              <a:t>Pre</a:t>
            </a:r>
            <a:r>
              <a:rPr lang="de-DE" sz="2000" spc="-1" dirty="0">
                <a:solidFill>
                  <a:srgbClr val="003056"/>
                </a:solidFill>
                <a:latin typeface="Calibri"/>
              </a:rPr>
              <a:t>-training </a:t>
            </a:r>
            <a:r>
              <a:rPr lang="de-DE" sz="2000" spc="-1" err="1">
                <a:solidFill>
                  <a:srgbClr val="003056"/>
                </a:solidFill>
                <a:latin typeface="Calibri"/>
              </a:rPr>
              <a:t>can</a:t>
            </a:r>
            <a:r>
              <a:rPr lang="de-DE" sz="20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2000" spc="-1" err="1">
                <a:solidFill>
                  <a:srgbClr val="003056"/>
                </a:solidFill>
                <a:latin typeface="Calibri"/>
              </a:rPr>
              <a:t>be</a:t>
            </a:r>
            <a:r>
              <a:rPr lang="de-DE" sz="20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2000" spc="-1" err="1">
                <a:solidFill>
                  <a:srgbClr val="003056"/>
                </a:solidFill>
                <a:latin typeface="Calibri"/>
              </a:rPr>
              <a:t>very</a:t>
            </a:r>
            <a:r>
              <a:rPr lang="de-DE" sz="2000" spc="-1" dirty="0">
                <a:solidFill>
                  <a:srgbClr val="003056"/>
                </a:solidFill>
                <a:latin typeface="Calibri"/>
              </a:rPr>
              <a:t> expensive</a:t>
            </a:r>
          </a:p>
          <a:p>
            <a:pPr lvl="1"/>
            <a:r>
              <a:rPr lang="de-DE" sz="1800" spc="-1" dirty="0">
                <a:solidFill>
                  <a:srgbClr val="003056"/>
                </a:solidFill>
                <a:latin typeface="Calibri"/>
              </a:rPr>
              <a:t>E.g. META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AI's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de-DE" sz="1800" spc="-1" dirty="0">
                <a:solidFill>
                  <a:srgbClr val="003056"/>
                </a:solidFill>
                <a:latin typeface="Calibri"/>
                <a:hlinkClick r:id="rId2"/>
              </a:rPr>
              <a:t>Llama3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 CLM (400B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) trained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with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16.000 GPUs</a:t>
            </a:r>
          </a:p>
          <a:p>
            <a:pPr lvl="1"/>
            <a:r>
              <a:rPr lang="de-DE" sz="1800" spc="-1" err="1">
                <a:solidFill>
                  <a:srgbClr val="003056"/>
                </a:solidFill>
                <a:latin typeface="Calibri"/>
              </a:rPr>
              <a:t>Catastrophic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forgetting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can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potentially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undo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some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/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much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of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that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effort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lvl="1"/>
            <a:r>
              <a:rPr lang="de-DE" sz="1800" spc="-1">
                <a:solidFill>
                  <a:srgbClr val="003056"/>
                </a:solidFill>
                <a:latin typeface="Calibri"/>
              </a:rPr>
              <a:t>Understanding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how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specific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knowledge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is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stored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in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weights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is</a:t>
            </a:r>
            <a:r>
              <a:rPr lang="de-DE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open question</a:t>
            </a:r>
          </a:p>
        </p:txBody>
      </p:sp>
      <p:pic>
        <p:nvPicPr>
          <p:cNvPr id="198" name="Grafik 6" descr="finetuning_unfrozen_1.png"/>
          <p:cNvPicPr/>
          <p:nvPr/>
        </p:nvPicPr>
        <p:blipFill>
          <a:blip r:embed="rId3"/>
          <a:stretch/>
        </p:blipFill>
        <p:spPr>
          <a:xfrm>
            <a:off x="2039687" y="1832733"/>
            <a:ext cx="5071680" cy="30229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661AB12-6C74-4550-8D94-CA52BD562CB6}" type="slidenum">
              <a:t>44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9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9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9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9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To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Update </a:t>
            </a: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or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Not </a:t>
            </a: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to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Update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(2)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“Freezing”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(some or all) pre-trained weights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means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not updating them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Still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referred to as fine-tuning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because we use a downstream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1" strike="noStrike" spc="-1" dirty="0">
              <a:solidFill>
                <a:srgbClr val="003056"/>
              </a:solidFill>
              <a:latin typeface="Calibri"/>
            </a:endParaRPr>
          </a:p>
          <a:p>
            <a:r>
              <a:rPr lang="en-US" sz="2000" spc="-1" dirty="0">
                <a:solidFill>
                  <a:srgbClr val="003056"/>
                </a:solidFill>
                <a:latin typeface="Calibri"/>
              </a:rPr>
              <a:t>Definition unclear, so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relevant questions when discussing fine-tuning: 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Freezing or not freezing weights? Same or different training objective?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Which downstream model? How does it interact with pre-trained model?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How are downstream examples constructed/fed to model?</a:t>
            </a:r>
          </a:p>
          <a:p>
            <a:pPr marL="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This section: downstream tasks, basic/parameter efficient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fine-tuning</a:t>
            </a:r>
          </a:p>
        </p:txBody>
      </p:sp>
      <p:pic>
        <p:nvPicPr>
          <p:cNvPr id="199" name="Grafik 7" descr="finetuning_frozen_1.png"/>
          <p:cNvPicPr/>
          <p:nvPr/>
        </p:nvPicPr>
        <p:blipFill>
          <a:blip r:embed="rId2"/>
          <a:stretch/>
        </p:blipFill>
        <p:spPr>
          <a:xfrm>
            <a:off x="1935757" y="1785113"/>
            <a:ext cx="5269905" cy="2687729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661AB12-6C74-4550-8D94-CA52BD562CB6}" type="slidenum"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11551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9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9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9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9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9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Types of Downstream Tasks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ftr" idx="4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Two main types: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Sequence classification: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predict label for entire input sequence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Sequence labeling: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predict label for each input token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 each case, we need to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9144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Get general information encoded in pre-trained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9144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 this information with downstream model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designed for downstream application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5715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How to get information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encoded in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pre-trained model?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Depends on downstream task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Generally, we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use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some of the representations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model, 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.g. tokens in any (usually last) encoder layers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No golden rules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open question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is what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each layer encodes, usability for different tasks, e.g. multilingual transformers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5715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How to use pre-trained information with downstream models?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Again, depends on application (let’s see some cases)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AAFED07-13C6-4EE1-A324-9D8CC602192A}" type="slidenum">
              <a:t>46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2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2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2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2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Sequence Classification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ftr" idx="4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we are interested in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sentiment 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Three labels: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positive, negative, neutral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have: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good mount of input sequences and corresponding sentiment labels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pre-trained transformer LM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can we use these resources to solve this task?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other words, how do we use this pre-trained model to solve this task?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it clear why we think this is a good idea in the first place?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Usually: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get single sentence representation from model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feed this representation to a classifier that predicts 1 of three possible labels.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Downstream classifier usually referred to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classification head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get a sentence representation?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what types of architecture can our classifier head have?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92F5CC0-BC14-4F57-B6BA-F9987CC92E9C}" type="slidenum">
              <a:t>47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2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2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Sequence Classification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ftr" idx="4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get a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sentence representation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from our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transformer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[CLS] token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if available, e.g. in BERT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Mean pooling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over (contextualized) output tokens (as in T5)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What types of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architectures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can we use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our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classifier head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 general restrictions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Simple/common approach? </a:t>
            </a: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layer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(linear layer +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function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the case of our sentiment classification task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R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be the sentence embedding we use, e.g. CLS token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Then, our classifier is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CLS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y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parameterized by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C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R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3xd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But the classifier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move involved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fully-connected FNN with as many layers/architecture you want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As usual, the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more parameters, the more data required for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Let's visualize this!</a:t>
            </a:r>
            <a:endParaRPr lang="en-US" sz="2200" b="0" strike="noStrike" spc="-1" dirty="0">
              <a:solidFill>
                <a:srgbClr val="003056"/>
              </a:solidFill>
              <a:latin typeface="Calibri"/>
            </a:endParaRPr>
          </a:p>
          <a:p>
            <a:endParaRPr lang="de-DE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E431DF7-7063-4A49-B09D-CA9C94C44EF8}" type="slidenum">
              <a:t>48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2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2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2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2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20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20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20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3" dur="500"/>
                                        <p:tgtEl>
                                          <p:spTgt spid="20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Sequence Classification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ftr" idx="4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We assume an architecture where [CLS] token is available</a:t>
            </a:r>
          </a:p>
          <a:p>
            <a:pPr marL="399415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Recall: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we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need labeled data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for our task to train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(not pre-trained), i.e. no more self-supervision, but loss is still typically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cross entropy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12" name="Grafik 6" descr="sequence_classification_1.png"/>
          <p:cNvPicPr/>
          <p:nvPr/>
        </p:nvPicPr>
        <p:blipFill>
          <a:blip r:embed="rId2"/>
          <a:stretch/>
        </p:blipFill>
        <p:spPr>
          <a:xfrm>
            <a:off x="1000080" y="1219680"/>
            <a:ext cx="7357680" cy="35550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FABC77F-5962-4BF6-A6F6-EC2890E5D34B}" type="slidenum">
              <a:t>49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Pair-Wise Sequence Classification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ftr" idx="4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Some problems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involve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classifying two sentences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Logical entailment: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does one sentence entail the other?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Paraphrase detection: is one sentence paraphrasing the other?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Common such task: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natural language inference (NLI)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Given two sentences, identify relation between the two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entails, contradicts, neutral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can we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fine-tune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pre-trained transformer for NLI?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Feed single representation for entire input sequence to classifier head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sequence includes pair of sentences, [SEP] token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Any other way?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Again,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no golden rules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feed each sentence separately, concatenate representations for classifier input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approaches may have different impact on pre-trained weights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during fine-tuning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3A10F30-7B16-439C-99D7-262911756218}" type="slidenum">
              <a:t>50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2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2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2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2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2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2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Sequence Labeling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ftr" idx="4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Example: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Say we are interested in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part-of-speech (POS) tagging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input token gets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one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labels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verb, noun, modifier,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How do we fine-tune a classifier for this approach?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Classifier head fed each output token for prediction, i.e.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= Softmax(W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z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z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contextualized representation of token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19" name="Grafik 6" descr="sequence_labeling_1.png"/>
          <p:cNvPicPr/>
          <p:nvPr/>
        </p:nvPicPr>
        <p:blipFill>
          <a:blip r:embed="rId2"/>
          <a:stretch/>
        </p:blipFill>
        <p:spPr>
          <a:xfrm>
            <a:off x="1928880" y="2777400"/>
            <a:ext cx="5357520" cy="3294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59B9755-C260-4D25-AEE2-8646DBCFA047}" type="slidenum">
              <a:t>51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Feasible is Fine-Tuning?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ftr" idx="4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Pre-training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 (large) language model is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expensive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BERT (2018) had 100M parameters,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LLMs today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the billions/trillions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Is fine-tuning LMs less costly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than pre-training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Not necessarily,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still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tuning the entire pre-trained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fine-tuning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with same objective -&gt;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continued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pre-training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Store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copy of tuned model for each task you tune it for!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But, usually requires less time/data due to pre-trained "bootstrap"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Do you need to fine-tune entire pre-trained LM?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Perhaps just train a few layers, perhaps the last layers only?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Recall concept of hierarchical 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can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choose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what to freeze!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That is the basic idea behind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parameter efficient fine-tuning (PEFT)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This name used in NLP community, relatively new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approaches already used in Computer Vision before that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AE43CB8-93C5-41D9-9F9D-763FBDE5ED5D}" type="slidenum">
              <a:t>52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2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2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22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22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22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22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22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22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Parameter Efficient Fine-Tuning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ftr" idx="4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What if you have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small amount of data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not enough compute power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continue training a large transformer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Lots of weights -&gt; lots of data for training, lots of compute power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PEFT: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fine-tune small subset of pre-trained weights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Advantages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Requires less data, compute power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Less prone to overfitting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to whatever data you have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Disadvantages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Usually worse performance than standard fine-tuning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Different approaches suggested in recent years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Let’s go over some of the most popular ones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AA5BFF3-E7B3-4589-BC6A-09D14A0F6826}" type="slidenum">
              <a:t>53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22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22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Adapters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ftr" idx="4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Used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Rebuffi et al.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for computer vision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tasks in 2017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Houlsby et al. (2019)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proposed it in NLP, applied it to transformers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idea: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insert adapter modules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in transformer block, tune adapter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weights only during fine-tuning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Adapter layer: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tunable layer added to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	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transformer block, originally two, one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after self-attention layer and another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after projection layer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29" name="Grafik 6" descr="adapters_in_transformers_1.png"/>
          <p:cNvPicPr/>
          <p:nvPr/>
        </p:nvPicPr>
        <p:blipFill>
          <a:blip r:embed="rId4"/>
          <a:stretch/>
        </p:blipFill>
        <p:spPr>
          <a:xfrm>
            <a:off x="5286240" y="1785960"/>
            <a:ext cx="2711520" cy="43574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405B1DD-1A23-4BE8-9986-8CC109691F16}" type="slidenum">
              <a:t>54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2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2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2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2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2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2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2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2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40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Adapters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ftr" idx="4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/>
          </p:nvPr>
        </p:nvSpPr>
        <p:spPr>
          <a:xfrm>
            <a:off x="684000" y="107172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Adapter layer should not have many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easier/less expensive to tune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Originally, between 0.5 and 8% of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indent="-28584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pre-trained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Components in adapter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Projection layer down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bottleneck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indent="-28584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dimension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Non-linearity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Projection up to original input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# parameters: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2md + m + d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Two projections + output biases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Bottleneck size: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controls trade-off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between model performance and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parameter efficiency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33" name="Grafik 7" descr="adapter_layer_1.png"/>
          <p:cNvPicPr/>
          <p:nvPr/>
        </p:nvPicPr>
        <p:blipFill>
          <a:blip r:embed="rId2"/>
          <a:stretch/>
        </p:blipFill>
        <p:spPr>
          <a:xfrm>
            <a:off x="5253010" y="1571760"/>
            <a:ext cx="2853000" cy="46432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88DF58-5174-4F91-9437-B61E0CD9E2DD}" type="slidenum">
              <a:t>55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6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2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2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2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2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23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Adapters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ftr" idx="5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684000" y="1051956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initialization should result in (close to) identity function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Why?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Training needs to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continue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fine-tuning process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start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with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working forward pass!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Random </a:t>
            </a: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init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would break that function!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Residual connection inside adapter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	layer serves this purpose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Initialize adapter weights to zero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you get identity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Recall residual connections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add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input back to output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Let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f(x)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be the operator.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With residual connection,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 = f(x) + x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 operator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identity if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f(x) = 0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37" name="Grafik 7" descr="adapter_layer_1.png"/>
          <p:cNvPicPr/>
          <p:nvPr/>
        </p:nvPicPr>
        <p:blipFill>
          <a:blip r:embed="rId2"/>
          <a:stretch/>
        </p:blipFill>
        <p:spPr>
          <a:xfrm>
            <a:off x="5255674" y="1571760"/>
            <a:ext cx="2853000" cy="46432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7898A1-7A5B-4516-9CD3-77FEF53FD18F}" type="slidenum">
              <a:t>56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2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2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2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2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23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8" dur="500"/>
                                        <p:tgtEl>
                                          <p:spTgt spid="23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Adapters (4)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ftr" idx="5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/>
          </p:nvPr>
        </p:nvSpPr>
        <p:spPr>
          <a:xfrm>
            <a:off x="684000" y="107172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Other architectures possible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Bapna et al.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  <a:hlinkClick r:id="rId2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(2019)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use only single adapter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layer after projection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Pffeifer et al. </a:t>
            </a:r>
            <a:r>
              <a:rPr lang="en-US" sz="2000" u="sng" spc="-1" dirty="0">
                <a:solidFill>
                  <a:srgbClr val="0000FF"/>
                </a:solidFill>
                <a:latin typeface="Calibri"/>
                <a:hlinkClick r:id="rId3"/>
              </a:rPr>
              <a:t>(2021)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proposed to 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  <a:tabLst>
                <a:tab pos="0" algn="l"/>
              </a:tabLst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   combine several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task-specific adapters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Task-specific adapters combined with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	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mechanism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Allows classifier to use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information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	from several different tasks in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	non-destructive manner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 catastrophic forgetting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compared to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     fine-tuning same adapter on new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41" name="Grafik 8" descr="adapter_pfeiffer_1.png"/>
          <p:cNvPicPr/>
          <p:nvPr/>
        </p:nvPicPr>
        <p:blipFill>
          <a:blip r:embed="rId4"/>
          <a:stretch/>
        </p:blipFill>
        <p:spPr>
          <a:xfrm>
            <a:off x="5678908" y="1285920"/>
            <a:ext cx="2777760" cy="46429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243BA68-8550-42C9-A7BC-4445EFB967C0}" type="slidenum">
              <a:t>57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2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2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2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2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2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2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2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24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4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Low-Rank Adaptation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ftr" idx="5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/>
          </p:nvPr>
        </p:nvSpPr>
        <p:spPr>
          <a:xfrm>
            <a:off x="684000" y="107172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err="1">
                <a:solidFill>
                  <a:srgbClr val="003056"/>
                </a:solidFill>
                <a:latin typeface="Calibri"/>
              </a:rPr>
              <a:t>LoRA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Low-rank adaptation (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Hu et al. 2021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Similar to adapters, adds trainable modules to transformer block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Specifically,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two projection layers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parallel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to projection layer in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	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transformer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Perspective: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updated weight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W’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	during fine-tuning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W’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∆</a:t>
            </a:r>
            <a:r>
              <a:rPr lang="en-US" sz="2000" b="1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</a:rPr>
              <a:t>O</a:t>
            </a:r>
            <a:endParaRPr lang="de-DE" sz="20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Simulate this effect by freezing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	adding parallel projections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AB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W’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AB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projects down to small size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AB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low-rank factorization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∆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O</a:t>
            </a:r>
            <a:endParaRPr lang="de-DE" sz="1800" strike="noStrike" spc="-1" baseline="-25000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As with adapters, initialization must be identity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achieve this by setting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0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so that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AB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0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45" name="Grafik 7" descr="lora_1.png"/>
          <p:cNvPicPr/>
          <p:nvPr/>
        </p:nvPicPr>
        <p:blipFill>
          <a:blip r:embed="rId3"/>
          <a:stretch/>
        </p:blipFill>
        <p:spPr>
          <a:xfrm>
            <a:off x="5239424" y="1848240"/>
            <a:ext cx="3297240" cy="30805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0A2A86-8429-4F5A-94D7-AEA86AB82C19}" type="slidenum">
              <a:t>58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4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2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2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2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2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2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2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2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D10D5-32DF-04BE-5590-4929D825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>
            <a:extLst>
              <a:ext uri="{FF2B5EF4-FFF2-40B4-BE49-F238E27FC236}">
                <a16:creationId xmlns:a16="http://schemas.microsoft.com/office/drawing/2014/main" id="{FCF92D3B-A1FD-61E8-0851-E459322ED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Low-Rank Adaptation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3" name="PlaceHolder 2">
            <a:extLst>
              <a:ext uri="{FF2B5EF4-FFF2-40B4-BE49-F238E27FC236}">
                <a16:creationId xmlns:a16="http://schemas.microsoft.com/office/drawing/2014/main" id="{3F5199B1-9FB6-1A4D-C3AF-54C16382B794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44" name="PlaceHolder 3">
            <a:extLst>
              <a:ext uri="{FF2B5EF4-FFF2-40B4-BE49-F238E27FC236}">
                <a16:creationId xmlns:a16="http://schemas.microsoft.com/office/drawing/2014/main" id="{A501F918-69EC-5529-8625-CF04471E7AC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07172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Downside to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all adapters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general?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(Slightly) higher inference costs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We add more parameters!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LoRA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designed to prevent this</a:t>
            </a: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Once adapter is learned, original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               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can be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updated by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merging back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AB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final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weight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AB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no additional inference costs</a:t>
            </a: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But catastrophic forgetting possible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Generally,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adapters have trade-offs</a:t>
            </a:r>
            <a:endParaRPr lang="en-US" sz="2000" b="1" i="1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CON: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increased inference cost</a:t>
            </a: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PRO: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prevent catastrophic forgetting,</a:t>
            </a:r>
          </a:p>
          <a:p>
            <a:pPr marL="513715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   original model frozen, adapters can </a:t>
            </a:r>
            <a:endParaRPr lang="en-US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513715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    always be removed (gives rise to </a:t>
            </a:r>
            <a:endParaRPr lang="en-US" dirty="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513715" lvl="1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   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modular deep learning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45" name="Grafik 7" descr="lora_1.png">
            <a:extLst>
              <a:ext uri="{FF2B5EF4-FFF2-40B4-BE49-F238E27FC236}">
                <a16:creationId xmlns:a16="http://schemas.microsoft.com/office/drawing/2014/main" id="{84723D83-4138-1BAD-42C5-90ED66D4CA1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357458" y="1848240"/>
            <a:ext cx="3297240" cy="30805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>
            <a:extLst>
              <a:ext uri="{FF2B5EF4-FFF2-40B4-BE49-F238E27FC236}">
                <a16:creationId xmlns:a16="http://schemas.microsoft.com/office/drawing/2014/main" id="{5E1048D6-4BA0-661E-F941-D1CA0A34FF71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0A2A86-8429-4F5A-94D7-AEA86AB82C19}" type="slidenum">
              <a:t>59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686485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Prompt Tuning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ftr" idx="5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/>
          </p:nvPr>
        </p:nvSpPr>
        <p:spPr>
          <a:xfrm>
            <a:off x="684000" y="107172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PEFT method, different from adapters, proposed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Lester el al. (2021</a:t>
            </a:r>
            <a:r>
              <a:rPr lang="en-US" sz="2000" u="sng" spc="-1" dirty="0">
                <a:solidFill>
                  <a:srgbClr val="0000FF"/>
                </a:solidFill>
                <a:latin typeface="Calibri"/>
                <a:hlinkClick r:id="rId2"/>
              </a:rPr>
              <a:t>)</a:t>
            </a:r>
            <a:endParaRPr lang="en-US" sz="2000" b="0" u="sng" strike="noStrike" spc="-1" dirty="0">
              <a:solidFill>
                <a:srgbClr val="0000FF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GPT-3: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performs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well on new tasks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using 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in-context learning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In-context learning: describe task and provide few examples in prompt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Advantage?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No fine-tuning! Same frozen model used for different tasks!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Problem?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Approach sensitive to prompt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gives rise to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prompt design</a:t>
            </a:r>
            <a:endParaRPr lang="de-DE" sz="1800" b="0" i="1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idea: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prepend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task-specific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tokens to input sequences (prompt)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Then, during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fine-tuning,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only new task-specific tokens are updated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Each task A,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B, C gets </a:t>
            </a: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     new task token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B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C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Font typeface="Arial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Prepend task examples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     with task tokens, e.g. </a:t>
            </a: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     prepend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to a1, a2</a:t>
            </a: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Font typeface="Arial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Tune only task tokens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Font typeface="Arial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At inference, use new</a:t>
            </a:r>
          </a:p>
          <a:p>
            <a:pPr marL="514350" lvl="1" indent="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     tokens in same way</a:t>
            </a:r>
          </a:p>
        </p:txBody>
      </p:sp>
      <p:pic>
        <p:nvPicPr>
          <p:cNvPr id="249" name="Grafik 6" descr="prompt_tuning_1.png"/>
          <p:cNvPicPr/>
          <p:nvPr/>
        </p:nvPicPr>
        <p:blipFill>
          <a:blip r:embed="rId3"/>
          <a:stretch/>
        </p:blipFill>
        <p:spPr>
          <a:xfrm>
            <a:off x="3665770" y="3435743"/>
            <a:ext cx="5106240" cy="26380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622AFC4-CFA8-4C4C-B9A9-C80C2B1FE14A}" type="slidenum">
              <a:t>60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2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2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2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2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2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24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24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24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3" dur="500"/>
                                        <p:tgtEl>
                                          <p:spTgt spid="24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56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Prompt Tuning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ftr" idx="5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/>
          </p:nvPr>
        </p:nvSpPr>
        <p:spPr>
          <a:xfrm>
            <a:off x="684000" y="107172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As with T5 model, they cast tasks as text-to-text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Normally: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downstream classification 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y|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input sequence (prompt)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single class label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0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or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if binary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Text-to-text: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we have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where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generated output sequence that represent class label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e.g. "neutral" for sentiment analysis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Fine-tuning: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</a:t>
            </a:r>
            <a:r>
              <a:rPr lang="az-Cyrl-AZ" sz="1800" b="1" i="1" strike="noStrike" spc="-1" baseline="-25000">
                <a:solidFill>
                  <a:srgbClr val="003056"/>
                </a:solidFill>
                <a:latin typeface="Calibri"/>
              </a:rPr>
              <a:t>Ѳ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az-Cyrl-AZ" sz="1800" b="1" i="1" strike="noStrike" spc="-1">
                <a:solidFill>
                  <a:srgbClr val="003056"/>
                </a:solidFill>
                <a:latin typeface="Calibri"/>
              </a:rPr>
              <a:t>Ѳ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pre-trained model parameters we tune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Prompting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prepend tokens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P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to input sequence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az-Cyrl-AZ" sz="1800" spc="-1">
                <a:solidFill>
                  <a:srgbClr val="003056"/>
                </a:solidFill>
                <a:latin typeface="Calibri"/>
              </a:rPr>
              <a:t>Normally, 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</a:rPr>
              <a:t>P</a:t>
            </a:r>
            <a:r>
              <a:rPr lang="az-Cyrl-AZ" sz="1800" spc="-1">
                <a:solidFill>
                  <a:srgbClr val="003056"/>
                </a:solidFill>
                <a:latin typeface="Calibri"/>
              </a:rPr>
              <a:t> made up of known tokens from pre-trained embedding layer</a:t>
            </a:r>
            <a:endParaRPr lang="az-Cyrl-AZ" sz="180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az-Cyrl-AZ" sz="1800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</a:rPr>
              <a:t>P</a:t>
            </a:r>
            <a:r>
              <a:rPr lang="az-Cyrl-AZ" sz="1800" spc="-1">
                <a:solidFill>
                  <a:srgbClr val="003056"/>
                </a:solidFill>
                <a:latin typeface="Calibri"/>
              </a:rPr>
              <a:t> = "Summarize the following article into a single sentence"</a:t>
            </a:r>
            <a:endParaRPr lang="az-Cyrl-AZ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az-Cyrl-AZ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Performance sensitive to chosen prompt, may require prompt design 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Prompt tuning: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add fixed prompt 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 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per task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using special new tokens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az-Cyrl-AZ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en-US" sz="12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= 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ew tokens added to vocabulary</a:t>
            </a:r>
            <a:endParaRPr lang="de-DE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Then: 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az-Cyrl-AZ" sz="12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en-US" sz="12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;</a:t>
            </a:r>
            <a:r>
              <a:rPr lang="az-Cyrl-AZ" sz="12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en-US" sz="12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Y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|[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P,X]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 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but we only tune 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en-US" sz="12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</a:t>
            </a:r>
            <a:endParaRPr lang="de-DE" sz="12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Fixed prompt removes need for prompt design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approaches: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prefix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tuning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by </a:t>
            </a:r>
            <a:r>
              <a:rPr lang="en-US" sz="1800" u="sng" spc="-1" dirty="0">
                <a:solidFill>
                  <a:srgbClr val="0000FF"/>
                </a:solidFill>
                <a:latin typeface="Calibri"/>
                <a:hlinkClick r:id="rId2"/>
              </a:rPr>
              <a:t>Li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 et al. </a:t>
            </a:r>
            <a:r>
              <a:rPr lang="en-US" sz="1800" u="sng" spc="-1" dirty="0">
                <a:solidFill>
                  <a:srgbClr val="0000FF"/>
                </a:solidFill>
                <a:latin typeface="Calibri"/>
                <a:hlinkClick r:id="rId2"/>
              </a:rPr>
              <a:t>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2021</a:t>
            </a:r>
            <a:r>
              <a:rPr lang="en-US" sz="1800" u="sng" spc="-1" dirty="0">
                <a:solidFill>
                  <a:srgbClr val="0000FF"/>
                </a:solidFill>
                <a:latin typeface="Calibri"/>
                <a:hlinkClick r:id="rId2"/>
              </a:rPr>
              <a:t>)</a:t>
            </a:r>
            <a:r>
              <a:rPr lang="en-US" sz="1800" spc="-1" dirty="0">
                <a:solidFill>
                  <a:srgbClr val="0000FF"/>
                </a:solidFill>
                <a:latin typeface="Calibri"/>
              </a:rPr>
              <a:t>, 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P-Tuning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by </a:t>
            </a:r>
            <a:r>
              <a:rPr lang="en-US" sz="1800" u="sng" spc="-1" dirty="0">
                <a:solidFill>
                  <a:srgbClr val="0000FF"/>
                </a:solidFill>
                <a:latin typeface="Calibri"/>
                <a:hlinkClick r:id="rId3"/>
              </a:rPr>
              <a:t>Liu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 et al. </a:t>
            </a:r>
            <a:r>
              <a:rPr lang="en-US" sz="1800" u="sng" spc="-1" dirty="0">
                <a:solidFill>
                  <a:srgbClr val="0000FF"/>
                </a:solidFill>
                <a:latin typeface="Calibri"/>
                <a:hlinkClick r:id="rId3"/>
              </a:rPr>
              <a:t>(</a:t>
            </a:r>
            <a:r>
              <a:rPr lang="en-US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2022</a:t>
            </a:r>
            <a:r>
              <a:rPr lang="en-US" sz="1800" u="sng" spc="-1" dirty="0">
                <a:solidFill>
                  <a:srgbClr val="0000FF"/>
                </a:solidFill>
                <a:latin typeface="Calibri"/>
                <a:hlinkClick r:id="rId3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3F8E451-A2D7-4C6D-B6DA-9B6E768A61EA}" type="slidenum">
              <a:t>61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2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25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25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25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25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25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25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Another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Perspective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on Tasks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ftr" idx="5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684000" y="1052749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classify downstream tasks as follows: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Sequence classification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Sequence labeling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also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classify tasks based on available data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, usually: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Few shot: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few examples available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Zero shot: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no examples available (just text description)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These definitions are not so consistent in the literature</a:t>
            </a: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More details in future LLM lecture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r>
              <a:rPr lang="en-US" dirty="0"/>
              <a:t>62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5307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Summary: Fine-Tuning</a:t>
            </a:r>
            <a:endParaRPr lang="de-DE" sz="3000" b="1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ftr" idx="5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684000" y="1052749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Difficult to define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Generally, using pre-trained model PT on new task not seen during training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May or may not imply updating pre-trained model parameters 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az-Cyrl-AZ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PT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Usually includes use of downstream model DM, e.g. classification head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Parameters of downstream model 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az-Cyrl-AZ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DM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are definitely trained </a:t>
            </a:r>
          </a:p>
          <a:p>
            <a:pPr>
              <a:buClr>
                <a:srgbClr val="003056"/>
              </a:buClr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Relevant questions when discussing fine-tuning: </a:t>
            </a:r>
            <a:endParaRPr lang="de-DE" sz="20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Freezing or not freezing weights? Same or different training objective?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Which downstream model? How does it interact with pre-trained model?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How are downstream examples constructed/fed to model?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2900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Parameter Efficient Fine-Tuning</a:t>
            </a: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(PEFT)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Updating all model parameters 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az-Cyrl-AZ" sz="12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PT  </a:t>
            </a:r>
            <a:r>
              <a:rPr lang="az-Cyrl-AZ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can be prohibitely expensive</a:t>
            </a:r>
          </a:p>
          <a:p>
            <a:pPr marL="800100" lvl="1">
              <a:lnSpc>
                <a:spcPct val="100000"/>
              </a:lnSpc>
              <a:spcBef>
                <a:spcPts val="360"/>
              </a:spcBef>
              <a:buFont typeface="Arial,Sans-Serif" panose="020B0604020202020204" pitchFamily="34" charset="0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PEFT: tune only subset of parameters of 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az-Cyrl-AZ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PT</a:t>
            </a:r>
            <a:r>
              <a:rPr lang="az-Cyrl-AZ" sz="12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, or new added parameters </a:t>
            </a:r>
            <a:r>
              <a:rPr lang="az-Cyrl-AZ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Ѳ</a:t>
            </a:r>
            <a:r>
              <a:rPr lang="az-Cyrl-AZ" sz="1800" i="1" spc="-1" baseline="-2500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FT 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Most common PEFT approaches: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adapters, </a:t>
            </a:r>
            <a:r>
              <a:rPr lang="en-US" sz="2000" b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LoRA</a:t>
            </a:r>
            <a:endParaRPr lang="en-US" sz="20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CFABC27-89D8-49C7-A6D6-BA564C453FE9}" type="slidenum">
              <a:t>63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37504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5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ftr" idx="5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al.,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2024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Chapters 10 and 11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Natural Language Processing: A Machine Learning Perspective, Zhang et al., 2021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17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References linked in corresponding slides</a:t>
            </a:r>
          </a:p>
          <a:p>
            <a:pPr marL="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5715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       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r>
              <a:rPr lang="en-US" dirty="0"/>
              <a:t>64</a:t>
            </a:r>
            <a:endParaRPr dirty="0"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1C5D9195-2E8F-0B69-DEF9-6D1E96EA4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3352521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4356</Words>
  <Application>Microsoft Office PowerPoint</Application>
  <PresentationFormat>On-screen Show (4:3)</PresentationFormat>
  <Paragraphs>697</Paragraphs>
  <Slides>64</Slides>
  <Notes>0</Notes>
  <HiddenSlides>0</HiddenSlides>
  <ScaleCrop>false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Office Theme</vt:lpstr>
      <vt:lpstr>Office Theme</vt:lpstr>
      <vt:lpstr>Office Theme</vt:lpstr>
      <vt:lpstr>Advanced Methods in Text Analytics</vt:lpstr>
      <vt:lpstr>What is Transfer Learning?</vt:lpstr>
      <vt:lpstr>But First, a Word on Tokenization</vt:lpstr>
      <vt:lpstr>Outline</vt:lpstr>
      <vt:lpstr>PowerPoint Presentation</vt:lpstr>
      <vt:lpstr>Pre-Training Methods</vt:lpstr>
      <vt:lpstr>Encoder-Only and Decoder-Only</vt:lpstr>
      <vt:lpstr>Recap: Self-Attention Layer (1)</vt:lpstr>
      <vt:lpstr>Recap: Self-Attention Layer (2)</vt:lpstr>
      <vt:lpstr> The Language Modeling Head (1)</vt:lpstr>
      <vt:lpstr> The Language Modeling Head (2)</vt:lpstr>
      <vt:lpstr>Transformer-Based LMs</vt:lpstr>
      <vt:lpstr>PowerPoint Presentation</vt:lpstr>
      <vt:lpstr>Masked Language Models (1)</vt:lpstr>
      <vt:lpstr>Masked Language Models (2)</vt:lpstr>
      <vt:lpstr>Training Masked Language Models (1)</vt:lpstr>
      <vt:lpstr>Training Masked Language Models (2)</vt:lpstr>
      <vt:lpstr>The BERT Model (1)</vt:lpstr>
      <vt:lpstr>The BERT Model (2)</vt:lpstr>
      <vt:lpstr>Pre-Training BERT (1)</vt:lpstr>
      <vt:lpstr>Pre-Training BERT (2)</vt:lpstr>
      <vt:lpstr>Pre-Training BERT (3)</vt:lpstr>
      <vt:lpstr>Fine-Tuning BERT (1)</vt:lpstr>
      <vt:lpstr>Fine-Tuning BERT (2)</vt:lpstr>
      <vt:lpstr>Variations of BERT (1)</vt:lpstr>
      <vt:lpstr>Variations of BERT (2)</vt:lpstr>
      <vt:lpstr>PowerPoint Presentation</vt:lpstr>
      <vt:lpstr>Autoregressive Text Generation</vt:lpstr>
      <vt:lpstr>Beam Search (1)</vt:lpstr>
      <vt:lpstr>Beam Search (2)</vt:lpstr>
      <vt:lpstr>Beam Search (3)</vt:lpstr>
      <vt:lpstr>Beam Search (4)</vt:lpstr>
      <vt:lpstr>Causal Language Models</vt:lpstr>
      <vt:lpstr>Training Causal Language Models</vt:lpstr>
      <vt:lpstr>Generative Pre-Trained Transformer</vt:lpstr>
      <vt:lpstr>GPT Architecture, Training, Fine-Tuning</vt:lpstr>
      <vt:lpstr>GPT Variants</vt:lpstr>
      <vt:lpstr>Other Transformer-Based Models</vt:lpstr>
      <vt:lpstr>Which Architecture is Best?</vt:lpstr>
      <vt:lpstr>The BERT Legacy</vt:lpstr>
      <vt:lpstr>Summary: Pre-Training</vt:lpstr>
      <vt:lpstr>PowerPoint Presentation</vt:lpstr>
      <vt:lpstr>What is Fine-Tuning?</vt:lpstr>
      <vt:lpstr>To Update or Not to Update (1)</vt:lpstr>
      <vt:lpstr>To Update or Not to Update (2)</vt:lpstr>
      <vt:lpstr>Types of Downstream Tasks</vt:lpstr>
      <vt:lpstr>Sequence Classification (1)</vt:lpstr>
      <vt:lpstr>Sequence Classification (2)</vt:lpstr>
      <vt:lpstr>Sequence Classification (3)</vt:lpstr>
      <vt:lpstr>Pair-Wise Sequence Classification</vt:lpstr>
      <vt:lpstr>Sequence Labeling</vt:lpstr>
      <vt:lpstr>How Feasible is Fine-Tuning?</vt:lpstr>
      <vt:lpstr>Parameter Efficient Fine-Tuning</vt:lpstr>
      <vt:lpstr>Adapters (1)</vt:lpstr>
      <vt:lpstr>Adapters (2)</vt:lpstr>
      <vt:lpstr>Adapters (3)</vt:lpstr>
      <vt:lpstr>Adapters (4)</vt:lpstr>
      <vt:lpstr>Low-Rank Adaptation (1)</vt:lpstr>
      <vt:lpstr>Low-Rank Adaptation (2)</vt:lpstr>
      <vt:lpstr>Prompt Tuning (1)</vt:lpstr>
      <vt:lpstr>Prompt Tuning (2)</vt:lpstr>
      <vt:lpstr>Another Perspective on Tasks</vt:lpstr>
      <vt:lpstr> Summary: Fine-Tuning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lastModifiedBy/>
  <cp:revision>4697</cp:revision>
  <dcterms:created xsi:type="dcterms:W3CDTF">2018-06-20T08:14:01Z</dcterms:created>
  <dcterms:modified xsi:type="dcterms:W3CDTF">2025-09-10T12:51:23Z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50</vt:i4>
  </property>
</Properties>
</file>