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85" r:id="rId4"/>
    <p:sldId id="301" r:id="rId5"/>
    <p:sldId id="303" r:id="rId6"/>
    <p:sldId id="306" r:id="rId7"/>
    <p:sldId id="302" r:id="rId8"/>
    <p:sldId id="333" r:id="rId9"/>
    <p:sldId id="307" r:id="rId10"/>
    <p:sldId id="260" r:id="rId11"/>
    <p:sldId id="261" r:id="rId12"/>
    <p:sldId id="308" r:id="rId13"/>
    <p:sldId id="334" r:id="rId14"/>
    <p:sldId id="328" r:id="rId15"/>
    <p:sldId id="309" r:id="rId16"/>
    <p:sldId id="310" r:id="rId17"/>
    <p:sldId id="311" r:id="rId18"/>
    <p:sldId id="312" r:id="rId19"/>
    <p:sldId id="314" r:id="rId20"/>
    <p:sldId id="317" r:id="rId21"/>
    <p:sldId id="315" r:id="rId22"/>
    <p:sldId id="300" r:id="rId23"/>
    <p:sldId id="318" r:id="rId24"/>
    <p:sldId id="319" r:id="rId25"/>
    <p:sldId id="321" r:id="rId26"/>
    <p:sldId id="320" r:id="rId27"/>
    <p:sldId id="322" r:id="rId28"/>
    <p:sldId id="323" r:id="rId29"/>
    <p:sldId id="324" r:id="rId30"/>
    <p:sldId id="329" r:id="rId31"/>
    <p:sldId id="330" r:id="rId32"/>
    <p:sldId id="331" r:id="rId33"/>
    <p:sldId id="325" r:id="rId34"/>
    <p:sldId id="326" r:id="rId35"/>
    <p:sldId id="335" r:id="rId36"/>
    <p:sldId id="327" r:id="rId37"/>
    <p:sldId id="284" r:id="rId3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381CA-D275-7A70-1E00-B8C5CA8D1FA5}" v="1" dt="2026-05-19T11:52:20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9079C9-3BA5-4B03-AD2E-1B39D3EE5E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2082AE4-F46A-4133-ACE4-DC896070B6B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655280B-896F-48D6-B0AB-1BC7C9C5CE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25842E-8F97-4D7C-9FDA-E1010EE053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58356D-D313-422B-B331-D1EC95B3F77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29FE643-1154-4345-8404-E616A381167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63ECF1-BDB7-43BB-A49F-4217D52C31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BBE22C-6634-4DFD-B12F-71F82D2C3BA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7AC57E6-B554-4B8E-B9E9-771B6399A7E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8A8CC0-5000-4F04-858A-A9684B41E0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96B11C-E961-42DF-ABCA-09A3A34E5DA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BC62426-81B4-43AE-8D51-2EB9D1B39DC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716F448-4D3F-4CB9-AEC6-1628A84C3FE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7781FF-04B5-4C78-AA19-5C2257CA4CE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1CB2BFB-624A-433D-8DAB-EEBEB24D01F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AC3FDD1-E8A7-4EEF-A932-4E5428E5819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7C89D6E-A0DC-4CFC-9F10-2CADDA838D0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6ED21EC-A455-4265-A374-7DAE7B87287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964C99-9B89-4E96-8E61-202955980A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07561AE-0575-47D6-B4E8-F1D5FE7FD3C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F22B242-60CC-4F52-B501-5EC28A29EB5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6E8CA39-C1A0-40A4-9F4E-F2980223CC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B07FDC-1FC1-4046-8F4A-EE86B7E4CBA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C425155-BCB7-40B7-B61B-4860EFCE3E9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A04F37-FE83-43C6-997B-AEE3A8001560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160ED0-83F1-4E53-A8F2-E3764098A930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thnologue.com/about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List_of_languages_by_number_of_native_speake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thnologue.com/about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List_of_languages_by_total_number_of_speaker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3techs.com/technologies/overview/content_language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avanese_language" TargetMode="External"/><Relationship Id="rId2" Type="http://schemas.openxmlformats.org/officeDocument/2006/relationships/hyperlink" Target="https://en.wikipedia.org/wiki/Lists_of_languages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hyperlink" Target="https://en.wikipedia.org/wiki/List_of_languages_by_total_number_of_speak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pdf/2504.15521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4.15521" TargetMode="External"/><Relationship Id="rId2" Type="http://schemas.openxmlformats.org/officeDocument/2006/relationships/hyperlink" Target="https://aclanthology.org/2023.emnlp-main.491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hyperlink" Target="https://aclanthology.org/2023.emnlp-main.491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abs/2307.09288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pdf/1310.4546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1706.0490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6.04902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clanthology.org/W15-1521.pdf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K16-1022.pdf" TargetMode="External"/><Relationship Id="rId2" Type="http://schemas.openxmlformats.org/officeDocument/2006/relationships/hyperlink" Target="https://aclanthology.org/D13-1141.pdf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P19-1493.pdf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ietnamese_Wikipedia" TargetMode="External"/><Relationship Id="rId2" Type="http://schemas.openxmlformats.org/officeDocument/2006/relationships/hyperlink" Target="https://en.wikipedia.org/wiki/Wikipedia:Size_of_Wikipedia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Javanese_Wikipedia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c.googleusercontent.com/media/research.google.com/en/pubs/archive/37842.pdf" TargetMode="Externa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1.acl-long.243.pdf" TargetMode="Externa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acl-main.421.pdf" TargetMode="External"/><Relationship Id="rId2" Type="http://schemas.openxmlformats.org/officeDocument/2006/relationships/hyperlink" Target="https://openreview.net/pdf?id=HJeT3yrtDr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clanthology.org/2022.emnlp-main.233.pdf" TargetMode="External"/><Relationship Id="rId5" Type="http://schemas.openxmlformats.org/officeDocument/2006/relationships/hyperlink" Target="https://aclanthology.org/2020.emnlp-main.358.pdf" TargetMode="External"/><Relationship Id="rId4" Type="http://schemas.openxmlformats.org/officeDocument/2006/relationships/hyperlink" Target="https://aclanthology.org/2020.acl-main.536.pdf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rxiv.org/pdf/1901.07291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emnlp-main.363.pdf" TargetMode="External"/><Relationship Id="rId2" Type="http://schemas.openxmlformats.org/officeDocument/2006/relationships/hyperlink" Target="https://arxiv.org/pdf/1911.02116" TargetMode="Externa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0.emnlp-main.363.pdf" TargetMode="Externa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1.11109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findings-acl.189.pdf" TargetMode="External"/><Relationship Id="rId2" Type="http://schemas.openxmlformats.org/officeDocument/2006/relationships/hyperlink" Target="https://aclanthology.org/2021.naacl-main.280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11811" TargetMode="External"/><Relationship Id="rId2" Type="http://schemas.openxmlformats.org/officeDocument/2006/relationships/hyperlink" Target="https://arxiv.org/abs/2104.08726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rxiv.org/pdf/2104.07412" TargetMode="External"/><Relationship Id="rId4" Type="http://schemas.openxmlformats.org/officeDocument/2006/relationships/hyperlink" Target="https://arxiv.org/pdf/2004.01401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meta-llama-3-1/" TargetMode="External"/><Relationship Id="rId2" Type="http://schemas.openxmlformats.org/officeDocument/2006/relationships/hyperlink" Target="https://gemini.google.com/faq?hl=en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clanthology.org/2023.findings-emnlp.632.pdf" TargetMode="External"/><Relationship Id="rId4" Type="http://schemas.openxmlformats.org/officeDocument/2006/relationships/hyperlink" Target="https://arxiv.org/pdf/2311.09071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4.findings-acl.438.pdf" TargetMode="External"/><Relationship Id="rId2" Type="http://schemas.openxmlformats.org/officeDocument/2006/relationships/hyperlink" Target="https://aclanthology.org/2023.emnlp-main.258.pdf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www.caidas.uni-wuerzburg.de/nlp/teaching/multilingual-natural-language-processing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71401" y="1051200"/>
            <a:ext cx="6724191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Multilingual NLP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565B57B-CA5C-41C1-BE4D-6A3BE51669E0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Most Spoken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 dirty="0" err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are the most spoken languages in the world?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According to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Ethnologue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this is the distribution for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native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speakers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 top 10 languages cover 3 billion people (37.5% of the world)</a:t>
            </a: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2</a:t>
            </a:fld>
            <a:endParaRPr/>
          </a:p>
        </p:txBody>
      </p:sp>
      <p:pic>
        <p:nvPicPr>
          <p:cNvPr id="4" name="Picture 3" descr="A screenshot of a screen shot&#10;&#10;Description automatically generated">
            <a:extLst>
              <a:ext uri="{FF2B5EF4-FFF2-40B4-BE49-F238E27FC236}">
                <a16:creationId xmlns:a16="http://schemas.microsoft.com/office/drawing/2014/main" id="{3E4BF857-653A-30ED-374C-BA3E3DCAB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734" y="1871206"/>
            <a:ext cx="6194016" cy="3447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C1546-E861-58AB-52F9-BB33BE414C31}"/>
              </a:ext>
            </a:extLst>
          </p:cNvPr>
          <p:cNvSpPr txBox="1"/>
          <p:nvPr/>
        </p:nvSpPr>
        <p:spPr>
          <a:xfrm>
            <a:off x="7673750" y="5017817"/>
            <a:ext cx="1176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hlinkClick r:id="rId4"/>
              </a:rPr>
              <a:t>Image source</a:t>
            </a:r>
            <a:endParaRPr lang="en-US" sz="1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43997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Most Spoken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 dirty="0" err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if we break this into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native vs non-native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speakers?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Again, according to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Ethnologue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... </a:t>
            </a:r>
            <a:endParaRPr lang="en-US" sz="1800" spc="-1" dirty="0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 top 5 languages cover 4 billion people (50% of the world)</a:t>
            </a: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3</a:t>
            </a:fld>
            <a:endParaRPr/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7FAD69A-2516-B2AC-D1CA-E71171629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6" y="1909464"/>
            <a:ext cx="8119567" cy="33805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2ED94E-BAA0-A65E-DFC2-3F6F03434191}"/>
              </a:ext>
            </a:extLst>
          </p:cNvPr>
          <p:cNvSpPr txBox="1"/>
          <p:nvPr/>
        </p:nvSpPr>
        <p:spPr>
          <a:xfrm>
            <a:off x="7465071" y="5292896"/>
            <a:ext cx="116671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hlinkClick r:id="rId4"/>
              </a:rPr>
              <a:t>Image source</a:t>
            </a:r>
            <a:endParaRPr lang="en-US" sz="1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9647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Most Spoken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(3)</a:t>
            </a:r>
            <a:endParaRPr lang="de-DE" sz="3000" b="0" strike="noStrike" spc="-1" dirty="0" err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about language distribution as used on the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world wide web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According to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W3 Technology Surveys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... </a:t>
            </a:r>
            <a:endParaRPr lang="en-US" sz="1800" spc="-1" dirty="0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English alone covers 50% of the content online (top 10 languages 84%)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Massive difference in language distribution in the world vs online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4</a:t>
            </a:fld>
            <a:endParaRPr/>
          </a:p>
        </p:txBody>
      </p:sp>
      <p:pic>
        <p:nvPicPr>
          <p:cNvPr id="4" name="Picture 3" descr="A screenshot of a screen&#10;&#10;Description automatically generated">
            <a:extLst>
              <a:ext uri="{FF2B5EF4-FFF2-40B4-BE49-F238E27FC236}">
                <a16:creationId xmlns:a16="http://schemas.microsoft.com/office/drawing/2014/main" id="{75DA7F08-6E19-DFB6-6F8F-EBE62B91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36" y="1868791"/>
            <a:ext cx="5141129" cy="329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693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Multilingual NLP?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NLP: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roughly, automatically processing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Arial"/>
              </a:rPr>
              <a:t>human language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with computers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There are over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7100 human languages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in the world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source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Calibri"/>
              </a:rPr>
              <a:t>Ideally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, all of these languages have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Calibri"/>
              </a:rPr>
              <a:t>equal access to information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</a:rPr>
              <a:t>Google Gemini could not speak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cs typeface="Calibri"/>
              </a:rPr>
              <a:t>Javanese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</a:rPr>
              <a:t>when released (Dec. 2023)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But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  <a:hlinkClick r:id="rId3"/>
              </a:rPr>
              <a:t>68 million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 people speak this language in Indonesia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That's the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  <a:hlinkClick r:id="rId4"/>
              </a:rPr>
              <a:t>same number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 of people that speak Italian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</a:rPr>
              <a:t>Javanese is now supported, but why this limitation originally?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5</a:t>
            </a:fld>
            <a:endParaRPr/>
          </a:p>
        </p:txBody>
      </p:sp>
      <p:pic>
        <p:nvPicPr>
          <p:cNvPr id="3" name="Picture 2" descr="A black and white screen with white text&#10;&#10;Description automatically generated">
            <a:extLst>
              <a:ext uri="{FF2B5EF4-FFF2-40B4-BE49-F238E27FC236}">
                <a16:creationId xmlns:a16="http://schemas.microsoft.com/office/drawing/2014/main" id="{A3F7CA90-8D05-3996-59B3-68C6930D2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14" y="2263052"/>
            <a:ext cx="7986772" cy="220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04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Multilingual NLP? (2)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State-of-the-art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(SOTA)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NLP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methods: data hungry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statistical methods </a:t>
            </a: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Modern language models typically trained on a massive corpus crawled from the web, where English is by far the most common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Calibri"/>
              </a:rPr>
              <a:t>So, performance in English much better than less available languages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The Bitter Lesson in Multilingual Benchmarks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(Wu et al., April 2025)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English far more common even in 2000+ recent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multilingual benchmarks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Multilingual benchmark --&gt; actual effort to get non-English data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Multilingual performance on NLP tasks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weakly correlated with human evaluations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6</a:t>
            </a:fld>
            <a:endParaRPr/>
          </a:p>
        </p:txBody>
      </p:sp>
      <p:pic>
        <p:nvPicPr>
          <p:cNvPr id="2" name="Picture 1" descr="A graph of different languages&#10;&#10;AI-generated content may be incorrect.">
            <a:extLst>
              <a:ext uri="{FF2B5EF4-FFF2-40B4-BE49-F238E27FC236}">
                <a16:creationId xmlns:a16="http://schemas.microsoft.com/office/drawing/2014/main" id="{24E44BC0-3E93-6AA5-8E03-E775D4B1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347" y="3700216"/>
            <a:ext cx="5967133" cy="234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3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64000-3425-F0E5-42F1-960935B5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>
            <a:extLst>
              <a:ext uri="{FF2B5EF4-FFF2-40B4-BE49-F238E27FC236}">
                <a16:creationId xmlns:a16="http://schemas.microsoft.com/office/drawing/2014/main" id="{574D35A3-95FD-485D-8374-AE1B2A94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Just Translate to English?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>
            <a:extLst>
              <a:ext uri="{FF2B5EF4-FFF2-40B4-BE49-F238E27FC236}">
                <a16:creationId xmlns:a16="http://schemas.microsoft.com/office/drawing/2014/main" id="{976A09F1-7B87-EC1B-A92D-5CAE0703DC45}"/>
              </a:ext>
            </a:extLst>
          </p:cNvPr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>
            <a:extLst>
              <a:ext uri="{FF2B5EF4-FFF2-40B4-BE49-F238E27FC236}">
                <a16:creationId xmlns:a16="http://schemas.microsoft.com/office/drawing/2014/main" id="{B2199F1C-9265-C0C6-35A3-B3769C9809B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As machine translation improves,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fair question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just translate to English?</a:t>
            </a: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translate task to English, feed it to model, translate output back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Calibri"/>
              </a:rPr>
              <a:t>Translation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Calibri"/>
              </a:rPr>
              <a:t>is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Calibri"/>
              </a:rPr>
              <a:t> not good enough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Calibri"/>
              </a:rPr>
              <a:t>in many cases 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 if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output is independent of </a:t>
            </a:r>
            <a:endParaRPr lang="en-US">
              <a:solidFill>
                <a:srgbClr val="000000"/>
              </a:solidFill>
              <a:latin typeface="DejaVu Sans"/>
              <a:ea typeface="Calibri"/>
              <a:cs typeface="Arial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     input language, LLMs may solve </a:t>
            </a:r>
            <a:endParaRPr lang="en-US">
              <a:solidFill>
                <a:srgbClr val="000000"/>
              </a:solidFill>
              <a:latin typeface="DejaVu Sans"/>
              <a:ea typeface="Calibri"/>
              <a:cs typeface="Arial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     problems via translation </a:t>
            </a:r>
            <a:endParaRPr lang="en-US">
              <a:solidFill>
                <a:srgbClr val="000000"/>
              </a:solidFill>
              <a:latin typeface="DejaVu Sans"/>
              <a:ea typeface="Calibri"/>
              <a:cs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   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Zhang et al. 2023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endParaRPr lang="en-US"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 if language changes answer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Example in image: language </a:t>
            </a: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     independent task (top) vs </a:t>
            </a:r>
            <a:endParaRPr lang="en-US">
              <a:solidFill>
                <a:srgbClr val="000000"/>
              </a:solidFill>
              <a:latin typeface="Arial"/>
              <a:cs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     language dependent task (pun</a:t>
            </a:r>
            <a:endParaRPr lang="en-US">
              <a:solidFill>
                <a:srgbClr val="000000"/>
              </a:solidFill>
              <a:latin typeface="Arial"/>
              <a:cs typeface="Calibri"/>
            </a:endParaRPr>
          </a:p>
          <a:p>
            <a:pPr marL="5143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     detection, bottom)</a:t>
            </a:r>
          </a:p>
          <a:p>
            <a:pPr marL="34290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  <a:cs typeface="Calibri"/>
              </a:rPr>
              <a:t>Similarly,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Calibri"/>
                <a:hlinkClick r:id="rId3"/>
              </a:rPr>
              <a:t>Wu et al. (2025)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Calibri"/>
              </a:rPr>
              <a:t> found: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Strong correlation with human eval. in STEM tasks (language independent)</a:t>
            </a:r>
            <a:endParaRPr lang="en-US">
              <a:solidFill>
                <a:srgbClr val="003056"/>
              </a:solidFill>
              <a:latin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Translation not enough, models worse in translation-based benchmarks</a:t>
            </a: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</a:pPr>
            <a:endParaRPr lang="en-US" sz="1800" spc="-1" dirty="0">
              <a:solidFill>
                <a:srgbClr val="003056"/>
              </a:solidFill>
              <a:latin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04BB461-23A8-8D6E-44C1-2A848A92BDB4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7</a:t>
            </a:fld>
            <a:endParaRPr/>
          </a:p>
        </p:txBody>
      </p:sp>
      <p:pic>
        <p:nvPicPr>
          <p:cNvPr id="4" name="Picture 3" descr="A diagram of a translation&#10;&#10;Description automatically generated">
            <a:extLst>
              <a:ext uri="{FF2B5EF4-FFF2-40B4-BE49-F238E27FC236}">
                <a16:creationId xmlns:a16="http://schemas.microsoft.com/office/drawing/2014/main" id="{C86BC919-A87E-E728-54CF-F05E50981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18" y="2131077"/>
            <a:ext cx="4040814" cy="31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38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Multilingual NLP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Multilingual natural language processing (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):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NLP systems that can process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multiple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natural languages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But how many languages?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Ideally, the more the better!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But, the more languages, the more challenges 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Calibri"/>
              </a:rPr>
              <a:t>In this lecture: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Cross-lingual transfer (fundamental goal of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cs typeface="Calibri"/>
              </a:rPr>
              <a:t>mNLP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Calibri"/>
              </a:rPr>
              <a:t>Multilingual transformers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 dirty="0">
              <a:solidFill>
                <a:srgbClr val="003056"/>
              </a:solidFill>
              <a:latin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86472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Cross-Lingual Transfer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Multilingual Transformers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221301-9728-434F-99D7-54AEC6583B52}" type="slidenum">
              <a:t>9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 dirty="0">
                <a:solidFill>
                  <a:srgbClr val="003056"/>
                </a:solidFill>
                <a:latin typeface="Calibri"/>
              </a:rPr>
              <a:t>Cross-Lingual Transfer</a:t>
            </a:r>
            <a:endParaRPr lang="en-US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F2B43E7-B823-4A23-841C-33749B8E44AD}" type="slidenum">
              <a:t>10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What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Cross-Lingual Transfer?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Due to their statistical nature, SOTA NLP models perform much better in English than in languages less available online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(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Zhang et al. 2023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E.g. GPT-3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3"/>
              </a:rPr>
              <a:t>Brown et al. 2020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and LlaMA-2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4"/>
              </a:rPr>
              <a:t>Touvron et al. 2023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trained on data that is heavily skewed toward English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Supervised datasets for downstream fine-tuning mostly available in English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Cross-lingual transfer: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model applies knowledge obtained in some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source language 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 a setting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in a different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target language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Source language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usually a high resource language, e.g. English</a:t>
            </a:r>
            <a:endParaRPr lang="en-US"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Target language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usually a low-resource language, e.g. Quechua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Essentially,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transfer learning across languages </a:t>
            </a:r>
            <a:endParaRPr lang="en-US" sz="16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Task for intuition of cross lingual transfer: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using an ATM to get cash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 aspects language independent, e.g. button placement, order of actions (first insert card, etc.)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Other aspects language dependent, e.g. reading options on screen</a:t>
            </a:r>
            <a:endParaRPr lang="en-US" sz="20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Another example: driving a car (steering vs reading street signs)</a:t>
            </a:r>
            <a:endParaRPr lang="en-US" sz="20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36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579A-DF58-569D-C649-4FED576C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>
            <a:extLst>
              <a:ext uri="{FF2B5EF4-FFF2-40B4-BE49-F238E27FC236}">
                <a16:creationId xmlns:a16="http://schemas.microsoft.com/office/drawing/2014/main" id="{0470B641-D508-7EC3-5143-1CF1437D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Cross-Lingual Transfer in LMs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>
            <a:extLst>
              <a:ext uri="{FF2B5EF4-FFF2-40B4-BE49-F238E27FC236}">
                <a16:creationId xmlns:a16="http://schemas.microsoft.com/office/drawing/2014/main" id="{C1577895-6ADE-E2FB-4D92-475A62833686}"/>
              </a:ext>
            </a:extLst>
          </p:cNvPr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>
            <a:extLst>
              <a:ext uri="{FF2B5EF4-FFF2-40B4-BE49-F238E27FC236}">
                <a16:creationId xmlns:a16="http://schemas.microsoft.com/office/drawing/2014/main" id="{1804BD86-53F9-8BCC-C686-FA5F0B46C09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General approach: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endParaRPr lang="en-US" sz="2000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Pre-train/fine-tune LM on task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 T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in English (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source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language, lots of data)</a:t>
            </a:r>
            <a:endParaRPr lang="en-US" sz="1600">
              <a:solidFill>
                <a:srgbClr val="000000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Then fine-tune/do inference on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 Javanese (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target language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less data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)</a:t>
            </a:r>
            <a:endParaRPr lang="en-US" sz="1600"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Why would you do that? 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Some aspects of the task may be language independent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Training on language with more data may be useful to get language independent aspects of tasks</a:t>
            </a:r>
            <a:endParaRPr lang="en-US" sz="1800">
              <a:solidFill>
                <a:srgbClr val="000000"/>
              </a:solidFill>
              <a:latin typeface="Arial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How can we measure if task is indeed transferable?</a:t>
            </a: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Measure performance on the task!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Baselines important, e.g. monolingual setting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Success is cross-lingual transfer suggests: 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There are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aspects of the task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that are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shared across languages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Trained models learned these shared/transferable aspects of the task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This success could enable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democratization of SOTA NLP methods! </a:t>
            </a:r>
            <a:endParaRPr lang="en-US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cross-lingual transfer is a 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fundamental goal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of mNLP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BDAA4AA-C3DD-BA2B-BC74-14AAE8E64AEA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2369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3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Cross-Lingual Transfer in LMs (2)</a:t>
            </a:r>
            <a:endParaRPr lang="de-DE" sz="3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More common setting: 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First pre-train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LM on English &amp; Javanese (already support more languages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Then fine-tune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on some specific task, e.g. sentiment analysis, using data in English (safe to assume lots of data for the task in English)</a:t>
            </a:r>
            <a:endParaRPr lang="en-US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Then do inference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on same task using data in Javanese (where there is little data in this language for fine-tuning your LM for the task)</a:t>
            </a:r>
            <a:endParaRPr lang="en-US"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Easier said than done, more details to handle in most cases 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E.g. why support more languages during pre-training already?</a:t>
            </a:r>
            <a:endParaRPr 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We discuss such details in the next section</a:t>
            </a:r>
            <a:endParaRPr 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How to study/enable cross-lingual transfer?</a:t>
            </a:r>
            <a:endParaRPr lang="en-US" sz="20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Normally, by looking into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shared cross-lingual features</a:t>
            </a:r>
            <a:endParaRPr lang="en-US" sz="18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I.e. features that are similar across more than one language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Easy way to visualize this: cross-lingual word embeddings (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CLWE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endParaRPr lang="en-US"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469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687520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Embedding Space Alignment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Say we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train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static word embeddings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with skip-gram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Mikolov et al. 2013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in two different languages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English and Italian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 embedding space may look as shown below (clustered by language)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D81708-CBDD-501F-3A91-B2A9E49D9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103" y="2082953"/>
            <a:ext cx="6023278" cy="39916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38028B-7AE3-3A0B-E6BF-0B211A1FC7D5}"/>
              </a:ext>
            </a:extLst>
          </p:cNvPr>
          <p:cNvSpPr txBox="1"/>
          <p:nvPr/>
        </p:nvSpPr>
        <p:spPr>
          <a:xfrm>
            <a:off x="6298356" y="6051734"/>
            <a:ext cx="12900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4"/>
              </a:rPr>
              <a:t>Image source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58329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687520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Embedding Space Alignment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 (2)</a:t>
            </a:r>
            <a:endParaRPr lang="en-US" dirty="0"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We may want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shared features across languages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i.e. a bilingual embedding space clustered (often referred to as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aligned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) by meaning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This requires an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alignment signal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word-to-word translations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9E3E8-4521-86F7-3442-4C7ABC39A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104" y="2097361"/>
            <a:ext cx="6004307" cy="40197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D95A8-CDE9-4B9D-DE66-BCD9CCFACF9A}"/>
              </a:ext>
            </a:extLst>
          </p:cNvPr>
          <p:cNvSpPr txBox="1"/>
          <p:nvPr/>
        </p:nvSpPr>
        <p:spPr>
          <a:xfrm>
            <a:off x="6298356" y="6051734"/>
            <a:ext cx="12900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3"/>
              </a:rPr>
              <a:t>Image source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43276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687520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Cross-Lingual Word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Embeddings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Example: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the bilingual skip-gram model by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Luong et al. 2015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Recall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skip-gram: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given center word, predict neighboring words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Bilingual skip-gram: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addition to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monolingual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objective (curved arrows), predict surrounding words in target language (straight arrows)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Given source language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and target language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such a method requires: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Corpora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C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vocabularies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V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t 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and parameters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endParaRPr lang="en-US" sz="1800" spc="-1" baseline="30000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Dictionary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= {(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,s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)}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sentence translation pairs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where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V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s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∈ V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endParaRPr lang="en-US" sz="1800" spc="-1" baseline="-2500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64783B-833B-B886-94DF-6617268A8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851" y="2458740"/>
            <a:ext cx="6345784" cy="227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94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687520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Cross-Lingual Word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Embeddings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51404"/>
            <a:ext cx="7775640" cy="498764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Why does this method require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parallel sentences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I.e. why do we require translation?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And why translations of sentences and not just words?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Parallel sentences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i.e. translated sentences, is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alignment signal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to enforce shared features across languages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Task dependent: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for skip-gram objective, which is based on predicting context words given center word, we require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sentences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to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provide suitable context windows during training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principle of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distributed semantics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Such parallel sentences commonly found in machine translation datasets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how do we use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2000" b="1" i="1" spc="-1" baseline="-25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to align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corresponding words in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and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 minimize distance between vectors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aligned words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in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,s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 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endParaRPr lang="en-US" sz="1800" i="1" spc="-1" baseline="-2500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did the authors do? 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Set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= </a:t>
            </a:r>
            <a:r>
              <a:rPr lang="en-US" sz="1800" b="1" i="1" spc="-1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</a:rPr>
              <a:t>j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for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aligned words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in every example from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where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b="1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j</a:t>
            </a:r>
            <a:r>
              <a:rPr lang="en-US" sz="18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are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-th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and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j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-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row of 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and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resp. 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I.e. we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require new set D</a:t>
            </a:r>
            <a:r>
              <a:rPr lang="en-US" sz="1800" b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b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of aligned word pairs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13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800" i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438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20895" cy="5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Evaluating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CLWE</a:t>
            </a:r>
            <a:endParaRPr lang="de-DE" sz="3000" b="1" strike="noStrike" spc="-1" dirty="0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Intrinsic evaluation: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Bilingual lexicon induction (BLI)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Cross-lingual word similarity (XL-SIM)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BLI: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given 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 ∈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take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as query and rank all rows from </a:t>
            </a:r>
            <a:r>
              <a:rPr lang="en-US" sz="2000" b="1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30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based on similarity to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then check rank </a:t>
            </a:r>
            <a:r>
              <a:rPr lang="en-US" sz="20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</a:t>
            </a:r>
            <a:r>
              <a:rPr lang="en-US" sz="20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of correct answer 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We compute metrics based on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averaged over all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endParaRPr lang="en-US" sz="1800" i="1" spc="-1" baseline="-25000" dirty="0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precision@1 (P@1): percentage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pairs where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= 1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Mean reciprocal rank (MRR): average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1/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across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pairs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200" b="1" spc="-1" dirty="0">
                <a:solidFill>
                  <a:srgbClr val="003056"/>
                </a:solidFill>
                <a:latin typeface="Calibri"/>
              </a:rPr>
              <a:t>XL-SIM: </a:t>
            </a:r>
            <a:r>
              <a:rPr lang="en-US" sz="2200" spc="-1" dirty="0">
                <a:solidFill>
                  <a:srgbClr val="003056"/>
                </a:solidFill>
                <a:latin typeface="Calibri"/>
              </a:rPr>
              <a:t>given</a:t>
            </a:r>
            <a:r>
              <a:rPr lang="en-US" sz="22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</a:t>
            </a:r>
            <a:r>
              <a:rPr lang="en-US" sz="13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 ∈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compare similarities of corresponding vectors with semantic similarity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scores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given by human annotators</a:t>
            </a:r>
            <a:endParaRPr lang="en-US" sz="2200" spc="-1" dirty="0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Subjective task, requires averaged scores across multiple annotators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Extrinsic evaluation: </a:t>
            </a:r>
            <a:r>
              <a:rPr lang="en-US" sz="2000" spc="-1" dirty="0">
                <a:solidFill>
                  <a:srgbClr val="003056"/>
                </a:solidFill>
                <a:latin typeface="Calibri"/>
                <a:cs typeface="Arial"/>
              </a:rPr>
              <a:t>use CLWE on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cs typeface="Arial"/>
              </a:rPr>
              <a:t>downstream cross-lingual tasks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2"/>
              </a:rPr>
              <a:t>Zou et al. 2013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used CLWE as features in phrase-based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machine translation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Entity linking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cs typeface="Arial"/>
              </a:rPr>
              <a:t>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match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mention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 in one language to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cs typeface="Arial"/>
              </a:rPr>
              <a:t>entity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</a:rPr>
              <a:t>in another language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9240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Beyond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CLWE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Static representations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of words seldom used today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Instead, NLP relies almost exclusively on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contextualized representations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Typically, these representations are provided by transformer-based language models (LMs)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Even if multilingual, static representations are still limited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Nevertheless, 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following concepts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are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still relevant in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Cross-lingual transfer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Alignment of representation space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the next section: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Cross-lingual transfer using transformer-based models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0330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 dirty="0">
                <a:solidFill>
                  <a:srgbClr val="003056"/>
                </a:solidFill>
                <a:latin typeface="Calibri"/>
              </a:rPr>
              <a:t>Multilingual Transformers</a:t>
            </a:r>
            <a:endParaRPr lang="en-US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F2B43E7-B823-4A23-841C-33749B8E44AD}" type="slidenum"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277105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Multilingual BERT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What could cross-lingual transfer look like with transformer-based LMs?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Any ideas?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Pires et al. 2019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developed multilingual BERT to explore this question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framed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cross-lingual transfer with BERT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as follows</a:t>
            </a:r>
          </a:p>
          <a:p>
            <a:pPr marL="13716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Pre-train BERT on corpus of concatenation of text (Wikipedia) in multiple different languages (let's call it </a:t>
            </a:r>
            <a:r>
              <a:rPr lang="en-US" sz="1600" b="1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13716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Fine-tune </a:t>
            </a:r>
            <a:r>
              <a:rPr lang="en-US" sz="16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 on some task using language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s 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(seen in pre-training)</a:t>
            </a:r>
          </a:p>
          <a:p>
            <a:pPr marL="13716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Evaluate </a:t>
            </a:r>
            <a:r>
              <a:rPr lang="en-US" sz="16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 on same task using different language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t 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(seen in pre-training)</a:t>
            </a:r>
          </a:p>
          <a:p>
            <a:pPr marL="9144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called this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zero-shot cross-lingual transfer</a:t>
            </a:r>
          </a:p>
          <a:p>
            <a:pPr marL="9144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Note: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no cross-lingual supervision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parallel sentences</a:t>
            </a:r>
          </a:p>
          <a:p>
            <a:pPr marL="4572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If successful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it would mean 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model learns the task beyond its representation in some language</a:t>
            </a:r>
          </a:p>
          <a:p>
            <a:pPr marL="9144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"Learns the task", some aspects of it at least</a:t>
            </a:r>
          </a:p>
          <a:p>
            <a:pPr marL="9144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1685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Training Multilingual LMs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Training data was highly unbalanced in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mBERT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This has important implications on performance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Training corpus: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concatenation of Wikipedia in 104 different languages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But size of Wikipedia is different in different languages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Number of articles in English: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about 6.8M articles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Number of articles in Vietnamese: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about 1.3M articles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Number of articles in Javanese: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about 73000 articles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Impact on performance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is predictable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Performance on more common languages is better. Why?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Transformer has more data to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learn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from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Learn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= adjust its 100M parameters so it generalizes instead of overfitting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addition,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low-resource languages typically require more data given same number of parameters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Why?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Hint: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the model uses a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single shared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vocabulary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for all languages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10105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in Multilingual LMs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What impact does unbalanced data across languages have on tokenization?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used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WordPiece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(mentioned in tokenization lecture)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Recall </a:t>
            </a:r>
            <a:r>
              <a:rPr lang="en-US" sz="1800" b="1" spc="-1" dirty="0" err="1">
                <a:solidFill>
                  <a:srgbClr val="003056"/>
                </a:solidFill>
                <a:latin typeface="Calibri"/>
              </a:rPr>
              <a:t>WordPiece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similar to BPE (covered in detail in tokenization lecture)</a:t>
            </a:r>
          </a:p>
          <a:p>
            <a:pPr marL="12573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Start with vocabulary </a:t>
            </a:r>
            <a:r>
              <a:rPr lang="en-US" sz="1600" i="1" spc="-1" dirty="0">
                <a:solidFill>
                  <a:srgbClr val="003056"/>
                </a:solidFill>
                <a:latin typeface="Calibri"/>
              </a:rPr>
              <a:t>V</a:t>
            </a:r>
            <a:r>
              <a:rPr lang="en-US" sz="1600" spc="-1" dirty="0">
                <a:solidFill>
                  <a:srgbClr val="003056"/>
                </a:solidFill>
                <a:latin typeface="Calibri"/>
              </a:rPr>
              <a:t> made of characters</a:t>
            </a:r>
          </a:p>
          <a:p>
            <a:pPr marL="12573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Merge pairs of tokens that increase data likelihood of n-gram LM</a:t>
            </a:r>
          </a:p>
          <a:p>
            <a:pPr marL="1257300" lvl="2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Keep merging until you reach desired vocabulary size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If we add frequent tokens to vocabulary, a count-based n-gram model can better estimate their probabilities.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Similar effects in other forms of tokenization, e.g. BPE,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UnigramLM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other words,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multilingual vocabulary dominated by "larger" languages, as measured by training data size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Recall example from tokenization lecture: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hello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in English -&gt; 1 token</a:t>
            </a:r>
            <a:endParaRPr lang="en-US" sz="1800" b="1" i="1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Corresponding word in Hindi: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namaste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-&gt; 3 tokens</a:t>
            </a:r>
            <a:endParaRPr lang="en-US" sz="1800" i="1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Why does this matter? </a:t>
            </a:r>
          </a:p>
          <a:p>
            <a:pPr marL="5715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90980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in Multilingual LMs (2)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Multilingual tokenization already discussed in tokenization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lecture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Same message requires more tokens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to be represented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in low-resource languages</a:t>
            </a:r>
            <a:endParaRPr lang="en-US" sz="1600" b="1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Given limited input length in modern LMs,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low-resource languages are limited to shorter input sequences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why does this mean low-resource languages require more data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given the same number of parameters?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Because transformer needs to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learn to contextualize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tokens that belong to the same word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learn that 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na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ma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1800" i="1" spc="-1" err="1">
                <a:solidFill>
                  <a:srgbClr val="003056"/>
                </a:solidFill>
                <a:latin typeface="Calibri"/>
              </a:rPr>
              <a:t>ste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should attend to one another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Can be challenging, because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tokens more likely to appear in different languages, but with different meanings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(e.g. article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in English)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 short,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tokenization crucial for performance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across languages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Note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vicious circle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low-resource languages train with low amounts of data, which creates problems that can be solved with more data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9094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Generalizing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Across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was indeed "surprisingly" successful despite unbalanced data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I.e. model was quite good at zero-shot cross-lingual transfer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This suggests model can do tasks beyond language, but why surprising?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How can we explain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mBERTs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success without alignment signal?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Recall: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no alignment signal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parallel sentence translations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Several studies have focused on this question and found: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K et al. 2020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shared vocabulary not needed, model depth needed, languages should be of similar structure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Artetxe et al. 2020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show that neither shared vocabulary nor joint training is needed (given pre-trained model in language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they froze all parameters except embedding matrix and fine-tuned on new language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Conneau et al. 2020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showed that independent monolingual BERT models can be aligned post-hoc by tying parameters in top layer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5"/>
              </a:rPr>
              <a:t>Dufter et al. 2020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hypothesized that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is multilingual due to limited parameters, forced to share feature across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6"/>
              </a:rPr>
              <a:t>Blevins et al. 2022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language contamination -&gt; no real monolingual models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i="1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4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18334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Generalizing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Across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was the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first of many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multilingual transformer-based LMs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Lample et al. 2019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proposed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XLM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model (stands for cross-lingual LM)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Balanced data for learning tokenizer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upsampled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"small" languages,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downsampled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"large" languages)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Additional objective: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translation language modeling (TLM)</a:t>
            </a: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TLM: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masked language modeling (MLM) but with pairs of parallel sentences (i.e. translations), i.e. alignment signal required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Note: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objective no longer self-supervised but supervised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26</a:t>
            </a:fld>
            <a:endParaRPr/>
          </a:p>
        </p:txBody>
      </p:sp>
      <p:pic>
        <p:nvPicPr>
          <p:cNvPr id="2" name="Picture 1" descr="A diagram of a transformer&#10;&#10;Description automatically generated">
            <a:extLst>
              <a:ext uri="{FF2B5EF4-FFF2-40B4-BE49-F238E27FC236}">
                <a16:creationId xmlns:a16="http://schemas.microsoft.com/office/drawing/2014/main" id="{7E6EFDA9-B6E3-EACA-9D53-2E1037C0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3" y="3805216"/>
            <a:ext cx="8195454" cy="213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661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Generalizing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Across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Languages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(3)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Conneau et al. 2020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proposed XLM-R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Just MLM, no more TLM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Much larger training data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Much larger vocabulary: 250K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Significantly outperformed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on cross-lingual tasks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Lauscher et al. 2020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showed cross-lingual performance largely dependent on type of "size" of language and "distance" to English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Size: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size of pre-training set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Distance: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how structurally similar it is to English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found performance drops a lot with smaller/more distant languages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Number of languages also impactful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to cross-lingual performance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Conneau et al. 2020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found a trade-off between performance and number of languages for a fixed model size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Curse of </a:t>
            </a:r>
            <a:r>
              <a:rPr lang="en-US" sz="1800" b="1" spc="-1" dirty="0" err="1">
                <a:solidFill>
                  <a:srgbClr val="003056"/>
                </a:solidFill>
                <a:latin typeface="Calibri"/>
              </a:rPr>
              <a:t>multilinguality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more languages lead to better cross-lingual performance up to a point, after which performance generally degrades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51634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Zero-Shot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vs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Few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-Shot 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Most works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described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so far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focused on zero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-shot transfer</a:t>
            </a:r>
            <a:endParaRPr lang="en-US" sz="2000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Assumption: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zero-labeled examples in target language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Perhaps more a scientific question rather than a realistic setting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 "can we do it in a zero-shot setting?"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Why?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In practice, almost always possible to label a small number of examples in any target language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This would mean a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few-shot cross lingual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setting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Lauscher et al. 2020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proposed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sequential few-shot transfer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First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fine-tune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LM on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specific task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using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"large" language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English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Then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fine-tune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same task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using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"small" target language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e.g. Javanese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PROs: They found massive improvements over zero-shot setting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CONs: first step expensive, not cross-lingual signal about task due to separate steps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Besides such quantitative studies,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qualitative research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was also done</a:t>
            </a: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9438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961415" cy="56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Cross-lingual Transfer in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(1)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Muller et al. 2021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studied the internal mechanism that allow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do perform cross-lingual transfer.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Recall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pre-trained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on multiple languages,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fine-tuned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on some source language,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performed inference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on another target language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First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, they replaced (pre-trained) transformer layers one by one with new, randomly initialized layers, compared performance with </a:t>
            </a:r>
            <a:r>
              <a:rPr lang="en-US" sz="2000" spc="-1" err="1">
                <a:solidFill>
                  <a:srgbClr val="003056"/>
                </a:solidFill>
                <a:latin typeface="Calibri"/>
              </a:rPr>
              <a:t>mBERT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Method for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feature attribution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what is the impact of this feature on the model prediction?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By replacing the layer with random weights and checking difference in performance, we can see how important that layer is for the model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This was done on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three tasks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Part-of-Speech (POS) tagging: (assign labels to parts of sentences, e.g. verb)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Dependency parsing: predicting dependency between parts of sentence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Named Entity Recognition (NER): identify entities in text, e.g. Jane Austen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Each task evaluated in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two settings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monolingual, cross-lingual (2 lang.)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9716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961415" cy="56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Cross-lingual Transfer in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(2)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They found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lower layers more important in cross-lingual setting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Replacing lower layers with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    random weights had much 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   more impact cross-lingually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Replacing upper layers had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  little impact in both settings</a:t>
            </a:r>
          </a:p>
          <a:p>
            <a:pPr marL="285750" indent="-285750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This suggests lower layers act 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    as "multilingual encoder", and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    upper layers as task-specific,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     language-agnostic "predictor"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Upper layers not important</a:t>
            </a:r>
            <a:endParaRPr lang="en-US" sz="1600" spc="-1" dirty="0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   for cross-lingual transfer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Lower layers much more 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  Important cross-lingually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     than monolingually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8AA083-22ED-9C6D-F9CA-BF3F41349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687" y="1675145"/>
            <a:ext cx="4572000" cy="3850105"/>
          </a:xfrm>
          <a:prstGeom prst="rect">
            <a:avLst/>
          </a:prstGeom>
        </p:spPr>
      </p:pic>
      <p:pic>
        <p:nvPicPr>
          <p:cNvPr id="3" name="Picture 2" descr="A pink background with black letters&#10;&#10;Description automatically generated">
            <a:extLst>
              <a:ext uri="{FF2B5EF4-FFF2-40B4-BE49-F238E27FC236}">
                <a16:creationId xmlns:a16="http://schemas.microsoft.com/office/drawing/2014/main" id="{58D26868-0992-C092-F39F-EB858F6BD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687" y="5531131"/>
            <a:ext cx="4572000" cy="46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538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961415" cy="56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Cross-lingual Transfer in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mBERT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(3)</a:t>
            </a:r>
            <a:endParaRPr lang="en-US" dirty="0"/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They also looked at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alignment per layer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How?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Average contextualized representations of input sentence in one language, compare with averaged representation in another language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They found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representations more aligned toward center layers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Suggests model initially learns similar representations across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May be task dependent, similar results found later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Chi et al.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Gaschi et al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B17B4-0CFE-F7C0-361D-02E3B20FD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130398"/>
            <a:ext cx="4572000" cy="28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75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Multilingual Evaluation </a:t>
            </a:r>
            <a:endParaRPr lang="de-DE" sz="3000" b="1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democratization of NLP methods across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Still an open challenge, e.g. Gemini does not speak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javanese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Research still ongoing in this direction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Many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multilingual tasks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proposed for research, e.g.: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Americas NLI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natural language inference (NLI) covering 10 low-resource indigenous languages of the Americas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MaskhaNER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named-entity recognition (NER) on 10 low-resource 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african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languages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Today,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common to evaluate LMs on benchmarks with multiple tasks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4"/>
              </a:rPr>
              <a:t>XGLUE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11 tasks, 19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5"/>
              </a:rPr>
              <a:t>X-TREME-R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: 10 tasks, 50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Etc.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0048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Multilinguality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in LLMs (1)</a:t>
            </a:r>
            <a:endParaRPr lang="en-US" dirty="0"/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Since LLMs, research in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mostly reproduced prior results</a:t>
            </a:r>
            <a:endParaRPr lang="en-US" sz="2000" b="1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 dirty="0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.e. no new concepts, no new findings compared to PLM-based research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Have LLMs solved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?</a:t>
            </a:r>
            <a:endParaRPr lang="en-US" b="1">
              <a:solidFill>
                <a:srgbClr val="000000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In short, </a:t>
            </a:r>
            <a:r>
              <a:rPr lang="en-US" sz="1800" b="1" dirty="0">
                <a:solidFill>
                  <a:srgbClr val="003056"/>
                </a:solidFill>
                <a:latin typeface="Calibri"/>
              </a:rPr>
              <a:t>no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Many languages still not covered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Large variance in performance across languages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latin typeface="Calibri"/>
              </a:rPr>
              <a:t>Aren't some LLMs multilingual?</a:t>
            </a:r>
            <a:endParaRPr lang="en-US" sz="2200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Yes!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Gemini supports </a:t>
            </a:r>
            <a:r>
              <a:rPr lang="en-US" sz="1800" dirty="0">
                <a:solidFill>
                  <a:srgbClr val="003056"/>
                </a:solidFill>
                <a:latin typeface="Calibri"/>
                <a:hlinkClick r:id="rId2"/>
              </a:rPr>
              <a:t>over 40 languages</a:t>
            </a:r>
            <a:endParaRPr lang="en-US" sz="1800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Llama-3.1 supports </a:t>
            </a:r>
            <a:r>
              <a:rPr lang="en-US" sz="1800" dirty="0">
                <a:solidFill>
                  <a:srgbClr val="003056"/>
                </a:solidFill>
                <a:latin typeface="Calibri"/>
                <a:hlinkClick r:id="rId3"/>
              </a:rPr>
              <a:t>8 languages officially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 (many more unofficially)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dirty="0">
                <a:solidFill>
                  <a:srgbClr val="003056"/>
                </a:solidFill>
                <a:latin typeface="Calibri"/>
              </a:rPr>
              <a:t>cross-lingual signals usually not present during pre-training</a:t>
            </a:r>
            <a:endParaRPr lang="en-US" sz="2200" b="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So, </a:t>
            </a:r>
            <a:r>
              <a:rPr lang="en-US" sz="1800" dirty="0">
                <a:solidFill>
                  <a:srgbClr val="003056"/>
                </a:solidFill>
                <a:latin typeface="Calibri"/>
                <a:hlinkClick r:id="rId4"/>
              </a:rPr>
              <a:t>ongoing research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 to determine whether specific changes to architecture or training regimes are necessary</a:t>
            </a:r>
            <a:endParaRPr lang="en-US" sz="1600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dirty="0">
                <a:solidFill>
                  <a:srgbClr val="003056"/>
                </a:solidFill>
                <a:latin typeface="Calibri"/>
                <a:hlinkClick r:id="rId5"/>
              </a:rPr>
              <a:t>cross-lingual attention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 (feed model cross-lingual training examples)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Or perhaps simply scaling will get us to the </a:t>
            </a:r>
            <a:r>
              <a:rPr lang="en-US" sz="1800" dirty="0" err="1">
                <a:solidFill>
                  <a:srgbClr val="003056"/>
                </a:solidFill>
                <a:latin typeface="Calibri"/>
              </a:rPr>
              <a:t>mNLP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 goal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932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D51E-CA94-1959-CCCF-03D1BBAE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>
            <a:extLst>
              <a:ext uri="{FF2B5EF4-FFF2-40B4-BE49-F238E27FC236}">
                <a16:creationId xmlns:a16="http://schemas.microsoft.com/office/drawing/2014/main" id="{709D8418-2C9D-5A33-0E28-3F29C02E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Multilinguality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in LLMs (2) </a:t>
            </a:r>
            <a:endParaRPr lang="en-US"/>
          </a:p>
        </p:txBody>
      </p:sp>
      <p:sp>
        <p:nvSpPr>
          <p:cNvPr id="175" name="PlaceHolder 2">
            <a:extLst>
              <a:ext uri="{FF2B5EF4-FFF2-40B4-BE49-F238E27FC236}">
                <a16:creationId xmlns:a16="http://schemas.microsoft.com/office/drawing/2014/main" id="{DA5F3883-67A3-41B3-2864-B64D773C1AA6}"/>
              </a:ext>
            </a:extLst>
          </p:cNvPr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>
            <a:extLst>
              <a:ext uri="{FF2B5EF4-FFF2-40B4-BE49-F238E27FC236}">
                <a16:creationId xmlns:a16="http://schemas.microsoft.com/office/drawing/2014/main" id="{F08909BD-AF35-9C70-F380-B568247E893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 Recently,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Ahuja et al. 2023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studied multilingual performance of LLMs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They found significant gap in performance in English vs non-English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Especially true in low-resource language with non-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</a:rPr>
              <a:t>latin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scripts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Machine translating not enough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Something that is special to LLMs: ICL</a:t>
            </a: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hlinkClick r:id="rId3"/>
              </a:rPr>
              <a:t>Zhang et al. (2024)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 studied impact of ICL demonstrations across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The found effectiveness of demonstration is also language dependent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EBBC0035-1F9D-5975-D25D-B27CC0BA458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65534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52754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Summary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2485"/>
            <a:ext cx="7775640" cy="48533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Multilingual NLP: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NLP systems that can process multiple natural languages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Cross-lingual transfer: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using knowledge acquired in some source language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on a task described in another target language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</a:rPr>
              <a:t>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Can be accomplished in many ways depending on task, model architecture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Representation alignment: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similar words in different languages clustered together in embedding space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Multilingual transformers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: typically pre-trained in multiple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LMs designed for cross-lingual transfer</a:t>
            </a:r>
            <a:endParaRPr lang="en-US" sz="1800"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E.g. via zero-shot cross lingual transfer, sequential cross-lingual fine-tuning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dirty="0">
                <a:solidFill>
                  <a:srgbClr val="003056"/>
                </a:solidFill>
                <a:latin typeface="Calibri"/>
              </a:rPr>
              <a:t>Modern </a:t>
            </a:r>
            <a:r>
              <a:rPr lang="en-US" sz="2000" b="1" dirty="0">
                <a:solidFill>
                  <a:srgbClr val="003056"/>
                </a:solidFill>
                <a:latin typeface="Calibri"/>
              </a:rPr>
              <a:t>LLMs are already multilingual</a:t>
            </a:r>
            <a:r>
              <a:rPr lang="en-US" sz="2000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US" sz="2000" b="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003056"/>
                </a:solidFill>
                <a:latin typeface="Calibri"/>
              </a:rPr>
              <a:t>they are trained in multiple languages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dirty="0">
                <a:solidFill>
                  <a:srgbClr val="003056"/>
                </a:solidFill>
                <a:latin typeface="Calibri"/>
              </a:rPr>
              <a:t>But performance across languages varies a lot given task and language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dirty="0">
                <a:solidFill>
                  <a:srgbClr val="003056"/>
                </a:solidFill>
                <a:latin typeface="Calibri"/>
              </a:rPr>
              <a:t>Open challenge</a:t>
            </a:r>
            <a:r>
              <a:rPr lang="en-US" sz="1800" dirty="0">
                <a:solidFill>
                  <a:srgbClr val="003056"/>
                </a:solidFill>
                <a:latin typeface="Calibri"/>
              </a:rPr>
              <a:t>: improve multilingual performance of LLMs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476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References linked in corresponding slides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Multilingual NLP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by Prof. Goran Glavaš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GB" sz="24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2400" spc="-1" dirty="0">
                <a:solidFill>
                  <a:srgbClr val="003056"/>
                </a:solidFill>
                <a:latin typeface="Calibri"/>
                <a:cs typeface="Arial"/>
              </a:rPr>
              <a:t>                                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  <a:endParaRPr lang="en-GB" sz="24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B2625B-E8AC-4499-80D0-30520607F22A}" type="slidenum">
              <a:t>36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75CCD260-0EE6-B20B-3583-D2B36FDF0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96" y="1957388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Office Theme</vt:lpstr>
      <vt:lpstr>Advanced Methods in Text Analytics</vt:lpstr>
      <vt:lpstr>Most Spoken Languages (1)</vt:lpstr>
      <vt:lpstr>Most Spoken Languages (2)</vt:lpstr>
      <vt:lpstr>Most Spoken Languages (3)</vt:lpstr>
      <vt:lpstr>Why Multilingual NLP? (1)</vt:lpstr>
      <vt:lpstr>Why Multilingual NLP? (2)</vt:lpstr>
      <vt:lpstr>Just Translate to English?</vt:lpstr>
      <vt:lpstr>Multilingual NLP</vt:lpstr>
      <vt:lpstr>Outline</vt:lpstr>
      <vt:lpstr>PowerPoint Presentation</vt:lpstr>
      <vt:lpstr>What is Cross-Lingual Transfer?</vt:lpstr>
      <vt:lpstr>Cross-Lingual Transfer in LMs (1)</vt:lpstr>
      <vt:lpstr>Cross-Lingual Transfer in LMs (2) </vt:lpstr>
      <vt:lpstr>Embedding Space Alignment (1)</vt:lpstr>
      <vt:lpstr>Embedding Space Alignment (2)</vt:lpstr>
      <vt:lpstr>Cross-Lingual Word Embeddings (1)</vt:lpstr>
      <vt:lpstr>Cross-Lingual Word Embeddings (2)</vt:lpstr>
      <vt:lpstr>Evaluating CLWE</vt:lpstr>
      <vt:lpstr>Beyond CLWE</vt:lpstr>
      <vt:lpstr>PowerPoint Presentation</vt:lpstr>
      <vt:lpstr>Multilingual BERT</vt:lpstr>
      <vt:lpstr>Training Multilingual LMs</vt:lpstr>
      <vt:lpstr>Tokenization in Multilingual LMs (1)</vt:lpstr>
      <vt:lpstr>Tokenization in Multilingual LMs (2)</vt:lpstr>
      <vt:lpstr>Generalizing Across Languages (1)</vt:lpstr>
      <vt:lpstr>Generalizing Across Languages (2)</vt:lpstr>
      <vt:lpstr>Generalizing Across Languages (3)</vt:lpstr>
      <vt:lpstr>Zero-Shot vs Few-Shot </vt:lpstr>
      <vt:lpstr>Cross-lingual Transfer in mBERT (1)</vt:lpstr>
      <vt:lpstr>Cross-lingual Transfer in mBERT (2)</vt:lpstr>
      <vt:lpstr>Cross-lingual Transfer in mBERT (3)</vt:lpstr>
      <vt:lpstr>Multilingual Evaluation </vt:lpstr>
      <vt:lpstr>Multilinguality in LLMs (1)</vt:lpstr>
      <vt:lpstr>Multilinguality in LLMs (2) </vt:lpstr>
      <vt:lpstr>Summary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3893</cp:revision>
  <dcterms:created xsi:type="dcterms:W3CDTF">2018-06-20T08:14:01Z</dcterms:created>
  <dcterms:modified xsi:type="dcterms:W3CDTF">2026-05-19T11:53:04Z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29</vt:i4>
  </property>
</Properties>
</file>