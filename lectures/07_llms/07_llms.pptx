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9" r:id="rId5"/>
    <p:sldId id="285" r:id="rId6"/>
    <p:sldId id="260" r:id="rId7"/>
    <p:sldId id="261" r:id="rId8"/>
    <p:sldId id="262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309" r:id="rId19"/>
    <p:sldId id="295" r:id="rId20"/>
    <p:sldId id="264" r:id="rId21"/>
    <p:sldId id="320" r:id="rId22"/>
    <p:sldId id="265" r:id="rId23"/>
    <p:sldId id="266" r:id="rId24"/>
    <p:sldId id="267" r:id="rId25"/>
    <p:sldId id="268" r:id="rId26"/>
    <p:sldId id="269" r:id="rId27"/>
    <p:sldId id="271" r:id="rId28"/>
    <p:sldId id="270" r:id="rId29"/>
    <p:sldId id="321" r:id="rId30"/>
    <p:sldId id="324" r:id="rId31"/>
    <p:sldId id="325" r:id="rId32"/>
    <p:sldId id="322" r:id="rId33"/>
    <p:sldId id="323" r:id="rId34"/>
    <p:sldId id="327" r:id="rId35"/>
    <p:sldId id="326" r:id="rId36"/>
    <p:sldId id="329" r:id="rId37"/>
    <p:sldId id="330" r:id="rId38"/>
    <p:sldId id="332" r:id="rId39"/>
    <p:sldId id="333" r:id="rId40"/>
    <p:sldId id="331" r:id="rId41"/>
    <p:sldId id="334" r:id="rId42"/>
    <p:sldId id="296" r:id="rId43"/>
    <p:sldId id="297" r:id="rId44"/>
    <p:sldId id="298" r:id="rId45"/>
    <p:sldId id="299" r:id="rId46"/>
    <p:sldId id="273" r:id="rId47"/>
    <p:sldId id="274" r:id="rId48"/>
    <p:sldId id="335" r:id="rId49"/>
    <p:sldId id="328" r:id="rId50"/>
    <p:sldId id="272" r:id="rId51"/>
    <p:sldId id="275" r:id="rId52"/>
    <p:sldId id="276" r:id="rId53"/>
    <p:sldId id="277" r:id="rId54"/>
    <p:sldId id="278" r:id="rId55"/>
    <p:sldId id="279" r:id="rId56"/>
    <p:sldId id="280" r:id="rId57"/>
    <p:sldId id="305" r:id="rId58"/>
    <p:sldId id="304" r:id="rId59"/>
    <p:sldId id="301" r:id="rId60"/>
    <p:sldId id="302" r:id="rId61"/>
    <p:sldId id="303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08" r:id="rId73"/>
    <p:sldId id="336" r:id="rId74"/>
    <p:sldId id="337" r:id="rId75"/>
    <p:sldId id="300" r:id="rId76"/>
    <p:sldId id="284" r:id="rId7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811D4-2B12-668C-364E-78B5A8361BE4}" v="3" dt="2026-04-27T18:23:41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89079C9-3BA5-4B03-AD2E-1B39D3EE5E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2082AE4-F46A-4133-ACE4-DC896070B6B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655280B-896F-48D6-B0AB-1BC7C9C5CE1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825842E-8F97-4D7C-9FDA-E1010EE053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58356D-D313-422B-B331-D1EC95B3F77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29FE643-1154-4345-8404-E616A381167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063ECF1-BDB7-43BB-A49F-4217D52C31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BBE22C-6634-4DFD-B12F-71F82D2C3BA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7AC57E6-B554-4B8E-B9E9-771B6399A7E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8A8CC0-5000-4F04-858A-A9684B41E0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596B11C-E961-42DF-ABCA-09A3A34E5DA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BC62426-81B4-43AE-8D51-2EB9D1B39DC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716F448-4D3F-4CB9-AEC6-1628A84C3FE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67781FF-04B5-4C78-AA19-5C2257CA4CE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1CB2BFB-624A-433D-8DAB-EEBEB24D01F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AC3FDD1-E8A7-4EEF-A932-4E5428E5819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7C89D6E-A0DC-4CFC-9F10-2CADDA838D0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84000" y="584640"/>
            <a:ext cx="5478840" cy="52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6ED21EC-A455-4265-A374-7DAE7B87287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C964C99-9B89-4E96-8E61-202955980AB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07561AE-0575-47D6-B4E8-F1D5FE7FD3C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F22B242-60CC-4F52-B501-5EC28A29EB5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84000" y="3985200"/>
            <a:ext cx="77756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6E8CA39-C1A0-40A4-9F4E-F2980223CCE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68480" y="198252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8400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668480" y="3985200"/>
            <a:ext cx="379440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B07FDC-1FC1-4046-8F4A-EE86B7E4CBA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8400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331308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942160" y="198252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8400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331308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942160" y="3985200"/>
            <a:ext cx="2503440" cy="182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24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rPr lang="en-US"/>
              <a:t>Dr. Daniel Ruffinelli - FSS 2026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C425155-BCB7-40B7-B61B-4860EFCE3E9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A04F37-FE83-43C6-997B-AEE3A8001560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pic>
        <p:nvPicPr>
          <p:cNvPr id="5" name="Grafik 7"/>
          <p:cNvPicPr/>
          <p:nvPr/>
        </p:nvPicPr>
        <p:blipFill>
          <a:blip r:embed="rId15"/>
          <a:srcRect t="12590" b="25700"/>
          <a:stretch/>
        </p:blipFill>
        <p:spPr>
          <a:xfrm>
            <a:off x="0" y="2058840"/>
            <a:ext cx="9143640" cy="3761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8"/>
          <p:cNvPicPr/>
          <p:nvPr/>
        </p:nvPicPr>
        <p:blipFill>
          <a:blip r:embed="rId14"/>
          <a:stretch/>
        </p:blipFill>
        <p:spPr>
          <a:xfrm>
            <a:off x="6678000" y="352800"/>
            <a:ext cx="2008800" cy="92844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11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Titelmasterformat durch Klicken bearbeiten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4000" y="1982520"/>
            <a:ext cx="7775640" cy="383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3056"/>
              </a:buClr>
              <a:buFont typeface="Arial"/>
              <a:buChar char="•"/>
            </a:pPr>
            <a:r>
              <a:rPr lang="de-DE" sz="2400" b="0" strike="noStrike" spc="-1">
                <a:solidFill>
                  <a:srgbClr val="003056"/>
                </a:solidFill>
                <a:latin typeface="Calibri"/>
              </a:rPr>
              <a:t>Formatvorlagen des Textmasters bearbeiten</a:t>
            </a:r>
          </a:p>
          <a:p>
            <a:pPr marL="743040" lvl="1" indent="-28584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–"/>
            </a:pPr>
            <a:r>
              <a:rPr lang="de-DE" sz="2000" b="0" strike="noStrike" spc="-1">
                <a:solidFill>
                  <a:srgbClr val="003056"/>
                </a:solidFill>
                <a:latin typeface="Calibri"/>
              </a:rPr>
              <a:t>Zweite Ebene</a:t>
            </a:r>
          </a:p>
          <a:p>
            <a:pPr marL="1143000" lvl="2" indent="-2286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de-DE" sz="1800" b="0" strike="noStrike" spc="-1">
                <a:solidFill>
                  <a:srgbClr val="003056"/>
                </a:solidFill>
                <a:latin typeface="Calibri"/>
              </a:rPr>
              <a:t>Dritte Ebene</a:t>
            </a:r>
          </a:p>
          <a:p>
            <a:pPr marL="1600200" lvl="3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–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Vierte Ebene</a:t>
            </a:r>
          </a:p>
          <a:p>
            <a:pPr marL="2057400" lvl="4" indent="-228600">
              <a:lnSpc>
                <a:spcPct val="100000"/>
              </a:lnSpc>
              <a:spcBef>
                <a:spcPts val="320"/>
              </a:spcBef>
              <a:buClr>
                <a:srgbClr val="003056"/>
              </a:buClr>
              <a:buFont typeface="Arial"/>
              <a:buChar char="»"/>
            </a:pPr>
            <a:r>
              <a:rPr lang="de-DE" sz="1600" b="0" strike="noStrike" spc="-1">
                <a:solidFill>
                  <a:srgbClr val="003056"/>
                </a:solidFill>
                <a:latin typeface="Calibri"/>
              </a:rPr>
              <a:t>Fünfte Ebene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683640" y="6386400"/>
            <a:ext cx="213336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7405920" y="6134400"/>
            <a:ext cx="105408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160ED0-83F1-4E53-A8F2-E3764098A930}" type="slidenum">
              <a:rPr lang="de-DE" sz="1200" b="0" strike="noStrike" spc="-1">
                <a:solidFill>
                  <a:srgbClr val="003056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xiv.org/pdf/2307.06435.pdf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3.18223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3.18223" TargetMode="External"/><Relationship Id="rId2" Type="http://schemas.openxmlformats.org/officeDocument/2006/relationships/hyperlink" Target="https://arxiv.org/pdf/2307.06435.pdf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4165" TargetMode="External"/><Relationship Id="rId2" Type="http://schemas.openxmlformats.org/officeDocument/2006/relationships/hyperlink" Target="https://arxiv.org/pdf/2206.07682.pdf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arxiv.org/pdf/2504.13837" TargetMode="External"/><Relationship Id="rId4" Type="http://schemas.openxmlformats.org/officeDocument/2006/relationships/hyperlink" Target="https://arxiv.org/pdf/2201.08239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5509429" TargetMode="External"/><Relationship Id="rId2" Type="http://schemas.openxmlformats.org/officeDocument/2006/relationships/hyperlink" Target="https://arxiv.org/abs/1703.05175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proceedings.neurips.cc/paper_files/paper/2017/file/51e6d6e679953c6311757004d8cbbba9-Paper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5.14165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rxiv.org/pdf/2005.14165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rxiv.org/pdf/2005.14165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i.stanford.edu/blog/in-context-learning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3.findings-acl.779.pdf" TargetMode="External"/><Relationship Id="rId2" Type="http://schemas.openxmlformats.org/officeDocument/2006/relationships/hyperlink" Target="https://arxiv.org/pdf/2005.14165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7.09288" TargetMode="External"/><Relationship Id="rId2" Type="http://schemas.openxmlformats.org/officeDocument/2006/relationships/hyperlink" Target="https://llama.meta.com/llama3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rxiv.org/abs/2202.12837" TargetMode="External"/><Relationship Id="rId5" Type="http://schemas.openxmlformats.org/officeDocument/2006/relationships/hyperlink" Target="https://aclanthology.org/2023.findings-acl.247.pdf" TargetMode="External"/><Relationship Id="rId4" Type="http://schemas.openxmlformats.org/officeDocument/2006/relationships/hyperlink" Target="https://arxiv.org/abs/2111.02080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11.07230" TargetMode="External"/><Relationship Id="rId2" Type="http://schemas.openxmlformats.org/officeDocument/2006/relationships/hyperlink" Target="https://aclanthology.org/2023.findings-emnlp.12.pdf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hyperlink" Target="https://arxiv.org/pdf/2201.11903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rxiv.org/pdf/2205.11916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jkBMFhNj_g" TargetMode="External"/><Relationship Id="rId2" Type="http://schemas.openxmlformats.org/officeDocument/2006/relationships/hyperlink" Target="https://arxiv.org/pdf/2307.09288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hyperlink" Target="https://aiindex.stanford.edu/wp-content/uploads/2024/04/HAI_2024_AI-Index-Report.pd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ocs/optimum/concept_guides/quantization" TargetMode="Externa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5.05131.pdf" TargetMode="External"/><Relationship Id="rId2" Type="http://schemas.openxmlformats.org/officeDocument/2006/relationships/hyperlink" Target="https://arxiv.org/abs/1910.10683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4.05832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5.14165.pdf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2.05171" TargetMode="External"/><Relationship Id="rId2" Type="http://schemas.openxmlformats.org/officeDocument/2006/relationships/hyperlink" Target="https://arxiv.org/pdf/2303.12712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2504.13837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3.18223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7.09288.pdf" TargetMode="External"/><Relationship Id="rId2" Type="http://schemas.openxmlformats.org/officeDocument/2006/relationships/hyperlink" Target="https://arxiv.org/pdf/2302.13971.pdf" TargetMode="Externa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blog/llama-4-multimodal-intelligence/" TargetMode="External"/><Relationship Id="rId2" Type="http://schemas.openxmlformats.org/officeDocument/2006/relationships/hyperlink" Target="https://arxiv.org/pdf/2407.21783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i.meta.com/blog/llama-3-2-connect-2024-vision-edge-mobile-devices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rxiv.org/pdf/2002.04745" TargetMode="Externa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arxiv.org/pdf/1910.07467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12.08083" TargetMode="External"/><Relationship Id="rId2" Type="http://schemas.openxmlformats.org/officeDocument/2006/relationships/hyperlink" Target="https://arxiv.org/pdf/1710.05941v1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2002.05202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6.05525" TargetMode="External"/><Relationship Id="rId2" Type="http://schemas.openxmlformats.org/officeDocument/2006/relationships/hyperlink" Target="https://arxiv.org/pdf/1503.02531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blog/llama-3-2-connect-2024-vision-edge-mobile-devices/" TargetMode="External"/><Relationship Id="rId2" Type="http://schemas.openxmlformats.org/officeDocument/2006/relationships/hyperlink" Target="https://arxiv.org/pdf/1910.01108v4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arxiv.org/pdf/2501.12948#cite.qwen2_5" TargetMode="External"/><Relationship Id="rId4" Type="http://schemas.openxmlformats.org/officeDocument/2006/relationships/hyperlink" Target="https://arxiv.org/pdf/2412.15115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2.19437" TargetMode="External"/><Relationship Id="rId2" Type="http://schemas.openxmlformats.org/officeDocument/2006/relationships/hyperlink" Target="https://arxiv.org/pdf/2401.04088" TargetMode="Externa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7.06204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cs.toronto.edu/~fritz/absps/jjnh91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2503.07137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701.06538" TargetMode="Externa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jmlr.org/papers/volume23/21-0998/21-0998.pdf" TargetMode="External"/><Relationship Id="rId2" Type="http://schemas.openxmlformats.org/officeDocument/2006/relationships/hyperlink" Target="https://openreview.net/pdf?id=qrwe7XHTmYb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rxiv.org/pdf/2209.01667#cite.shazeer2017outrageously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9.01667" TargetMode="External"/><Relationship Id="rId2" Type="http://schemas.openxmlformats.org/officeDocument/2006/relationships/hyperlink" Target="https://arxiv.org/pdf/2503.07137" TargetMode="Externa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gi-sphere.com/context-length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arxiv.org/pdf/2108.12409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arxiv.org/pdf/2306.15595" TargetMode="Externa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5.14135" TargetMode="External"/><Relationship Id="rId7" Type="http://schemas.openxmlformats.org/officeDocument/2006/relationships/hyperlink" Target="https://arxiv.org/pdf/2404.07143" TargetMode="External"/><Relationship Id="rId2" Type="http://schemas.openxmlformats.org/officeDocument/2006/relationships/hyperlink" Target="https://arxiv.org/pdf/1904.10509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rxiv.org/pdf/2404.09173" TargetMode="External"/><Relationship Id="rId5" Type="http://schemas.openxmlformats.org/officeDocument/2006/relationships/hyperlink" Target="https://aclanthology.org/2024.eacl-long.69.pdf" TargetMode="External"/><Relationship Id="rId4" Type="http://schemas.openxmlformats.org/officeDocument/2006/relationships/hyperlink" Target="https://arxiv.org/abs/2312.00752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203.15556.pdf" TargetMode="Externa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lm-scaling-laws" TargetMode="External"/><Relationship Id="rId2" Type="http://schemas.openxmlformats.org/officeDocument/2006/relationships/hyperlink" Target="https://www.lesswrong.com/posts/6Fpvch8RR29qLEWNH/chinchilla-s-wild-implications?utm_source=substack&amp;utm_medium=email" TargetMode="Externa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2.04177" TargetMode="External"/><Relationship Id="rId2" Type="http://schemas.openxmlformats.org/officeDocument/2006/relationships/hyperlink" Target="https://arxiv.org/pdf/2307.03201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pdf/2503.03862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24n/slides/cs224n-2023-lecture11-prompting-rlhf.pdf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24n/slides/cs224n-2023-lecture11-prompting-rlhf.pdf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9.01652.pdf" TargetMode="External"/><Relationship Id="rId2" Type="http://schemas.openxmlformats.org/officeDocument/2006/relationships/hyperlink" Target="https://arxiv.org/pdf/2110.08207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arxiv.org/pdf/2109.01652.pdf" TargetMode="Externa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arxiv.org/pdf/2109.01652.pdf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6.04615.pdf" TargetMode="External"/><Relationship Id="rId2" Type="http://schemas.openxmlformats.org/officeDocument/2006/relationships/hyperlink" Target="https://arxiv.org/pdf/2009.03300.pdf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arxiv.org/pdf/1811.07871" TargetMode="External"/><Relationship Id="rId4" Type="http://schemas.openxmlformats.org/officeDocument/2006/relationships/hyperlink" Target="https://arxiv.org/pdf/2203.02155.pdf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14236" TargetMode="External"/><Relationship Id="rId2" Type="http://schemas.openxmlformats.org/officeDocument/2006/relationships/hyperlink" Target="https://proceedings.neurips.cc/paper_files/paper/2017/file/d5e2c0adad503c91f91df240d0cd4e49-Paper.pdf" TargetMode="Externa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arxiv.org/pdf/1706.03741" TargetMode="Externa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07.06347" TargetMode="External"/><Relationship Id="rId2" Type="http://schemas.openxmlformats.org/officeDocument/2006/relationships/hyperlink" Target="https://arxiv.org/pdf/2203.02155" TargetMode="Externa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arxiv.org/pdf/2203.02155" TargetMode="Externa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3.02155.pdf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24n/slides/cs224n-spr2024-lecture10-prompting-rlhf.pdf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arxiv.org/pdf/1707.06347" TargetMode="Externa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arxiv.org/pdf/2305.18290" TargetMode="Externa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1.12948" TargetMode="External"/><Relationship Id="rId2" Type="http://schemas.openxmlformats.org/officeDocument/2006/relationships/hyperlink" Target="https://arxiv.org/pdf/2212.08073" TargetMode="Externa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4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400" b="1" strike="noStrike" spc="-1">
                <a:solidFill>
                  <a:srgbClr val="003056"/>
                </a:solidFill>
                <a:latin typeface="Calibri"/>
              </a:rPr>
              <a:t>Advanced Methods in Text Analytics</a:t>
            </a:r>
            <a:endParaRPr lang="de-DE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669240" y="1051200"/>
            <a:ext cx="6117120" cy="3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Large Language Models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565B57B-CA5C-41C1-BE4D-6A3BE51669E0}" type="slidenum">
              <a:t>1</a:t>
            </a:fld>
            <a:endParaRPr/>
          </a:p>
        </p:txBody>
      </p:sp>
      <p:pic>
        <p:nvPicPr>
          <p:cNvPr id="2" name="Picture 1" descr="A grey and black sign with a person in a circle&#10;&#10;AI-generated content may be incorrect.">
            <a:extLst>
              <a:ext uri="{FF2B5EF4-FFF2-40B4-BE49-F238E27FC236}">
                <a16:creationId xmlns:a16="http://schemas.microsoft.com/office/drawing/2014/main" id="{A6EB16EE-C50D-9D48-8E6B-5D8EC6E3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08" y="5976378"/>
            <a:ext cx="1342465" cy="48577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22682AD7-232E-1FE6-8B66-ED09608E2651}"/>
              </a:ext>
            </a:extLst>
          </p:cNvPr>
          <p:cNvSpPr txBox="1"/>
          <p:nvPr/>
        </p:nvSpPr>
        <p:spPr>
          <a:xfrm>
            <a:off x="3999178" y="6089113"/>
            <a:ext cx="414385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" dirty="0">
                <a:solidFill>
                  <a:srgbClr val="003056"/>
                </a:solidFill>
                <a:latin typeface="Calibri"/>
                <a:hlinkClick r:id="rId3"/>
              </a:rPr>
              <a:t>Licensed under Creative Commons Attribution 4.0 International</a:t>
            </a:r>
            <a:endParaRPr lang="en-US" sz="1200" spc="-1" dirty="0">
              <a:solidFill>
                <a:srgbClr val="00305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Large Language Models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LLMs: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Large Language Models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(vast majority are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causal LMs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i.e. CLMs)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Active/trendy research topic,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many open questions/challenges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Above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line: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open source;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orange cards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instruction tuned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92" name="Textfeld 7"/>
          <p:cNvSpPr/>
          <p:nvPr/>
        </p:nvSpPr>
        <p:spPr>
          <a:xfrm>
            <a:off x="7361123" y="5056247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7F9E69A-4CA5-493C-BEDC-C4414850FE8C}" type="slidenum">
              <a:t>2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435A85-2B08-5E12-250E-759F0CDA6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52" y="2187753"/>
            <a:ext cx="8507896" cy="28502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Large Language Models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2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885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LLMs distinguished by: 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spc="-1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 size --&gt; (ii) what they can do --&gt; (iii) how they are used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 way we use LMs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has changed over time,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rough history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</a:t>
            </a:r>
            <a:endParaRPr lang="de-DE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Statistical LMs: 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count-based, e.g.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-gram models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Neural LMs: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FNNs/RNNs, task-specific downstream data and architectures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Pre-trained LMs: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transfer learning, task-specific data, general architecture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Large LMs: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as PLMs but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sometimes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no task-specific data required</a:t>
            </a:r>
            <a:endParaRPr lang="en-US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endParaRPr lang="de-DE" sz="18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1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99" name="Grafik 6" descr="lm_history_by_usability.png"/>
          <p:cNvPicPr/>
          <p:nvPr/>
        </p:nvPicPr>
        <p:blipFill>
          <a:blip r:embed="rId2"/>
          <a:stretch/>
        </p:blipFill>
        <p:spPr>
          <a:xfrm>
            <a:off x="412426" y="3429931"/>
            <a:ext cx="8320320" cy="2858760"/>
          </a:xfrm>
          <a:prstGeom prst="rect">
            <a:avLst/>
          </a:prstGeom>
          <a:ln w="0">
            <a:noFill/>
          </a:ln>
        </p:spPr>
      </p:pic>
      <p:sp>
        <p:nvSpPr>
          <p:cNvPr id="100" name="Textfeld 7"/>
          <p:cNvSpPr/>
          <p:nvPr/>
        </p:nvSpPr>
        <p:spPr>
          <a:xfrm>
            <a:off x="7007766" y="6312821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44A91FF-DA7C-4031-BCA1-2A8D04C9FDFF}" type="slidenum">
              <a:t>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Large Language Models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3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0360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What can LLMs do? (1) 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In-context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learning abilities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Zero shot, or few shot tasks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via in-context learning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Other “emergent abilities”, mostly related to text generation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What can LLMs do? (2)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Solve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new tasks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by following instructions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New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= not trained or tuned for it,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task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= "summarize", "write a poem", etc.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E.g.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"summarize the following article into a single sentence"</a:t>
            </a:r>
            <a:endParaRPr lang="en-US" i="1"/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New tuning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methods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developed for this 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ea typeface="+mn-lt"/>
                <a:cs typeface="+mn-lt"/>
              </a:rPr>
              <a:t>Still, essentially pre-trained LMs </a:t>
            </a:r>
            <a:r>
              <a:rPr lang="en-US" sz="1800" spc="-1">
                <a:solidFill>
                  <a:srgbClr val="003056"/>
                </a:solidFill>
                <a:ea typeface="+mn-lt"/>
                <a:cs typeface="+mn-lt"/>
              </a:rPr>
              <a:t>(can do transfer learning, PEFT, etc.)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LLMs also come with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new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challenges: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Expensive to train, bias and fairness, data privacy, hallucinations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 this lecture, 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we focus on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key methods/models</a:t>
            </a:r>
            <a:endParaRPr lang="de-DE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Not a laundry list! (New models regularly, many won't stand test of time)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For comprehensive overview of methods, see </a:t>
            </a:r>
            <a:r>
              <a:rPr lang="en-US" sz="1800" spc="-1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this survey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and </a:t>
            </a:r>
            <a:r>
              <a:rPr lang="en-US" sz="1800" spc="-1">
                <a:solidFill>
                  <a:srgbClr val="000000"/>
                </a:solidFill>
                <a:latin typeface="Calibri"/>
                <a:ea typeface="Calibri"/>
                <a:cs typeface="Calibri"/>
                <a:hlinkClick r:id="rId3"/>
              </a:rPr>
              <a:t>this survey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</a:t>
            </a:r>
            <a:endParaRPr lang="en-US"/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Industry: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get LLMs to perform better, apply them to real-world, sell them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Academia: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study LLMs, understand LLMs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7497A8-7E1F-45D3-91D1-10848132C468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3997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Outline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1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Large Language Models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In-Context Learning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Model Overview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AutoNum type="arabicPeriod"/>
              <a:tabLst>
                <a:tab pos="0" algn="l"/>
              </a:tabLst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LLM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Tuning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Instruction Tuning</a:t>
            </a:r>
            <a:endParaRPr lang="en-US" sz="16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Model Alignment</a:t>
            </a:r>
            <a:endParaRPr lang="en-US" sz="18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221301-9728-434F-99D7-54AEC6583B52}" type="slidenum">
              <a:t>5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>
                <a:solidFill>
                  <a:srgbClr val="003056"/>
                </a:solidFill>
                <a:latin typeface="Calibri"/>
              </a:rPr>
              <a:t>Large Language Models</a:t>
            </a:r>
            <a:endParaRPr lang="de-DE" sz="3600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>
                <a:solidFill>
                  <a:srgbClr val="003056"/>
                </a:solidFill>
                <a:latin typeface="Calibri"/>
              </a:rPr>
              <a:t> </a:t>
            </a:r>
            <a:r>
              <a:rPr lang="en-US" spc="-1">
                <a:solidFill>
                  <a:srgbClr val="003056"/>
                </a:solidFill>
                <a:latin typeface="Calibri"/>
              </a:rPr>
              <a:t>In-Context Learning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F2B43E7-B823-4A23-841C-33749B8E44AD}" type="slidenum">
              <a:t>6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Emergent </a:t>
            </a: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Abilities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2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“An ability is emergent if it is not present in smaller models but is present in larger models.”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Wei et al. 2022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1.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In-context learning (ICL)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(this section)</a:t>
            </a:r>
            <a:endParaRPr lang="de-DE" sz="200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Provide model with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instruction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/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examples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then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model performs task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hlinkClick r:id="rId3"/>
              </a:rPr>
              <a:t>Brown et al. 2020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found that larger models much better at this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2. Instruction following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(next section)</a:t>
            </a:r>
            <a:endParaRPr lang="de-DE" sz="20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Model is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tuned on multiple tasks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via natural language instructions 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Then model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performs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well on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new unseen tasks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described similarly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  <a:hlinkClick r:id="rId4"/>
              </a:rPr>
              <a:t>Thoppilan et al. (2022)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observed this for their model with 68B parameters, but not for the one with 8B parameters</a:t>
            </a:r>
            <a:endParaRPr lang="de-DE"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Such "abilities" are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task dependent</a:t>
            </a:r>
            <a:endParaRPr lang="de-DE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They work well on some tasks, not so much on others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Prompting generally brittle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performance dependent on chosen prompts</a:t>
            </a:r>
            <a:endParaRPr lang="de-DE"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Note: term "ability" is vague, we care about what these mean 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concretely</a:t>
            </a:r>
            <a:endParaRPr lang="en-US" sz="2000" b="0" i="1" strike="noStrike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  <a:tabLst>
                <a:tab pos="0" algn="l"/>
              </a:tabLst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I.e. we focus on solving NLP (i.e. text-based) tasks,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  <a:hlinkClick r:id="rId5"/>
              </a:rPr>
              <a:t>not human-like abilities</a:t>
            </a:r>
            <a:endParaRPr lang="en-US" sz="1800" b="0" strike="noStrike" spc="-1">
              <a:solidFill>
                <a:srgbClr val="003056"/>
              </a:solidFill>
              <a:latin typeface="Calibri"/>
              <a:cs typeface="Arial"/>
              <a:hlinkClick r:id="rId5"/>
            </a:endParaRPr>
          </a:p>
          <a:p>
            <a:pPr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de-DE" sz="22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de-DE" sz="220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endParaRPr lang="de-DE" sz="22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  <a:tabLst>
                <a:tab pos="0" algn="l"/>
              </a:tabLst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Few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-Shot Tasks 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(1)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Background: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concept of few-shot, one-shot, zero-shot common in ML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in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computer vision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3"/>
              </a:rPr>
              <a:t>robotics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4"/>
              </a:rPr>
              <a:t>recommender systems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etc.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i="1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-shot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number of training examples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Usually,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is a very small number;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few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= 5, 10, 20, etc.;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one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= 1;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zero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= none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Deep learning models notoriously data-hungry,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-shot can be challenging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humans known to do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-shot quite well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Zero-shot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task: "Identify the word"</a:t>
            </a:r>
            <a:endParaRPr lang="en-US" sz="20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rnmtrfraeso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=&gt; </a:t>
            </a:r>
            <a:endParaRPr lang="en-US"/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One-shot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task: "Identify the word"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eanlingr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=&gt; learning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rnmtrfraeso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=&gt; </a:t>
            </a:r>
            <a:endParaRPr lang="en-US" sz="1800" spc="-1">
              <a:solidFill>
                <a:srgbClr val="003056"/>
              </a:solidFill>
              <a:latin typeface="Calibri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Few-shot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task: "Identify the word"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eanlingr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=&gt; learning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rcnpisgose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=&gt; processing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rnmtrfraeso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=&gt; </a:t>
            </a:r>
            <a:endParaRPr lang="en-US" sz="18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1026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Few</a:t>
            </a:r>
            <a:r>
              <a:rPr lang="de-DE" sz="3000" b="1" spc="-1">
                <a:solidFill>
                  <a:srgbClr val="003056"/>
                </a:solidFill>
                <a:latin typeface="Calibri"/>
                <a:ea typeface="+mj-lt"/>
                <a:cs typeface="+mj-lt"/>
              </a:rPr>
              <a:t>-Shot Tasks (2)</a:t>
            </a:r>
            <a:endParaRPr lang="en-US"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Good few-shot performance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can potentially be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very useful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!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Getting lots of data for training/tuning is often costly, may be impossible 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Learning from few examples may be key for human-level intelligence</a:t>
            </a:r>
            <a:endParaRPr lang="en-US"/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In NLP, good few-shot performance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achieved with transfer learning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Typically fine-tuning on few shots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E.g. given pre-trained LM </a:t>
            </a:r>
            <a:r>
              <a:rPr lang="en-US" sz="20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PLM</a:t>
            </a:r>
            <a:r>
              <a:rPr lang="en-US" sz="2000" i="1" spc="-1" baseline="-25000" err="1">
                <a:solidFill>
                  <a:srgbClr val="003056"/>
                </a:solidFill>
                <a:ea typeface="+mn-lt"/>
                <a:cs typeface="+mn-lt"/>
              </a:rPr>
              <a:t>θ</a:t>
            </a:r>
            <a:r>
              <a:rPr lang="en-US" sz="2000" spc="-1" baseline="-25000">
                <a:solidFill>
                  <a:srgbClr val="003056"/>
                </a:solidFill>
                <a:ea typeface="+mn-lt"/>
                <a:cs typeface="+mn-lt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    parameterized by 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θ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,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N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task-specific</a:t>
            </a:r>
            <a:endParaRPr lang="en-US" sz="1800" spc="-1">
              <a:solidFill>
                <a:srgbClr val="003056"/>
              </a:solidFill>
              <a:latin typeface="Calibri"/>
              <a:ea typeface="+mn-lt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    examples 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(</a:t>
            </a:r>
            <a:r>
              <a:rPr lang="en-US" sz="2000" i="1" spc="-1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x</a:t>
            </a:r>
            <a:r>
              <a:rPr lang="en-US" sz="2000" i="1" spc="-1" baseline="-25000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i</a:t>
            </a:r>
            <a:r>
              <a:rPr lang="en-US" sz="2000" i="1" spc="-1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,y</a:t>
            </a:r>
            <a:r>
              <a:rPr lang="en-US" sz="2000" i="1" spc="-1" baseline="-25000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i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)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and loss function</a:t>
            </a:r>
            <a:r>
              <a:rPr lang="en-US" sz="20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 L:</a:t>
            </a:r>
            <a:endParaRPr lang="en-US" sz="1800" spc="-1">
              <a:solidFill>
                <a:srgbClr val="003056"/>
              </a:solidFill>
              <a:latin typeface="Calibri"/>
              <a:ea typeface="+mn-lt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Update </a:t>
            </a:r>
            <a:r>
              <a:rPr lang="en-US" sz="1800" spc="-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θ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 given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L(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PLM</a:t>
            </a:r>
            <a:r>
              <a:rPr lang="en-US" sz="1800" spc="-1" baseline="-25000" err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θ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(x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1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), y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1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Arial"/>
              </a:rPr>
              <a:t>Update θ given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Arial"/>
              </a:rPr>
              <a:t>L(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Arial"/>
              </a:rPr>
              <a:t>PLM</a:t>
            </a:r>
            <a:r>
              <a:rPr lang="en-US" sz="1800" spc="-1" baseline="-25000" err="1">
                <a:solidFill>
                  <a:srgbClr val="003056"/>
                </a:solidFill>
                <a:latin typeface="Calibri"/>
                <a:ea typeface="+mn-lt"/>
                <a:cs typeface="Arial"/>
              </a:rPr>
              <a:t>θ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Arial"/>
              </a:rPr>
              <a:t>(x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Arial"/>
              </a:rPr>
              <a:t>2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Arial"/>
              </a:rPr>
              <a:t>), y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Arial"/>
              </a:rPr>
              <a:t>2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Arial"/>
              </a:rPr>
              <a:t>)</a:t>
            </a:r>
            <a:endParaRPr lang="en-US" sz="1800" i="1" spc="-1">
              <a:solidFill>
                <a:srgbClr val="003056"/>
              </a:solidFill>
              <a:latin typeface="Calibri"/>
              <a:ea typeface="+mn-lt"/>
              <a:cs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       …</a:t>
            </a: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US" sz="1600" spc="-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 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Update θ given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L(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PLM</a:t>
            </a:r>
            <a:r>
              <a:rPr lang="en-US" sz="1800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θ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),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y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  <a:endParaRPr lang="en-US" sz="2000" i="1" spc="-1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Main point: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we update parameters</a:t>
            </a:r>
            <a:endParaRPr lang="en-US" sz="2400" b="1" spc="-1">
              <a:solidFill>
                <a:srgbClr val="003056"/>
              </a:solidFill>
              <a:latin typeface="Calibri"/>
              <a:ea typeface="+mn-lt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Calibri"/>
              </a:rPr>
              <a:t>Catastrophic forgetting may occur 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9</a:t>
            </a:fld>
            <a:endParaRPr/>
          </a:p>
        </p:txBody>
      </p:sp>
      <p:pic>
        <p:nvPicPr>
          <p:cNvPr id="2" name="Picture 1" descr="A screenshot of a chat&#10;&#10;Description automatically generated">
            <a:extLst>
              <a:ext uri="{FF2B5EF4-FFF2-40B4-BE49-F238E27FC236}">
                <a16:creationId xmlns:a16="http://schemas.microsoft.com/office/drawing/2014/main" id="{9CFAE143-41DE-2A44-014A-CBB48133B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475" y="2496164"/>
            <a:ext cx="360650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608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In-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Learning 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1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In-context learning: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given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2000" b="1" spc="-1" err="1">
                <a:solidFill>
                  <a:srgbClr val="003056"/>
                </a:solidFill>
                <a:latin typeface="Calibri"/>
              </a:rPr>
              <a:t>i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) instruction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of task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and/or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(ii) examples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of task (often called demonstrations), language model performs the task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,Sans-Serif" panose="020B0604020202020204" pitchFamily="34" charset="0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Important: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no weight updates! 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Not learning in the traditional sense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de-DE" sz="2000" spc="-1">
                <a:solidFill>
                  <a:srgbClr val="003056"/>
                </a:solidFill>
                <a:latin typeface="Calibri"/>
                <a:cs typeface="Arial"/>
              </a:rPr>
              <a:t>Note ICL also </a:t>
            </a:r>
            <a:r>
              <a:rPr lang="de-DE" sz="2000" b="1" spc="-1" err="1">
                <a:solidFill>
                  <a:srgbClr val="003056"/>
                </a:solidFill>
                <a:latin typeface="Calibri"/>
                <a:cs typeface="Arial"/>
              </a:rPr>
              <a:t>based</a:t>
            </a:r>
            <a:r>
              <a:rPr lang="de-DE" sz="2000" b="1" spc="-1">
                <a:solidFill>
                  <a:srgbClr val="003056"/>
                </a:solidFill>
                <a:latin typeface="Calibri"/>
                <a:cs typeface="Arial"/>
              </a:rPr>
              <a:t> on </a:t>
            </a:r>
            <a:r>
              <a:rPr lang="de-DE" sz="2000" b="1" spc="-1" err="1">
                <a:solidFill>
                  <a:srgbClr val="003056"/>
                </a:solidFill>
                <a:latin typeface="Calibri"/>
                <a:cs typeface="Arial"/>
              </a:rPr>
              <a:t>transfer</a:t>
            </a:r>
            <a:r>
              <a:rPr lang="de-DE" sz="20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2000" b="1" spc="-1" err="1">
                <a:solidFill>
                  <a:srgbClr val="003056"/>
                </a:solidFill>
                <a:latin typeface="Calibri"/>
                <a:cs typeface="Arial"/>
              </a:rPr>
              <a:t>learning</a:t>
            </a:r>
            <a:endParaRPr lang="en-US" sz="2000" b="1" spc="-1" err="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The </a:t>
            </a:r>
            <a:r>
              <a:rPr lang="de-DE" sz="1800" spc="-1" err="1">
                <a:solidFill>
                  <a:srgbClr val="003056"/>
                </a:solidFill>
                <a:latin typeface="Calibri"/>
                <a:cs typeface="Arial"/>
              </a:rPr>
              <a:t>model</a:t>
            </a: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 in </a:t>
            </a:r>
            <a:r>
              <a:rPr lang="de-DE" sz="1800" spc="-1" err="1">
                <a:solidFill>
                  <a:srgbClr val="003056"/>
                </a:solidFill>
                <a:latin typeface="Calibri"/>
                <a:cs typeface="Arial"/>
              </a:rPr>
              <a:t>question</a:t>
            </a: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  <a:cs typeface="Arial"/>
              </a:rPr>
              <a:t>is</a:t>
            </a: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 a </a:t>
            </a:r>
            <a:r>
              <a:rPr lang="de-DE" sz="1800" i="1" spc="-1" err="1">
                <a:solidFill>
                  <a:srgbClr val="003056"/>
                </a:solidFill>
                <a:latin typeface="Calibri"/>
                <a:cs typeface="Arial"/>
              </a:rPr>
              <a:t>pre-trained</a:t>
            </a: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  <a:cs typeface="Arial"/>
              </a:rPr>
              <a:t>language</a:t>
            </a: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1800" spc="-1" err="1">
                <a:solidFill>
                  <a:srgbClr val="003056"/>
                </a:solidFill>
                <a:latin typeface="Calibri"/>
                <a:cs typeface="Arial"/>
              </a:rPr>
              <a:t>model</a:t>
            </a: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 (</a:t>
            </a:r>
            <a:r>
              <a:rPr lang="de-DE" sz="1800" spc="-1" err="1">
                <a:solidFill>
                  <a:srgbClr val="003056"/>
                </a:solidFill>
                <a:latin typeface="Calibri"/>
                <a:cs typeface="Arial"/>
              </a:rPr>
              <a:t>typically</a:t>
            </a:r>
            <a:r>
              <a:rPr lang="de-DE" sz="1800" spc="-1">
                <a:solidFill>
                  <a:srgbClr val="003056"/>
                </a:solidFill>
                <a:latin typeface="Calibri"/>
                <a:cs typeface="Arial"/>
              </a:rPr>
              <a:t> a CLM)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</a:pPr>
            <a:r>
              <a:rPr lang="de-DE" sz="2000" spc="-1" err="1">
                <a:solidFill>
                  <a:srgbClr val="003056"/>
                </a:solidFill>
                <a:latin typeface="Calibri"/>
                <a:cs typeface="Arial"/>
              </a:rPr>
              <a:t>Example</a:t>
            </a:r>
            <a:r>
              <a:rPr lang="de-DE" sz="2000" spc="-1">
                <a:solidFill>
                  <a:srgbClr val="003056"/>
                </a:solidFill>
                <a:latin typeface="Calibri"/>
                <a:cs typeface="Arial"/>
              </a:rPr>
              <a:t>, </a:t>
            </a:r>
            <a:r>
              <a:rPr lang="de-DE" sz="2000" b="1" spc="-1" err="1">
                <a:solidFill>
                  <a:srgbClr val="003056"/>
                </a:solidFill>
                <a:latin typeface="Calibri"/>
                <a:cs typeface="Arial"/>
              </a:rPr>
              <a:t>few-shot</a:t>
            </a:r>
            <a:r>
              <a:rPr lang="de-DE" sz="20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2000" spc="-1" err="1">
                <a:solidFill>
                  <a:srgbClr val="003056"/>
                </a:solidFill>
                <a:latin typeface="Calibri"/>
                <a:cs typeface="Arial"/>
              </a:rPr>
              <a:t>setting</a:t>
            </a:r>
            <a:r>
              <a:rPr lang="de-DE" sz="2000" spc="-1">
                <a:solidFill>
                  <a:srgbClr val="003056"/>
                </a:solidFill>
                <a:latin typeface="Calibri"/>
                <a:cs typeface="Arial"/>
              </a:rPr>
              <a:t> (</a:t>
            </a:r>
            <a:r>
              <a:rPr lang="de-DE" sz="2000" spc="-1" err="1">
                <a:solidFill>
                  <a:srgbClr val="003056"/>
                </a:solidFill>
                <a:latin typeface="Calibri"/>
                <a:cs typeface="Arial"/>
              </a:rPr>
              <a:t>most</a:t>
            </a:r>
            <a:r>
              <a:rPr lang="de-DE" sz="20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de-DE" sz="2000" spc="-1" err="1">
                <a:solidFill>
                  <a:srgbClr val="003056"/>
                </a:solidFill>
                <a:latin typeface="Calibri"/>
                <a:cs typeface="Arial"/>
              </a:rPr>
              <a:t>common</a:t>
            </a:r>
            <a:r>
              <a:rPr lang="de-DE" sz="2000" spc="-1">
                <a:solidFill>
                  <a:srgbClr val="003056"/>
                </a:solidFill>
                <a:latin typeface="Calibri"/>
                <a:cs typeface="Arial"/>
              </a:rPr>
              <a:t> ICL </a:t>
            </a:r>
            <a:r>
              <a:rPr lang="de-DE" sz="2000" spc="-1" err="1">
                <a:solidFill>
                  <a:srgbClr val="003056"/>
                </a:solidFill>
                <a:latin typeface="Calibri"/>
                <a:cs typeface="Arial"/>
              </a:rPr>
              <a:t>setting</a:t>
            </a:r>
            <a:r>
              <a:rPr lang="de-DE" sz="2000" spc="-1">
                <a:solidFill>
                  <a:srgbClr val="003056"/>
                </a:solidFill>
                <a:latin typeface="Calibri"/>
                <a:cs typeface="Arial"/>
              </a:rPr>
              <a:t>):</a:t>
            </a: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DABB7-DFFA-82B7-6B78-78C4A9EE0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951" y="3610516"/>
            <a:ext cx="5160099" cy="2249586"/>
          </a:xfrm>
          <a:prstGeom prst="rect">
            <a:avLst/>
          </a:prstGeom>
        </p:spPr>
      </p:pic>
      <p:sp>
        <p:nvSpPr>
          <p:cNvPr id="6" name="Textfeld 7">
            <a:extLst>
              <a:ext uri="{FF2B5EF4-FFF2-40B4-BE49-F238E27FC236}">
                <a16:creationId xmlns:a16="http://schemas.microsoft.com/office/drawing/2014/main" id="{FC492E4A-DBC2-86E5-C126-2C7AF66690A6}"/>
              </a:ext>
            </a:extLst>
          </p:cNvPr>
          <p:cNvSpPr/>
          <p:nvPr/>
        </p:nvSpPr>
        <p:spPr>
          <a:xfrm>
            <a:off x="6124686" y="5828452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74645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In-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Learning 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2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Can also be used in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one-shot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setting:</a:t>
            </a:r>
            <a:endParaRPr lang="en-US"/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zero-shot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setting:</a:t>
            </a:r>
            <a:endParaRPr lang="en-US"/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6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11</a:t>
            </a:fld>
            <a:endParaRPr/>
          </a:p>
        </p:txBody>
      </p:sp>
      <p:sp>
        <p:nvSpPr>
          <p:cNvPr id="6" name="Textfeld 7">
            <a:extLst>
              <a:ext uri="{FF2B5EF4-FFF2-40B4-BE49-F238E27FC236}">
                <a16:creationId xmlns:a16="http://schemas.microsoft.com/office/drawing/2014/main" id="{FC492E4A-DBC2-86E5-C126-2C7AF66690A6}"/>
              </a:ext>
            </a:extLst>
          </p:cNvPr>
          <p:cNvSpPr/>
          <p:nvPr/>
        </p:nvSpPr>
        <p:spPr>
          <a:xfrm>
            <a:off x="5849212" y="5048825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FDB004-7C81-F00F-C66C-385554D9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717249"/>
            <a:ext cx="4572000" cy="1317726"/>
          </a:xfrm>
          <a:prstGeom prst="rect">
            <a:avLst/>
          </a:prstGeom>
        </p:spPr>
      </p:pic>
      <p:sp>
        <p:nvSpPr>
          <p:cNvPr id="7" name="Textfeld 7">
            <a:extLst>
              <a:ext uri="{FF2B5EF4-FFF2-40B4-BE49-F238E27FC236}">
                <a16:creationId xmlns:a16="http://schemas.microsoft.com/office/drawing/2014/main" id="{15D96796-5242-9995-9051-DCD3BE832BE9}"/>
              </a:ext>
            </a:extLst>
          </p:cNvPr>
          <p:cNvSpPr/>
          <p:nvPr/>
        </p:nvSpPr>
        <p:spPr>
          <a:xfrm>
            <a:off x="5849844" y="3038536"/>
            <a:ext cx="1285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" name="Picture 7" descr="A close-up of a blue text&#10;&#10;Description automatically generated">
            <a:extLst>
              <a:ext uri="{FF2B5EF4-FFF2-40B4-BE49-F238E27FC236}">
                <a16:creationId xmlns:a16="http://schemas.microsoft.com/office/drawing/2014/main" id="{9DA55D90-2B74-7446-8545-E1E642A2E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122369"/>
            <a:ext cx="4572000" cy="94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594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In-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Learning 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3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Can also be done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without task instructions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just examples: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CLM naturally completes given prompt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Does this really work?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Yes! First work to document this well was GPT-3 (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Brown et al. 2020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12</a:t>
            </a:fld>
            <a:endParaRPr/>
          </a:p>
        </p:txBody>
      </p:sp>
      <p:pic>
        <p:nvPicPr>
          <p:cNvPr id="3" name="Picture 2" descr="A close-up of a number&#10;&#10;Description automatically generated">
            <a:extLst>
              <a:ext uri="{FF2B5EF4-FFF2-40B4-BE49-F238E27FC236}">
                <a16:creationId xmlns:a16="http://schemas.microsoft.com/office/drawing/2014/main" id="{52830666-D36D-B2AC-C737-AE7C0609F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897746"/>
            <a:ext cx="4572000" cy="28917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17C0A4-4EB3-33D1-5CB5-D7F6549ACA40}"/>
              </a:ext>
            </a:extLst>
          </p:cNvPr>
          <p:cNvSpPr txBox="1"/>
          <p:nvPr/>
        </p:nvSpPr>
        <p:spPr>
          <a:xfrm>
            <a:off x="5577460" y="4790166"/>
            <a:ext cx="1280539" cy="3172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4"/>
              </a:rPr>
              <a:t>Image source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972394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In-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Learning 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4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Brown et al. 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(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2020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 observed (using between 10 and 100 examples):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Larger model -&gt; better at ICL, largest models competitive with fine-tuning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Largest model made good use of task instruction in zero/one shot setting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3"/>
              </a:rPr>
              <a:t>Later studies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found ICL to be comparable to fine-tuning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Important question: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why does this work? </a:t>
            </a:r>
            <a:endParaRPr lang="en-US"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13</a:t>
            </a:fld>
            <a:endParaRPr/>
          </a:p>
        </p:txBody>
      </p:sp>
      <p:pic>
        <p:nvPicPr>
          <p:cNvPr id="2" name="Picture 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7F9AF2A-284C-D5B1-677C-D580CC0C7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455" y="1153238"/>
            <a:ext cx="6070211" cy="31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149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Why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does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ICL Work? 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ICL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ability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reported by GPT-3 authors has since been observed multiple times on multiple models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Generally observed only after models reach certain size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other factors do matter, e.g. data quality, model architecture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Through the years, smaller models get better at this 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Llama3-8B (2024)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comparable to/better than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3"/>
              </a:rPr>
              <a:t>Llama2-70B (2023)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Why does ICL work?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There are no weight updates!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Models not (directly) trained on these tasks, e.g. sentiment analysis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Open research question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two main directions</a:t>
            </a:r>
            <a:endParaRPr lang="en-US" sz="2200" spc="-1">
              <a:solidFill>
                <a:srgbClr val="003056"/>
              </a:solidFill>
              <a:latin typeface="Calibri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1. There is indeed some form of learning happening in the forward pass</a:t>
            </a:r>
          </a:p>
          <a:p>
            <a:pPr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E.g. ICL seen from a </a:t>
            </a:r>
            <a:r>
              <a:rPr lang="en-US" sz="1600" spc="-1">
                <a:solidFill>
                  <a:srgbClr val="003056"/>
                </a:solidFill>
                <a:latin typeface="Calibri"/>
                <a:hlinkClick r:id="rId4"/>
              </a:rPr>
              <a:t>Bayesian inference perspective</a:t>
            </a:r>
            <a:endParaRPr lang="en-US" sz="1600" spc="-1">
              <a:solidFill>
                <a:srgbClr val="003056"/>
              </a:solidFill>
              <a:latin typeface="Calibri"/>
            </a:endParaRPr>
          </a:p>
          <a:p>
            <a:pPr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Or ICL from a </a:t>
            </a:r>
            <a:r>
              <a:rPr lang="en-US" sz="1600" spc="-1">
                <a:solidFill>
                  <a:srgbClr val="003056"/>
                </a:solidFill>
                <a:latin typeface="Calibri"/>
                <a:hlinkClick r:id="rId5"/>
              </a:rPr>
              <a:t>gradient-descent perspective</a:t>
            </a: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2. Models don't learn the new tasks, exploit patterns seen during pre-training</a:t>
            </a:r>
          </a:p>
          <a:p>
            <a:pPr lvl="2">
              <a:lnSpc>
                <a:spcPct val="100000"/>
              </a:lnSpc>
              <a:spcBef>
                <a:spcPts val="400"/>
              </a:spcBef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E.g. correct labels not needed, just label distribution/space (</a:t>
            </a:r>
            <a:r>
              <a:rPr lang="en-US" sz="1600" spc="-1">
                <a:solidFill>
                  <a:srgbClr val="003056"/>
                </a:solidFill>
                <a:latin typeface="Calibri"/>
                <a:hlinkClick r:id="rId6"/>
              </a:rPr>
              <a:t>Min et al. 2022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)</a:t>
            </a:r>
            <a:endParaRPr lang="en-US" sz="14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78463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Why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does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ICL Work? 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Authors of GPT-3 suggested models learn "skills" during pre-training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Then use these "pattern recognition abilities" to perform new tasks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highlight that training examples may contain many such "subtasks"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15</a:t>
            </a:fld>
            <a:endParaRPr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C59135C4-F637-393C-E05D-645C812A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59" y="2435245"/>
            <a:ext cx="6990796" cy="315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039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Prompting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 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Also observed multiple times: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ICL performance highly sensitive to prompt given to model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(e.g. see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  <a:hlinkClick r:id="rId2"/>
              </a:rPr>
              <a:t>Chen et al. 2023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3"/>
              </a:rPr>
              <a:t>Lu et al. 2023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order of examples is relevant, distribution of labels is relevant, etc.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Thus,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prompting: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finding right prompt for model to perform well on task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Important example of impact of prompting: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chain-of-thought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Examples of thinking in steps helps e.g. math problems </a:t>
            </a:r>
            <a:r>
              <a:rPr lang="en-US" sz="1800" spc="-1">
                <a:solidFill>
                  <a:srgbClr val="003056"/>
                </a:solidFill>
                <a:ea typeface="+mn-lt"/>
                <a:cs typeface="+mn-lt"/>
              </a:rPr>
              <a:t>(</a:t>
            </a:r>
            <a:r>
              <a:rPr lang="en-US" sz="1800" spc="-1">
                <a:solidFill>
                  <a:srgbClr val="003056"/>
                </a:solidFill>
                <a:ea typeface="+mn-lt"/>
                <a:cs typeface="+mn-lt"/>
                <a:hlinkClick r:id="rId4"/>
              </a:rPr>
              <a:t>Wei et al. 2022</a:t>
            </a:r>
            <a:r>
              <a:rPr lang="en-US" sz="1800" spc="-1">
                <a:solidFill>
                  <a:srgbClr val="003056"/>
                </a:solidFill>
                <a:ea typeface="+mn-lt"/>
                <a:cs typeface="+mn-lt"/>
              </a:rPr>
              <a:t>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16</a:t>
            </a:fld>
            <a:endParaRPr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CDEC59B7-85E8-A851-86F8-74E32B3A4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444" y="3134289"/>
            <a:ext cx="5805111" cy="294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042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Prompting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 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1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3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Kojima et al. 2022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extended the idea of chain-of-thought by simply prompting models to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"think step by step"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tested their approach with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   GPT-3 and in a zero-shot setting,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       i.e. no demonstrations as in the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      top picture    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This small addition to the prompt 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       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significantly improved zero-shot </a:t>
            </a:r>
            <a:endParaRPr lang="en-US" sz="1800" b="1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       performance</a:t>
            </a:r>
            <a:endParaRPr lang="en-US" sz="1800" b="1">
              <a:solidFill>
                <a:srgbClr val="000000"/>
              </a:solidFill>
              <a:latin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Interpretation:</a:t>
            </a: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It seems by having models also</a:t>
            </a:r>
            <a:endParaRPr lang="en-US" sz="1800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 predict text that explains </a:t>
            </a:r>
            <a:endParaRPr lang="en-US" sz="1800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reasoning increases probability</a:t>
            </a:r>
            <a:endParaRPr lang="en-US" sz="1800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    of tokens in correct answer</a:t>
            </a:r>
            <a:endParaRPr lang="en-US" sz="180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Next: overview of some LLMs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825FBE4-88DB-49E9-8E84-1E79579EA583}" type="slidenum">
              <a:t>17</a:t>
            </a:fld>
            <a:endParaRPr/>
          </a:p>
        </p:txBody>
      </p:sp>
      <p:pic>
        <p:nvPicPr>
          <p:cNvPr id="3" name="Picture 2" descr="A screenshot of a test&#10;&#10;Description automatically generated">
            <a:extLst>
              <a:ext uri="{FF2B5EF4-FFF2-40B4-BE49-F238E27FC236}">
                <a16:creationId xmlns:a16="http://schemas.microsoft.com/office/drawing/2014/main" id="{62BB2331-54B8-CAA2-AA90-33B71D7D5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093" y="1814052"/>
            <a:ext cx="393326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493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1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>
                <a:solidFill>
                  <a:srgbClr val="003056"/>
                </a:solidFill>
                <a:latin typeface="Calibri"/>
              </a:rPr>
              <a:t>Large Language Models</a:t>
            </a:r>
            <a:endParaRPr lang="de-DE" sz="3600" spc="-1">
              <a:solidFill>
                <a:srgbClr val="003056"/>
              </a:solidFill>
              <a:latin typeface="Calibri"/>
            </a:endParaRPr>
          </a:p>
          <a:p>
            <a:pPr marL="342900" indent="-34290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pc="-1">
                <a:solidFill>
                  <a:srgbClr val="003056"/>
                </a:solidFill>
                <a:latin typeface="Calibri"/>
              </a:rPr>
              <a:t> </a:t>
            </a:r>
            <a:r>
              <a:rPr lang="en-US" spc="-1">
                <a:solidFill>
                  <a:srgbClr val="003056"/>
                </a:solidFill>
                <a:latin typeface="Calibri"/>
              </a:rPr>
              <a:t>Model Overview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F2B43E7-B823-4A23-841C-33749B8E44AD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61034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LLMs </a:t>
            </a: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are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Expensive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Training LLMs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has become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prohibitively expensive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Example: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LLaMa-2 70B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  <a:hlinkClick r:id="rId2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(2023)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trained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on 2 trillion tokens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(~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10TB of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open data), 6K GPUs, 12 days, 2M USD (source: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  <a:hlinkClick r:id="rId3"/>
              </a:rPr>
              <a:t>Intro to LLMs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by A. </a:t>
            </a:r>
            <a:r>
              <a:rPr lang="en-US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Karpathy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Some estimates go beyond 100M USD (source: Stanford's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4"/>
              </a:rPr>
              <a:t>AI Index Report 2024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BCFF8D-8DE3-479A-8EFD-11944ECB6DD0}" type="slidenum">
              <a:t>19</a:t>
            </a:fld>
            <a:endParaRPr/>
          </a:p>
        </p:txBody>
      </p:sp>
      <p:pic>
        <p:nvPicPr>
          <p:cNvPr id="2" name="Picture 1" descr="A graph with blue dots and white text&#10;&#10;Description automatically generated">
            <a:extLst>
              <a:ext uri="{FF2B5EF4-FFF2-40B4-BE49-F238E27FC236}">
                <a16:creationId xmlns:a16="http://schemas.microsoft.com/office/drawing/2014/main" id="{A8D200EF-9859-8D6B-6EF9-2EB853E21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58" y="2506539"/>
            <a:ext cx="7005483" cy="355941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LLMs </a:t>
            </a: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are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Expensive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1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Once pre-trained,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fine-tuning is cheaper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(computationally)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Computationally much more feasible, e.g. with PEFT,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quantization</a:t>
            </a:r>
            <a:endParaRPr lang="de-DE" sz="1800" spc="-1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But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getting data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can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be challenging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Data quality matters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more than quantity at this stage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Data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more reflective of relevant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downstream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tasks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e.g. chatbots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Also, fine-tuning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iterative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process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Observe problems, create data for adjusting, fine-tune, repeat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I.e. costs can be continuous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More in next section</a:t>
            </a:r>
            <a:endParaRPr lang="en-US" sz="1800"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Let’s have a look at some models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first, a quick overview of architectures and training objectives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BCFF8D-8DE3-479A-8EFD-11944ECB6DD0}" type="slidenum"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70320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Architectures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1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All architectures are transformer-based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Causal LM, decoder-only (most common by far)</a:t>
            </a:r>
            <a:endParaRPr lang="de-DE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Decoder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autoregressively predicts new tokens conditioned only on output of decoder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E.g. GPT series (closed source, OpenAI), </a:t>
            </a:r>
            <a:r>
              <a:rPr lang="en-US" sz="1800" spc="-1" err="1">
                <a:solidFill>
                  <a:srgbClr val="003056"/>
                </a:solidFill>
                <a:latin typeface="Calibri"/>
                <a:cs typeface="Arial"/>
              </a:rPr>
              <a:t>LlaMA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series (open source, </a:t>
            </a:r>
            <a:r>
              <a:rPr lang="en-US" sz="1800" spc="-1" err="1">
                <a:solidFill>
                  <a:srgbClr val="003056"/>
                </a:solidFill>
                <a:latin typeface="Calibri"/>
                <a:cs typeface="Arial"/>
              </a:rPr>
              <a:t>MetaAI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)</a:t>
            </a:r>
            <a:endParaRPr lang="en-US"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Encoder/decoder (less adopted in recent years)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Encoder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produces sequence of contextualized tokens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Decoder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autoregressively predicts new tokens conditioned on output of decoder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encoder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Cross-attention: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attends to output tokens from encoder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Example model: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  <a:hlinkClick r:id="rId2"/>
              </a:rPr>
              <a:t>T5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UL2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Other less common architectures (for LLMs) exist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Encoder-only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Non-causal decoder only (bidirectional attention across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past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tokens)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A05665A-5875-4AE7-8FA5-E43E14DA572E}" type="slidenum">
              <a:t>21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Training Objectives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ftr" idx="1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(Full) Autoregressive/Causal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language modeling (CLM)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Most common approach, highly adopted since GPT-2 (2019)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Causal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masking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on (self-)attention scores (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KQ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 matrix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Masked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language modeling: fill-in-the-blank task (less adopted)</a:t>
            </a:r>
            <a:endParaRPr lang="de-DE" sz="20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Prefix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language modeling (less adopted)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Prefix: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fixed subsequence of first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tokens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Task: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predict tokens after prefix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Difference with CLMs: attention 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bidirectional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over prefix token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24" name="Grafik 6" descr="train_objectives.png"/>
          <p:cNvPicPr/>
          <p:nvPr/>
        </p:nvPicPr>
        <p:blipFill>
          <a:blip r:embed="rId2"/>
          <a:stretch/>
        </p:blipFill>
        <p:spPr>
          <a:xfrm>
            <a:off x="857160" y="3756207"/>
            <a:ext cx="7214760" cy="2330280"/>
          </a:xfrm>
          <a:prstGeom prst="rect">
            <a:avLst/>
          </a:prstGeom>
          <a:ln w="0">
            <a:noFill/>
          </a:ln>
        </p:spPr>
      </p:pic>
      <p:sp>
        <p:nvSpPr>
          <p:cNvPr id="125" name="Textfeld 7"/>
          <p:cNvSpPr/>
          <p:nvPr/>
        </p:nvSpPr>
        <p:spPr>
          <a:xfrm>
            <a:off x="6786720" y="605016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7C86A0-7618-4050-BBC4-6F2E7086C8A5}" type="slidenum">
              <a:t>22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GPT Series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ftr" idx="1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Proprietary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models!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Closed source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not all information is available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We’ve already discussed the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GPT architecture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in a previous lecture</a:t>
            </a:r>
            <a:endParaRPr lang="de-DE" sz="200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Causal language modeling, decoder-only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 terms of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number of parameters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GPT-1: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117M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GPT-2: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1.5B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GPT-3: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175B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In terms of decoder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layers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GPT-1: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12 layers of size 768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GPT-2: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48 layers of size 1600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GPT-3: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96 layers of size 12228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GPT-2 vs GPT-1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Small changes in architecture (discussed in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Transfer Learning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lecture)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Performed well on zero-shot tasks, but performance below fine-tuning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D5ABE92-CD83-427D-AB4E-609736F56CE3}" type="slidenum">
              <a:t>23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4" dur="500"/>
                                        <p:tgtEl>
                                          <p:spTgt spid="1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1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GPT Series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1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GPT-3 vs GPT-2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Leap in few-shot performance via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in-context learning (ICL)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Inspired to continue scaling up models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32" name="Grafik 6" descr="gpt3_icl.png"/>
          <p:cNvPicPr/>
          <p:nvPr/>
        </p:nvPicPr>
        <p:blipFill>
          <a:blip r:embed="rId2"/>
          <a:stretch/>
        </p:blipFill>
        <p:spPr>
          <a:xfrm>
            <a:off x="1071720" y="2214360"/>
            <a:ext cx="7000560" cy="3714840"/>
          </a:xfrm>
          <a:prstGeom prst="rect">
            <a:avLst/>
          </a:prstGeom>
          <a:ln w="0">
            <a:noFill/>
          </a:ln>
        </p:spPr>
      </p:pic>
      <p:sp>
        <p:nvSpPr>
          <p:cNvPr id="133" name="Textfeld 7"/>
          <p:cNvSpPr/>
          <p:nvPr/>
        </p:nvSpPr>
        <p:spPr>
          <a:xfrm>
            <a:off x="6858000" y="585792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92857C2-9BD7-4FA1-89A3-13C0086C6B86}" type="slidenum">
              <a:t>24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GPT Series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ftr" idx="2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315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Codex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GPT-3 fine-tuned on large corpus of GitHub code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Able to solve coding problems, improved performance on math problems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GPT-3.5 models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GPT-3-based models with stronger abilities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Abilities -&gt; not benchmarked tasks, evaluated by humans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How did they get better?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Model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 alignment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(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more in next section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ChatGPT: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fine-tuned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for dialogue (ability: communicate with humans)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GPT-4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Superior performance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on human-generated tests compared to ChatGPT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Still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many challenges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Mainly,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hallucinations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: false information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presented 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as fact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Perhaps a reminder: these are still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language models</a:t>
            </a:r>
            <a:endParaRPr lang="en-US" sz="1800" b="0" i="1" strike="noStrike" spc="-1">
              <a:solidFill>
                <a:srgbClr val="003056"/>
              </a:solidFill>
              <a:latin typeface="Calibri"/>
            </a:endParaRPr>
          </a:p>
          <a:p>
            <a:pPr lvl="2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LLMs can predict facts </a:t>
            </a:r>
            <a:r>
              <a:rPr lang="en-US" sz="1600" i="1" spc="-1">
                <a:solidFill>
                  <a:srgbClr val="003056"/>
                </a:solidFill>
                <a:latin typeface="Calibri"/>
              </a:rPr>
              <a:t>sometimes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, i.e. may be used as </a:t>
            </a:r>
            <a:r>
              <a:rPr lang="en-US" sz="1600" i="1" spc="-1">
                <a:solidFill>
                  <a:srgbClr val="003056"/>
                </a:solidFill>
                <a:latin typeface="Calibri"/>
              </a:rPr>
              <a:t>unreliable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databases </a:t>
            </a:r>
          </a:p>
          <a:p>
            <a:pPr lvl="2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</a:pPr>
            <a:r>
              <a:rPr lang="en-US" sz="1600" spc="-1">
                <a:solidFill>
                  <a:srgbClr val="003056"/>
                </a:solidFill>
                <a:latin typeface="Calibri"/>
              </a:rPr>
              <a:t>But no internal </a:t>
            </a:r>
            <a:r>
              <a:rPr lang="en-US" sz="16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"stop-and-think" 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mechanism (on-going research, e.g. </a:t>
            </a:r>
            <a:r>
              <a:rPr lang="en-US" sz="1600" spc="-1">
                <a:solidFill>
                  <a:srgbClr val="003056"/>
                </a:solidFill>
                <a:latin typeface="Calibri"/>
                <a:hlinkClick r:id="rId3"/>
              </a:rPr>
              <a:t>here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600" spc="-1">
                <a:solidFill>
                  <a:srgbClr val="003056"/>
                </a:solidFill>
                <a:latin typeface="Calibri"/>
                <a:hlinkClick r:id="rId4"/>
              </a:rPr>
              <a:t>here</a:t>
            </a:r>
            <a:r>
              <a:rPr lang="en-US" sz="16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endParaRPr lang="de-DE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FB1E8F1-D807-4248-BB0A-273755CA2D6F}" type="slidenum">
              <a:t>25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5" dur="500"/>
                                        <p:tgtEl>
                                          <p:spTgt spid="1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8" dur="500"/>
                                        <p:tgtEl>
                                          <p:spTgt spid="1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1" dur="500"/>
                                        <p:tgtEl>
                                          <p:spTgt spid="1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4" dur="500"/>
                                        <p:tgtEl>
                                          <p:spTgt spid="1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1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LLaMA Series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1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2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Highly valuable contribution!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"</a:t>
            </a:r>
            <a:r>
              <a:rPr lang="en-US" sz="2000" spc="-1" err="1">
                <a:solidFill>
                  <a:srgbClr val="003056"/>
                </a:solidFill>
                <a:latin typeface="Calibri"/>
              </a:rPr>
              <a:t>LlaMA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is the new BERT"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Being open source, it sparked large number of research/applications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400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43" name="Grafik 6" descr="llama_tree.png"/>
          <p:cNvPicPr/>
          <p:nvPr/>
        </p:nvPicPr>
        <p:blipFill>
          <a:blip r:embed="rId2"/>
          <a:stretch/>
        </p:blipFill>
        <p:spPr>
          <a:xfrm>
            <a:off x="625964" y="1828618"/>
            <a:ext cx="7895961" cy="4191915"/>
          </a:xfrm>
          <a:prstGeom prst="rect">
            <a:avLst/>
          </a:prstGeom>
          <a:ln w="0">
            <a:noFill/>
          </a:ln>
        </p:spPr>
      </p:pic>
      <p:sp>
        <p:nvSpPr>
          <p:cNvPr id="144" name="Textfeld 7"/>
          <p:cNvSpPr/>
          <p:nvPr/>
        </p:nvSpPr>
        <p:spPr>
          <a:xfrm>
            <a:off x="7072200" y="592920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7B2991-E49C-4729-942C-E5FBD36FEEF2}" type="slidenum">
              <a:t>26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LLaMA Series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2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Important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open source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LLM developed by META AI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 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LLaMA-1</a:t>
            </a:r>
            <a:r>
              <a:rPr lang="de-DE" sz="1800" spc="-1">
                <a:solidFill>
                  <a:srgbClr val="003056"/>
                </a:solidFill>
                <a:latin typeface="Calibri"/>
              </a:rPr>
              <a:t> (2023)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Decoder-only causal LM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Several sizes: 7B to 65B parameters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Largest model has 80 layers of size 8192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Trained only on publicly available data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Competitive with best LLMs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All weights (checkpoints), code made available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39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LLaMA-2</a:t>
            </a:r>
            <a:r>
              <a:rPr lang="de-DE" sz="2000" spc="-1">
                <a:solidFill>
                  <a:srgbClr val="003056"/>
                </a:solidFill>
                <a:latin typeface="Calibri"/>
              </a:rPr>
              <a:t> (2023)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Focused on fine-tuning for dialogue applications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Same architecture as LLaMA-1, but larger model at 70B parameters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Trained on 40% more data than LLaMA-1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Released all pre-trained and fine-tuned models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27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4" dur="500"/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7" dur="500"/>
                                        <p:tgtEl>
                                          <p:spTgt spid="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0C4C-8B34-FBA3-28FE-124BB69D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49246A27-9AFB-E605-F0CE-00482540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The LLaMA Series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3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364886DE-372B-7CBB-48D7-24E1DFFD0C3B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5AF513F6-9501-3D47-E2F6-70B8B5985E0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LlaMA-3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(2024)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Improved quality and size of training data (15T vs 1.8T for Llama-2)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Sizes from 8B to 405B parameters (the largest model is dense, more soon)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Hidden representations size ranges from 4096 to 8192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Number of attention heads ranges from 32 to 128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Vocabulary size: 128.000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3"/>
              </a:rPr>
              <a:t>Llama-4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(2025)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No technical report released yet.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Sizes from 109B to 2T parameters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But all models now sparse, i.e. relying on mixture-of-experts (more soon)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Interesting "mid-season" release: 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4"/>
              </a:rPr>
              <a:t>Llama-3.2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(2024)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Small 1B and 3B models achieved via model distillation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 the following, we </a:t>
            </a:r>
            <a:r>
              <a:rPr lang="en-US" sz="2000" i="1" spc="-1">
                <a:solidFill>
                  <a:srgbClr val="003056"/>
                </a:solidFill>
                <a:latin typeface="Calibri"/>
              </a:rPr>
              <a:t>briefly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discuss some common LLM components: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PreNorm vs PostNorm models, RMSNorm, SwiGLU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Model distillation, Mixture-of-Experts (MoE)</a:t>
            </a:r>
            <a:endParaRPr lang="en-US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B6A12ECA-1AEA-DAA9-DCE6-3FDDB27757E2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44011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0A6D-A1AA-5891-B4AE-592201BC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FB929019-2129-4F87-6C6A-46EF9ABD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PreNorm vs PostNorm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4A9D284F-0B11-C0CD-A029-7B5229ACD4A9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E2CEE79D-7CC1-DBEB-D7B6-0C60A4140CC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Following prior work, 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Xiong et al. (2020)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argued that using </a:t>
            </a:r>
            <a:r>
              <a:rPr lang="en-US" sz="2000" b="1" spc="-1" err="1">
                <a:solidFill>
                  <a:srgbClr val="003056"/>
                </a:solidFill>
                <a:latin typeface="Calibri"/>
              </a:rPr>
              <a:t>LayerNorm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differently addresses gradient-based issues during training</a:t>
            </a:r>
          </a:p>
          <a:p>
            <a:pPr marL="80010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proposed to move the </a:t>
            </a:r>
          </a:p>
          <a:p>
            <a:pPr marL="34290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    </a:t>
            </a:r>
            <a:r>
              <a:rPr lang="en-US" sz="1800" spc="-1" err="1">
                <a:solidFill>
                  <a:srgbClr val="003056"/>
                </a:solidFill>
                <a:latin typeface="Calibri"/>
              </a:rPr>
              <a:t>LayerNorm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component from after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34290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    each self-attention and MLP layer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34290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    (image on left) to inside (and 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34290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    before) each self-attention and 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34290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         MLP layer (image on right)</a:t>
            </a:r>
          </a:p>
          <a:p>
            <a:pPr marL="80010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This variant is commonly used by 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34290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         some LLMs, </a:t>
            </a:r>
            <a:r>
              <a:rPr lang="en-US" sz="1800" spc="-1" err="1">
                <a:solidFill>
                  <a:srgbClr val="003056"/>
                </a:solidFill>
                <a:latin typeface="Calibri"/>
              </a:rPr>
              <a:t>e.g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the Llama family</a:t>
            </a:r>
          </a:p>
          <a:p>
            <a:pPr marL="171450" indent="-285750">
              <a:lnSpc>
                <a:spcPct val="100000"/>
              </a:lnSpc>
              <a:spcBef>
                <a:spcPts val="360"/>
              </a:spcBef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But Llama models do not use </a:t>
            </a: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</a:t>
            </a:r>
            <a:r>
              <a:rPr lang="en-US" sz="2000" spc="-1" err="1">
                <a:solidFill>
                  <a:srgbClr val="003056"/>
                </a:solidFill>
                <a:latin typeface="Calibri"/>
              </a:rPr>
              <a:t>LayerNorm</a:t>
            </a:r>
            <a:endParaRPr lang="en-US" err="1">
              <a:solidFill>
                <a:srgbClr val="000000"/>
              </a:solidFill>
              <a:latin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use a variant: </a:t>
            </a:r>
            <a:r>
              <a:rPr lang="en-US" sz="1800" b="1" spc="-1" err="1">
                <a:solidFill>
                  <a:srgbClr val="003056"/>
                </a:solidFill>
                <a:latin typeface="Calibri"/>
              </a:rPr>
              <a:t>RMSNorm</a:t>
            </a:r>
            <a:endParaRPr lang="en-US" sz="1800" err="1"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395C007-C163-2FEC-E2BB-5326F85D366E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29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8C73C4-793C-BA8D-54A4-14D4CAD44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994" y="1828240"/>
            <a:ext cx="3601571" cy="394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693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17D3-0226-FCEB-D8BA-8E42A8BE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7950587A-B214-3F83-8839-9CD9964F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RMSNorm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C5859D55-9E11-91D0-4ABE-059D5BA7206D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0BF97386-9D48-8B2C-7E3D-32B437B5882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Recall </a:t>
            </a:r>
            <a:r>
              <a:rPr lang="en-US" sz="2000" b="1" spc="-1" err="1">
                <a:solidFill>
                  <a:srgbClr val="003056"/>
                </a:solidFill>
                <a:latin typeface="Calibri"/>
              </a:rPr>
              <a:t>LayerNorm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spc="-1">
                <a:solidFill>
                  <a:srgbClr val="003056"/>
                </a:solidFill>
                <a:latin typeface="DejaVu Sans"/>
                <a:ea typeface="Calibri"/>
                <a:cs typeface="Calibri"/>
              </a:rPr>
              <a:t>i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t’s a form of centering data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Goal: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address internal distribution shifts to make training more stable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How: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given output vector 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for some hidden layer, compute its mean 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μ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and standard deviation 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σ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Then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center a’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= (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μ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/ 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σ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Finally,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scale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 data: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LayerNorm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l-GR" sz="1800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γ</a:t>
            </a:r>
            <a:r>
              <a:rPr lang="el-GR" sz="1800" b="1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’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β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with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γ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β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being learned</a:t>
            </a:r>
            <a:endParaRPr lang="de-DE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Zhang et al. (2019)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argued that only the scaling component is necessary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They proposed simpler variant: not using mean centering 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Result was scaling and normalization based on root-mean-square (RMS)</a:t>
            </a: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6615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99415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They showed experimentally: </a:t>
            </a:r>
          </a:p>
          <a:p>
            <a:pPr marL="856615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Using </a:t>
            </a:r>
            <a:r>
              <a:rPr lang="en-US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RMSNorm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gave similar or more effective performance</a:t>
            </a:r>
            <a:endParaRPr lang="en-US" sz="1800"/>
          </a:p>
          <a:p>
            <a:pPr marL="342900" indent="-4572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4B9A3C1-127F-47DD-304A-6B6BCB4160E5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30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B79959-B30A-0D4C-570B-5472AE75D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087" y="4124739"/>
            <a:ext cx="6255027" cy="115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38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9362-9514-2A99-882E-E3D8F260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50C37A01-73FB-4540-5C36-28EDD2B7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SwiGLU Activations</a:t>
            </a:r>
            <a:endParaRPr lang="en-US"/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8A00C867-AEF5-9307-A4E3-7CCEA28F9EF2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D96BC179-2E90-4DB7-0166-B3CAA93B7E7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Combination of two forms of activations: Swish and GLU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Swish activations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 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i="1" spc="-1">
                <a:solidFill>
                  <a:srgbClr val="003056"/>
                </a:solidFill>
                <a:latin typeface="Calibri"/>
              </a:rPr>
              <a:t>Swish(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, 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β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) =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x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·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σ(</a:t>
            </a:r>
            <a:r>
              <a:rPr lang="el-GR" sz="1800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βx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where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is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input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vector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σ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is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sigmoid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β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is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learned</a:t>
            </a:r>
            <a:endParaRPr lang="el-GR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Roughly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smooth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non-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monotonic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version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of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ReLU</a:t>
            </a:r>
            <a:endParaRPr lang="el-GR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hlinkClick r:id="rId3"/>
              </a:rPr>
              <a:t>GLU activations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GLU(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V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 = 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σ(</a:t>
            </a:r>
            <a:r>
              <a:rPr lang="el-GR" sz="1800" b="1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xW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⊗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(</a:t>
            </a:r>
            <a:r>
              <a:rPr lang="el-GR" sz="1800" b="1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xV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+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where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W, V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are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linear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projections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and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their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biases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⊗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is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element-wise</a:t>
            </a:r>
            <a:r>
              <a:rPr lang="el-GR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product</a:t>
            </a:r>
            <a:endParaRPr lang="el-GR" sz="18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Note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this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means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b="1" spc="-1" err="1">
                <a:solidFill>
                  <a:srgbClr val="003056"/>
                </a:solidFill>
                <a:latin typeface="Calibri"/>
                <a:cs typeface="Arial"/>
              </a:rPr>
              <a:t>some</a:t>
            </a:r>
            <a:r>
              <a:rPr lang="el-GR" sz="18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b="1" spc="-1" err="1">
                <a:solidFill>
                  <a:srgbClr val="003056"/>
                </a:solidFill>
                <a:latin typeface="Calibri"/>
                <a:cs typeface="Arial"/>
              </a:rPr>
              <a:t>LLMs</a:t>
            </a:r>
            <a:r>
              <a:rPr lang="el-GR" sz="18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b="1" spc="-1" err="1">
                <a:solidFill>
                  <a:srgbClr val="003056"/>
                </a:solidFill>
                <a:latin typeface="Calibri"/>
                <a:cs typeface="Arial"/>
              </a:rPr>
              <a:t>have</a:t>
            </a:r>
            <a:r>
              <a:rPr lang="el-GR" sz="18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b="1" spc="-1" err="1">
                <a:solidFill>
                  <a:srgbClr val="003056"/>
                </a:solidFill>
                <a:latin typeface="Calibri"/>
                <a:cs typeface="Arial"/>
              </a:rPr>
              <a:t>three</a:t>
            </a:r>
            <a:r>
              <a:rPr lang="el-GR" sz="18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b="1" spc="-1" err="1">
                <a:solidFill>
                  <a:srgbClr val="003056"/>
                </a:solidFill>
                <a:latin typeface="Calibri"/>
                <a:cs typeface="Arial"/>
              </a:rPr>
              <a:t>projections</a:t>
            </a:r>
            <a:r>
              <a:rPr lang="el-GR" sz="1800" b="1" spc="-1">
                <a:solidFill>
                  <a:srgbClr val="003056"/>
                </a:solidFill>
                <a:latin typeface="Calibri"/>
                <a:cs typeface="Arial"/>
              </a:rPr>
              <a:t> in MLP </a:t>
            </a:r>
            <a:r>
              <a:rPr lang="el-GR" sz="1800" b="1" spc="-1" err="1">
                <a:solidFill>
                  <a:srgbClr val="003056"/>
                </a:solidFill>
                <a:latin typeface="Calibri"/>
                <a:cs typeface="Arial"/>
              </a:rPr>
              <a:t>layers</a:t>
            </a:r>
            <a:endParaRPr lang="el-GR" sz="1800" b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Here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,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cs typeface="Arial"/>
              </a:rPr>
              <a:t>W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is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typical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up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projection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,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cs typeface="Arial"/>
              </a:rPr>
              <a:t>V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is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 2nd </a:t>
            </a:r>
            <a:r>
              <a:rPr lang="el-GR" sz="1800" i="1" spc="-1" err="1">
                <a:solidFill>
                  <a:srgbClr val="003056"/>
                </a:solidFill>
                <a:latin typeface="Calibri"/>
                <a:cs typeface="Arial"/>
              </a:rPr>
              <a:t>new</a:t>
            </a:r>
            <a:r>
              <a:rPr lang="el-GR" sz="1800" i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up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projection</a:t>
            </a:r>
            <a:endParaRPr lang="el-GR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2000" spc="-1">
                <a:solidFill>
                  <a:srgbClr val="003056"/>
                </a:solidFill>
                <a:latin typeface="Calibri"/>
                <a:cs typeface="Arial"/>
                <a:hlinkClick r:id="rId4"/>
              </a:rPr>
              <a:t>SwiGLU activations</a:t>
            </a:r>
            <a:r>
              <a:rPr lang="el-GR" sz="2000" spc="-1">
                <a:solidFill>
                  <a:srgbClr val="003056"/>
                </a:solidFill>
                <a:latin typeface="Calibri"/>
                <a:cs typeface="Arial"/>
              </a:rPr>
              <a:t>:</a:t>
            </a:r>
            <a:endParaRPr lang="el-GR" sz="2000"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SwiGLU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c, 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β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= Swish</a:t>
            </a:r>
            <a:r>
              <a:rPr lang="el-GR" sz="1800" i="1" spc="-1" baseline="-25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β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l-GR" sz="1800" b="1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xW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</a:t>
            </a:r>
            <a:r>
              <a:rPr lang="el-GR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⊗</a:t>
            </a:r>
            <a:r>
              <a:rPr lang="el-GR" sz="1800" i="1" spc="-1">
                <a:solidFill>
                  <a:srgbClr val="003056"/>
                </a:solidFill>
                <a:latin typeface="Calibri"/>
                <a:cs typeface="Arial"/>
              </a:rPr>
              <a:t> (</a:t>
            </a:r>
            <a:r>
              <a:rPr lang="el-GR" sz="1800" b="1" i="1" spc="-1" err="1">
                <a:solidFill>
                  <a:srgbClr val="003056"/>
                </a:solidFill>
                <a:latin typeface="Calibri"/>
                <a:cs typeface="Arial"/>
              </a:rPr>
              <a:t>xV</a:t>
            </a:r>
            <a:r>
              <a:rPr lang="el-GR" sz="1800" i="1" spc="-1">
                <a:solidFill>
                  <a:srgbClr val="003056"/>
                </a:solidFill>
                <a:latin typeface="Calibri"/>
                <a:cs typeface="Arial"/>
              </a:rPr>
              <a:t> + </a:t>
            </a:r>
            <a:r>
              <a:rPr lang="el-GR" sz="1800" b="1" i="1" spc="-1">
                <a:solidFill>
                  <a:srgbClr val="003056"/>
                </a:solidFill>
                <a:latin typeface="Calibri"/>
                <a:cs typeface="Arial"/>
              </a:rPr>
              <a:t>c</a:t>
            </a:r>
            <a:r>
              <a:rPr lang="el-GR" sz="1800" i="1" spc="-1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Found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to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significantly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increase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performance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compared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to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ReLU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and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Swish</a:t>
            </a:r>
            <a:r>
              <a:rPr lang="el-GR" sz="1800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l-GR" sz="1800" spc="-1" err="1">
                <a:solidFill>
                  <a:srgbClr val="003056"/>
                </a:solidFill>
                <a:latin typeface="Calibri"/>
                <a:cs typeface="Arial"/>
              </a:rPr>
              <a:t>activations</a:t>
            </a:r>
            <a:endParaRPr lang="el-GR" sz="18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C30026A6-A4D5-0E78-C2DE-51F302BA693B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33452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1A0E-1BFF-6CFC-4182-6D989C39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527A01BD-D846-8592-6612-1FEBF1D9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Model Distillation 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05074EDE-6442-6C25-FDEA-A5A90506CAE9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935B9CCF-3D29-65B4-6D2E-469CD9FC9D8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Proposed by 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Hinton et al. (2015)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Often referred to as </a:t>
            </a:r>
            <a:r>
              <a:rPr lang="en-US" sz="1800" i="1" spc="-1">
                <a:solidFill>
                  <a:srgbClr val="003056"/>
                </a:solidFill>
                <a:latin typeface="Calibri"/>
                <a:hlinkClick r:id="rId3"/>
              </a:rPr>
              <a:t>knowledge distillation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Motivation: models are functions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Have function by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smaller model (student)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behave as function by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larger model (teacher)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200" spc="-1">
                <a:solidFill>
                  <a:srgbClr val="003056"/>
                </a:solidFill>
                <a:latin typeface="Calibri"/>
              </a:rPr>
              <a:t>How?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Hinton proposed using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teacher's (token) distribution as target for student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Model distribution is richer than final predictions, especially with higher temperature, which they suggested should be increased during training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</a:endParaRP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6B17D6EF-1E04-F5A1-22E6-0CC9C6795C6A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32</a:t>
            </a:fld>
            <a:endParaRPr/>
          </a:p>
        </p:txBody>
      </p:sp>
      <p:pic>
        <p:nvPicPr>
          <p:cNvPr id="2" name="Picture 1" descr="A diagram of a teacher and student&#10;&#10;AI-generated content may be incorrect.">
            <a:extLst>
              <a:ext uri="{FF2B5EF4-FFF2-40B4-BE49-F238E27FC236}">
                <a16:creationId xmlns:a16="http://schemas.microsoft.com/office/drawing/2014/main" id="{64B8081A-AE1E-2BBE-2F53-0C1579FAC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872" y="4038552"/>
            <a:ext cx="5447765" cy="19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91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3379F-0A7B-9BED-AADC-2A1773E9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F2025B39-17FC-5C10-0CD4-ECBABAC9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Model Distillation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A85FC015-0800-8058-AE40-2F90C3130D7F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BC707BF9-83D4-16F2-645C-D5CC7BCA637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Common choices for distillation loss: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KL-Divergence (distance between distributions)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Mean squared error (MSE)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Combination of the two, or with others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Distillation loss often linearly combined with CE loss for LM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DistilBERT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also used cosine embedding loss, aligns teacher/student vectors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Can also include targets from multiple teachers (multi-signal distillation)</a:t>
            </a: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Distillation is quite popular today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As mentioned, the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3"/>
              </a:rPr>
              <a:t>Llama-3.2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family has two small models (1B and 3B) distilled from larger models Llama-3.1 (8B and 70B)</a:t>
            </a:r>
          </a:p>
          <a:p>
            <a:pPr marL="74295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Companies like DeepSeek provided smaller models in their family, students were models like Llama or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4"/>
              </a:rPr>
              <a:t>Qwen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teacher was their flagship model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5"/>
              </a:rPr>
              <a:t>DeepSeek-R1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6E24EF8-AB79-19AD-F51E-13CC3BBD92A2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6492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F519-6597-0EED-8DB5-B9EC1CDC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C7679D10-00A2-E6E0-1BE1-09DE2B13E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Sparse vs Dense Models 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1F44A1E5-6CF0-E784-462E-AB94FBF97A47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B5ABE3E8-3B79-6312-6A4B-EC1673838CA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Dense model: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uses all its weights for any given input at inference time</a:t>
            </a:r>
            <a:endParaRPr lang="en-US"/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I.e. the type of architecture used by all models discussed so far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Sparse model: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only uses subset of its weights for any given input at             inference time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Popular sparse architecture in LLMs: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mixture-of-experts (</a:t>
            </a:r>
            <a:r>
              <a:rPr lang="en-US" sz="2000" b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80010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Scaling model parameters less expensive if model is sparse</a:t>
            </a:r>
          </a:p>
          <a:p>
            <a:pPr marL="80010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Some </a:t>
            </a:r>
            <a:r>
              <a:rPr lang="en-US" sz="1800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LLMs: the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Mixtral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family,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3"/>
              </a:rPr>
              <a:t>DeepSeek-V3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(671B parameters)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 the following slides, we go over the basics of MoE</a:t>
            </a: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1C6A1A34-544F-2ED0-23A6-359226A574A3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4583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FE79-68BF-C019-51F1-D79E8477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446ED867-B14F-0AC4-DBFE-EA0320E6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Mixture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Experts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(1)</a:t>
            </a: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AD9BDBB0-4D1D-C776-68A6-C839ADA9A5F4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B030826E-602A-197D-B2E5-0BF03AFF034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Popular architecture for deep learning models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Above arrow: open source, below arrow: closed source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721331A6-FBA8-81E3-A0A4-1746176A1556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35</a:t>
            </a:fld>
            <a:endParaRPr/>
          </a:p>
        </p:txBody>
      </p:sp>
      <p:pic>
        <p:nvPicPr>
          <p:cNvPr id="2" name="Picture 1" descr="A diagram of a company&#10;&#10;AI-generated content may be incorrect.">
            <a:extLst>
              <a:ext uri="{FF2B5EF4-FFF2-40B4-BE49-F238E27FC236}">
                <a16:creationId xmlns:a16="http://schemas.microsoft.com/office/drawing/2014/main" id="{A4398FAA-98DA-3C90-921C-13604644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71" y="1965153"/>
            <a:ext cx="7536657" cy="38206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FE7782-34F5-7270-3C33-94526AFB82E2}"/>
              </a:ext>
            </a:extLst>
          </p:cNvPr>
          <p:cNvSpPr txBox="1"/>
          <p:nvPr/>
        </p:nvSpPr>
        <p:spPr>
          <a:xfrm>
            <a:off x="7100481" y="5739820"/>
            <a:ext cx="14859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3"/>
              </a:rPr>
              <a:t>Image source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6144989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EC2F-E28A-4277-4277-839C802F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8497C5DB-DD78-BCE3-15C0-757FB4848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Mixture of Experts (2)</a:t>
            </a:r>
            <a:endParaRPr lang="en-US"/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C103F75F-EDE3-6C37-13E5-B539169C4B2A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E7A48961-E871-831B-26DC-B6E5FFDE10D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2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Part of the ML toolbox for </a:t>
            </a:r>
            <a:r>
              <a:rPr lang="en-US" sz="22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many decades</a:t>
            </a:r>
            <a:r>
              <a:rPr lang="en-US" sz="22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already</a:t>
            </a:r>
            <a:endParaRPr lang="en-US" dirty="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Basic intuition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of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</a:t>
            </a:r>
            <a:endParaRPr lang="en-US" dirty="0"/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Use different "parts" of the model for different inputs given to the model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 "part" is typically a component or subnetwork within the model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expert: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subnetwork specialized to handle some type of input</a:t>
            </a: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Concretely, a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layer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consists of the following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components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Set of expert networks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 E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= {E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E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…, E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}</a:t>
            </a: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Gating/routing function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G: T --&gt; E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marL="28575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       designed to choose set of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 &lt; 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experts </a:t>
            </a:r>
            <a:endParaRPr lang="en-US">
              <a:solidFill>
                <a:srgbClr val="000000"/>
              </a:solidFill>
              <a:latin typeface="Arial"/>
              <a:ea typeface="Calibri"/>
              <a:cs typeface="Calibri"/>
            </a:endParaRPr>
          </a:p>
          <a:p>
            <a:pPr marL="285750" lvl="1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       for each portion of training data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endParaRPr lang="en-US"/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Routing strategy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that determines </a:t>
            </a:r>
          </a:p>
          <a:p>
            <a:pPr marL="285750" lvl="1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       how data is distributed among experts</a:t>
            </a:r>
          </a:p>
          <a:p>
            <a:pPr marL="114300" indent="-285750">
              <a:lnSpc>
                <a:spcPct val="100000"/>
              </a:lnSpc>
              <a:spcBef>
                <a:spcPts val="360"/>
              </a:spcBef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Output of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layer: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linear combination</a:t>
            </a: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   of experts' output weighted by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</a:t>
            </a:r>
          </a:p>
          <a:p>
            <a:pPr marL="114300" indent="-285750">
              <a:lnSpc>
                <a:spcPct val="100000"/>
              </a:lnSpc>
              <a:spcBef>
                <a:spcPts val="360"/>
              </a:spcBef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How could we implement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function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G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?</a:t>
            </a:r>
            <a:endParaRPr lang="en-US" dirty="0"/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DejaVu Sans"/>
              <a:ea typeface="Calibri"/>
              <a:cs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285750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742950" lvl="1" indent="-4572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67330F7-92D8-88AD-3D32-8A4511FC5C26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36</a:t>
            </a:fld>
            <a:endParaRPr/>
          </a:p>
        </p:txBody>
      </p:sp>
      <p:pic>
        <p:nvPicPr>
          <p:cNvPr id="2" name="Picture 1" descr="Diagram of a diagram of a diagram&#10;&#10;AI-generated content may be incorrect.">
            <a:extLst>
              <a:ext uri="{FF2B5EF4-FFF2-40B4-BE49-F238E27FC236}">
                <a16:creationId xmlns:a16="http://schemas.microsoft.com/office/drawing/2014/main" id="{1368ABCA-6CEA-F660-ADB8-E83818242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508" y="3146149"/>
            <a:ext cx="2939655" cy="3080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528C9C-B713-F2B6-3593-450111506A87}"/>
              </a:ext>
            </a:extLst>
          </p:cNvPr>
          <p:cNvSpPr txBox="1"/>
          <p:nvPr/>
        </p:nvSpPr>
        <p:spPr>
          <a:xfrm>
            <a:off x="6992488" y="6150472"/>
            <a:ext cx="15489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4"/>
              </a:rPr>
              <a:t>Image source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38672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0472-8B48-EA09-95CE-3F66FE3A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3DC934FF-07DD-A347-465F-63B41CD12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Mixture of Experts (3)</a:t>
            </a:r>
            <a:endParaRPr lang="en-US"/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4754C343-1D10-1F72-F92C-6BE5216F9C0C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43FBB91A-33C4-3134-4605-398F76EC8E2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Common choice for routing function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G(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= 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Softmax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800" b="1" i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1800" b="1" i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where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is typically same input given to experts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Output of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G(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typically referred to as routing scores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Interpretation of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G(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):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it acts as a "probabilistic switch"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Given input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G(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j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gives probability of selecting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j-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expert 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sz="1800" i="1" spc="-1" baseline="-25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</a:t>
            </a:r>
            <a:r>
              <a:rPr lang="en-US" sz="1800" i="1" spc="-1" dirty="0" err="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R</a:t>
            </a:r>
            <a:r>
              <a:rPr lang="en-US" sz="1800" i="1" spc="-1" baseline="30000" dirty="0" err="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k</a:t>
            </a:r>
            <a:r>
              <a:rPr lang="en-US" sz="1800" i="1" spc="-1" baseline="30000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 x 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where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d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is s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ize of 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is number of experts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 modern NLP,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Shazeer et al. (2017)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used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in a two-layered stacked RNN (with LSTMs) for machine translation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They added a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layer between RNN layers (input to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experts: tokens)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Each expert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was a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linear layer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(they used up to thousands of experts)</a:t>
            </a: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G(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was as above but they added a sparsity constraint</a:t>
            </a:r>
            <a:endParaRPr lang="en-US" sz="1800" i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Sparsity: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top-k(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i.e. only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experts used for each input for efficiency</a:t>
            </a:r>
          </a:p>
          <a:p>
            <a:pPr marL="34290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Output of </a:t>
            </a:r>
            <a:r>
              <a:rPr lang="en-US" sz="2000" b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layer: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y =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∑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n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G(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  <a:r>
              <a:rPr lang="en-US" sz="2000" i="1" spc="-1" baseline="-25000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E</a:t>
            </a:r>
            <a:r>
              <a:rPr lang="en-US" sz="2000" i="1" spc="-1" baseline="-25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where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G(</a:t>
            </a:r>
            <a:r>
              <a:rPr lang="en-US" sz="2000" b="1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 = </a:t>
            </a:r>
            <a:r>
              <a:rPr lang="en-US" sz="2000" i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Softmax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(top-k(</a:t>
            </a:r>
            <a:r>
              <a:rPr lang="en-US" sz="1800" b="1" i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W</a:t>
            </a:r>
            <a:r>
              <a:rPr lang="en-US" sz="1800" i="1" spc="-1" baseline="-25000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2000" b="1" i="1" spc="-1" dirty="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x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))</a:t>
            </a:r>
          </a:p>
          <a:p>
            <a:pPr marL="34290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Routing strategy: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level of specialization (token-level, task-level, etc.)</a:t>
            </a:r>
          </a:p>
          <a:p>
            <a:pPr marL="80010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E.g. select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 experts per token, use per-task experts with unlearned routing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2A6DB12C-BFFC-DDA1-723F-067BFA0FF249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04930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4B4C-6363-7EA6-2211-ACFF17C8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F3EA12D9-BA96-C170-718C-87DBDA4B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Training MoE</a:t>
            </a: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0D0980EB-1267-A228-B9B4-38385BB520AC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B3DF3F6B-253E-3EB1-71CC-1F8310C0A9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Routing examples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 different experts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can cause training issues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Goal of routing: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select which of </a:t>
            </a:r>
            <a:r>
              <a:rPr lang="en-US" sz="20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experts to send each input to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Discrete decision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can be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problematic for gradient-based learning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Shazeer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et al. used the "probabilistic switch"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Specifically,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selecting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top-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experts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Their implementation of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top-k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did not cause problems during training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Other strategies exist, e.g. based on hashing, reinforcement learning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Another potential issue: 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load balancing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Shazeer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et al., as well as prior work, noted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routing converges to favoring few experts </a:t>
            </a:r>
            <a:endParaRPr lang="en-US" sz="1800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vicious cycle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 few experts get chosen the most, they see more data, get better at the task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Often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addressed with auxiliary loss function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that 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encourages that each expert sees an equal amount of tokens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during training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Same idea was applied a few years later to the transformer architecture</a:t>
            </a:r>
            <a:endParaRPr lang="en-US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2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6D92D6DA-6487-DB3A-DD8B-A3BC62FF068D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7829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1401B-C4AB-FD42-4B87-5D764658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86771217-AEDB-B430-6619-A45D7DA5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MoE in Transformers</a:t>
            </a:r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02C91034-283E-3047-E963-84011BEB75C2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8EDDC35E-399A-49C8-6769-9E5A2101818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Proposed by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Lepikhin et al. (2021)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  <a:hlinkClick r:id="rId3"/>
              </a:rPr>
              <a:t>Fedus et al. (2022)</a:t>
            </a: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D95F43AA-B8BA-C98A-E466-322690F0887E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39</a:t>
            </a:fld>
            <a:endParaRPr/>
          </a:p>
        </p:txBody>
      </p:sp>
      <p:pic>
        <p:nvPicPr>
          <p:cNvPr id="3" name="Picture 2" descr="A diagram of a model&#10;&#10;AI-generated content may be incorrect.">
            <a:extLst>
              <a:ext uri="{FF2B5EF4-FFF2-40B4-BE49-F238E27FC236}">
                <a16:creationId xmlns:a16="http://schemas.microsoft.com/office/drawing/2014/main" id="{698FF08A-3DCA-E2CC-B977-12DC2BC2D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15" y="1603513"/>
            <a:ext cx="4871002" cy="2468218"/>
          </a:xfrm>
          <a:prstGeom prst="rect">
            <a:avLst/>
          </a:prstGeom>
        </p:spPr>
      </p:pic>
      <p:pic>
        <p:nvPicPr>
          <p:cNvPr id="4" name="Picture 3" descr="A diagram of a program&#10;&#10;AI-generated content may be incorrect.">
            <a:extLst>
              <a:ext uri="{FF2B5EF4-FFF2-40B4-BE49-F238E27FC236}">
                <a16:creationId xmlns:a16="http://schemas.microsoft.com/office/drawing/2014/main" id="{E0DD1241-7067-C51E-F36C-DB1C5E7B3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890" y="4077943"/>
            <a:ext cx="5006837" cy="2488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51869-FAA6-9401-3539-C7913A4F8B64}"/>
              </a:ext>
            </a:extLst>
          </p:cNvPr>
          <p:cNvSpPr txBox="1"/>
          <p:nvPr/>
        </p:nvSpPr>
        <p:spPr>
          <a:xfrm>
            <a:off x="1449934" y="4178694"/>
            <a:ext cx="15219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6"/>
              </a:rPr>
              <a:t>Image source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764805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FCEC-71A9-CA44-965B-01B81E74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>
            <a:extLst>
              <a:ext uri="{FF2B5EF4-FFF2-40B4-BE49-F238E27FC236}">
                <a16:creationId xmlns:a16="http://schemas.microsoft.com/office/drawing/2014/main" id="{306DDE1D-F1F7-269E-4C13-708CD280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MoE in LLMs</a:t>
            </a:r>
            <a:endParaRPr lang="en-US"/>
          </a:p>
        </p:txBody>
      </p:sp>
      <p:sp>
        <p:nvSpPr>
          <p:cNvPr id="138" name="PlaceHolder 2">
            <a:extLst>
              <a:ext uri="{FF2B5EF4-FFF2-40B4-BE49-F238E27FC236}">
                <a16:creationId xmlns:a16="http://schemas.microsoft.com/office/drawing/2014/main" id="{3040B00A-5745-AAE9-3457-A0FF95DA5A4A}"/>
              </a:ext>
            </a:extLst>
          </p:cNvPr>
          <p:cNvSpPr>
            <a:spLocks noGrp="1"/>
          </p:cNvSpPr>
          <p:nvPr>
            <p:ph type="ftr" idx="2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39" name="PlaceHolder 3">
            <a:extLst>
              <a:ext uri="{FF2B5EF4-FFF2-40B4-BE49-F238E27FC236}">
                <a16:creationId xmlns:a16="http://schemas.microsoft.com/office/drawing/2014/main" id="{B143AAD5-DDA7-23DE-C90E-48D5033E5E6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33515"/>
            <a:ext cx="7775640" cy="49102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Mixtral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models mostly followed prior work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As shown in previous slide, i.e.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Shazeer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et al. with transformers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Also,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softmax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-based routing function, top-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routing strategy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They used </a:t>
            </a:r>
            <a:r>
              <a:rPr lang="en-US" sz="18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SwiGLU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as experts (LLM-era activations)</a:t>
            </a:r>
            <a:endParaRPr lang="en-US" sz="18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DeepSeek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models introduced 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new ideas</a:t>
            </a:r>
            <a:endParaRPr lang="en-US" sz="2000" b="1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Some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shared experts 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always on to capture constantly needed knowledge 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Split internal (large) dimension in MLP layers into two separate up-projections to allow more 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fine-grained experts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Note: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term "expert" can be misleading, depends on routing strategy</a:t>
            </a:r>
            <a:endParaRPr lang="en-US" sz="2000" b="1" spc="-1" dirty="0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Resulting experts not necessarily "experts" in math, translation, etc.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Routing strategy can, but often doesn't, make such decisions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Instead, model is allowed to organize experts as needed during training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It's more akin to using multiple self-attention heads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Result can be experts in subtasks, e.g.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 "copy-paste" attention head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For more on </a:t>
            </a:r>
            <a:r>
              <a:rPr lang="en-US" sz="2000" spc="-1" dirty="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see 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2"/>
              </a:rPr>
              <a:t>here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or 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3"/>
              </a:rPr>
              <a:t>here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 spc="-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FC3C203E-52C7-7CBC-DEDC-12B80358AB48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5021D8-6E2A-41AE-9B62-C9D53419DA42}" type="slidenum"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9460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Window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(1)</a:t>
            </a:r>
          </a:p>
        </p:txBody>
      </p:sp>
      <p:sp>
        <p:nvSpPr>
          <p:cNvPr id="146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Something not discussed so far: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size of context window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Expensive due to quadratic cost of attention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Constant effort to increase size with every new model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4F4B29-3877-4DA5-809F-A123678AD484}" type="slidenum">
              <a:t>41</a:t>
            </a:fld>
            <a:endParaRPr/>
          </a:p>
        </p:txBody>
      </p:sp>
      <p:pic>
        <p:nvPicPr>
          <p:cNvPr id="2" name="Picture 1" descr="A screenshot of a table&#10;&#10;Description automatically generated">
            <a:extLst>
              <a:ext uri="{FF2B5EF4-FFF2-40B4-BE49-F238E27FC236}">
                <a16:creationId xmlns:a16="http://schemas.microsoft.com/office/drawing/2014/main" id="{EDCBB124-35A1-190F-F20A-1024EE292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43" y="2249905"/>
            <a:ext cx="6988341" cy="36716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8019B5-113C-C4AD-5AD9-6B9B015997B0}"/>
              </a:ext>
            </a:extLst>
          </p:cNvPr>
          <p:cNvSpPr txBox="1"/>
          <p:nvPr/>
        </p:nvSpPr>
        <p:spPr>
          <a:xfrm>
            <a:off x="6769011" y="5944648"/>
            <a:ext cx="13041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hlinkClick r:id="rId3"/>
              </a:rPr>
              <a:t>Image source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198609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Window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Several methods developed to increase context length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Different types of methods: e.g. positional embeddings, more efficient types of attention, new model architectures, we discuss a few below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 err="1">
                <a:solidFill>
                  <a:srgbClr val="003056"/>
                </a:solidFill>
                <a:latin typeface="Calibri"/>
              </a:rPr>
              <a:t>ALiBi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positional embeddings (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Press et al. 2022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Position encoded as linear term added to attention score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Allows training with shorter sequence, use longer sequence for inference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Requires using such positional embeddings during pre-training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4F4B29-3877-4DA5-809F-A123678AD484}" type="slidenum">
              <a:t>42</a:t>
            </a:fld>
            <a:endParaRPr/>
          </a:p>
        </p:txBody>
      </p:sp>
      <p:pic>
        <p:nvPicPr>
          <p:cNvPr id="2" name="Picture 1" descr="A white and blue squares with black numbers and a white background&#10;&#10;Description automatically generated">
            <a:extLst>
              <a:ext uri="{FF2B5EF4-FFF2-40B4-BE49-F238E27FC236}">
                <a16:creationId xmlns:a16="http://schemas.microsoft.com/office/drawing/2014/main" id="{4CBD6ACF-7038-FCCB-7183-DBD3DA9CE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60" y="3730708"/>
            <a:ext cx="4572000" cy="1990531"/>
          </a:xfrm>
          <a:prstGeom prst="rect">
            <a:avLst/>
          </a:prstGeom>
        </p:spPr>
      </p:pic>
      <p:pic>
        <p:nvPicPr>
          <p:cNvPr id="3" name="Picture 2" descr="A graph of numbers and lines&#10;&#10;Description automatically generated">
            <a:extLst>
              <a:ext uri="{FF2B5EF4-FFF2-40B4-BE49-F238E27FC236}">
                <a16:creationId xmlns:a16="http://schemas.microsoft.com/office/drawing/2014/main" id="{E3F984B2-1E93-905F-3E8F-B12E3A86D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720" y="3432424"/>
            <a:ext cx="3298658" cy="25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352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Window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(3)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Position Interpolation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Chen et al. 2023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Extend position embeddings beyond size used during training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With a bit of fine-tuning, applicable to models that used different positional embedding during pre-training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4F4B29-3877-4DA5-809F-A123678AD484}" type="slidenum">
              <a:t>43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DDC2E-208F-9C2E-D720-A1B7EC96F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685" y="2401477"/>
            <a:ext cx="4050631" cy="357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445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Context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Window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(4)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More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efficient forms of attention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Sparse attention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: consider only subset of attention matrix, e.g. locality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hlinkClick r:id="rId3"/>
              </a:rPr>
              <a:t>Flash attention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: GPU optimization of forward/backward pass operations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More in later tutorials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More recently,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RNN-like methods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</a:t>
            </a:r>
            <a:endParaRPr lang="en-US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Mamba Architecture (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4"/>
              </a:rPr>
              <a:t>Dao et al. 2023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): state-based model allows longer input sequences similar to how RNNs did (see also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5"/>
              </a:rPr>
              <a:t>Le Bronnec et al. 2024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err="1">
                <a:solidFill>
                  <a:srgbClr val="003056"/>
                </a:solidFill>
                <a:latin typeface="Calibri"/>
              </a:rPr>
              <a:t>TransformerFAM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(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6"/>
              </a:rPr>
              <a:t>Hwang et al. 2024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): introduce LSTM-like mechanism in transformers</a:t>
            </a:r>
            <a:endParaRPr lang="en-US"/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Leave-No-Context-Behind (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  <a:hlinkClick r:id="rId7"/>
              </a:rPr>
              <a:t>Munkhdalai et al. 2024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RNN-like methods too new, impact unclear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Highlights this challenge is an open-question 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Parameter count/context window show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scaling up big part of progress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Why?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4F4B29-3877-4DA5-809F-A123678AD484}" type="slidenum"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74402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Scaling Laws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ftr" idx="2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Chinchilla scaling laws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introduced by 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Hoffmann et al. (2022)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Modeled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cross-entropy loss as function of model size and data size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Loss measured in </a:t>
            </a:r>
            <a:r>
              <a:rPr lang="en-US" sz="1800" b="0" i="1" strike="noStrike" spc="-1" err="1">
                <a:solidFill>
                  <a:srgbClr val="003056"/>
                </a:solidFill>
                <a:latin typeface="Calibri"/>
              </a:rPr>
              <a:t>nats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i.e. like bits but using </a:t>
            </a:r>
            <a:r>
              <a:rPr lang="en-US" sz="1800" b="0" i="1" strike="noStrike" spc="-1">
                <a:solidFill>
                  <a:srgbClr val="003056"/>
                </a:solidFill>
                <a:latin typeface="Calibri"/>
              </a:rPr>
              <a:t>ln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(explained in past tutorial)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Model size measured in number of parameters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Data size measured in number of tokens in training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Specifically: 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L(N,D) = E +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/N</a:t>
            </a:r>
            <a:r>
              <a:rPr lang="el-GR" sz="1800" b="1" i="1" strike="noStrike" spc="-1" baseline="30000" dirty="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+ B/D</a:t>
            </a:r>
            <a:r>
              <a:rPr lang="el-GR" sz="1800" b="1" i="1" strike="noStrike" spc="-1" baseline="30000" dirty="0">
                <a:solidFill>
                  <a:srgbClr val="003056"/>
                </a:solidFill>
                <a:latin typeface="Calibri"/>
              </a:rPr>
              <a:t>β</a:t>
            </a:r>
            <a:endParaRPr lang="de-DE" sz="1800" b="0" i="1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N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model size,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 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D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data size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ideal loss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from infinitely big model with infinite training data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/N</a:t>
            </a:r>
            <a:r>
              <a:rPr lang="el-GR" sz="1800" b="1" i="1" strike="noStrike" spc="-1" baseline="30000">
                <a:solidFill>
                  <a:srgbClr val="003056"/>
                </a:solidFill>
                <a:latin typeface="Calibri"/>
              </a:rPr>
              <a:t>α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: represents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how much model underperforms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based on its size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i="1" strike="noStrike" spc="-1">
                <a:solidFill>
                  <a:srgbClr val="003056"/>
                </a:solidFill>
                <a:latin typeface="Calibri"/>
              </a:rPr>
              <a:t>B/D</a:t>
            </a:r>
            <a:r>
              <a:rPr lang="el-GR" sz="1800" b="1" i="1" strike="noStrike" spc="-1" baseline="30000">
                <a:solidFill>
                  <a:srgbClr val="003056"/>
                </a:solidFill>
                <a:latin typeface="Calibri"/>
              </a:rPr>
              <a:t>β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: how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much model underperforms </a:t>
            </a:r>
            <a:r>
              <a:rPr lang="en-US" sz="1800" b="1" i="1" strike="noStrike" spc="-1" dirty="0">
                <a:solidFill>
                  <a:srgbClr val="003056"/>
                </a:solidFill>
                <a:latin typeface="Calibri"/>
              </a:rPr>
              <a:t>E</a:t>
            </a: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based on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its training data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size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They optimized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L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under constraint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C = 6ND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where </a:t>
            </a:r>
            <a:r>
              <a:rPr lang="en-US" sz="2000" b="1" i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is compute power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They fitted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A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B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 using data from lots of pre-training experiments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Different model sizes (70M to 16B), different data sizes (5B to 500B)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CE79C9F-430B-42C7-A7A9-8FA0F6737821}" type="slidenum">
              <a:t>45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6" dur="500"/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5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Scaling Laws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ftr" idx="2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9912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They derived the following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optimal sizes of model and data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N(C)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= 0.6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0.45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D(C)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= 0.3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</a:t>
            </a:r>
            <a:r>
              <a:rPr lang="en-US" sz="1800" b="0" strike="noStrike" spc="-1" baseline="30000">
                <a:solidFill>
                  <a:srgbClr val="003056"/>
                </a:solidFill>
                <a:latin typeface="Calibri"/>
              </a:rPr>
              <a:t>0.55</a:t>
            </a:r>
            <a:r>
              <a:rPr lang="en-US" sz="1800" spc="-1" baseline="30000">
                <a:solidFill>
                  <a:srgbClr val="003056"/>
                </a:solidFill>
                <a:latin typeface="Calibri"/>
              </a:rPr>
              <a:t> 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Heatmap of loss w.r.t.</a:t>
            </a:r>
          </a:p>
          <a:p>
            <a:pPr marL="0" indent="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model and data size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They trained their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Chinchilla model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on more data, as 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suggested by the law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It outperforms many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models, even those 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with many more 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     parameters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9A82F35-B2AB-44D5-B746-F535D0555860}" type="slidenum">
              <a:t>46</a:t>
            </a:fld>
            <a:endParaRPr/>
          </a:p>
        </p:txBody>
      </p:sp>
      <p:pic>
        <p:nvPicPr>
          <p:cNvPr id="2" name="Picture 1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95DE5337-57EB-629F-0037-4FD2C104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499" y="1714500"/>
            <a:ext cx="5272436" cy="421901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2846-C1A9-5260-3B44-2BB64D52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54BECB98-7175-668F-2C4A-5F1DB1B8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Scaling Laws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3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A1CAB024-273F-025C-4121-FDE1AA5EE683}"/>
              </a:ext>
            </a:extLst>
          </p:cNvPr>
          <p:cNvSpPr>
            <a:spLocks noGrp="1"/>
          </p:cNvSpPr>
          <p:nvPr>
            <p:ph type="ftr" idx="2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0DB378EB-FC29-6A2E-91DE-6E6FFD4562D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9912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This tells us,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for given compute power C </a:t>
            </a: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(in flops),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how much data to use to achieve optimal loss for a given model size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for 67B parameters, use 1.7 trillion tokens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GPT-3 trained on 300B tokens,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should have had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15B parameters, not 175B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dirty="0">
                <a:solidFill>
                  <a:srgbClr val="003056"/>
                </a:solidFill>
                <a:latin typeface="Calibri"/>
              </a:rPr>
              <a:t>With that data size, growing model beyond 15B makes little difference </a:t>
            </a:r>
            <a:endParaRPr lang="en-US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Law makes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assumptions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applies to CLMs using a specific form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of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learning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rate </a:t>
            </a:r>
            <a:r>
              <a:rPr lang="en-US" sz="1800" spc="-1" dirty="0">
                <a:solidFill>
                  <a:srgbClr val="003056"/>
                </a:solidFill>
                <a:latin typeface="Calibri"/>
              </a:rPr>
              <a:t>scheduler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Such laws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nevertheless useful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E.g. test training tricks on smaller model, see how performance would scale</a:t>
            </a:r>
            <a:endParaRPr lang="de-DE" sz="1800" b="0" strike="noStrike" spc="-1" dirty="0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When plotted, </a:t>
            </a:r>
            <a:r>
              <a:rPr lang="en-US" sz="2000" b="1" strike="noStrike" spc="-1" dirty="0">
                <a:solidFill>
                  <a:srgbClr val="003056"/>
                </a:solidFill>
                <a:latin typeface="Calibri"/>
              </a:rPr>
              <a:t>scaling laws predict improvement with scale!</a:t>
            </a:r>
            <a:endParaRPr lang="de-DE" sz="2000" b="0" strike="noStrike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 dirty="0">
                <a:solidFill>
                  <a:srgbClr val="003056"/>
                </a:solidFill>
                <a:latin typeface="Calibri"/>
              </a:rPr>
              <a:t>Limitation: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 focused on loss reduction, may not translate to actual tasks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</a:rPr>
              <a:t>For nice explanations on the topic, see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here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 and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here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.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C2598EC0-EE58-E193-E408-32A2725E92F7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9A82F35-B2AB-44D5-B746-F535D0555860}" type="slidenum"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3252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9" dur="500"/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7" dur="500"/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0" dur="500"/>
                                        <p:tgtEl>
                                          <p:spTgt spid="1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3" dur="500"/>
                                        <p:tgtEl>
                                          <p:spTgt spid="1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CAA5-D2CB-948A-1E75-F6E7E79B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>
            <a:extLst>
              <a:ext uri="{FF2B5EF4-FFF2-40B4-BE49-F238E27FC236}">
                <a16:creationId xmlns:a16="http://schemas.microsoft.com/office/drawing/2014/main" id="{8C20AB34-BEA4-5E02-4334-B755A23C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Scaling Laws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4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>
            <a:extLst>
              <a:ext uri="{FF2B5EF4-FFF2-40B4-BE49-F238E27FC236}">
                <a16:creationId xmlns:a16="http://schemas.microsoft.com/office/drawing/2014/main" id="{0607A633-3D41-F7D5-A966-977551C291A7}"/>
              </a:ext>
            </a:extLst>
          </p:cNvPr>
          <p:cNvSpPr>
            <a:spLocks noGrp="1"/>
          </p:cNvSpPr>
          <p:nvPr>
            <p:ph type="ftr" idx="2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3" name="PlaceHolder 3">
            <a:extLst>
              <a:ext uri="{FF2B5EF4-FFF2-40B4-BE49-F238E27FC236}">
                <a16:creationId xmlns:a16="http://schemas.microsoft.com/office/drawing/2014/main" id="{B52691E2-1DE5-32CF-060D-5A6A3D48BA1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Recently, these scaling laws have been under question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 main focus of criticism is their oversimplicity </a:t>
            </a:r>
          </a:p>
          <a:p>
            <a:pPr marL="342900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Diaz et al. (2024)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argue that despite scaling up training sets, performance on more specific settings don’t scale as described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argue for considering other factors besides model and data size</a:t>
            </a:r>
            <a:endParaRPr lang="en-US" sz="1800">
              <a:solidFill>
                <a:srgbClr val="000000"/>
              </a:solidFill>
              <a:latin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evaluation data size, qualitative and use-case dependent evaluation metrics  </a:t>
            </a:r>
            <a:endParaRPr lang="en-US" sz="1800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Isik et al. (2025)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study scaling laws by focusing on machine translation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 target is not training loss, but performance on translation task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find that size of downstream data, as well as alignment of distribution of pre-training and downstream data are also important factors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Thus, scaling laws work differently in this case</a:t>
            </a:r>
          </a:p>
          <a:p>
            <a:pPr marL="342900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4"/>
              </a:rPr>
              <a:t>Liu et al. (2025)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study how model performance can be predicted on downstream tasks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find impactful factors like model architecture and dataset distribution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A033B865-8C1E-52B6-FD83-F1EE42BE92EE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9A82F35-B2AB-44D5-B746-F535D0555860}" type="slidenum"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661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Pre-Training vs Fine-Tuning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23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9197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Many more models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And </a:t>
            </a: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many more details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about each model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size of training set,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ensemble or not (i.e. sparse vs dense),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etc.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Most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proprietary LLMs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are accessed via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APIs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Useful for research and applications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But research challenging, key information unknown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E.g. are benchmark test sets seen during training?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Note a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pattern in latest LLMs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GPT-3.5: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fine-tuned GPT-3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ChatGPT: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fine-tuned for dialogue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LLaMA-2: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focused on fine-tuning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Fine-tuning methods essential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to latest LLM success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At least as measured by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language understanding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, safer use in applications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NLU = natural language understanding (i.e. reading comprehension)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Let's go over the basics of fine-tuning LLMs!</a:t>
            </a:r>
            <a:endParaRPr lang="en-US" sz="20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4F4B29-3877-4DA5-809F-A123678AD484}" type="slidenum">
              <a:t>49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00"/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5" dur="500"/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8" dur="500"/>
                                        <p:tgtEl>
                                          <p:spTgt spid="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1" dur="500"/>
                                        <p:tgtEl>
                                          <p:spTgt spid="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6" dur="500"/>
                                        <p:tgtEl>
                                          <p:spTgt spid="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49" dur="500"/>
                                        <p:tgtEl>
                                          <p:spTgt spid="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2" dur="500"/>
                                        <p:tgtEl>
                                          <p:spTgt spid="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7" dur="500"/>
                                        <p:tgtEl>
                                          <p:spTgt spid="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4788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ftr" idx="26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720"/>
              </a:spcBef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rgbClr val="003056"/>
                </a:solidFill>
                <a:latin typeface="Calibri"/>
              </a:rPr>
              <a:t>LLM Tuning</a:t>
            </a:r>
            <a:endParaRPr lang="de-DE" sz="3600" b="0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8E10392-9544-4896-A405-7FACFF64C053}" type="slidenum">
              <a:t>50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LLMs as Useful Tools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ftr" idx="27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Predicting next word is not the same as “follow user’s instructions”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60" name="Grafik 6" descr="lms_assistant_1.png"/>
          <p:cNvPicPr/>
          <p:nvPr/>
        </p:nvPicPr>
        <p:blipFill>
          <a:blip r:embed="rId2"/>
          <a:stretch/>
        </p:blipFill>
        <p:spPr>
          <a:xfrm>
            <a:off x="928800" y="1943280"/>
            <a:ext cx="7286400" cy="2342520"/>
          </a:xfrm>
          <a:prstGeom prst="rect">
            <a:avLst/>
          </a:prstGeom>
          <a:ln w="0">
            <a:noFill/>
          </a:ln>
        </p:spPr>
      </p:pic>
      <p:sp>
        <p:nvSpPr>
          <p:cNvPr id="161" name="Textfeld 7"/>
          <p:cNvSpPr/>
          <p:nvPr/>
        </p:nvSpPr>
        <p:spPr>
          <a:xfrm>
            <a:off x="7072200" y="433584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166A32A-C993-4D7D-A019-0681BCEF482C}" type="slidenum">
              <a:t>51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LLMs as Useful Tools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ftr" idx="28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Fine-tuning crucial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to LLMs ability to communicate, solve tasks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65" name="Grafik 8" descr="lms_assistant_2.png"/>
          <p:cNvPicPr/>
          <p:nvPr/>
        </p:nvPicPr>
        <p:blipFill>
          <a:blip r:embed="rId2"/>
          <a:stretch/>
        </p:blipFill>
        <p:spPr>
          <a:xfrm>
            <a:off x="928800" y="1901160"/>
            <a:ext cx="7429320" cy="2598840"/>
          </a:xfrm>
          <a:prstGeom prst="rect">
            <a:avLst/>
          </a:prstGeom>
          <a:ln w="0">
            <a:noFill/>
          </a:ln>
        </p:spPr>
      </p:pic>
      <p:sp>
        <p:nvSpPr>
          <p:cNvPr id="166" name="Textfeld 9"/>
          <p:cNvSpPr/>
          <p:nvPr/>
        </p:nvSpPr>
        <p:spPr>
          <a:xfrm>
            <a:off x="7215120" y="4500720"/>
            <a:ext cx="12139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CC6535C-F0E3-414B-8B5F-5390F030EE27}" type="slidenum">
              <a:t>52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LLMs as Useful Tools (3)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ftr" idx="29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To improve usability of LLMs, tuning LLMs has focused on: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1. Performing many generative tasks, e.g. "explain moon landing"</a:t>
            </a:r>
            <a:endParaRPr lang="en-US" sz="1600" b="1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2. Providing truthful, non-toxic answers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How to achieve the first point?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Tune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weights on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many new tasks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Before: 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fine-tuning typically on chosen task, required few labels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b="1" strike="noStrike" spc="-1">
                <a:solidFill>
                  <a:srgbClr val="003056"/>
                </a:solidFill>
                <a:latin typeface="Calibri"/>
              </a:rPr>
              <a:t>Now: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 fine-tuning in many tasks, requires many labels per task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Why are more labels required for LLM tuning?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Because goal is more general: to perform well on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many new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tasks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 this section, common approach for LLM tuning: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instruction tuning</a:t>
            </a:r>
            <a:endParaRPr lang="en-US" sz="2000" b="1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What about the second point above?</a:t>
            </a:r>
            <a:endParaRPr lang="de-DE" sz="2000" b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 panose="020B0604020202020204" pitchFamily="34" charset="0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Also in this section, main approach for this goal: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RLHF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1C476E2-78C6-4901-BFB4-ECD9AF1B6E06}" type="slidenum">
              <a:t>53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Instruction Tuning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Question: can LLMs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perform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well on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tasks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not seen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in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 training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/tuning?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I.e. zero-shot generalization</a:t>
            </a:r>
            <a:endParaRPr lang="de-DE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That’s general goal of instruction tuning (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Sanh et al.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Wei et al.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</p:txBody>
      </p:sp>
      <p:pic>
        <p:nvPicPr>
          <p:cNvPr id="173" name="Grafik 6" descr="t0_instruction_tuning.png"/>
          <p:cNvPicPr/>
          <p:nvPr/>
        </p:nvPicPr>
        <p:blipFill>
          <a:blip r:embed="rId4"/>
          <a:stretch/>
        </p:blipFill>
        <p:spPr>
          <a:xfrm>
            <a:off x="1500120" y="2263680"/>
            <a:ext cx="6292440" cy="38080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C1ED092-47F7-405E-AA01-C50EE42AC6FC}" type="slidenum">
              <a:t>54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5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Instruction Tuning 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Instruction tuning: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train models to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get better at zero-shot task solving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so long as those tasks come with text-based instructions</a:t>
            </a:r>
            <a:endParaRPr lang="en-US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I.e. models learn to "follow instructions"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Important: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measured as models performing NEW tasks not seen during pre-training or tuning, otherwise phrase "follow instructions" is vague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How does instruction tuning work?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Update weights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by training models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to solve many different supervised tasks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that come with instructions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I.e. a combination of (standard) fine-tuning with ICL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Common approach: 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Cast NLP tasks as text-to-text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(see image in previous slide)</a:t>
            </a:r>
            <a:endParaRPr lang="en-US" sz="1800"/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Keep CLM objective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(no switch to supervised objective, e.g. classification)</a:t>
            </a:r>
            <a:endParaRPr lang="en-US"/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Train on some set of tasks, validate/test on DIFFERENT set of tasks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Let's visualize this.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55</a:t>
            </a:fld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Instruction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Tuning (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3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30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How to check that models can "follow instructions"?</a:t>
            </a:r>
            <a:endParaRPr lang="en-US" sz="2000" b="1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Evaluate performance on tasks not seen in training or tuning</a:t>
            </a:r>
            <a:endParaRPr lang="en-US" sz="18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Image from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0" u="sng" strike="noStrike" spc="-1">
                <a:solidFill>
                  <a:srgbClr val="0000FF"/>
                </a:solidFill>
                <a:uFillTx/>
                <a:latin typeface="Calibri"/>
                <a:hlinkClick r:id="rId2"/>
              </a:rPr>
              <a:t>Wei et al</a:t>
            </a:r>
            <a:r>
              <a:rPr lang="en-US" sz="2000" u="sng" spc="-1">
                <a:solidFill>
                  <a:srgbClr val="0000FF"/>
                </a:solidFill>
                <a:latin typeface="Calibri"/>
                <a:hlinkClick r:id="rId2"/>
              </a:rPr>
              <a:t>.</a:t>
            </a:r>
            <a:endParaRPr lang="en-US" sz="2000" b="0" strike="noStrike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How does this relate to standard fine-tuning and ICL?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Instruction tuning has components of both, but also different from both</a:t>
            </a:r>
            <a:endParaRPr lang="en-US" sz="16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C1ED092-47F7-405E-AA01-C50EE42AC6FC}" type="slidenum">
              <a:t>56</a:t>
            </a:fld>
            <a:endParaRPr/>
          </a:p>
        </p:txBody>
      </p:sp>
      <p:pic>
        <p:nvPicPr>
          <p:cNvPr id="2" name="Picture 1" descr="A screenshot of a chat&#10;&#10;Description automatically generated">
            <a:extLst>
              <a:ext uri="{FF2B5EF4-FFF2-40B4-BE49-F238E27FC236}">
                <a16:creationId xmlns:a16="http://schemas.microsoft.com/office/drawing/2014/main" id="{DEBB166D-39E0-7840-1131-D2967FA4B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31" y="2297324"/>
            <a:ext cx="6971825" cy="28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477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1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3" dur="500"/>
                                        <p:tgtEl>
                                          <p:spTgt spid="17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172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Instruction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Tuning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vs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Fine-Tuning 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Following images from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  <a:hlinkClick r:id="rId2"/>
              </a:rPr>
              <a:t>Wei et al.</a:t>
            </a: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Standard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fine-tuning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: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Instruction-tuning: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In both cases, note the use of the different tasks A, B, C, D, ...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57</a:t>
            </a:fld>
            <a:endParaRPr/>
          </a:p>
        </p:txBody>
      </p:sp>
      <p:pic>
        <p:nvPicPr>
          <p:cNvPr id="2" name="Picture 1" descr="A diagram with black text&#10;&#10;Description automatically generated">
            <a:extLst>
              <a:ext uri="{FF2B5EF4-FFF2-40B4-BE49-F238E27FC236}">
                <a16:creationId xmlns:a16="http://schemas.microsoft.com/office/drawing/2014/main" id="{58DEDF9F-0CF3-FD4D-9F9C-D8369373D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232" y="1889245"/>
            <a:ext cx="4572000" cy="1391093"/>
          </a:xfrm>
          <a:prstGeom prst="rect">
            <a:avLst/>
          </a:prstGeom>
        </p:spPr>
      </p:pic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B0FE2F3F-4D35-F024-2311-BA9C6185D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232" y="3865115"/>
            <a:ext cx="4572000" cy="136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853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7" dur="500"/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4" dur="500"/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172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Instruction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Tuning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vs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Fine-Tuning 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Fine-tuning: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update weights based on new (typically supervised) task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Goal: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perform well at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specific task used in fine-tuning process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Data typically as input-label pairs,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e.g.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(email, label)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for spam detection.</a:t>
            </a: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Instruction-tuning: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update model weights based on several (typically supervised) tasks that are text-based and include instructions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Goal: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perform well on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new tasks not seen during training or tuning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Tasks must include text-based instructions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.g. "Read the following email and tell me whether it's spam or not"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In other words: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Goal is different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aim of instruction tuning is more generally useful model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Data format is different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as fine-tuning data more akin to standard ML data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Instruction tuning data includes text, instructions, similar to how humans follow instructions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69668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1726" cy="5769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Instruction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Tuning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vs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ICL</a:t>
            </a:r>
            <a:endParaRPr lang="en-US"/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In-context learning: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given instruction 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and/or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examples of task, model performs task 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Similar to instruction tuning: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data format</a:t>
            </a:r>
          </a:p>
          <a:p>
            <a:pPr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Different from instruction tuning: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no weight updates in ICL!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ICL: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Instruction-tuning: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59</a:t>
            </a:fld>
            <a:endParaRPr/>
          </a:p>
        </p:txBody>
      </p:sp>
      <p:pic>
        <p:nvPicPr>
          <p:cNvPr id="2" name="Picture 1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4BCB0256-1D7E-4936-A53C-83A116C5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232" y="2864237"/>
            <a:ext cx="4572000" cy="958788"/>
          </a:xfrm>
          <a:prstGeom prst="rect">
            <a:avLst/>
          </a:prstGeom>
        </p:spPr>
      </p:pic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DC3A8876-29BA-8BAC-3CE9-4CFD1BEC9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232" y="4434243"/>
            <a:ext cx="4572000" cy="136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47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8" dur="500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5" dur="500"/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Limitations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Instruction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Tuning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 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487235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Achieving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generally useful models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brings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lots of challenges</a:t>
            </a:r>
            <a:endParaRPr lang="en-US" sz="2000" b="1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Some tasks don’t have clear answers, e.g. write a story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LMs work at token level, some mistakes bigger than others</a:t>
            </a:r>
            <a:endParaRPr lang="en-US" sz="1800" spc="-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E.g.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“Avatar is a fantasy movie”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, replacing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fantasy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adventure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less problematic than replacing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movie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book </a:t>
            </a:r>
            <a:endParaRPr lang="en-US"/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Limitation 1: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requires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lots of data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, since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entire model often tuned</a:t>
            </a:r>
            <a:endParaRPr lang="en-US"/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PEFT methods can also be used for this, can be competitive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Many recent benchmarks designed for LLM fine-tuning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2"/>
              </a:rPr>
              <a:t>MMLU</a:t>
            </a:r>
            <a:r>
              <a:rPr lang="en-US" sz="1800" b="0" strike="noStrike" spc="-1" dirty="0">
                <a:solidFill>
                  <a:srgbClr val="003056"/>
                </a:solidFill>
                <a:latin typeface="Calibri"/>
              </a:rPr>
              <a:t>, 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hlinkClick r:id="rId3"/>
              </a:rPr>
              <a:t>Big-Bench</a:t>
            </a:r>
            <a:r>
              <a:rPr lang="en-US" sz="1800" b="0" strike="noStrike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Limitation 2: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LM objective not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aligned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with human intent (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4"/>
              </a:rPr>
              <a:t>Ouyang et al. 2022</a:t>
            </a:r>
            <a:r>
              <a:rPr lang="en-US" sz="2000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Explicit intentions: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models follow instructions (goal of instruction tuning)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Implicit intentions: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models give answers that are truthful, non-toxic, etc.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Explicit intention can be achieved without implicit ones, e.g. a rude answer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Thus, even more general goal: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tune models for human preference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Often referred to as "model alignment" (</a:t>
            </a:r>
            <a:r>
              <a:rPr lang="en-US" sz="1800" spc="-1" dirty="0">
                <a:solidFill>
                  <a:srgbClr val="003056"/>
                </a:solidFill>
                <a:latin typeface="Calibri"/>
                <a:cs typeface="Arial"/>
                <a:hlinkClick r:id="rId5"/>
              </a:rPr>
              <a:t>Leike et al. 2018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51860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Tuning for Human Preference (1)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Main approach</a:t>
            </a:r>
            <a:r>
              <a:rPr lang="en-US" sz="2000" b="1" strike="noStrike" spc="-1">
                <a:solidFill>
                  <a:srgbClr val="003056"/>
                </a:solidFill>
                <a:latin typeface="Calibri"/>
              </a:rPr>
              <a:t>: </a:t>
            </a:r>
            <a:r>
              <a:rPr lang="en-US" sz="2000" b="0" strike="noStrike" spc="-1">
                <a:solidFill>
                  <a:srgbClr val="003056"/>
                </a:solidFill>
                <a:latin typeface="Calibri"/>
              </a:rPr>
              <a:t>reinforcement learning for human feedback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(RLHF)</a:t>
            </a:r>
            <a:endParaRPr lang="en-US" sz="2000" b="0" strike="noStrike" spc="-1">
              <a:solidFill>
                <a:srgbClr val="003056"/>
              </a:solidFill>
              <a:latin typeface="Calibri"/>
            </a:endParaRP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Here: seminal work in context of deep learning by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Christiano et al. 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/>
              </a:rPr>
              <a:t>(</a:t>
            </a:r>
            <a:r>
              <a:rPr lang="en-US" sz="1800" spc="-1" dirty="0">
                <a:solidFill>
                  <a:srgbClr val="003056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2017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)</a:t>
            </a: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2000">
                <a:solidFill>
                  <a:srgbClr val="003056"/>
                </a:solidFill>
                <a:latin typeface="Calibri"/>
                <a:cs typeface="Arial"/>
              </a:rPr>
              <a:t>Roughly,</a:t>
            </a:r>
            <a:r>
              <a:rPr lang="en-US" sz="2000" b="1">
                <a:solidFill>
                  <a:srgbClr val="003056"/>
                </a:solidFill>
                <a:latin typeface="Calibri"/>
                <a:cs typeface="Arial"/>
              </a:rPr>
              <a:t> basic components of reinforcement learning </a:t>
            </a:r>
            <a:r>
              <a:rPr lang="en-US" sz="2000">
                <a:solidFill>
                  <a:srgbClr val="003056"/>
                </a:solidFill>
                <a:latin typeface="Calibri"/>
                <a:cs typeface="Arial"/>
              </a:rPr>
              <a:t>(RL)</a:t>
            </a:r>
            <a:r>
              <a:rPr lang="en-US" sz="2000" b="1">
                <a:solidFill>
                  <a:srgbClr val="003056"/>
                </a:solidFill>
                <a:latin typeface="Calibri"/>
                <a:cs typeface="Arial"/>
              </a:rPr>
              <a:t>: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-US" sz="1800">
                <a:solidFill>
                  <a:srgbClr val="003056"/>
                </a:solidFill>
                <a:latin typeface="Calibri"/>
                <a:cs typeface="Arial"/>
              </a:rPr>
              <a:t>An </a:t>
            </a:r>
            <a:r>
              <a:rPr lang="en-US" sz="1800" b="1">
                <a:solidFill>
                  <a:srgbClr val="003056"/>
                </a:solidFill>
                <a:latin typeface="Calibri"/>
                <a:cs typeface="Arial"/>
              </a:rPr>
              <a:t>agent</a:t>
            </a:r>
            <a:r>
              <a:rPr lang="en-US" sz="1800">
                <a:solidFill>
                  <a:srgbClr val="003056"/>
                </a:solidFill>
                <a:latin typeface="Calibri"/>
                <a:cs typeface="Arial"/>
              </a:rPr>
              <a:t> interacting with an </a:t>
            </a:r>
            <a:r>
              <a:rPr lang="en-US" sz="1800" b="1">
                <a:solidFill>
                  <a:srgbClr val="003056"/>
                </a:solidFill>
                <a:latin typeface="Calibri"/>
                <a:cs typeface="Arial"/>
              </a:rPr>
              <a:t>environment </a:t>
            </a:r>
            <a:r>
              <a:rPr lang="en-US" sz="1800">
                <a:solidFill>
                  <a:srgbClr val="003056"/>
                </a:solidFill>
                <a:latin typeface="Calibri"/>
                <a:cs typeface="Arial"/>
              </a:rPr>
              <a:t>over sequence of steps </a:t>
            </a:r>
            <a:r>
              <a:rPr lang="en-US" sz="1800" i="1">
                <a:solidFill>
                  <a:srgbClr val="003056"/>
                </a:solidFill>
                <a:latin typeface="Calibri"/>
                <a:cs typeface="Arial"/>
              </a:rPr>
              <a:t>T</a:t>
            </a:r>
            <a:endParaRPr lang="en-US" sz="1600" i="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-US" sz="1800">
                <a:solidFill>
                  <a:srgbClr val="003056"/>
                </a:solidFill>
                <a:latin typeface="Calibri"/>
                <a:cs typeface="Arial"/>
              </a:rPr>
              <a:t>At time step </a:t>
            </a:r>
            <a:r>
              <a:rPr lang="en-US" sz="1800" i="1">
                <a:solidFill>
                  <a:srgbClr val="003056"/>
                </a:solidFill>
                <a:latin typeface="Calibri"/>
                <a:cs typeface="Arial"/>
              </a:rPr>
              <a:t>t 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 T</a:t>
            </a:r>
            <a:r>
              <a:rPr lang="en-US" sz="1800">
                <a:solidFill>
                  <a:srgbClr val="003056"/>
                </a:solidFill>
                <a:latin typeface="Calibri"/>
                <a:cs typeface="Arial"/>
              </a:rPr>
              <a:t>, agent receives </a:t>
            </a:r>
            <a:r>
              <a:rPr lang="en-US" sz="1800" b="1">
                <a:solidFill>
                  <a:srgbClr val="003056"/>
                </a:solidFill>
                <a:latin typeface="Calibri"/>
                <a:cs typeface="Arial"/>
              </a:rPr>
              <a:t>observation </a:t>
            </a:r>
            <a:r>
              <a:rPr lang="en-US" sz="1800" i="1">
                <a:solidFill>
                  <a:srgbClr val="003056"/>
                </a:solidFill>
                <a:latin typeface="Calibri"/>
                <a:cs typeface="Arial"/>
              </a:rPr>
              <a:t>o 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 O </a:t>
            </a:r>
            <a:r>
              <a:rPr lang="en" sz="18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from environment, sends </a:t>
            </a:r>
            <a:r>
              <a:rPr lang="en" sz="1800" b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action 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</a:t>
            </a:r>
            <a:r>
              <a:rPr lang="en" sz="1800" i="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∈ A </a:t>
            </a:r>
            <a:r>
              <a:rPr lang="en" sz="18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 environment based on 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o --&gt; (o</a:t>
            </a:r>
            <a:r>
              <a:rPr lang="en" sz="1800" i="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1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a</a:t>
            </a:r>
            <a:r>
              <a:rPr lang="en" sz="1800" i="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1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), (o</a:t>
            </a:r>
            <a:r>
              <a:rPr lang="en" sz="1800" i="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2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a</a:t>
            </a:r>
            <a:r>
              <a:rPr lang="en" sz="1800" i="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2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), ...</a:t>
            </a:r>
            <a:endParaRPr lang="en-US" sz="1800" i="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Environment provides </a:t>
            </a:r>
            <a:r>
              <a:rPr lang="en" sz="1800" b="1">
                <a:solidFill>
                  <a:srgbClr val="003056"/>
                </a:solidFill>
                <a:latin typeface="Calibri"/>
                <a:cs typeface="Arial"/>
              </a:rPr>
              <a:t>scalar</a:t>
            </a:r>
            <a:r>
              <a:rPr lang="en" sz="1800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" sz="1800" b="1">
                <a:solidFill>
                  <a:srgbClr val="003056"/>
                </a:solidFill>
                <a:latin typeface="Calibri"/>
                <a:cs typeface="Arial"/>
              </a:rPr>
              <a:t>reward </a:t>
            </a:r>
            <a:r>
              <a:rPr lang="en" sz="1800" i="1" err="1">
                <a:solidFill>
                  <a:srgbClr val="003056"/>
                </a:solidFill>
                <a:latin typeface="Calibri"/>
                <a:cs typeface="Arial"/>
              </a:rPr>
              <a:t>y</a:t>
            </a:r>
            <a:r>
              <a:rPr lang="en" sz="1800" i="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" sz="1800" i="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= r(a</a:t>
            </a:r>
            <a:r>
              <a:rPr lang="en" sz="1800" i="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 </a:t>
            </a:r>
            <a:r>
              <a:rPr lang="en" sz="18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where 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</a:t>
            </a:r>
            <a:r>
              <a:rPr lang="en" sz="18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is </a:t>
            </a:r>
            <a:r>
              <a:rPr lang="en" sz="1800" b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reward function</a:t>
            </a:r>
            <a:endParaRPr lang="en" sz="1800" b="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1800" b="1">
                <a:solidFill>
                  <a:srgbClr val="003056"/>
                </a:solidFill>
                <a:latin typeface="Calibri"/>
                <a:cs typeface="Arial"/>
              </a:rPr>
              <a:t>Goal in RL: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 learn </a:t>
            </a:r>
            <a:r>
              <a:rPr lang="en" sz="1800" b="1">
                <a:solidFill>
                  <a:srgbClr val="003056"/>
                </a:solidFill>
                <a:latin typeface="Calibri"/>
                <a:cs typeface="Arial"/>
              </a:rPr>
              <a:t>policy</a:t>
            </a:r>
            <a:r>
              <a:rPr lang="en" sz="1800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" sz="1800" i="1">
                <a:solidFill>
                  <a:srgbClr val="003056"/>
                </a:solidFill>
                <a:latin typeface="Calibri"/>
                <a:cs typeface="Arial"/>
              </a:rPr>
              <a:t>p: O -&gt; A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 that predicts set of actions </a:t>
            </a:r>
            <a:r>
              <a:rPr lang="en" sz="1800" i="1">
                <a:solidFill>
                  <a:srgbClr val="003056"/>
                </a:solidFill>
                <a:latin typeface="Calibri"/>
                <a:cs typeface="Arial"/>
              </a:rPr>
              <a:t>a</a:t>
            </a:r>
            <a:r>
              <a:rPr lang="en" sz="1800" i="1" baseline="-25000">
                <a:solidFill>
                  <a:srgbClr val="003056"/>
                </a:solidFill>
                <a:latin typeface="Calibri"/>
                <a:cs typeface="Arial"/>
              </a:rPr>
              <a:t>i</a:t>
            </a:r>
            <a:r>
              <a:rPr lang="en" sz="1800" i="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" sz="1800" i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</a:t>
            </a:r>
            <a:r>
              <a:rPr lang="en" sz="1800" i="1">
                <a:solidFill>
                  <a:srgbClr val="003056"/>
                </a:solidFill>
                <a:latin typeface="Calibri"/>
                <a:cs typeface="Arial"/>
              </a:rPr>
              <a:t> A 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for </a:t>
            </a:r>
            <a:r>
              <a:rPr lang="en" sz="1800" i="1" err="1">
                <a:solidFill>
                  <a:srgbClr val="003056"/>
                </a:solidFill>
                <a:latin typeface="Calibri"/>
                <a:cs typeface="Arial"/>
              </a:rPr>
              <a:t>i</a:t>
            </a:r>
            <a:r>
              <a:rPr lang="en" sz="1800" i="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" sz="1800" i="1">
                <a:solidFill>
                  <a:srgbClr val="003056"/>
                </a:solidFill>
                <a:ea typeface="+mn-lt"/>
                <a:cs typeface="+mn-lt"/>
              </a:rPr>
              <a:t>∈ T</a:t>
            </a:r>
            <a:r>
              <a:rPr lang="en" sz="1800" dirty="0">
                <a:solidFill>
                  <a:srgbClr val="003056"/>
                </a:solidFill>
                <a:ea typeface="+mn-lt"/>
                <a:cs typeface="+mn-lt"/>
              </a:rPr>
              <a:t> 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that maximizes rewards over </a:t>
            </a:r>
            <a:r>
              <a:rPr lang="en" sz="1800" i="1">
                <a:solidFill>
                  <a:srgbClr val="003056"/>
                </a:solidFill>
                <a:latin typeface="Calibri"/>
                <a:cs typeface="Arial"/>
              </a:rPr>
              <a:t>T 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(in deep RL, </a:t>
            </a:r>
            <a:r>
              <a:rPr lang="en" sz="1800" i="1">
                <a:solidFill>
                  <a:srgbClr val="003056"/>
                </a:solidFill>
                <a:latin typeface="Calibri"/>
                <a:cs typeface="Arial"/>
              </a:rPr>
              <a:t>r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 and </a:t>
            </a:r>
            <a:r>
              <a:rPr lang="en" sz="1800" i="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 are deep networks)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2000" b="1">
                <a:solidFill>
                  <a:srgbClr val="003056"/>
                </a:solidFill>
                <a:latin typeface="Calibri"/>
                <a:cs typeface="Arial"/>
              </a:rPr>
              <a:t>RL </a:t>
            </a:r>
            <a:r>
              <a:rPr lang="en" sz="2000">
                <a:solidFill>
                  <a:srgbClr val="003056"/>
                </a:solidFill>
                <a:latin typeface="Calibri"/>
                <a:cs typeface="Arial"/>
              </a:rPr>
              <a:t>often </a:t>
            </a:r>
            <a:r>
              <a:rPr lang="en" sz="2000" b="1">
                <a:solidFill>
                  <a:srgbClr val="003056"/>
                </a:solidFill>
                <a:latin typeface="Calibri"/>
                <a:cs typeface="Arial"/>
              </a:rPr>
              <a:t>successful </a:t>
            </a:r>
            <a:r>
              <a:rPr lang="en" sz="2000">
                <a:solidFill>
                  <a:srgbClr val="003056"/>
                </a:solidFill>
                <a:latin typeface="Calibri"/>
                <a:cs typeface="Arial"/>
              </a:rPr>
              <a:t>in tasks where </a:t>
            </a:r>
            <a:r>
              <a:rPr lang="en" sz="2000" b="1">
                <a:solidFill>
                  <a:srgbClr val="003056"/>
                </a:solidFill>
                <a:latin typeface="Calibri"/>
                <a:cs typeface="Arial"/>
              </a:rPr>
              <a:t>reward function is specified well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E.g. playing video games (</a:t>
            </a:r>
            <a:r>
              <a:rPr lang="en" sz="1800" dirty="0">
                <a:solidFill>
                  <a:srgbClr val="003056"/>
                </a:solidFill>
                <a:latin typeface="Calibri"/>
                <a:cs typeface="Arial"/>
                <a:hlinkClick r:id="rId3"/>
              </a:rPr>
              <a:t>Mnih et al, 2015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)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2000">
                <a:solidFill>
                  <a:srgbClr val="003056"/>
                </a:solidFill>
                <a:latin typeface="Calibri"/>
                <a:cs typeface="Arial"/>
              </a:rPr>
              <a:t>For some tasks, </a:t>
            </a:r>
            <a:r>
              <a:rPr lang="en" sz="2000" b="1">
                <a:solidFill>
                  <a:srgbClr val="003056"/>
                </a:solidFill>
                <a:latin typeface="Calibri"/>
                <a:cs typeface="Arial"/>
              </a:rPr>
              <a:t>specifying the reward function can be challenging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E.g. train robot to do scrambled eggs (function for good scrambled eggs?)</a:t>
            </a:r>
          </a:p>
          <a:p>
            <a:pPr marL="285750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2000" b="1">
                <a:solidFill>
                  <a:srgbClr val="003056"/>
                </a:solidFill>
                <a:latin typeface="Calibri"/>
                <a:cs typeface="Arial"/>
              </a:rPr>
              <a:t>Idea: </a:t>
            </a:r>
            <a:r>
              <a:rPr lang="en" sz="2000">
                <a:solidFill>
                  <a:srgbClr val="003056"/>
                </a:solidFill>
                <a:latin typeface="Calibri"/>
                <a:cs typeface="Arial"/>
              </a:rPr>
              <a:t>allow humans to provide feedback on the agent's actions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r>
              <a:rPr lang="en" sz="1800" b="1">
                <a:solidFill>
                  <a:srgbClr val="003056"/>
                </a:solidFill>
                <a:latin typeface="Calibri"/>
                <a:cs typeface="Arial"/>
              </a:rPr>
              <a:t>Use </a:t>
            </a:r>
            <a:r>
              <a:rPr lang="en" sz="1800">
                <a:solidFill>
                  <a:srgbClr val="003056"/>
                </a:solidFill>
                <a:latin typeface="Calibri"/>
                <a:cs typeface="Arial"/>
              </a:rPr>
              <a:t>this </a:t>
            </a:r>
            <a:r>
              <a:rPr lang="en" sz="1800" b="1">
                <a:solidFill>
                  <a:srgbClr val="003056"/>
                </a:solidFill>
                <a:latin typeface="Calibri"/>
                <a:cs typeface="Arial"/>
              </a:rPr>
              <a:t>human feedback to define task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endParaRPr lang="en" sz="160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endParaRPr lang="en" sz="180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endParaRPr lang="en-US" sz="160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endParaRPr lang="en-US" sz="1800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</a:pPr>
            <a:endParaRPr lang="en-US" sz="1800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0827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Tuning </a:t>
            </a:r>
            <a:r>
              <a:rPr lang="de-DE" sz="3000" b="1" strike="noStrike" spc="-1" err="1">
                <a:solidFill>
                  <a:srgbClr val="003056"/>
                </a:solidFill>
                <a:latin typeface="Calibri"/>
              </a:rPr>
              <a:t>for</a:t>
            </a: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 Human Preference 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(2)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Christiano et al. 2017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proposed the following: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Learn reward function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r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O x A </a:t>
            </a:r>
            <a:r>
              <a:rPr lang="en-US" sz="1800" b="1" i="1" spc="-1">
                <a:solidFill>
                  <a:srgbClr val="003056"/>
                </a:solidFill>
                <a:latin typeface="Calibri"/>
              </a:rPr>
              <a:t>--&gt;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ℝ</a:t>
            </a:r>
            <a:r>
              <a:rPr lang="en-US" sz="1800" b="1" i="1" spc="-1" dirty="0">
                <a:solidFill>
                  <a:srgbClr val="003056"/>
                </a:solidFill>
                <a:latin typeface="Calibri"/>
              </a:rPr>
              <a:t> 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that provides rewards aligned with human preferences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while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simultaneously training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a successful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policy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Such a method should 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allow solving tasks defined by desired behavior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"By desired behavior" means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agents can be taught by non-experts 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no need to be a chef to provide feedback on scrambled eggs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This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approach now referred to as RLHF</a:t>
            </a:r>
            <a:endParaRPr lang="en-US" sz="24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:</a:t>
            </a:r>
            <a:r>
              <a:rPr lang="en-US" sz="18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recent work that used RLHF to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align</a:t>
            </a:r>
            <a:r>
              <a:rPr lang="en-US" sz="1800" b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LLMs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200" b="1" spc="-1">
              <a:solidFill>
                <a:srgbClr val="003056"/>
              </a:solidFill>
              <a:latin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b="1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62</a:t>
            </a:fld>
            <a:endParaRPr/>
          </a:p>
        </p:txBody>
      </p:sp>
      <p:pic>
        <p:nvPicPr>
          <p:cNvPr id="2" name="Picture 1" descr="A diagram of a program&#10;&#10;Description automatically generated">
            <a:extLst>
              <a:ext uri="{FF2B5EF4-FFF2-40B4-BE49-F238E27FC236}">
                <a16:creationId xmlns:a16="http://schemas.microsoft.com/office/drawing/2014/main" id="{55A99472-C54B-E8C9-C162-F094AD10C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872" y="2138499"/>
            <a:ext cx="5025171" cy="22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43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Ouyang et al.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(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2022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 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used RLHF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to</a:t>
            </a:r>
            <a:r>
              <a:rPr lang="en-US" sz="2000" b="1" spc="-1">
                <a:solidFill>
                  <a:srgbClr val="003056"/>
                </a:solidFill>
                <a:latin typeface="Calibri"/>
              </a:rPr>
              <a:t> fine-tune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GPT-3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to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follow broad class of written instructions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with outputs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aligned with human preference</a:t>
            </a:r>
            <a:endParaRPr lang="en-US" sz="20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Process broken into three steps (each covered in detail in next slides):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1.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Collect examples for several generative tasks,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 train supervised policy</a:t>
            </a:r>
          </a:p>
          <a:p>
            <a:pPr marL="1257300"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Example of task: </a:t>
            </a:r>
            <a:r>
              <a:rPr lang="en-US" sz="16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"List five ideas for how to regain enthusiasm for my career"</a:t>
            </a:r>
          </a:p>
          <a:p>
            <a:pPr marL="1257300"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b="1" spc="-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Human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 labelers </a:t>
            </a: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provided 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examples of desired outputs</a:t>
            </a:r>
            <a:endParaRPr lang="en-US">
              <a:solidFill>
                <a:srgbClr val="000000"/>
              </a:solidFill>
              <a:latin typeface="Calibri"/>
              <a:cs typeface="Arial"/>
            </a:endParaRPr>
          </a:p>
          <a:p>
            <a:pPr marL="1257300"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Recall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 policy</a:t>
            </a: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:</a:t>
            </a:r>
            <a:r>
              <a:rPr lang="en-US" sz="1600" b="1" spc="-1" dirty="0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function that provides actions given observations</a:t>
            </a:r>
          </a:p>
          <a:p>
            <a:pPr marL="1257300"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In the context of LLMs, actions are generating different text </a:t>
            </a:r>
          </a:p>
          <a:p>
            <a:pPr marL="1257300" lvl="2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So, 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"train policy" </a:t>
            </a: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here was 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fine-tuning GPT-3 with examples from labelers</a:t>
            </a:r>
            <a:endParaRPr lang="en-US">
              <a:solidFill>
                <a:srgbClr val="000000"/>
              </a:solidFill>
              <a:latin typeface="Calibri"/>
              <a:cs typeface="Arial"/>
            </a:endParaRP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2.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Collect comparison data,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train reward model to mimic humans</a:t>
            </a:r>
          </a:p>
          <a:p>
            <a:pPr marL="1314450" lvl="2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Given tasks and model from Step 1, 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generate multiple outputs for each task</a:t>
            </a:r>
            <a:endParaRPr lang="en-US"/>
          </a:p>
          <a:p>
            <a:pPr marL="1314450" lvl="2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Human labelers choose preferred output </a:t>
            </a: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from given pairs of outputs for tasks</a:t>
            </a:r>
          </a:p>
          <a:p>
            <a:pPr marL="1314450" lvl="2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Recall 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reward model</a:t>
            </a: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: function from observations and actions to reward</a:t>
            </a:r>
          </a:p>
          <a:p>
            <a:pPr marL="1314450" lvl="2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Reward model: </a:t>
            </a:r>
            <a:r>
              <a:rPr lang="en-US" sz="1600" b="1" spc="-1">
                <a:solidFill>
                  <a:srgbClr val="003056"/>
                </a:solidFill>
                <a:latin typeface="Calibri"/>
                <a:cs typeface="Arial"/>
              </a:rPr>
              <a:t>copy of Step 1 model that produces scalar </a:t>
            </a:r>
            <a:r>
              <a:rPr lang="en-US" sz="1600" spc="-1">
                <a:solidFill>
                  <a:srgbClr val="003056"/>
                </a:solidFill>
                <a:latin typeface="Calibri"/>
                <a:cs typeface="Arial"/>
              </a:rPr>
              <a:t>(LM head replaced)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3. Optimize policy (Step 1) against reward model (Step 2) using PPO</a:t>
            </a:r>
          </a:p>
          <a:p>
            <a:pPr marL="1314450" lvl="2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r>
              <a:rPr lang="en-US" sz="16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Proximal policy optimization (PPO) </a:t>
            </a:r>
            <a:r>
              <a:rPr lang="en-US" sz="16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(</a:t>
            </a:r>
            <a:r>
              <a:rPr lang="en-US" sz="1600" spc="-1" dirty="0">
                <a:solidFill>
                  <a:srgbClr val="003056"/>
                </a:solidFill>
                <a:latin typeface="Calibri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Schulman et al. 2017</a:t>
            </a:r>
            <a:r>
              <a:rPr lang="en-US" sz="16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)</a:t>
            </a:r>
            <a:r>
              <a:rPr lang="en-US" sz="16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: </a:t>
            </a:r>
            <a:r>
              <a:rPr lang="en-US" sz="16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common in RLHF</a:t>
            </a:r>
            <a:endParaRPr lang="en-US" sz="16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57250" lvl="1" algn="r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</a:pP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06482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Visualization of the three steps (image from </a:t>
            </a:r>
            <a:r>
              <a:rPr lang="en-US" sz="2000" spc="-1">
                <a:solidFill>
                  <a:srgbClr val="003056"/>
                </a:solidFill>
                <a:latin typeface="Calibri"/>
                <a:hlinkClick r:id="rId2"/>
              </a:rPr>
              <a:t>Ouyang et al. 2022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):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Let's look at each step in more detail.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64</a:t>
            </a:fld>
            <a:endParaRPr/>
          </a:p>
        </p:txBody>
      </p:sp>
      <p:pic>
        <p:nvPicPr>
          <p:cNvPr id="2" name="Picture 1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EA52B632-0C66-607A-9CDD-82E921B3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31" y="1459032"/>
            <a:ext cx="7104622" cy="415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818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: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Step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1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Step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1: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collect examples for several tasks, train supervised policy</a:t>
            </a:r>
          </a:p>
          <a:p>
            <a:pPr marL="80010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Tasks: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prompts and outputs generated by OpenAI users (volunteers)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Examples of such "text generation tasks": </a:t>
            </a:r>
            <a:endParaRPr lang="de-DE" sz="2000" b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"List five ideas for how to regain enthusiasm for my career"</a:t>
            </a:r>
            <a:endParaRPr lang="en-US" sz="1800">
              <a:solidFill>
                <a:srgbClr val="000000"/>
              </a:solidFill>
              <a:latin typeface="Calibri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"Write a short story where a bear goes to the beach, makes friends with a seal, and then returns home."</a:t>
            </a:r>
          </a:p>
          <a:p>
            <a:pPr>
              <a:lnSpc>
                <a:spcPct val="100000"/>
              </a:lnSpc>
              <a:spcBef>
                <a:spcPts val="438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Note that</a:t>
            </a:r>
            <a:r>
              <a:rPr lang="en-US" sz="2200" spc="-1">
                <a:solidFill>
                  <a:srgbClr val="003056"/>
                </a:solidFill>
                <a:latin typeface="Calibri"/>
                <a:cs typeface="Arial"/>
              </a:rPr>
              <a:t> t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his requires 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a lot of human effort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, thus very expensive!</a:t>
            </a:r>
            <a:endParaRPr lang="de-DE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This cost makes RLHF not easily accessible</a:t>
            </a:r>
          </a:p>
          <a:p>
            <a:pPr marL="285750" indent="-34290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Training policy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: fine-tuning (all of) GPT-3 on examples from humans</a:t>
            </a:r>
          </a:p>
          <a:p>
            <a:pPr marL="800100" lvl="1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Recall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policy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: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function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p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from actions to observations, i.e. </a:t>
            </a:r>
            <a:r>
              <a:rPr lang="en" sz="1800" i="1" spc="-1">
                <a:solidFill>
                  <a:srgbClr val="003056"/>
                </a:solidFill>
                <a:ea typeface="+mn-lt"/>
                <a:cs typeface="+mn-lt"/>
              </a:rPr>
              <a:t>p: O -&gt; A</a:t>
            </a: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endParaRPr lang="en-US" sz="16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65</a:t>
            </a:fld>
            <a:endParaRPr/>
          </a:p>
        </p:txBody>
      </p:sp>
      <p:pic>
        <p:nvPicPr>
          <p:cNvPr id="3" name="Grafik 7" descr="rlhf_tasks_1.png">
            <a:extLst>
              <a:ext uri="{FF2B5EF4-FFF2-40B4-BE49-F238E27FC236}">
                <a16:creationId xmlns:a16="http://schemas.microsoft.com/office/drawing/2014/main" id="{654841F6-BF1E-384F-7034-0C8D65C2F4F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4822" y="1817883"/>
            <a:ext cx="8208000" cy="1642680"/>
          </a:xfrm>
          <a:prstGeom prst="rect">
            <a:avLst/>
          </a:prstGeom>
          <a:ln w="0">
            <a:noFill/>
          </a:ln>
        </p:spPr>
      </p:pic>
      <p:sp>
        <p:nvSpPr>
          <p:cNvPr id="6" name="Textfeld 8">
            <a:extLst>
              <a:ext uri="{FF2B5EF4-FFF2-40B4-BE49-F238E27FC236}">
                <a16:creationId xmlns:a16="http://schemas.microsoft.com/office/drawing/2014/main" id="{E273BE66-19EF-852F-9725-A110C8714DBD}"/>
              </a:ext>
            </a:extLst>
          </p:cNvPr>
          <p:cNvSpPr/>
          <p:nvPr/>
        </p:nvSpPr>
        <p:spPr>
          <a:xfrm>
            <a:off x="7719125" y="3380795"/>
            <a:ext cx="14997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82798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: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Step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2 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Step 2: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 collect comparison data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, train reward model to mimic humans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Comparison data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: each example is a (</a:t>
            </a:r>
            <a:r>
              <a:rPr lang="en-US" sz="2000" spc="-1" err="1">
                <a:solidFill>
                  <a:srgbClr val="003056"/>
                </a:solidFill>
                <a:latin typeface="Calibri"/>
                <a:cs typeface="Arial"/>
              </a:rPr>
              <a:t>i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) task, (ii) pair of outputs 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(x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  <a:cs typeface="Arial"/>
              </a:rPr>
              <a:t>1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, x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  <a:cs typeface="Arial"/>
              </a:rPr>
              <a:t>2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)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for task from model tuned in Step 1, (iii) human-chosen preference 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x</a:t>
            </a:r>
            <a:r>
              <a:rPr lang="en-US" sz="2000" i="1" spc="-1" baseline="-25000">
                <a:solidFill>
                  <a:srgbClr val="003056"/>
                </a:solidFill>
                <a:latin typeface="Calibri"/>
                <a:cs typeface="Arial"/>
              </a:rPr>
              <a:t>i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Why do labelers choose from pairs of model outputs?</a:t>
            </a:r>
            <a:endParaRPr lang="en-US"/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Human-assigned rewards as ratings can be noisy, not calibrated (see image)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To avoid this, humans are typically asked for pairwise comparisons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E.g. which summary is best from the ones above, left or right?</a:t>
            </a:r>
            <a:endParaRPr lang="de-DE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360"/>
              </a:spcBef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Chosen summary gets label 1, other gets label 0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66</a:t>
            </a:fld>
            <a:endParaRPr/>
          </a:p>
        </p:txBody>
      </p:sp>
      <p:pic>
        <p:nvPicPr>
          <p:cNvPr id="4" name="Grafik 6" descr="reward_1.png">
            <a:extLst>
              <a:ext uri="{FF2B5EF4-FFF2-40B4-BE49-F238E27FC236}">
                <a16:creationId xmlns:a16="http://schemas.microsoft.com/office/drawing/2014/main" id="{47CFDDB5-15BB-D2CE-8CCE-F60B0E01AF2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3506" y="2228789"/>
            <a:ext cx="7727224" cy="1832335"/>
          </a:xfrm>
          <a:prstGeom prst="rect">
            <a:avLst/>
          </a:prstGeom>
          <a:ln w="0">
            <a:noFill/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1504FEF-51C1-BE9F-C725-63749BD2928B}"/>
              </a:ext>
            </a:extLst>
          </p:cNvPr>
          <p:cNvSpPr/>
          <p:nvPr/>
        </p:nvSpPr>
        <p:spPr>
          <a:xfrm>
            <a:off x="7406105" y="4056159"/>
            <a:ext cx="12855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Image source</a:t>
            </a:r>
            <a:endParaRPr lang="en-US" sz="1400" b="0" strike="noStrike" spc="-1">
              <a:latin typeface="Arial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8131637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: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Step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2 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Step 2: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collect comparison data,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train reward model to mimic humans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Recall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reward model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: function from actions and observations to reward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Reward is scalar number, i.e. reward model r is function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r: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 x O </a:t>
            </a:r>
            <a:r>
              <a:rPr lang="en-US" sz="18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--&gt;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ℝ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 </a:t>
            </a:r>
            <a:endParaRPr lang="en-US" sz="1600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Here: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reward model is copy of model tuned in Step 1</a:t>
            </a:r>
            <a:endParaRPr lang="en-US" sz="2000" b="1" i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But model from Step 1 is GPT-3, i.e. a language model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It does not produce a scalar, but a distribution over some vocabulary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What can we do?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They replaced language modeling head with projection to scalar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But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how do we train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this (beheaded) </a:t>
            </a: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reward model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?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(Averaged)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Cross-entropy loss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(CE), labels are 1 and 0 as needed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Specifically, given input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x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, model is trained to predict which output </a:t>
            </a:r>
            <a:r>
              <a:rPr lang="en-US" sz="1800" i="1" spc="-1">
                <a:solidFill>
                  <a:srgbClr val="003056"/>
                </a:solidFill>
                <a:latin typeface="Calibri"/>
                <a:cs typeface="Arial"/>
              </a:rPr>
              <a:t>y 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∈ {y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0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,y</a:t>
            </a:r>
            <a:r>
              <a:rPr lang="en-US" sz="1800" i="1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1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}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is preferred by humans</a:t>
            </a: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For reward model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cs typeface="Arial"/>
              </a:rPr>
              <a:t>r</a:t>
            </a:r>
            <a:r>
              <a:rPr lang="en-US" sz="1800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θ</a:t>
            </a:r>
            <a:r>
              <a:rPr lang="en-US" sz="1800" spc="-1" baseline="-25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parameterized by θ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and preferred output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 we have:</a:t>
            </a:r>
            <a:endParaRPr lang="en-US" sz="18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i="1" spc="-1" baseline="-25000">
              <a:solidFill>
                <a:srgbClr val="003056"/>
              </a:solidFill>
              <a:latin typeface="Calibri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098E9D-8E43-3980-77F4-2A8940160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7" y="5484070"/>
            <a:ext cx="7284846" cy="39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387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: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Step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3 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Step 3: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optimize policy (Step 1) against reward model (Step 2)</a:t>
            </a:r>
          </a:p>
          <a:p>
            <a:pPr marL="85725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 other words, improve model from Step 1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further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by training it to produce higher-quality outputs preferred by humans</a:t>
            </a:r>
          </a:p>
          <a:p>
            <a:pPr marL="85725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How do we know which outputs are preferred by humans? Reward model!</a:t>
            </a:r>
          </a:p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Policy gradient methods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: designed for estimating RL objectives</a:t>
            </a:r>
            <a:endParaRPr lang="en-US">
              <a:solidFill>
                <a:srgbClr val="000000"/>
              </a:solidFill>
              <a:latin typeface="DejaVu Sans"/>
              <a:ea typeface="Calibri"/>
              <a:cs typeface="Arial"/>
            </a:endParaRPr>
          </a:p>
          <a:p>
            <a:pPr marL="8572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Arial"/>
              </a:rPr>
              <a:t>InstructGPT relied on commonly used PPO method </a:t>
            </a:r>
            <a:endParaRPr lang="en-US" sz="18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Proximal policy optimization (PPO)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800" spc="-1" dirty="0">
                <a:solidFill>
                  <a:srgbClr val="003056"/>
                </a:solidFill>
                <a:latin typeface="Calibri"/>
                <a:ea typeface="Calibri"/>
                <a:cs typeface="Calibri"/>
                <a:hlinkClick r:id="rId2"/>
              </a:rPr>
              <a:t>Schulman et al. 2017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Details beyond our scope, e.g. value function, alternate optimization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Final RL objective:</a:t>
            </a:r>
            <a:endParaRPr lang="en-US" sz="20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Given reward model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en-US" sz="1800" spc="-1" baseline="-25000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θ</a:t>
            </a:r>
            <a:r>
              <a:rPr lang="en-US" sz="12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parameterized by θ and </a:t>
            </a:r>
            <a:r>
              <a:rPr lang="en-US" sz="1800" i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frozen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policy model 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π</a:t>
            </a:r>
            <a:r>
              <a:rPr lang="en-US" sz="1800" spc="-1" baseline="30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SFT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fine-tuned in Step 1, we tune model π</a:t>
            </a:r>
            <a:r>
              <a:rPr lang="en-US" sz="1800" spc="-1" baseline="30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RL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parameterized by φ and initialized as copy of π</a:t>
            </a:r>
            <a:r>
              <a:rPr lang="en-US" sz="1800" spc="-1" baseline="30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SFT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</a:t>
            </a:r>
            <a:r>
              <a:rPr lang="en-US" sz="1800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by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maximizing</a:t>
            </a:r>
            <a:r>
              <a:rPr lang="en-US" sz="1800" i="1" spc="-1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the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following objective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: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endParaRPr lang="en-US" sz="22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68</a:t>
            </a:fld>
            <a:endParaRPr/>
          </a:p>
        </p:txBody>
      </p:sp>
      <p:pic>
        <p:nvPicPr>
          <p:cNvPr id="3" name="Picture 2" descr="A group of math equations&#10;&#10;Description automatically generated">
            <a:extLst>
              <a:ext uri="{FF2B5EF4-FFF2-40B4-BE49-F238E27FC236}">
                <a16:creationId xmlns:a16="http://schemas.microsoft.com/office/drawing/2014/main" id="{7C28483C-8BCF-D5A9-3B4E-75F89737C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14617"/>
            <a:ext cx="6858000" cy="85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24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: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Step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3 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b="1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Note:</a:t>
            </a:r>
            <a:r>
              <a:rPr lang="en-US" sz="2000" b="1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model </a:t>
            </a: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π</a:t>
            </a:r>
            <a:r>
              <a:rPr lang="en-US" sz="2000" b="1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RL</a:t>
            </a:r>
            <a:r>
              <a:rPr lang="en-US" sz="1200" b="1" spc="-1" baseline="30000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regularized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so its predictions are not far from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π</a:t>
            </a:r>
            <a:r>
              <a:rPr lang="en-US" sz="2000" spc="-1" baseline="3000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SFT</a:t>
            </a:r>
            <a:endParaRPr lang="en-US" sz="2000" spc="-1">
              <a:solidFill>
                <a:srgbClr val="003056"/>
              </a:solidFill>
              <a:latin typeface="Arial"/>
              <a:ea typeface="Calibri"/>
              <a:cs typeface="Arial"/>
            </a:endParaRPr>
          </a:p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How? Subtraction term weighted by factor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β</a:t>
            </a:r>
            <a:endParaRPr lang="en-US">
              <a:latin typeface="Calibri"/>
            </a:endParaRP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Proportion between predictions produced by the model currently training, i.e. π</a:t>
            </a:r>
            <a:r>
              <a:rPr lang="en-US" sz="1800" spc="-1" baseline="30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RL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,</a:t>
            </a:r>
            <a:r>
              <a:rPr lang="en-US" sz="1800" spc="-1" baseline="30000" dirty="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and the π</a:t>
            </a:r>
            <a:r>
              <a:rPr lang="en-US" sz="1800" spc="-1" baseline="30000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SFT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model used to train the reward model in Step 2</a:t>
            </a:r>
            <a:endParaRPr lang="en-US" sz="1800" spc="-1" baseline="3000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I.e. prevents policy model currently training to differ too much from model fine-tuned in Step 1 (the LLM fine-tuned on human-created labels)</a:t>
            </a:r>
          </a:p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And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what is the term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weighted by factor γ?</a:t>
            </a:r>
            <a:endParaRPr lang="en-US" sz="22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Here, </a:t>
            </a:r>
            <a:r>
              <a:rPr lang="en-US" sz="1800" i="1" spc="-1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</a:t>
            </a:r>
            <a:r>
              <a:rPr lang="en-US" sz="1800" i="1" spc="-1" baseline="-25000" err="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pretrain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 is dataset used for pre-training original model (GPT-3)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This factor is designed to keep the model from differing too much from performance after pre-training and before fine-tuning in Step 1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I.e. we still want a LM at the end of the day</a:t>
            </a:r>
            <a:endParaRPr lang="en-US" sz="1800" spc="-1" dirty="0">
              <a:solidFill>
                <a:srgbClr val="003056"/>
              </a:solidFill>
              <a:latin typeface="Calibri"/>
              <a:ea typeface="+mn-lt"/>
              <a:cs typeface="+mn-lt"/>
            </a:endParaRP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  <a:ea typeface="+mn-lt"/>
              <a:cs typeface="+mn-l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69</a:t>
            </a:fld>
            <a:endParaRPr/>
          </a:p>
        </p:txBody>
      </p:sp>
      <p:pic>
        <p:nvPicPr>
          <p:cNvPr id="3" name="Picture 2" descr="A group of math equations&#10;&#10;Description automatically generated">
            <a:extLst>
              <a:ext uri="{FF2B5EF4-FFF2-40B4-BE49-F238E27FC236}">
                <a16:creationId xmlns:a16="http://schemas.microsoft.com/office/drawing/2014/main" id="{7C28483C-8BCF-D5A9-3B4E-75F89737C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85567"/>
            <a:ext cx="6858000" cy="85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42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InstructGPT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: All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Together</a:t>
            </a:r>
            <a:endParaRPr lang="de-DE" sz="3000" b="1" strike="noStrike" spc="-1" err="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ftr" idx="32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684000" y="1124030"/>
            <a:ext cx="7775640" cy="5005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000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There are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several models and training objectives used for </a:t>
            </a:r>
            <a:r>
              <a:rPr lang="en-US" sz="2000" b="1" spc="-1" err="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InstructGPT</a:t>
            </a:r>
            <a:endParaRPr lang="en-US" sz="2000" b="1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Policy model: 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 copy of GPT-3, so a LM, fine-tuned with CLM objective</a:t>
            </a:r>
            <a:endParaRPr lang="en-US" sz="16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Reward model: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copy of policy model (LM head replaced), trained on CE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Reinforced policy model:</a:t>
            </a: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tuned with RL objective and signal from reward model (which learned to mimic human preference)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Calibri"/>
              </a:rPr>
              <a:t>, our final LM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Both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policy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reward models trained with human-labelled data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Lots of data because goal was to be good at thousands of tasks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Thus, expensive to obtain, process required constant work with labelers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RLHF applied to LLMs </a:t>
            </a:r>
            <a:r>
              <a:rPr lang="en-US" sz="20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key step to enable construction of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ChatGPT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Note that ChatGPT is a product based on some LLM (or many?)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Initially based on LLMs from the GPT-3 generation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Currently (May 2025) based on variants of GPT-4 </a:t>
            </a:r>
          </a:p>
          <a:p>
            <a:pPr marL="40005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High cost of RLHF means ChatGPT levels of performance not easily accessible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Achieving this level of performance at a reduced cost is ongoing research</a:t>
            </a:r>
          </a:p>
          <a:p>
            <a:pPr marL="857250" lvl="1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600" spc="-1">
              <a:solidFill>
                <a:srgbClr val="00305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265299B-9937-44AA-9778-3BF12A0989F2}" type="slidenum">
              <a:t>70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8745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Reducing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Cost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RLHF (1)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Can the cost of tuning for human preference be decreased?</a:t>
            </a:r>
            <a:endParaRPr lang="de-DE" sz="20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Focus of current research efforts</a:t>
            </a:r>
          </a:p>
          <a:p>
            <a:pPr marL="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Direct Preference Optimization (DPO)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proposes such an approach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Proposed by </a:t>
            </a:r>
            <a:r>
              <a:rPr lang="en-US" sz="1800" spc="-1">
                <a:solidFill>
                  <a:srgbClr val="003056"/>
                </a:solidFill>
                <a:latin typeface="Calibri"/>
                <a:hlinkClick r:id="rId2"/>
              </a:rPr>
              <a:t>Rafailov et al. 2023</a:t>
            </a: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 err="1">
                <a:solidFill>
                  <a:srgbClr val="003056"/>
                </a:solidFill>
                <a:latin typeface="Calibri"/>
              </a:rPr>
              <a:t>Reparameterizes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 RLHF objective to avoid use of reward model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Derives closed-form solution, results in optimizing simple classification loss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endParaRPr lang="en-US" sz="1800" spc="-1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Trains on "preference pairs"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E.g. which of the two answers is best</a:t>
            </a:r>
            <a:endParaRPr lang="en-US" sz="1800"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C0A219-EC40-4B84-9044-9D58F990412B}" type="slidenum">
              <a:t>71</a:t>
            </a:fld>
            <a:endParaRPr/>
          </a:p>
        </p:txBody>
      </p:sp>
      <p:pic>
        <p:nvPicPr>
          <p:cNvPr id="2" name="Picture 1" descr="A diagram of a policy&#10;&#10;Description automatically generated">
            <a:extLst>
              <a:ext uri="{FF2B5EF4-FFF2-40B4-BE49-F238E27FC236}">
                <a16:creationId xmlns:a16="http://schemas.microsoft.com/office/drawing/2014/main" id="{08A1B88A-87D1-4781-17F4-147D36D51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8" y="3256439"/>
            <a:ext cx="7664264" cy="156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556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68C49-6D8F-0BD9-F5CA-AC9736F52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>
            <a:extLst>
              <a:ext uri="{FF2B5EF4-FFF2-40B4-BE49-F238E27FC236}">
                <a16:creationId xmlns:a16="http://schemas.microsoft.com/office/drawing/2014/main" id="{D98259D3-5F0B-CA26-0AE1-D824762B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Reducing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Cost</a:t>
            </a:r>
            <a:r>
              <a:rPr lang="de-DE" sz="3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de-DE" sz="3000" b="1" spc="-1" dirty="0" err="1">
                <a:solidFill>
                  <a:srgbClr val="003056"/>
                </a:solidFill>
                <a:latin typeface="Calibri"/>
              </a:rPr>
              <a:t>of</a:t>
            </a:r>
            <a:r>
              <a:rPr lang="de-DE" sz="3000" b="1" spc="-1">
                <a:solidFill>
                  <a:srgbClr val="003056"/>
                </a:solidFill>
                <a:latin typeface="Calibri"/>
              </a:rPr>
              <a:t> RLHF (2)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88" name="PlaceHolder 2">
            <a:extLst>
              <a:ext uri="{FF2B5EF4-FFF2-40B4-BE49-F238E27FC236}">
                <a16:creationId xmlns:a16="http://schemas.microsoft.com/office/drawing/2014/main" id="{FC4C5053-C0D1-6618-A7C9-37ADB65DA163}"/>
              </a:ext>
            </a:extLst>
          </p:cNvPr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9" name="PlaceHolder 3">
            <a:extLst>
              <a:ext uri="{FF2B5EF4-FFF2-40B4-BE49-F238E27FC236}">
                <a16:creationId xmlns:a16="http://schemas.microsoft.com/office/drawing/2014/main" id="{5FF0FAE1-49D6-D85B-33AB-660ED8BCBD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 dirty="0">
                <a:solidFill>
                  <a:srgbClr val="003056"/>
                </a:solidFill>
                <a:latin typeface="Calibri"/>
                <a:hlinkClick r:id="rId2"/>
              </a:rPr>
              <a:t>Bai et al. (2022)</a:t>
            </a:r>
            <a:r>
              <a:rPr lang="en-US" sz="2000" b="1" spc="-1" dirty="0">
                <a:solidFill>
                  <a:srgbClr val="003056"/>
                </a:solidFill>
                <a:latin typeface="Calibri"/>
              </a:rPr>
              <a:t> 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reduced human effort in LLM alignment to almost none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build as set of principles (a "constitution") so models can use to determine whether a response is appropriate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For Step 1, the LLM itself judged and improved on its own answers, then was fine-tuned on its improved responses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For Step 2, they used the fine-tuned model to choose better aligned responses from pairs of responses 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Step 3 was done as before.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They called this approach: </a:t>
            </a:r>
            <a:r>
              <a:rPr lang="en-US" sz="1800" b="1" spc="-1">
                <a:solidFill>
                  <a:srgbClr val="003056"/>
                </a:solidFill>
                <a:latin typeface="Calibri"/>
              </a:rPr>
              <a:t>Reinforcement Learning from AI Feedback</a:t>
            </a:r>
            <a:endParaRPr lang="en-US" sz="1800" b="1" spc="-1" dirty="0">
              <a:solidFill>
                <a:srgbClr val="003056"/>
              </a:solidFill>
              <a:latin typeface="Calibri"/>
            </a:endParaRPr>
          </a:p>
          <a:p>
            <a:pPr marL="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More recently, </a:t>
            </a:r>
            <a:r>
              <a:rPr lang="en-US" sz="2000" spc="-1" dirty="0">
                <a:solidFill>
                  <a:srgbClr val="003056"/>
                </a:solidFill>
                <a:latin typeface="Calibri"/>
                <a:hlinkClick r:id="rId3"/>
              </a:rPr>
              <a:t>DeepSeek-R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1 skipped the entire Step 1 (expensive human labeling)</a:t>
            </a: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Used out-of-the-box software tools as reward models to train their model for reasoning tasks that typically require multiple steps</a:t>
            </a:r>
          </a:p>
          <a:p>
            <a:pPr marL="800100" lvl="1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Out-of-the-box reward models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: code compiler, math solvers</a:t>
            </a:r>
            <a:endParaRPr lang="en-US" sz="18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7DE5ABB4-4626-815C-D0A3-4CB23ED19D7C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C0A219-EC40-4B84-9044-9D58F990412B}" type="slidenum">
              <a:t>72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0446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C560-C548-FD8E-2190-FE035032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>
            <a:extLst>
              <a:ext uri="{FF2B5EF4-FFF2-40B4-BE49-F238E27FC236}">
                <a16:creationId xmlns:a16="http://schemas.microsoft.com/office/drawing/2014/main" id="{305A2C89-09DF-246F-E65A-F5A3B8E6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Open Challenges with LLMs</a:t>
            </a:r>
            <a:endParaRPr lang="en-US"/>
          </a:p>
        </p:txBody>
      </p:sp>
      <p:sp>
        <p:nvSpPr>
          <p:cNvPr id="188" name="PlaceHolder 2">
            <a:extLst>
              <a:ext uri="{FF2B5EF4-FFF2-40B4-BE49-F238E27FC236}">
                <a16:creationId xmlns:a16="http://schemas.microsoft.com/office/drawing/2014/main" id="{0E42F1A6-8BCD-CAFB-E403-E37147232B8E}"/>
              </a:ext>
            </a:extLst>
          </p:cNvPr>
          <p:cNvSpPr>
            <a:spLocks noGrp="1"/>
          </p:cNvSpPr>
          <p:nvPr>
            <p:ph type="ftr" idx="34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89" name="PlaceHolder 3">
            <a:extLst>
              <a:ext uri="{FF2B5EF4-FFF2-40B4-BE49-F238E27FC236}">
                <a16:creationId xmlns:a16="http://schemas.microsoft.com/office/drawing/2014/main" id="{A1C18CAB-17CF-1C93-F27F-03B8FC964B6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Still several challenges ahead.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Hallucinations: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still severely hindering potential of these tools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Cost: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still highly expensive to train, but costs coming down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Reasoning: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still limited in their ability to reason, try different solutions, identify mistakes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Transparency: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still huge black boxes, neither user nor models can explain their output reliably</a:t>
            </a:r>
          </a:p>
          <a:p>
            <a:pPr marL="342900" indent="-342900">
              <a:lnSpc>
                <a:spcPct val="100000"/>
              </a:lnSpc>
              <a:spcBef>
                <a:spcPts val="36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Updated information:</a:t>
            </a:r>
            <a:r>
              <a:rPr lang="en-US" sz="2000" spc="-1">
                <a:solidFill>
                  <a:srgbClr val="003056"/>
                </a:solidFill>
                <a:latin typeface="Calibri"/>
              </a:rPr>
              <a:t> requires updating models with newer </a:t>
            </a:r>
            <a:r>
              <a:rPr lang="en-US" sz="2000" spc="-1" dirty="0">
                <a:solidFill>
                  <a:srgbClr val="003056"/>
                </a:solidFill>
                <a:latin typeface="Calibri"/>
              </a:rPr>
              <a:t>data</a:t>
            </a:r>
            <a:endParaRPr lang="en-US" sz="20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1227F9B-3C58-FD02-2660-5B3C09558D7E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9C0A219-EC40-4B84-9044-9D58F990412B}" type="slidenum">
              <a:t>73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89133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574488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pc="-1">
                <a:solidFill>
                  <a:srgbClr val="003056"/>
                </a:solidFill>
                <a:latin typeface="Calibri"/>
              </a:rPr>
              <a:t>Summary</a:t>
            </a:r>
            <a:endParaRPr lang="de-DE" sz="3000" b="1" strike="noStrike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ftr" idx="31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84000" y="1153070"/>
            <a:ext cx="7775640" cy="49148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</a:rPr>
              <a:t>Large Language Models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</a:rPr>
              <a:t>Size means new "abilities"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, e.g. ICL, following instructions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New "abilities" means new ways to use these models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Using LMs before: </a:t>
            </a: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Fine-tune pre-trained LM, e.g. BERT, requires expert knowledge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</a:rPr>
              <a:t>Using (L)LMs today:</a:t>
            </a:r>
            <a:endParaRPr lang="en-US">
              <a:latin typeface="Calibri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1800" spc="-1">
                <a:solidFill>
                  <a:srgbClr val="003056"/>
                </a:solidFill>
                <a:latin typeface="Calibri"/>
              </a:rPr>
              <a:t>Interaction via natural language, technology </a:t>
            </a:r>
            <a:r>
              <a:rPr lang="en-US" sz="1800" i="1" spc="-1">
                <a:solidFill>
                  <a:srgbClr val="003056"/>
                </a:solidFill>
                <a:latin typeface="Calibri"/>
              </a:rPr>
              <a:t>potentially </a:t>
            </a:r>
            <a:r>
              <a:rPr lang="en-US" sz="1800" spc="-1">
                <a:solidFill>
                  <a:srgbClr val="003056"/>
                </a:solidFill>
                <a:latin typeface="Calibri"/>
              </a:rPr>
              <a:t>democratized to end-users (ideally, if you can talk/write, you can use them)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,Sans-Serif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In-Context Learning (ICL):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given task description and/or examples, model performs task (no weight updates on model)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b="1" spc="-1">
                <a:solidFill>
                  <a:srgbClr val="003056"/>
                </a:solidFill>
                <a:latin typeface="Calibri"/>
                <a:cs typeface="Arial"/>
              </a:rPr>
              <a:t>Instruction tuning: 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tune models to perform </a:t>
            </a:r>
            <a:r>
              <a:rPr lang="en-US" sz="2000" i="1" spc="-1">
                <a:solidFill>
                  <a:srgbClr val="003056"/>
                </a:solidFill>
                <a:latin typeface="Calibri"/>
                <a:cs typeface="Arial"/>
              </a:rPr>
              <a:t>new</a:t>
            </a:r>
            <a:r>
              <a:rPr lang="en-US" sz="2000" spc="-1">
                <a:solidFill>
                  <a:srgbClr val="003056"/>
                </a:solidFill>
                <a:latin typeface="Calibri"/>
                <a:cs typeface="Arial"/>
              </a:rPr>
              <a:t> tasks given instructions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ICL and instruction tuning give rise to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prompting, prompt engineering</a:t>
            </a:r>
          </a:p>
          <a:p>
            <a:pPr marL="34290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Despite progress,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models generally not </a:t>
            </a:r>
            <a:r>
              <a:rPr lang="en-US" sz="2000" b="1" i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aligned </a:t>
            </a:r>
            <a:r>
              <a:rPr lang="en-US" sz="2000" b="1" spc="-1">
                <a:solidFill>
                  <a:srgbClr val="003056"/>
                </a:solidFill>
                <a:latin typeface="Calibri"/>
                <a:ea typeface="+mn-lt"/>
                <a:cs typeface="+mn-lt"/>
              </a:rPr>
              <a:t>to human preference</a:t>
            </a:r>
            <a:endParaRPr lang="en-US" sz="2000" b="1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Alignment 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methods </a:t>
            </a:r>
            <a:r>
              <a:rPr lang="en-US" sz="1800" b="1" spc="-1">
                <a:solidFill>
                  <a:srgbClr val="003056"/>
                </a:solidFill>
                <a:latin typeface="Calibri"/>
                <a:cs typeface="Arial"/>
              </a:rPr>
              <a:t>expensive</a:t>
            </a:r>
            <a:r>
              <a:rPr lang="en-US" sz="1800" spc="-1">
                <a:solidFill>
                  <a:srgbClr val="003056"/>
                </a:solidFill>
                <a:latin typeface="Calibri"/>
                <a:cs typeface="Arial"/>
              </a:rPr>
              <a:t> (reinforcement learning, human feedback)</a:t>
            </a:r>
            <a:endParaRPr lang="en-US" sz="1400" spc="-1">
              <a:solidFill>
                <a:srgbClr val="003056"/>
              </a:solidFill>
              <a:latin typeface="Calibri"/>
              <a:cs typeface="Arial"/>
            </a:endParaRPr>
          </a:p>
          <a:p>
            <a:pPr marL="800100" lvl="1" indent="-34290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1400" spc="-1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B375770-8B97-4210-92C0-B7AB3E1F40BE}" type="slidenum"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16856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84000" y="584640"/>
            <a:ext cx="6173640" cy="5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3000" b="1" strike="noStrike" spc="-1">
                <a:solidFill>
                  <a:srgbClr val="003056"/>
                </a:solidFill>
                <a:latin typeface="Calibri"/>
              </a:rPr>
              <a:t>References</a:t>
            </a:r>
            <a:endParaRPr lang="de-DE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ftr" idx="35"/>
          </p:nvPr>
        </p:nvSpPr>
        <p:spPr>
          <a:xfrm>
            <a:off x="684000" y="6134400"/>
            <a:ext cx="289512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buNone/>
              <a:defRPr lang="de-DE" sz="1200" b="0" strike="noStrike" spc="-1">
                <a:solidFill>
                  <a:srgbClr val="003056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de-DE" sz="1200" b="0" strike="noStrike" spc="-1">
                <a:solidFill>
                  <a:srgbClr val="003056"/>
                </a:solidFill>
                <a:latin typeface="Calibri"/>
              </a:rPr>
              <a:t>Dr. Daniel Ruffinelli - FSS 2026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84000" y="1143000"/>
            <a:ext cx="7775640" cy="467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3056"/>
                </a:solidFill>
                <a:latin typeface="Calibri"/>
              </a:rPr>
              <a:t>References linked in corresponding slides</a:t>
            </a:r>
            <a:endParaRPr lang="de-DE" sz="2000" b="0" strike="noStrike" spc="-1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None/>
            </a:pPr>
            <a:r>
              <a:rPr lang="en-US" sz="2400" spc="-1" dirty="0">
                <a:solidFill>
                  <a:srgbClr val="003056"/>
                </a:solidFill>
                <a:latin typeface="Calibri"/>
              </a:rPr>
              <a:t>                           </a:t>
            </a:r>
            <a:r>
              <a:rPr lang="en-GB" sz="2000" spc="-1" dirty="0">
                <a:solidFill>
                  <a:srgbClr val="003056"/>
                </a:solidFill>
                <a:latin typeface="Calibri"/>
                <a:ea typeface="Calibri"/>
                <a:cs typeface="Calibri"/>
              </a:rPr>
              <a:t>© University of Mannheim</a:t>
            </a:r>
            <a:endParaRPr lang="en-US" sz="24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3056"/>
              </a:buClr>
              <a:buFont typeface="Arial"/>
              <a:buChar char="•"/>
            </a:pPr>
            <a:endParaRPr lang="en-US" sz="2000" spc="-1" dirty="0">
              <a:solidFill>
                <a:srgbClr val="00305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CB2625B-E8AC-4499-80D0-30520607F22A}" type="slidenum">
              <a:t>75</a:t>
            </a:fld>
            <a:endParaRPr/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D3CC36C4-A8D1-EA38-DFC8-D2D9105F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96" y="1646425"/>
            <a:ext cx="200025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75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77" baseType="lpstr">
      <vt:lpstr>Office Theme</vt:lpstr>
      <vt:lpstr>Office Theme</vt:lpstr>
      <vt:lpstr>Advanced Methods in Text Analytics</vt:lpstr>
      <vt:lpstr>Large Language Models (1)</vt:lpstr>
      <vt:lpstr>Large Language Models (2)</vt:lpstr>
      <vt:lpstr>Large Language Models (3)</vt:lpstr>
      <vt:lpstr>Outline</vt:lpstr>
      <vt:lpstr>PowerPoint Presentation</vt:lpstr>
      <vt:lpstr>Emergent Abilities</vt:lpstr>
      <vt:lpstr>Few-Shot Tasks (1)</vt:lpstr>
      <vt:lpstr>Few-Shot Tasks (2)</vt:lpstr>
      <vt:lpstr>In-Context Learning (1)</vt:lpstr>
      <vt:lpstr>In-Context Learning (2)</vt:lpstr>
      <vt:lpstr>In-Context Learning (3)</vt:lpstr>
      <vt:lpstr>In-Context Learning (4)</vt:lpstr>
      <vt:lpstr>Why does ICL Work? (1)</vt:lpstr>
      <vt:lpstr>Why does ICL Work? (2)</vt:lpstr>
      <vt:lpstr>Prompting (1)</vt:lpstr>
      <vt:lpstr>Prompting (2)</vt:lpstr>
      <vt:lpstr>PowerPoint Presentation</vt:lpstr>
      <vt:lpstr>LLMs are Expensive (1)</vt:lpstr>
      <vt:lpstr>LLMs are Expensive (2)</vt:lpstr>
      <vt:lpstr>Architectures</vt:lpstr>
      <vt:lpstr>Training Objectives</vt:lpstr>
      <vt:lpstr>The GPT Series (1)</vt:lpstr>
      <vt:lpstr>The GPT Series (2)</vt:lpstr>
      <vt:lpstr>The GPT Series (3)</vt:lpstr>
      <vt:lpstr>The LLaMA Series (1)</vt:lpstr>
      <vt:lpstr>The LLaMA Series (2)</vt:lpstr>
      <vt:lpstr>The LLaMA Series (3)</vt:lpstr>
      <vt:lpstr>PreNorm vs PostNorm</vt:lpstr>
      <vt:lpstr>RMSNorm</vt:lpstr>
      <vt:lpstr>SwiGLU Activations</vt:lpstr>
      <vt:lpstr>Model Distillation (1)</vt:lpstr>
      <vt:lpstr>Model Distillation (2)</vt:lpstr>
      <vt:lpstr>Sparse vs Dense Models </vt:lpstr>
      <vt:lpstr>Mixture of Experts (1)</vt:lpstr>
      <vt:lpstr>Mixture of Experts (2)</vt:lpstr>
      <vt:lpstr>Mixture of Experts (3)</vt:lpstr>
      <vt:lpstr>Training MoE</vt:lpstr>
      <vt:lpstr>MoE in Transformers</vt:lpstr>
      <vt:lpstr>MoE in LLMs</vt:lpstr>
      <vt:lpstr>Context Window (1)</vt:lpstr>
      <vt:lpstr>Context Window (2)</vt:lpstr>
      <vt:lpstr>Context Window (3)</vt:lpstr>
      <vt:lpstr>Context Window (4)</vt:lpstr>
      <vt:lpstr>Scaling Laws (1)</vt:lpstr>
      <vt:lpstr>Scaling Laws (2)</vt:lpstr>
      <vt:lpstr>Scaling Laws (3)</vt:lpstr>
      <vt:lpstr>Scaling Laws (4)</vt:lpstr>
      <vt:lpstr>Pre-Training vs Fine-Tuning</vt:lpstr>
      <vt:lpstr>PowerPoint Presentation</vt:lpstr>
      <vt:lpstr>LLMs as Useful Tools (1)</vt:lpstr>
      <vt:lpstr>LLMs as Useful Tools (2)</vt:lpstr>
      <vt:lpstr>LLMs as Useful Tools (3)</vt:lpstr>
      <vt:lpstr>Instruction Tuning (1)</vt:lpstr>
      <vt:lpstr>Instruction Tuning (2)</vt:lpstr>
      <vt:lpstr>Instruction Tuning (3)</vt:lpstr>
      <vt:lpstr>Instruction Tuning vs Fine-Tuning (1)</vt:lpstr>
      <vt:lpstr>Instruction Tuning vs Fine-Tuning (2)</vt:lpstr>
      <vt:lpstr>Instruction Tuning vs ICL</vt:lpstr>
      <vt:lpstr>Limitations of Instruction Tuning </vt:lpstr>
      <vt:lpstr>Tuning for Human Preference (1)</vt:lpstr>
      <vt:lpstr>Tuning for Human Preference (2)</vt:lpstr>
      <vt:lpstr>InstructGPT (1)</vt:lpstr>
      <vt:lpstr>InstructGPT (2)</vt:lpstr>
      <vt:lpstr>InstructGPT: Step 1</vt:lpstr>
      <vt:lpstr>InstructGPT: Step 2 (1)</vt:lpstr>
      <vt:lpstr>InstructGPT: Step 2 (2)</vt:lpstr>
      <vt:lpstr>InstructGPT: Step 3 (1)</vt:lpstr>
      <vt:lpstr>InstructGPT: Step 3 (2)</vt:lpstr>
      <vt:lpstr>InstructGPT: All Together</vt:lpstr>
      <vt:lpstr>Reducing Cost of RLHF (1)</vt:lpstr>
      <vt:lpstr>Reducing Cost of RLHF (2)</vt:lpstr>
      <vt:lpstr>Open Challenges with LLMs</vt:lpstr>
      <vt:lpstr>Summary</vt:lpstr>
      <vt:lpstr>References</vt:lpstr>
    </vt:vector>
  </TitlesOfParts>
  <Company>Uni-Mannheim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Koschorreck, Maartje</dc:creator>
  <dc:description/>
  <cp:revision>513</cp:revision>
  <dcterms:created xsi:type="dcterms:W3CDTF">2018-06-20T08:14:01Z</dcterms:created>
  <dcterms:modified xsi:type="dcterms:W3CDTF">2026-04-27T18:25:12Z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29</vt:i4>
  </property>
</Properties>
</file>