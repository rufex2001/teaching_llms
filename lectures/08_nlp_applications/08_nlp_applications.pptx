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74" r:id="rId7"/>
    <p:sldId id="275" r:id="rId8"/>
    <p:sldId id="281" r:id="rId9"/>
    <p:sldId id="277" r:id="rId10"/>
    <p:sldId id="276" r:id="rId11"/>
    <p:sldId id="279" r:id="rId12"/>
    <p:sldId id="280" r:id="rId13"/>
    <p:sldId id="290" r:id="rId14"/>
    <p:sldId id="287" r:id="rId15"/>
    <p:sldId id="282" r:id="rId16"/>
    <p:sldId id="291" r:id="rId17"/>
    <p:sldId id="295" r:id="rId18"/>
    <p:sldId id="294" r:id="rId19"/>
    <p:sldId id="296" r:id="rId20"/>
    <p:sldId id="278" r:id="rId21"/>
    <p:sldId id="284" r:id="rId22"/>
    <p:sldId id="285" r:id="rId23"/>
    <p:sldId id="283" r:id="rId24"/>
    <p:sldId id="286" r:id="rId25"/>
    <p:sldId id="292" r:id="rId26"/>
    <p:sldId id="293" r:id="rId27"/>
    <p:sldId id="299" r:id="rId28"/>
    <p:sldId id="297" r:id="rId29"/>
    <p:sldId id="273" r:id="rId30"/>
    <p:sldId id="260" r:id="rId31"/>
    <p:sldId id="261" r:id="rId32"/>
    <p:sldId id="264" r:id="rId33"/>
    <p:sldId id="265" r:id="rId34"/>
    <p:sldId id="267" r:id="rId35"/>
    <p:sldId id="269" r:id="rId36"/>
    <p:sldId id="270" r:id="rId37"/>
    <p:sldId id="271" r:id="rId38"/>
    <p:sldId id="298" r:id="rId39"/>
    <p:sldId id="272" r:id="rId4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4F28D-C984-AB2B-61A7-1138376D0C4E}" v="57" dt="2025-07-22T14:39:07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812DD86-FA50-4844-8D7F-A2EF1CF3D83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32AC1E-A0FA-474F-BA50-EC1B9DD4C4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BCEF1B4-FE1B-4A0C-A36F-15885AA1589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79F7E57-3311-438C-8A32-7D7883C1C94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F29FF0F-DC4F-41FF-B4BD-B8B0FFEC6DE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C99F61C-0EA4-4E96-9909-D1F2BAF7832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E098624-7F38-4A5A-A40A-D4CF933F4AE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ED2161B-68DC-4B7A-BE4F-870017DF714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40DCC89-5640-4868-BBC7-16A700CC7A8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0B885F7-CC3F-4FE6-9B97-F55B40D4D73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49440BF-0098-440E-83FF-99390D8EF3F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55F39DA-FDEA-46E6-8C91-8815C787289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19E4CCB-DEE2-4579-8DDD-1032A00CD72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9AE099A-4E0C-425C-8728-B4605D0025A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7B1BE96-2BC9-47AE-B21C-5CCDB0131DA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DD61564-1F62-4BC2-A8B6-C4147A5B96E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4672AF2-4B14-4B5C-BB17-1B9ABD2155E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3101B51-B569-41A1-B48E-90498F752B3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AB03EB-968A-4CD1-B91D-924E8AFD2E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FB26895-37DF-482C-8C6A-3A38539231E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4A138AB-D06B-4C8A-B4C3-82C5560FE49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0539A0-D1E7-4E9C-8518-6CBFC53E4F3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3AE4BAA-30B1-4175-9C7F-456910E8CBD9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83DB11E-85EC-4BA0-8EF6-4729EFBF941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8AA2392-9CB2-4D38-822B-01954E69E54F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C2CB21-BA05-4E8E-AF2A-89AE39855F7D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localmaxradio.com/questions/what-is-a-probability-simplex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shyam.blog/posts/beyond-self-attention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606.06031" TargetMode="External"/><Relationship Id="rId2" Type="http://schemas.openxmlformats.org/officeDocument/2006/relationships/hyperlink" Target="https://arxiv.org/pdf/2005.14165" TargetMode="Externa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402.13213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001.07676" TargetMode="Externa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aclanthology.org/2023.acl-long.107.pdf" TargetMode="External"/><Relationship Id="rId3" Type="http://schemas.openxmlformats.org/officeDocument/2006/relationships/hyperlink" Target="https://openreview.net/pdf?id=7W3GLNImfS" TargetMode="External"/><Relationship Id="rId7" Type="http://schemas.openxmlformats.org/officeDocument/2006/relationships/hyperlink" Target="https://aclanthology.org/2021.acl-long.566.pdf" TargetMode="External"/><Relationship Id="rId2" Type="http://schemas.openxmlformats.org/officeDocument/2006/relationships/hyperlink" Target="https://arxiv.org/pdf/2405.14782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lp.stanford.edu/pubs/rajpurkar2016squad.pdf" TargetMode="External"/><Relationship Id="rId5" Type="http://schemas.openxmlformats.org/officeDocument/2006/relationships/hyperlink" Target="https://aclanthology.org/P02-1040.pdf" TargetMode="External"/><Relationship Id="rId4" Type="http://schemas.openxmlformats.org/officeDocument/2006/relationships/hyperlink" Target="https://aclanthology.org/W04-1013.pdf" TargetMode="External"/><Relationship Id="rId9" Type="http://schemas.openxmlformats.org/officeDocument/2006/relationships/hyperlink" Target="https://aclanthology.org/2024.starsem-1.6.pdf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nas.org/doi/epub/10.1073/pnas.2305016120" TargetMode="External"/><Relationship Id="rId2" Type="http://schemas.openxmlformats.org/officeDocument/2006/relationships/hyperlink" Target="https://arxiv.org/pdf/2306.05685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302.07736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4.09675" TargetMode="External"/><Relationship Id="rId2" Type="http://schemas.openxmlformats.org/officeDocument/2006/relationships/hyperlink" Target="https://openreview.net/pdf?id=p40XRfBX96" TargetMode="Externa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uder.io/nlp-benchmarking/" TargetMode="Externa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10.11856v3" TargetMode="External"/><Relationship Id="rId2" Type="http://schemas.openxmlformats.org/officeDocument/2006/relationships/hyperlink" Target="https://arxiv.org/pdf/1606.05250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9.05053" TargetMode="External"/><Relationship Id="rId2" Type="http://schemas.openxmlformats.org/officeDocument/2006/relationships/hyperlink" Target="https://nlp.stanford.edu/pubs/snli_paper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pdf/2009.03300" TargetMode="Externa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rxiv.org/pdf/2107.03374" TargetMode="Externa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1.naacl-main.324.pdf" TargetMode="External"/><Relationship Id="rId2" Type="http://schemas.openxmlformats.org/officeDocument/2006/relationships/hyperlink" Target="https://aclanthology.org/2023.findings-acl.202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12.16337" TargetMode="External"/><Relationship Id="rId2" Type="http://schemas.openxmlformats.org/officeDocument/2006/relationships/hyperlink" Target="https://arxiv.org/pdf/2310.10628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404.18824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7.11412" TargetMode="External"/><Relationship Id="rId2" Type="http://schemas.openxmlformats.org/officeDocument/2006/relationships/hyperlink" Target="https://aclanthology.org/2023.emnlp-main.258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George_E._P._Box" TargetMode="Externa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008.12348.pdf" TargetMode="Externa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uder.io/the-evolving-landscape-of-llm-evaluation/" TargetMode="External"/><Relationship Id="rId2" Type="http://schemas.openxmlformats.org/officeDocument/2006/relationships/hyperlink" Target="https://blog.eleuther.ai/multiple-choice-normalization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611712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NLP Applications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923C96F-0186-49ED-B6A1-A58D638170E7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The Story So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Far</a:t>
            </a:r>
            <a:endParaRPr lang="de-DE" sz="3000" b="1" strike="noStrike" spc="-1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This course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was focused on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the latest </a:t>
            </a: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methods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for NLP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ML and DL (fundamental for understanding NLP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methods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Recap of basic NLP (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n-gram language models)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FNNs for language modeling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Static Word Embeddings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(specifically, the skip-gram approach)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RNNs for language modeling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 Transformer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Architecture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Transfer Learning (pre-training + fine-tuning)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Tokenization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Large Language Models (LLMs)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Multilingual NLP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(next lecture)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this lecture: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common applications of these methods</a:t>
            </a:r>
            <a:endParaRPr lang="en-US" sz="2000" b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how LLMs are evaluated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on specific NLP tasks, e.g. natural language inference (NLI), natural language understanding (NLU),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Real-world NLP applications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e.g. machine translation, 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ialogue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systems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4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LLM Evaluation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Real-World Applications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2E7988-7229-4F1A-B3B1-DD653AA384E8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LLM Evaluation</a:t>
            </a:r>
            <a:endParaRPr lang="en-US" sz="36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6355934-2A0D-40CE-AF77-8E0B7B5FD075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the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focus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on LLMs?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this section: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methods for evaluating LLMs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why LLMs, specifically?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Recall LLM lecture: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Most NLP tasks today solved with pre-trained language models (LMs)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Pre-trained LMs: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models like BERT (2018), or LLMs like LlaMA-3 (2023)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How to use BERT? Already covered in Transfer Learning lecture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But how to evaluate/use LLMs still unclear/challenging in most settings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Why?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Virtually all LLMs are causal language models (CLMs)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Recall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CLMs: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LM trained to predict next word in input token sequence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many NLP tasks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are evaluated as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classification tasks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sentiment analysis is usually the task of predicting one of three labels: "positive", "negative" or "neutral"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Important question: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how to use a CLM for classification tasks?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Henceforth, acronyms LLM and CLMs used interchangeably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85645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LMs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as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Functions </a:t>
            </a:r>
            <a:endParaRPr lang="en-US"/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At the core, a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LM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is a (learned)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f: T --&gt; P</a:t>
            </a:r>
            <a:endParaRPr lang="en-US" sz="20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i="1" spc="-1">
                <a:solidFill>
                  <a:srgbClr val="003056"/>
                </a:solidFill>
                <a:latin typeface="Calibri"/>
                <a:cs typeface="Arial"/>
              </a:rPr>
              <a:t>T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is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set of all possible sequences of words (i.e. tokens) from vocabulary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V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of one (or more) natural languages, e.g. English, German, etc.</a:t>
            </a:r>
            <a:endParaRPr lang="en-US" sz="1800">
              <a:solidFill>
                <a:srgbClr val="000000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is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  <a:hlinkClick r:id="rId2"/>
              </a:rPr>
              <a:t>probability simplex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of size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|V|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In other words,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 = f(t)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for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T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and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 ∈ P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provides a probability distribution over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V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i.e. LLMs output a probability value for every word in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V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Visually, for any </a:t>
            </a:r>
            <a:r>
              <a:rPr lang="en-US" sz="1800" i="1" spc="-1">
                <a:solidFill>
                  <a:srgbClr val="003056"/>
                </a:solidFill>
                <a:ea typeface="+mn-lt"/>
                <a:cs typeface="+mn-lt"/>
              </a:rPr>
              <a:t>t ∈ T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with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 = {a, b, … </a:t>
            </a:r>
            <a:r>
              <a:rPr lang="en-US" sz="20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abalon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… , elephant, … , Ente...}, f(t)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provides such a distribution:</a:t>
            </a: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6</a:t>
            </a:fld>
            <a:endParaRPr/>
          </a:p>
        </p:txBody>
      </p:sp>
      <p:pic>
        <p:nvPicPr>
          <p:cNvPr id="2" name="Picture 1" descr="A graph with numbers and letters&#10;&#10;Description automatically generated">
            <a:extLst>
              <a:ext uri="{FF2B5EF4-FFF2-40B4-BE49-F238E27FC236}">
                <a16:creationId xmlns:a16="http://schemas.microsoft.com/office/drawing/2014/main" id="{B532D3F0-624A-36A6-ABB7-0F5D3E188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278" y="3730282"/>
            <a:ext cx="6250930" cy="23663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9A3C5-6989-0C0C-7AC5-1500562652F1}"/>
              </a:ext>
            </a:extLst>
          </p:cNvPr>
          <p:cNvSpPr txBox="1"/>
          <p:nvPr/>
        </p:nvSpPr>
        <p:spPr>
          <a:xfrm>
            <a:off x="6364755" y="6099162"/>
            <a:ext cx="133745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4"/>
              </a:rPr>
              <a:t>Image source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84540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Interpreting LLM </a:t>
            </a:r>
            <a:r>
              <a:rPr lang="de-DE" sz="3000" b="1" spc="-1">
                <a:solidFill>
                  <a:srgbClr val="003056"/>
                </a:solidFill>
                <a:latin typeface="Calibri"/>
                <a:cs typeface="Arial"/>
              </a:rPr>
              <a:t>Outputs</a:t>
            </a:r>
            <a:endParaRPr lang="de-DE" sz="3000" b="1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794" y="1143000"/>
            <a:ext cx="7775640" cy="499476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Function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f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does not say anything about:</a:t>
            </a:r>
            <a:endParaRPr lang="en-US"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1. How to interpret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 distributions in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2. How to use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 distributions in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1. How do we typically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interpret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a distribution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 ∈ 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given by LLMs?</a:t>
            </a:r>
            <a:endParaRPr lang="en-US" sz="2000" b="1" i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= f(t)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is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conditional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probability that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cs typeface="Arial"/>
              </a:rPr>
              <a:t>i-th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word in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V is next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given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 t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∈ T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The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training process of CLMs allows us to interpret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Models "forced" to adjust parameters so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next words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get high probabilities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Different training objective --&gt; different interpretation of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E.g.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in masked language models (MLMs),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= f(t)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is conditional probability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i-th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word is "surrounded by" given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 ∈ T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(recall that we don’t use MLMs like that, we use them for their contextualized representations)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Similarly, we could train an "inverse CLM" if we construct the corresponding training examples using self-supervision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Interpreting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is about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doing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inference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with the model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One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use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of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would be for making predictions (inference != prediction)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5073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Using LLM Outputs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2926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2. How do we typically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use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 distribution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P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given by LLMs?</a:t>
            </a:r>
            <a:endParaRPr lang="en-US" sz="2000" b="1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Most common application: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autoregressive text generation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Recall autoregressive generation: each word in generated sequence of words is predicted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conditioned on previous words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in sequence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It's a natural application given the training process in CLMs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How do we use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for autoregressive text generation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?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Given initial prompt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(starting sequence of words),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sample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next word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w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from output distribution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given by LLM (e.g. using beam search)</a:t>
            </a:r>
            <a:endParaRPr lang="en-US"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Set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 = t + w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then repeat step above until stopping criterion is satisfied</a:t>
            </a:r>
            <a:endParaRPr lang="en-US">
              <a:solidFill>
                <a:srgbClr val="000000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Different sampling methods (e.g. top-k) show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we can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use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 differently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Note we can use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for other applications</a:t>
            </a:r>
            <a:endParaRPr lang="en-US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E.g. compute probability of some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T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using the chain rule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That is,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p(t) = 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|prompt)p(t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2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|prompt,t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)…p(t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|prompt,t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,…,t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n-1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Important question revisited: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how to use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for classification tasks?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Let's see how GPT-3 did it (arguably the first LLM)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24240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991056" cy="54851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Evaluating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GPT-3 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Classification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3875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GPT-3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showed increasingly more ICL ability as model got larger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ICL (in-context learning):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given prompt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with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text instructions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for a task and/or corresponding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examples of the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LLM is able to "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solve"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task without weight updates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 model was evaluated on two kinds of tasks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Free-form completion: 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output is any text, e.g. translation (discussed later)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Multiple choice completion: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only limited set of output tokens are meaningful, e.g. the set of labels in classification tasks (discussed now)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Example of (a very general) classification task: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LAMBADA dataset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Task: complete last word in given sequence, i.e. language modeling task</a:t>
            </a:r>
            <a:endParaRPr lang="en-US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Correct answer "far" from missing slot, it tests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long-range dependencies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How was this task done with ICL? Example from GPT-3 authors: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"Alice was friends with Bob. Alice went to visit her friend ___. --&gt; Bob.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George bought some baseball equipment, a ball, a glove and a ___. --&gt;  "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Which sampling method would be suitable for prediction?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10230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de-DE" sz="3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Per-Token Likelihood (1)</a:t>
            </a:r>
            <a:endParaRPr lang="de-DE" sz="3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de-DE" sz="3000" b="1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GPT-3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was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evaluated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classification tasks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greedy sampling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they would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compare log-probability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of all tokens in each label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Note that even a single label may take more than one token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word "positive" may use single token, whereas word "neutral" may use two: "neu" and "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tral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 (imagine "positive" more common than "neutral")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If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compare log-probabilities across labels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with different numbers of tokens,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may be biased by token length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some labels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Thus, GPT-3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evaluation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normalized log-probabilities by number of tokens</a:t>
            </a:r>
            <a:endParaRPr lang="en-US" sz="1800" b="1">
              <a:solidFill>
                <a:srgbClr val="000000"/>
              </a:solidFill>
              <a:latin typeface="Arial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Concretely, the </a:t>
            </a:r>
            <a:r>
              <a:rPr lang="en-US" sz="2000" b="1" spc="-1">
                <a:solidFill>
                  <a:srgbClr val="FF0000"/>
                </a:solidFill>
                <a:latin typeface="Calibri"/>
              </a:rPr>
              <a:t>normalized </a:t>
            </a:r>
            <a:r>
              <a:rPr lang="en-US" sz="2000" b="1" i="1" spc="-1">
                <a:solidFill>
                  <a:srgbClr val="FF0000"/>
                </a:solidFill>
                <a:latin typeface="Calibri"/>
              </a:rPr>
              <a:t>prediction score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for prediction sequence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i="1" spc="-1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i="1" spc="-1" baseline="-25000" err="1">
                <a:solidFill>
                  <a:srgbClr val="003056"/>
                </a:solidFill>
                <a:latin typeface="Calibri"/>
              </a:rPr>
              <a:t>m:n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given input sequence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1:m-1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is given by: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>
                <a:solidFill>
                  <a:srgbClr val="003056"/>
                </a:solidFill>
                <a:latin typeface="Calibri"/>
              </a:rPr>
              <a:t>s(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m:n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 = (1 / (n-m))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*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=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log 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|t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1:i-1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 </a:t>
            </a:r>
            <a:endParaRPr lang="en-US" sz="1800" i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That is, these are the probabilities from output distribution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given by a CLM, but normalized by length (in number of tokens) of output sequence</a:t>
            </a:r>
            <a:endParaRPr lang="en-US" sz="1800" i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Let's visualize this!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5514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de-DE" sz="3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Per-Token Likelihood (2)</a:t>
            </a:r>
            <a:endParaRPr lang="de-DE" sz="3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Say LLM-1 that tokenizes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two labels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as follows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Label "positive" in 1 token, label "neutral" in 2 tokens: "neu" and "tral"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Imagine the following </a:t>
            </a:r>
            <a:r>
              <a:rPr lang="en-US" sz="2000" b="1" spc="-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unnormalized prediction scores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for each label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That is,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m:n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= Σ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i=m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log 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|t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1:i-1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 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("positive") = log p("positive"|&lt;s&gt;) = 0.6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("neutral") = log p("neu"|&lt;s&gt;) + log p("tral"|"neu") = 0.3 + 0.5 = 0.8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("neutral") &gt; 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("positive") so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we'd pick label "neutral"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But note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"neutral" has higher score due to its number of tokens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Now let's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normalize those scores by token length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That is,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m:n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= (1 / (n-m)) * Σ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i=m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2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log 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|t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1:i-1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 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("positive") = log p("positive"|&lt;s&gt;) = 0.6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LLM-1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("neutral") = log p("neu"|&lt;s&gt;) + log p("tral"|"neu") = (0.3+0.5)/2 = 0.4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Now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we'd pick label "positive"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normalizing log-probabilities by token-length is crucial!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endParaRPr lang="en-US" sz="1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739994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7BAF-E654-798F-0DA7-96480CF8F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96806AEE-3A55-72A8-620B-CABA0989A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Per-Character Likelihood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300BA9BB-9E70-3A46-BC07-6EC25B409C22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07B6C007-E843-4BF7-DE58-63DE4B77DA2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Different tokenizers may encode a given input sequence in a different numbers of tokens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word "namaste" in LlaMA-3 uses 3 tokens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Another LLM specialized on Hindi might use a single token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this case, we can </a:t>
            </a:r>
            <a:r>
              <a:rPr lang="en-US" sz="2000" b="1" spc="-1">
                <a:solidFill>
                  <a:srgbClr val="FF0000"/>
                </a:solidFill>
                <a:latin typeface="Calibri"/>
              </a:rPr>
              <a:t>normalize scores by number of bytes 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 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s(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cs typeface="Arial"/>
              </a:rPr>
              <a:t>t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cs typeface="Arial"/>
              </a:rPr>
              <a:t>m:n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) =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cs typeface="Arial"/>
              </a:rPr>
              <a:t>Σ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=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cs typeface="Arial"/>
              </a:rPr>
              <a:t>m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800" i="1" spc="-1" baseline="30000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log p(t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|t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cs typeface="Arial"/>
              </a:rPr>
              <a:t>1:i-1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) / 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=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</a:t>
            </a:r>
            <a:r>
              <a:rPr lang="en-US" sz="9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</a:t>
            </a:r>
            <a:r>
              <a:rPr lang="en-US" sz="6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where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is number of bytes in token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i.e. we normalize by length in bytes, not in tokens</a:t>
            </a: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Recall encoding with BPE-style tokenizers: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start from bottom characters, then merge in order of merges found during tokenizer training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A new token that comes from merging two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n-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bytes token takes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2n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bytes 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Thus, only sensitive to spelling/vocabulary (i.e. still a problem when comparing across languages)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Note: it's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not common to compare log-probabilities across models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can't assume LLMs are calibrated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may be necessary to compare across languages (more in next lecture)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DD1EE04D-D756-8DF4-8ADF-2E9F49495900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32514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From</a:t>
            </a: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Prediction</a:t>
            </a: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 Scores </a:t>
            </a:r>
            <a:r>
              <a:rPr lang="de-DE" sz="3000" b="1" spc="-1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to</a:t>
            </a: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 </a:t>
            </a:r>
            <a:r>
              <a:rPr lang="de-DE" sz="3000" b="1" spc="-1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Metrics</a:t>
            </a:r>
            <a:endParaRPr lang="de-DE" sz="3000" b="1" spc="-1" err="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Whether unnormalized or not, prediction scores are aggregations of the probabilities of tokens in the generated answer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Given those probabilities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we can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use them as with any classifier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compute performance metrics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For example, for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classification tasks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we can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pick label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∈ L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 with highest probability for each example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where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is set of labels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for given task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Then, given pairs of inputs and outputs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(x,l)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we can compute metrics like accuracy or F1-Score.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More recently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as models got better, it's often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enough to do greedy sampling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as models almost always predict one possible label.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we don’t restrict ourselves to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but instead compare probabilities across the entire vocabulary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Reminder: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we can use output distribution however we want</a:t>
            </a:r>
            <a:endParaRPr lang="en-US" sz="2200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For example, authors of GPT-3 found benefit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on some tasks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by computing probabilities of output sequences when removing some tokens used for formatting, e.g. "Answer: " 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9102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cs typeface="Arial"/>
              </a:rPr>
              <a:t>Verbalizers (1)</a:t>
            </a:r>
            <a:endParaRPr lang="en-US" err="1"/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Sampling methods can be changed for different text generation tasks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greedy for factual-based question answering, top-p for creative tasks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we can use LM output in different ways to make predictions</a:t>
            </a:r>
            <a:endParaRPr lang="en-US" b="1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 process of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mapping a string to a label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a classification task is often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formalized with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verbalizers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Schick et al. 2021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Verbalizer: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injective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function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v: L --&gt; V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that maps labels from some set of labels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to language model vocabulary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V</a:t>
            </a:r>
            <a:endParaRPr lang="en-US" sz="2000" b="1" i="1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Injective: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each element in domain mapped to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distinct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element in range, i.e. no two elements in domain get mapped to same element in range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14</a:t>
            </a:fld>
            <a:endParaRPr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D347EFA-336F-9967-1995-609BF7B23428}"/>
              </a:ext>
            </a:extLst>
          </p:cNvPr>
          <p:cNvSpPr/>
          <p:nvPr/>
        </p:nvSpPr>
        <p:spPr>
          <a:xfrm>
            <a:off x="1593560" y="2039377"/>
            <a:ext cx="1403850" cy="5027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6D94CB-B61B-9948-E6D8-A3342D5193FC}"/>
              </a:ext>
            </a:extLst>
          </p:cNvPr>
          <p:cNvSpPr/>
          <p:nvPr/>
        </p:nvSpPr>
        <p:spPr>
          <a:xfrm>
            <a:off x="5577459" y="2039377"/>
            <a:ext cx="1403850" cy="5027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Sampling Method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60EF7-8AE3-F6DC-C947-E8FE398EF3B9}"/>
              </a:ext>
            </a:extLst>
          </p:cNvPr>
          <p:cNvSpPr/>
          <p:nvPr/>
        </p:nvSpPr>
        <p:spPr>
          <a:xfrm>
            <a:off x="3585510" y="2039377"/>
            <a:ext cx="1403850" cy="50273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Distribution </a:t>
            </a:r>
            <a:r>
              <a:rPr lang="en-US" sz="1400" i="1"/>
              <a:t>p</a:t>
            </a:r>
            <a:endParaRPr lang="en-US" i="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95B7-76CA-3CEB-45BD-56138A03696E}"/>
              </a:ext>
            </a:extLst>
          </p:cNvPr>
          <p:cNvSpPr txBox="1"/>
          <p:nvPr/>
        </p:nvSpPr>
        <p:spPr>
          <a:xfrm>
            <a:off x="294049" y="2105775"/>
            <a:ext cx="81575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>
                <a:latin typeface="Calibri"/>
              </a:rPr>
              <a:t>Prompt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8F63F-54F2-3278-5AB8-9FA00415B64F}"/>
              </a:ext>
            </a:extLst>
          </p:cNvPr>
          <p:cNvSpPr txBox="1"/>
          <p:nvPr/>
        </p:nvSpPr>
        <p:spPr>
          <a:xfrm>
            <a:off x="7493526" y="2105775"/>
            <a:ext cx="144179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latin typeface="Calibri"/>
              </a:rPr>
              <a:t>Generated Text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74C4652-03A2-FD12-2D99-D1AAB0ED54E9}"/>
              </a:ext>
            </a:extLst>
          </p:cNvPr>
          <p:cNvSpPr/>
          <p:nvPr/>
        </p:nvSpPr>
        <p:spPr>
          <a:xfrm>
            <a:off x="7047709" y="2134232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3BEA28B-52B7-126F-669E-C06F90E049BA}"/>
              </a:ext>
            </a:extLst>
          </p:cNvPr>
          <p:cNvSpPr/>
          <p:nvPr/>
        </p:nvSpPr>
        <p:spPr>
          <a:xfrm>
            <a:off x="5046274" y="2134232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85FE3A2-9B6D-CEAB-8000-9EEF94118319}"/>
              </a:ext>
            </a:extLst>
          </p:cNvPr>
          <p:cNvSpPr/>
          <p:nvPr/>
        </p:nvSpPr>
        <p:spPr>
          <a:xfrm>
            <a:off x="3054324" y="2134232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6CF6BB6B-0A43-C127-97D6-166BF8B40FE9}"/>
              </a:ext>
            </a:extLst>
          </p:cNvPr>
          <p:cNvSpPr/>
          <p:nvPr/>
        </p:nvSpPr>
        <p:spPr>
          <a:xfrm>
            <a:off x="1062374" y="2134232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8205577-A79D-D87B-0BA5-F1881F9D52BB}"/>
              </a:ext>
            </a:extLst>
          </p:cNvPr>
          <p:cNvSpPr/>
          <p:nvPr/>
        </p:nvSpPr>
        <p:spPr>
          <a:xfrm>
            <a:off x="1613163" y="5265072"/>
            <a:ext cx="1403850" cy="5027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LM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00A45E6-59D9-3B59-95AB-3CFAF4F6C302}"/>
              </a:ext>
            </a:extLst>
          </p:cNvPr>
          <p:cNvSpPr/>
          <p:nvPr/>
        </p:nvSpPr>
        <p:spPr>
          <a:xfrm>
            <a:off x="5597062" y="5265072"/>
            <a:ext cx="1403850" cy="5027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v</a:t>
            </a:r>
            <a:r>
              <a:rPr lang="en-US" sz="1400" baseline="30000"/>
              <a:t>-1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A29B41-E2C4-F5F1-3B09-C99F53DDBD58}"/>
              </a:ext>
            </a:extLst>
          </p:cNvPr>
          <p:cNvSpPr/>
          <p:nvPr/>
        </p:nvSpPr>
        <p:spPr>
          <a:xfrm>
            <a:off x="3605113" y="5265072"/>
            <a:ext cx="1403850" cy="50273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Distribution </a:t>
            </a:r>
            <a:r>
              <a:rPr lang="en-US" sz="1400" i="1"/>
              <a:t>p</a:t>
            </a:r>
            <a:endParaRPr lang="en-US" i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6008C1-A989-B690-DDA4-E1BB14133D85}"/>
              </a:ext>
            </a:extLst>
          </p:cNvPr>
          <p:cNvSpPr txBox="1"/>
          <p:nvPr/>
        </p:nvSpPr>
        <p:spPr>
          <a:xfrm>
            <a:off x="313652" y="5331470"/>
            <a:ext cx="81575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>
                <a:latin typeface="Calibri"/>
              </a:rPr>
              <a:t>Prompt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B2D959-A68D-D123-4224-7BCE5DE5776D}"/>
              </a:ext>
            </a:extLst>
          </p:cNvPr>
          <p:cNvSpPr txBox="1"/>
          <p:nvPr/>
        </p:nvSpPr>
        <p:spPr>
          <a:xfrm>
            <a:off x="7532099" y="5359926"/>
            <a:ext cx="151767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latin typeface="Calibri"/>
              </a:rPr>
              <a:t>Predicted Label</a:t>
            </a:r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2D171C44-6AEB-27C5-79E5-84C2DF3C493B}"/>
              </a:ext>
            </a:extLst>
          </p:cNvPr>
          <p:cNvSpPr/>
          <p:nvPr/>
        </p:nvSpPr>
        <p:spPr>
          <a:xfrm>
            <a:off x="7067312" y="5359927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7063ED6-6EC2-915C-58B0-E151D10C5E92}"/>
              </a:ext>
            </a:extLst>
          </p:cNvPr>
          <p:cNvSpPr/>
          <p:nvPr/>
        </p:nvSpPr>
        <p:spPr>
          <a:xfrm>
            <a:off x="5065877" y="5359927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944FD7E0-1233-D82C-B950-6601057FA4D8}"/>
              </a:ext>
            </a:extLst>
          </p:cNvPr>
          <p:cNvSpPr/>
          <p:nvPr/>
        </p:nvSpPr>
        <p:spPr>
          <a:xfrm>
            <a:off x="3073927" y="5359927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95679AA2-54F0-FFBA-C918-A1E56661CADC}"/>
              </a:ext>
            </a:extLst>
          </p:cNvPr>
          <p:cNvSpPr/>
          <p:nvPr/>
        </p:nvSpPr>
        <p:spPr>
          <a:xfrm>
            <a:off x="1081977" y="5359927"/>
            <a:ext cx="483759" cy="30353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499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  <p:bldP spid="2" grpId="0" animBg="1"/>
      <p:bldP spid="4" grpId="0" animBg="1"/>
      <p:bldP spid="7" grpId="0" animBg="1"/>
      <p:bldP spid="11" grpId="0"/>
      <p:bldP spid="12" grpId="0"/>
      <p:bldP spid="15" grpId="0" animBg="1"/>
      <p:bldP spid="16" grpId="0" animBg="1"/>
      <p:bldP spid="17" grpId="0" animBg="1"/>
      <p:bldP spid="18" grpId="0" animBg="1"/>
      <p:bldP spid="40" grpId="0" animBg="1"/>
      <p:bldP spid="42" grpId="0" animBg="1"/>
      <p:bldP spid="44" grpId="0" animBg="1"/>
      <p:bldP spid="46" grpId="0"/>
      <p:bldP spid="48" grpId="0"/>
      <p:bldP spid="50" grpId="0" animBg="1"/>
      <p:bldP spid="52" grpId="0" animBg="1"/>
      <p:bldP spid="54" grpId="0" animBg="1"/>
      <p:bldP spid="5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1C312-27DC-DD30-614E-B35C9509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D019AB2B-7280-22A3-AF05-756759BE6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Verbalizers (2)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7F0E01DC-3708-66A3-267D-D484F263FA49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AFD4719C-6AB5-C7C1-40B4-33F575C2C5D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Some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examples of verbalizers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for a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binary classification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task can be: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Label "True" --&gt; Token "True",</a:t>
            </a:r>
            <a:r>
              <a:rPr lang="en-US" sz="1800" spc="-1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 l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abel "False" --&gt; Token "False"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Label "True" --&gt; Token "1",</a:t>
            </a:r>
            <a:r>
              <a:rPr lang="en-US" sz="1800" spc="-1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 l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abel "False" --&gt; Token "0"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Label "Positive" --&gt; Token "pos",</a:t>
            </a:r>
            <a:r>
              <a:rPr lang="en-US" sz="1800" spc="-1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 l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abel "Negative" --&gt; Token "neg"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choice of verbalizer must be specified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 the model</a:t>
            </a:r>
            <a:endParaRPr lang="en-US" sz="2000" b="1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Can be done via examples in ICL demonstrations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Or by specifying the expected labels in instructions in a zero-shot setting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Again, the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choice of verbalize can make a difference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on model performance</a:t>
            </a:r>
            <a:endParaRPr lang="en-US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Can be especially evident in weaker models that may prefer natural sounding labels over numerical ones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2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 far: how to use output of LLM for classification tasks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What about "generative" or "free-form" tasks?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summarization or translation.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brings us to the core of LLM evaluation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BDA4F1B-3AC9-3885-62A0-0A03A0798B3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258777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92EE-221F-064E-D5C5-2564CBEA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4AFC606D-2A2D-E331-6348-919102A6E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Challenges in LM Evaluation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BC0A2AD2-32E6-2F2A-EE7B-0434543B6972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2FD053E3-E292-D89A-3F28-D6F3A85ABB6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Key challenge according to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Biderman et al.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(2024):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language ambiguity</a:t>
            </a:r>
            <a:endParaRPr lang="en-US" b="1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Many syntactically different ways to express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semantically equivalent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ideas 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Best tools to say if two sentences are semantically equivalent? LLMs!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we can't have a model evaluate itself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How about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human effort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? 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Humans can always manually evaluate the output of models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this 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expensive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evaluation data has hundreds/thousands of examples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humans can certainly also make mistakes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Instead, human effort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usually goes to creation of gold answers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 benchmark construction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Given gold answers, we can compute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automatically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ROUGE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score compute lexical overlap with gold answer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5"/>
              </a:rPr>
              <a:t>BLEU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is a score designed for machine translation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6"/>
              </a:rPr>
              <a:t>Exact-match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 proportion of answers that exactly matches gold answer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Note that metrics can be flawed,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7"/>
              </a:rPr>
              <a:t>BLUE has issues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8"/>
              </a:rPr>
              <a:t>ROUGE has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9"/>
              </a:rPr>
              <a:t>issues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A0BFFDE-B42B-76DD-A973-9842B6BDBB24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43295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3017-5052-819C-BDBB-F152A2E4D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D88A41D2-6FF6-512E-1FC4-8047865DD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cs typeface="Arial"/>
              </a:rPr>
              <a:t>Model-</a:t>
            </a:r>
            <a:r>
              <a:rPr lang="de-DE" sz="3000" b="1" spc="-1" err="1">
                <a:solidFill>
                  <a:srgbClr val="003056"/>
                </a:solidFill>
                <a:latin typeface="Calibri"/>
                <a:cs typeface="Arial"/>
              </a:rPr>
              <a:t>Based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  <a:cs typeface="Arial"/>
              </a:rPr>
              <a:t>Metrics (1)</a:t>
            </a:r>
            <a:endParaRPr lang="de-DE" sz="3000" b="1" spc="-1" dirty="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5BC45009-5E6F-1658-1709-69E4FB1455AC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4EE0053A-040B-759F-CFA7-C16EDD13B24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Idea: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replace human effort with LLM effort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Motivation 1: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benchmark performance scores often miss nuance</a:t>
            </a:r>
            <a:endParaRPr lang="en-US" sz="2000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Instruction-tuned vs non-instruction tuned models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often perform the same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humans known to prefer answers given by aligned models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Motivation 2: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ChatGPT shown to outperform humans as annotator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Gilardi et al. (2023)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found ChatGPT to be better than crowd workers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Huang et al. (2023)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found ChatGPT great at picking nuanced hate speech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LLMs-as-a-Judge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ask model to evaluate generated answer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Judge model often (but not necessarily) different from evaluated model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Judge model must be strong LLM, very common choice: GPT-4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Open source alternative proposed recently: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" action="ppaction://noaction"/>
              </a:rPr>
              <a:t>Prometheus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How to use an LLM as an evaluator?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Again, freedom.</a:t>
            </a: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Pairwise comparison: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 chooses from given pair of answers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Single answer grading: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 provides score to answer (give ICL examples)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Reference-guided grading: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 compares answer to gold answer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6315BA7-8B40-72B5-7869-B1DE95F24987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6036794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EFD1-B65D-D47B-2587-204A590D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6D79CBD9-C4E4-F326-B809-E005548DF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  <a:cs typeface="Arial"/>
              </a:rPr>
              <a:t>Model-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  <a:cs typeface="Arial"/>
              </a:rPr>
              <a:t>Based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  <a:cs typeface="Arial"/>
              </a:rPr>
              <a:t>Metrics (2)</a:t>
            </a:r>
            <a:endParaRPr lang="de-DE" sz="3000" b="1" spc="-1" dirty="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923BFFBA-711E-2456-DE48-60D45AD55035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E120FC2A-BCAF-56B4-21E8-A2AE5FA3A21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Important 1: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reading generally easier than writing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for LLMs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evaluating text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not the same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as generating text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Thus, even same model may evaluate its own answers given right prompt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is what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self-alignment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is based 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Important 2: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LLM-as-a-judge useful on settings without gold answers</a:t>
            </a:r>
            <a:endParaRPr lang="en-US" b="1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Model-based metrics when reference answers are available not new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BERTScore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Simple idea: given reference answer, compute token-level similarity with tokens in generated answer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use greedy matching to match each generated token to most similar token in gold answer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Metrics only one component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LLM evaluation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Another key component: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benchmarks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94906C-7740-1283-D661-BE634AF9CB1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68889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Evaluation Benchmarks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Benchmarks: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standard datasets used by academia and industry to test model performance on some task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are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essential for progress in academia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test data must be treated as unseen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(honor code)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Too much focus on benchmarks can also be problematic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Performance on benchmark may not translate well to real-world settings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After some years, researchers may inevitably overfit to test data by using known tricks from prior work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 the era of LLMs, difficult to know if some models may not have seen test data from benchmarks during training (data contamination)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Common to find flaws in widely used benchmarks after some years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See nice overview of importance and desiderata of benchmarks 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  <a:hlinkClick r:id="rId2"/>
              </a:rPr>
              <a:t>here</a:t>
            </a:r>
            <a:endParaRPr lang="en-US" sz="20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Hundreds of benchmarks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have been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released over the years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go over just a few in the following slides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Some classics, some commonly used for evaluating LLMs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0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65740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Question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Answering</a:t>
            </a:r>
            <a:endParaRPr lang="de-DE" sz="3000" b="1" strike="noStrike" spc="-1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spc="-1" err="1">
                <a:solidFill>
                  <a:srgbClr val="003056"/>
                </a:solidFill>
                <a:latin typeface="Calibri"/>
              </a:rPr>
              <a:t>SQuAD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dataset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Rajpurkar et al. 2016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question answering to test reading comprehension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Questions: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About Wikipedia articles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Answers: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Segment (span) of text in article</a:t>
            </a:r>
            <a:endParaRPr lang="en-US" sz="180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Supervised data point: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(paragraph, question, answer)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Evaluation metrics: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Exact matching of answers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Proportion overlap with answer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Multilingual version: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XQUAD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Artetxe et al. 2020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err="1">
                <a:solidFill>
                  <a:srgbClr val="003056"/>
                </a:solidFill>
                <a:latin typeface="Calibri"/>
              </a:rPr>
              <a:t>SQuAD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professionally translated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20</a:t>
            </a:fld>
            <a:endParaRPr/>
          </a:p>
        </p:txBody>
      </p:sp>
      <p:pic>
        <p:nvPicPr>
          <p:cNvPr id="2" name="Picture 1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C084C6-D995-BE7A-3219-69AD19CC4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9370" y="1883815"/>
            <a:ext cx="37615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3078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Natural Language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Inference</a:t>
            </a:r>
            <a:endParaRPr lang="de-DE" sz="3000" b="1" strike="noStrike" spc="-1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008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The NLI dataset (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  <a:hlinkClick r:id="rId2"/>
              </a:rPr>
              <a:t>Bowman et al. 2015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Task: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natural language inference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Supervised data point: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(sentence 1, sentence 2, label)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Set of labels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L = {entailment, contradiction, neutral}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Evaluation metric: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accuracy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Multilingual version: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XNLI (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  <a:hlinkClick r:id="rId3"/>
              </a:rPr>
              <a:t>Conneau et al. 2018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Extended NLI datasets to 15 languages, including low-resource ones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21</a:t>
            </a:fld>
            <a:endParaRPr/>
          </a:p>
        </p:txBody>
      </p:sp>
      <p:pic>
        <p:nvPicPr>
          <p:cNvPr id="2" name="Picture 1" descr="A close up of words&#10;&#10;Description automatically generated">
            <a:extLst>
              <a:ext uri="{FF2B5EF4-FFF2-40B4-BE49-F238E27FC236}">
                <a16:creationId xmlns:a16="http://schemas.microsoft.com/office/drawing/2014/main" id="{63AF7A60-94D5-5B50-4FC9-6C5AA627AB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55" y="2940427"/>
            <a:ext cx="7948829" cy="232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395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Language Understanding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 MMLU dataset 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Hendrycks et al. 2021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multitask language understanding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Subjects: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elementary mathematics, history, compute science, law, etc.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Supervised data point: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(multiple-choice question, correct answer)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Evaluation metric: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accuracy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 dataset is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commonly used to evaluate LLMs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 performance on it is even commonly reported in the news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22</a:t>
            </a:fld>
            <a:endParaRPr/>
          </a:p>
        </p:txBody>
      </p:sp>
      <p:pic>
        <p:nvPicPr>
          <p:cNvPr id="2" name="Picture 1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DC499E3A-A293-6495-8A49-2BBABC86E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54" y="2913345"/>
            <a:ext cx="7778091" cy="203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426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Code Generation</a:t>
            </a:r>
            <a:endParaRPr lang="en-US"/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 Human Eval dataset 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Chen et al. 2021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code generation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generate stand-alone Python functions from docstrings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Supervised data point: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(function definition, unit tests)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Function definition: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signature and docstring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Evaluation metrics: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err="1">
                <a:solidFill>
                  <a:srgbClr val="003056"/>
                </a:solidFill>
                <a:latin typeface="Calibri"/>
              </a:rPr>
              <a:t>pass@k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Generate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solutions, say problem is solved if 1 passes unit tests 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23</a:t>
            </a:fld>
            <a:endParaRPr/>
          </a:p>
        </p:txBody>
      </p:sp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B02B8C66-98A0-4873-302B-9802C68BA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48" y="3733818"/>
            <a:ext cx="7246904" cy="216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123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E4DAC-8C1C-6473-F59C-A9255B288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5F401CB8-DBD1-C1FC-80DC-B9E8DFBE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Issues with Benchmarks (1)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EF31B25A-91DA-7799-A030-E58C2F57699A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37A0DAFB-852B-8083-1BAF-B6683113E16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Benchmarks essential to scientific progress, but they do have issues</a:t>
            </a:r>
            <a:endParaRPr lang="en-US" sz="200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Validity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how well benchmarks assess performance on a task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Subramonian et al. (2023)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found consistent disagreement among NLP researchers w.r.t. definitions of tasks, translation of tasks to benchmarks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 other words, tasks and benchmarks are not so clear cut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Sometimes it's not clear what the task really is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Sometimes it's not clear how benchmark really measures the task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Saturation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when models exceed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humans in performance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Natural when using benchmarks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Lately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saturation reached faster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Does not mean task is solved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Usually harder versions follow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23519EA-C2C5-220E-B6C4-23A21A2870C8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24</a:t>
            </a:fld>
            <a:endParaRPr/>
          </a:p>
        </p:txBody>
      </p:sp>
      <p:pic>
        <p:nvPicPr>
          <p:cNvPr id="2" name="Picture 1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ED80CE5D-871D-0CCE-EBC2-97BD499FB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323" y="3338793"/>
            <a:ext cx="4015068" cy="271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4833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FF961-C0BA-E9C4-D2FD-2BEEC5BEF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BC428E0E-A566-7FC8-560E-CAF0456E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Issues with Benchmarks (2)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3ABBC8A5-A2D2-6486-3C6E-C4550ADDA3C3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A19BEEC5-A474-BD1E-B229-28C85A0BCF3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Important concern with LLMs: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benchmark leakage</a:t>
            </a:r>
            <a:endParaRPr lang="en-US" b="1">
              <a:solidFill>
                <a:srgbClr val="000000"/>
              </a:solidFill>
              <a:latin typeface="Arial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LLMs train on vast amounts of data scraped from the internet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Benchmarks are publicly available online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includes test data (remember the honor code)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Data contamination: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evaluating on examples included in training data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Evaluation examples need not be included explicitly in training data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it's safe to assume this helps models perform better on benchmark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Roberts et al. (2023)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found that GPT-4 performs better on benchmarks released before its cut-off date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Similar findings were reported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Li et al. (2023)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Data memorization</a:t>
            </a:r>
            <a:r>
              <a:rPr lang="en-US" sz="2200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when models reproduce benchmarks verbatim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Xu et al. (2024)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used a method based on PPL and n-gram overlap to study how much can a model reproduce instances of public benchmarks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found many models to be able to do that, e.g. Aquila and Qwen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many models seem to be cleaner, e.g. Llama, DeepSeekMath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41F9579-B2BC-458A-F041-ECDF3DFC5CA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76505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1A77C-CA8C-9E19-B56A-0D0684F5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3E0ECD89-A9BE-0FE3-4723-A3CBDCD58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CLMs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vs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 MLMs</a:t>
            </a:r>
            <a:endParaRPr lang="en-US" dirty="0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38952E03-9E16-6E55-37E5-5ED79D2189DA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125DF863-8D36-7603-BA74-EBDE4A02187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Fair question: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why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CLM (seq2seq) for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(discrete)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classification tasks?</a:t>
            </a: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Why not something more designed for that, e.g. a MLM?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Ahuja et al. (2023)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report fine-tuned PLMs better than LLMs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Columns: tasks, underlined results: best overall, PLMs almost always better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More recently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MLMs better at classification, CLMs at generative tasks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06D2F5E9-9DEA-C4B9-8C8B-64BB57024E1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26</a:t>
            </a:fld>
            <a:endParaRPr/>
          </a:p>
        </p:txBody>
      </p:sp>
      <p:pic>
        <p:nvPicPr>
          <p:cNvPr id="2" name="Picture 1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55DC6C68-9B4A-B391-A206-ADC7A80F7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13" y="2508299"/>
            <a:ext cx="7958978" cy="301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53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3CAA-A0E5-8041-C726-B25757DB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FB95C12C-941F-1736-1213-FA773DF50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72143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Summary</a:t>
            </a:r>
            <a:endParaRPr lang="en-US"/>
          </a:p>
        </p:txBody>
      </p:sp>
      <p:sp>
        <p:nvSpPr>
          <p:cNvPr id="89" name="PlaceHolder 2">
            <a:extLst>
              <a:ext uri="{FF2B5EF4-FFF2-40B4-BE49-F238E27FC236}">
                <a16:creationId xmlns:a16="http://schemas.microsoft.com/office/drawing/2014/main" id="{4A510C4B-D4D1-BA3A-6D69-AB1798311BD1}"/>
              </a:ext>
            </a:extLst>
          </p:cNvPr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4B292826-E11A-F7DF-970A-07CF905CAD0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861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Model evaluation is: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Essential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part of ML/DL/LLM pipeline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Designed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to test particular skill, performance on some task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Interpreted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as its results usually imply something about the model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Challenging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benchmarks/metrics can be flawed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Requires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much care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as other parts of the pipeline: data, model, training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To paraphrase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George Box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all evaluations can be flawed, but most are useful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Thus, engaging with model evaluation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always requires critical thinking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What do the results mean?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 do they look like that?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Can model architecture explain them?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Can data explain them?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Can metrics explain them?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Can analysis of individual errors explain them?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BFBB3B8-B98F-96E4-15AC-84C816BAFB78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0068E8A-AB75-4D96-80F4-5032AB30E87C}" type="slidenum"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29749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Real-World Applications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6355934-2A0D-40CE-AF77-8E0B7B5FD075}" type="slidenum"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465070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Machine Translation Task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Usually abbreviated as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Translation generally complex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Translating novels, poetry, etc. has nuance, artistry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MT use cases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grounded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Information access: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translate websites to local language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Computer-aided translation (CAT):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start with MT-generated draft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On-the-fly speech translation: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real-time translation, recent application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lvl="1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Some aspects of language are universal across multiple languages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2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words for referring to people or common actions, e.g. eating, sleeping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challenges due to language diversity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e.g.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Word order: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“He wrote a letter to a friend”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Tomodachi ni tegami-o kaita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-&gt;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friend to letter wrote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Lexical divergence: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words should be translated in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Bass (the fish) vs bass (the instrument)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BF3A098-434A-463C-8190-2D4D4344CD67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Common Approach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Encoder-decoder transformer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 common architecture for MT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Often trained at sentence level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Get large set of parallel sentences (pairs in source and target languages)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maximizes probability of target sequence of tokens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Encoder produces 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decoder uses it to generate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			h =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encoder(x)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i+1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decoder(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…,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Training data requires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sentence alignment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Multilingual embedding space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used to check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sentence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Common: use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shared vocabulary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between source and target language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How?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Run tokenizer in corpus that contains both languages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Usually based on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subwords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BytePair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Encoding (BPE)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Recently,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trike="noStrike" spc="-1" err="1">
                <a:solidFill>
                  <a:srgbClr val="003056"/>
                </a:solidFill>
                <a:latin typeface="Calibri"/>
              </a:rPr>
              <a:t>WordPiece</a:t>
            </a: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trike="noStrike" spc="-1" err="1">
                <a:solidFill>
                  <a:srgbClr val="003056"/>
                </a:solidFill>
                <a:latin typeface="Calibri"/>
              </a:rPr>
              <a:t>SentencePiece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used more often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A539DE3-00D9-4291-B6A7-EA3D736CA829}" type="slidenum">
              <a:t>30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Encoder-Decoder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change: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modified cross-attention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Queries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 from previous layer (as usual),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keys/values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encoder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3" name="Grafik 7" descr="cross_attention.png"/>
          <p:cNvPicPr/>
          <p:nvPr/>
        </p:nvPicPr>
        <p:blipFill>
          <a:blip r:embed="rId2"/>
          <a:stretch/>
        </p:blipFill>
        <p:spPr>
          <a:xfrm>
            <a:off x="1571760" y="1785960"/>
            <a:ext cx="5968800" cy="42721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AD3A6F-4CEE-4604-B0FB-4D56B1959546}" type="slidenum">
              <a:t>31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MT Evaluation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Two common dimensions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Adequacy: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does translation capture exact meaning?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Fluency: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translation grammatically correct, clear, readable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main approaches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Human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’s rate based on two dimensions (expensive, requires experience)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Automatic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Automatic methods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often based 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N-gram overlap with human translations (i.e. supervised)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Embedding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4016626-E17A-458F-B61C-C83FC3996428}" type="slidenum">
              <a:t>32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Dialogue Systems?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Programs that communicate with users in natural language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Often referred to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conversational agents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Two main categories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Task-oriented systems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Chatbots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 oriented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dialogue systems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Goal: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conversation to help complete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give directions to control appliances, find restaurants, make calls,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Common instance: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digital assistants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Siri, Alexa,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Chatbots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Goal: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designed for extended conversations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Needs to account for properties  of human dialogue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we take turns, acknowledging understanding, making inferences,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786AF0-D63F-4034-88C5-3EE8EA9854A5}" type="slidenum">
              <a:t>33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2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2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Chatbots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Originally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rule-based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Eliza would paraphrase what used said, turn it into therapy-like questions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Others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corpus-based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on large corpus of billions of tokens of dialogue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Create answers via retrieval (fetch answer from DB) or generation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Hybrid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architectures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Combine rule-based with neural/corpus architectures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Arguably more reflective of real-world tools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Paranjape et al. (2020)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built a system with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entity linking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identify topic,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dialogue act classifier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detect if user is asking question or making a statement,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user intent classifier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detect if user wants to change topics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Response generation done with GPT-2 fine-tuned on dialogue dataset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response generation in a bit more detail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B17C857-80D5-448B-99E6-4A7162F4B003}" type="slidenum">
              <a:t>34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Response Generation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main approaches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Retrieval-based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Generation-based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Retrieval-based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answers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model on corpus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dialogue (set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“turns”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Treat user input as query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Score each turn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potential answer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choose most likely one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Generation-based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answers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Modeled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encoder-decoder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Encode user input with encoder, decoder generates response conditioned on user input + generated answer so far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Generation usually tuned to prevent most likely answers that may break the flow of conversation, e.g. “I don’t know”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Fine-tuning LLMs now common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800624-0915-41AF-AA2E-79E7DE02A88B}" type="slidenum">
              <a:t>35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Dialogue System Evaluation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straightforward if goal is perform specific task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was the restaurant booked? Was the event added to the calendar?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Human-based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user satisfaction rating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Users interact with the system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fill-in multiple-choice questionnaire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Since expensive,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heuristics often used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tend to correlate well with user satisfaction rating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Heuristics often measure two things: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well system allows user to achieve their goals with minimal cost?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 error rate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how often was the event added to calendar after every interaction?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1FEB348-7AA1-4B79-B7B0-2216FC5464CE}" type="slidenum">
              <a:t>36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0EA7F-2AB1-14AE-B126-32A5520BE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>
            <a:extLst>
              <a:ext uri="{FF2B5EF4-FFF2-40B4-BE49-F238E27FC236}">
                <a16:creationId xmlns:a16="http://schemas.microsoft.com/office/drawing/2014/main" id="{6DE4B008-D5AC-490C-DA45-4B5F30D3D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en-US"/>
          </a:p>
        </p:txBody>
      </p:sp>
      <p:sp>
        <p:nvSpPr>
          <p:cNvPr id="133" name="PlaceHolder 2">
            <a:extLst>
              <a:ext uri="{FF2B5EF4-FFF2-40B4-BE49-F238E27FC236}">
                <a16:creationId xmlns:a16="http://schemas.microsoft.com/office/drawing/2014/main" id="{383A0F3D-E8B8-4B0F-8893-A34F4CFB59EC}"/>
              </a:ext>
            </a:extLst>
          </p:cNvPr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4" name="PlaceHolder 3">
            <a:extLst>
              <a:ext uri="{FF2B5EF4-FFF2-40B4-BE49-F238E27FC236}">
                <a16:creationId xmlns:a16="http://schemas.microsoft.com/office/drawing/2014/main" id="{A193A441-68B2-7808-5780-B90FE0D7A8A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Many more real-world applications: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Question Answering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Information Retrieval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RAG (Retrieval-enhanced LLMs)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Speech Recognition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Text-to-Speech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Given an understanding of the fundamental methods: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Easy to understand architectures specific to given settings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Easy to reason about task/models/data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FF020477-8412-21C5-626D-1C77C6CF4C6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1FEB348-7AA1-4B79-B7B0-2216FC5464CE}" type="slidenum"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7658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Multiple Choice Normalization in LM Evaluation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by Leo Gao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Martin,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Chapters 13, 15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The Evolving Landscape of LLM Evaluation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by Sebastian Ruder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References in corresponding slides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D009D0-8826-4C03-AAF0-59E703511C5A}" type="slidenum">
              <a:t>38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C48661A9-762B-AD0C-A935-DD025BE16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596" y="2957513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38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0" baseType="lpstr">
      <vt:lpstr>Office Theme</vt:lpstr>
      <vt:lpstr>Office Theme</vt:lpstr>
      <vt:lpstr>Advanced Methods in Text Analytics</vt:lpstr>
      <vt:lpstr>The Story So Far</vt:lpstr>
      <vt:lpstr>Outline</vt:lpstr>
      <vt:lpstr>PowerPoint Presentation</vt:lpstr>
      <vt:lpstr>Why the focus on LLMs?</vt:lpstr>
      <vt:lpstr>LMs as Functions </vt:lpstr>
      <vt:lpstr>Interpreting LLM Outputs</vt:lpstr>
      <vt:lpstr>Using LLM Outputs</vt:lpstr>
      <vt:lpstr>Evaluating GPT-3 For Classification</vt:lpstr>
      <vt:lpstr>Per-Token Likelihood (1) </vt:lpstr>
      <vt:lpstr>Per-Token Likelihood (2)</vt:lpstr>
      <vt:lpstr>Per-Character Likelihood</vt:lpstr>
      <vt:lpstr>From Prediction Scores to Metrics</vt:lpstr>
      <vt:lpstr>Verbalizers (1)</vt:lpstr>
      <vt:lpstr>Verbalizers (2)</vt:lpstr>
      <vt:lpstr>Challenges in LM Evaluation</vt:lpstr>
      <vt:lpstr>Model-Based Metrics (1)</vt:lpstr>
      <vt:lpstr>Model-Based Metrics (2)</vt:lpstr>
      <vt:lpstr>Evaluation Benchmarks</vt:lpstr>
      <vt:lpstr>Question Answering</vt:lpstr>
      <vt:lpstr>Natural Language Inference</vt:lpstr>
      <vt:lpstr>Language Understanding</vt:lpstr>
      <vt:lpstr>Code Generation</vt:lpstr>
      <vt:lpstr>Issues with Benchmarks (1)</vt:lpstr>
      <vt:lpstr>Issues with Benchmarks (2)</vt:lpstr>
      <vt:lpstr>CLMs vs MLMs</vt:lpstr>
      <vt:lpstr>Summary</vt:lpstr>
      <vt:lpstr>PowerPoint Presentation</vt:lpstr>
      <vt:lpstr>The Machine Translation Task</vt:lpstr>
      <vt:lpstr>Common Approach</vt:lpstr>
      <vt:lpstr>Encoder-Decoder Architecture</vt:lpstr>
      <vt:lpstr>MT Evaluation</vt:lpstr>
      <vt:lpstr>What are Dialogue Systems?</vt:lpstr>
      <vt:lpstr>Chatbots</vt:lpstr>
      <vt:lpstr>Response Generation</vt:lpstr>
      <vt:lpstr>Dialogue System Evaluation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421</cp:revision>
  <dcterms:created xsi:type="dcterms:W3CDTF">2018-06-20T08:14:01Z</dcterms:created>
  <dcterms:modified xsi:type="dcterms:W3CDTF">2025-07-22T14:39:25Z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17</vt:i4>
  </property>
</Properties>
</file>