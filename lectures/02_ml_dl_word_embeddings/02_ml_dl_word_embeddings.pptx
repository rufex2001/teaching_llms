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3" r:id="rId59"/>
    <p:sldId id="314" r:id="rId60"/>
    <p:sldId id="315" r:id="rId61"/>
    <p:sldId id="316" r:id="rId62"/>
    <p:sldId id="340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C1F039-931E-B871-D525-40BFCFFE4B69}" v="9" dt="2026-05-26T14:02:17.7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tableStyles" Target="tableStyle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viewProps" Target="viewProps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presProps" Target="pres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5BCBE45-F869-46E9-8143-87BA8F3E31E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A9D09CD-7FBB-4039-8152-1CA1A1C203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CB94A06-C487-4D9D-BBCE-DFD9119F1B5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3DF9CF0-28FE-4E69-9AB7-5C3C692A6E65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FEE168B-668B-4FBC-9E5F-CF0D1993F8C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41748A5-DACA-4AA7-9A80-99984340E9A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21E835-E5A5-4EDB-B8B1-F417F6A94F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3CF5C9D-E44E-4834-B245-65280C62B37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2926DC5-B954-4892-B260-7BE44B94A78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DBF802-25B3-4532-B8C8-51C8D79D3B6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9F21367-AA2A-4621-BCAC-0FBEABB9200D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08C6881-CD1F-4F08-80EE-39A6DE548299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F28F9-DAE7-49EF-96E6-39E9B4E70FC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0D6F-3F72-4005-A2EF-74F69213AF8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A47426-FE83-4193-BD67-B19CE36FEA9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FC58B4-D93D-44C5-8D27-FBD77BBC41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3C91419-A9D3-410D-A0CF-6214484013F8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E134AA3-2812-4EA6-9F11-B1495ED4213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804ADCF-1EE5-4AA0-9450-EC70B6EEC30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1779E28-4677-43A5-8002-95353C164BC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436E-91DD-481C-BB43-CF819FE0A33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FDE6562-14CA-484C-AA40-085A2069209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991201-0106-4425-8145-B2726A5BC53A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3C31503-9F4F-4B3A-93E0-8146C868717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A4E0B92-B712-423F-9FD8-6F38BBB1D21C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37AA06-5FD6-4D5A-BB12-855956BB846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towardsdatascience.com/a-guide-to-word-embeddings-8a23817ab60f" TargetMode="Externa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sphweb.bumc.bu.edu/otlt/MPH-Modules/BS/BS704-EP713_MultivariableMethods/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hyperlink" Target="https://en.wikipedia.org/wiki/Automated_machine_learn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jmlr.org/papers/volume13/bergstra12a/bergstra12a.pdf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understanding-logistic-regression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asha.ai/en-us/blog/log-loss-function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hvidberrrg.github.io/deep_learning/activation_functions_in_artificial_neural_networks.html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buffml.com/neural-network-from-scratch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rajatgupta310198/getting-started-with-neural-network-for-regression-and-tensorflow-58ad3bd75223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Softmax-layer-with-neural-network-31_fig2_349823091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ding-deep-learning-for-beginners-linear-regression-gradient-descent-fcd5e0fc077d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paperspace.com/pytorch-101-understanding-graphs-and-automatic-differentiation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mlr.org/papers/volume3/bengio03a/bengio03a.pdf" TargetMode="External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310.4546.pdf" TargetMode="External"/><Relationship Id="rId2" Type="http://schemas.openxmlformats.org/officeDocument/2006/relationships/hyperlink" Target="https://arxiv.org/pdf/1301.3781.pdf" TargetMode="Externa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8400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Representations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CA51C5-D7BA-4E37-8FB0-1C3F16491004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9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hypothetical country called Countryland!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we use?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Area size? E.g. 400.000 km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Population size? E.g. 20M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Continent? E.g. Europe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Let’s group those features as a single 3D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feature vector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Countryland: (400.000; 20M; ‘Central Europe’)</a:t>
            </a:r>
            <a:endParaRPr lang="en-US" sz="1800"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can have different types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Real or integer numbers, e.g. population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Categorical, e.g. the continents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refer to that vector 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representation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‘Countryland’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that useful for, say, inferring size of the economy?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767C53-A7C0-4094-9C6C-3FD9304F3137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about the following features then?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GDP? E.g. 50 billion USD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Interest rate? E.g. 2.2%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Inflation rate? E.g. 7.2%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gives us a different representation of Countryland: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(50B; 2.2; 7.2)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Manually constructing representations: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engineering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Often requires expertise in the area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‘government debt to GDP’ is a common metric in Economics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vectors: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most typical form of input to machine learning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(ML)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BCA9A04-84BE-4785-BB82-A9E2900728CF}" type="slidenum">
              <a:t>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de-DE" sz="3000" b="1" i="1" strike="noStrike" spc="-1">
                <a:solidFill>
                  <a:srgbClr val="003056"/>
                </a:solidFill>
                <a:latin typeface="Calibri"/>
              </a:rPr>
              <a:t>learn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useful representations?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useful 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no more feature engineering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may not even need an Economics degree to get useful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Yes!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Learning (DL) methods are useful for this.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ML/DL is mostly engineering, so back to square one?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No! These methods are applicable to 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domain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economics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applied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mathematics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learned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may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generally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useful, e.g. word representations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Potentially useful for any application with text as input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9860CDB-7641-4784-ABC9-1DEDE14C72BE}" type="slidenum"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28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Learned vector representations of words/tokens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learned in several different ways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0" name="Textfeld 7"/>
          <p:cNvSpPr/>
          <p:nvPr/>
        </p:nvSpPr>
        <p:spPr>
          <a:xfrm>
            <a:off x="1000080" y="2214720"/>
            <a:ext cx="721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Useful geometrical properties between related word vectors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01" name="Textfeld 8"/>
          <p:cNvSpPr/>
          <p:nvPr/>
        </p:nvSpPr>
        <p:spPr>
          <a:xfrm>
            <a:off x="6858000" y="578628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02" name="Grafik 9" descr="word_embeddings.png"/>
          <p:cNvPicPr/>
          <p:nvPr/>
        </p:nvPicPr>
        <p:blipFill>
          <a:blip r:embed="rId3"/>
          <a:stretch/>
        </p:blipFill>
        <p:spPr>
          <a:xfrm>
            <a:off x="785880" y="2857320"/>
            <a:ext cx="7768080" cy="30081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BE98F2D-435E-475F-96B4-642AE38F9BBC}" type="slidenum">
              <a:t>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Challenges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straightforward as previous examples suggest!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 spaces with hundreds or thousands of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Variety in methods for learning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many challenges!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Here's some examples of those challenges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Interpretability: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features often not interpretable (real numbers)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 properties of space not straightforward (high-dimensional space)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Cost: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on terabytes of 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Latest LLMs have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trillions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GPU memory limited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This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fixed (static) word -&gt; vector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mapping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seldom used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anymore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still part of architectures, relevant to understand representations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C22FC92-7BBC-4039-A7FD-8D589B99981A}" type="slidenum">
              <a:t>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Refresher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Deep</a:t>
            </a: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4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</a:t>
            </a:r>
          </a:p>
          <a:p>
            <a:pPr marL="0"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0892CA-4057-4036-A92D-D163574F958A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Machine Learning Refresher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6DEDC5-511C-4E1E-84D5-00BF659917DF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Basic Machine Learning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Theory Refresher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03E340-2B23-4B4F-8609-50906DBE7E0C}" type="slidenum">
              <a:t>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 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Methods for developing algorithms by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from data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contrast to manually coding knowledge we already have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flying a helicopter (how many situations must we consider?)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Umbrella term encompassing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families of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Inductive Logic Programming, Deep Learning,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Related (umbrella) terms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Artificial Intelligence: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solutions that show intelligent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Data Mining: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extract value from data (ML usually part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that pipeline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this course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Mostly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deep learning and related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C55E-ADA9-43FE-9089-05ADC0F075DE}" type="slidenum">
              <a:t>10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definition: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“A computer program is said to learn from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respect to some class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performance measure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if its performance, as measured by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improves with experience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2514600" indent="-2286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		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Tom Mitchell, Machine Learning, 1997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Experience: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data in some format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our case, text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(that needs to be processed so models can "read"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perspective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ML: classification, regression,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NLP: machine translation, question answering,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measure: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F1 score for classification tasks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ROUGE scores for summarization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066281D-3BC5-4AD4-96F4-28BF62064C08}" type="slidenum">
              <a:t>11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Task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42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weight of a person (regression, supervised)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Data: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do we represent a person?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go with a simple 2D vector: (height, weight)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might see a linear relation between input and target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1D feature vector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height)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Target: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weight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real number)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4" name="Textfeld 6"/>
          <p:cNvSpPr/>
          <p:nvPr/>
        </p:nvSpPr>
        <p:spPr>
          <a:xfrm>
            <a:off x="5743440" y="5873337"/>
            <a:ext cx="17143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Example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25" name="Grafik 7" descr="linear_reg_0.png"/>
          <p:cNvPicPr/>
          <p:nvPr/>
        </p:nvPicPr>
        <p:blipFill>
          <a:blip r:embed="rId3"/>
          <a:stretch/>
        </p:blipFill>
        <p:spPr>
          <a:xfrm>
            <a:off x="1857240" y="3286080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4E18C7-59F1-452C-A998-D3F571525B68}" type="slidenum">
              <a:t>12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 build="p"/>
      <p:bldP spid="1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Family of methods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choose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comes with a set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based on observed data, assume linear relation between height and weight</a:t>
            </a: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we choose a </a:t>
            </a:r>
            <a:r>
              <a:rPr lang="en-US" sz="1800" strike="noStrike" spc="-1">
                <a:solidFill>
                  <a:srgbClr val="003056"/>
                </a:solidFill>
                <a:latin typeface="Calibri"/>
              </a:rPr>
              <a:t>linear regression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Linear regression: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f(height) = weight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This model comes from statistics, studied more formally, e.g. more assumptions, ML more "relaxed", focuses on learning (generalizing)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exactly do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function?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get there, we need to talk about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2DF7CF-A31F-40F7-AD6F-63E7D55D72CE}" type="slidenum">
              <a:t>13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28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describe assumption in linear regression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equation of a line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mx 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slope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-intercept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our case: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weight = m height +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we have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two parameters: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m,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Each value assignment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different member of linear regression family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2" name="Grafik 7" descr="linear_reg_2.png"/>
          <p:cNvPicPr/>
          <p:nvPr/>
        </p:nvPicPr>
        <p:blipFill>
          <a:blip r:embed="rId2"/>
          <a:stretch/>
        </p:blipFill>
        <p:spPr>
          <a:xfrm>
            <a:off x="3429000" y="3429000"/>
            <a:ext cx="5143320" cy="2727720"/>
          </a:xfrm>
          <a:prstGeom prst="rect">
            <a:avLst/>
          </a:prstGeom>
          <a:ln w="0">
            <a:noFill/>
          </a:ln>
        </p:spPr>
      </p:pic>
      <p:sp>
        <p:nvSpPr>
          <p:cNvPr id="133" name="Textfeld 8"/>
          <p:cNvSpPr/>
          <p:nvPr/>
        </p:nvSpPr>
        <p:spPr>
          <a:xfrm>
            <a:off x="1143000" y="3500280"/>
            <a:ext cx="221436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Which one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fits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the data better?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do you know?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 Depends on the goal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99EEB7B-B9DE-4871-8AD4-327CEBB4D4BE}" type="slidenum">
              <a:t>14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 build="p"/>
      <p:bldP spid="1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Generalization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0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Goal of ML: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model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perform well at the task on new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just data it was trained 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goal of training a model: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generalize to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which function did you say fits our data best?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we collect more data?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7" name="Grafik 9" descr="linear_reg_4.png"/>
          <p:cNvPicPr/>
          <p:nvPr/>
        </p:nvPicPr>
        <p:blipFill>
          <a:blip r:embed="rId2"/>
          <a:stretch/>
        </p:blipFill>
        <p:spPr>
          <a:xfrm>
            <a:off x="3882539" y="3341408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138" name="Textfeld 10"/>
          <p:cNvSpPr/>
          <p:nvPr/>
        </p:nvSpPr>
        <p:spPr>
          <a:xfrm>
            <a:off x="1071360" y="3214800"/>
            <a:ext cx="2857320" cy="71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Before,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seemed best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With more data,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best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39" name="Textfeld 13"/>
          <p:cNvSpPr/>
          <p:nvPr/>
        </p:nvSpPr>
        <p:spPr>
          <a:xfrm>
            <a:off x="571320" y="3857760"/>
            <a:ext cx="3397060" cy="23684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train for generalization?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 models on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held-out 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evaluation data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represents unseen data</a:t>
            </a:r>
            <a:endParaRPr lang="en-US" sz="1800" strike="noStrike" spc="-1">
              <a:solidFill>
                <a:srgbClr val="000000"/>
              </a:solidFill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Train and eval data assumed from same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en-US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619F0E0-8FC1-4FC4-95DB-217C95173175}" type="slidenum">
              <a:t>15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 build="p"/>
      <p:bldP spid="138" grpId="0"/>
      <p:bldP spid="1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Evaluate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tell which member of the family is more suitable for our task?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need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select a 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the many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possible family members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 we choose to evaluate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good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at a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mean squared error (MSE)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3" name="Grafik 6" descr="linear_reg_3.png"/>
          <p:cNvPicPr/>
          <p:nvPr/>
        </p:nvPicPr>
        <p:blipFill>
          <a:blip r:embed="rId2"/>
          <a:stretch/>
        </p:blipFill>
        <p:spPr>
          <a:xfrm>
            <a:off x="3714840" y="3357720"/>
            <a:ext cx="5102280" cy="2781720"/>
          </a:xfrm>
          <a:prstGeom prst="rect">
            <a:avLst/>
          </a:prstGeom>
          <a:ln w="0">
            <a:noFill/>
          </a:ln>
        </p:spPr>
      </p:pic>
      <p:pic>
        <p:nvPicPr>
          <p:cNvPr id="144" name="Grafik 12" descr="mse_eq.png"/>
          <p:cNvPicPr/>
          <p:nvPr/>
        </p:nvPicPr>
        <p:blipFill>
          <a:blip r:embed="rId3"/>
          <a:stretch/>
        </p:blipFill>
        <p:spPr>
          <a:xfrm>
            <a:off x="1143000" y="3357720"/>
            <a:ext cx="2450520" cy="642600"/>
          </a:xfrm>
          <a:prstGeom prst="rect">
            <a:avLst/>
          </a:prstGeom>
          <a:ln w="0">
            <a:noFill/>
          </a:ln>
        </p:spPr>
      </p:pic>
      <p:sp>
        <p:nvSpPr>
          <p:cNvPr id="145" name="Textfeld 13"/>
          <p:cNvSpPr/>
          <p:nvPr/>
        </p:nvSpPr>
        <p:spPr>
          <a:xfrm>
            <a:off x="1071360" y="4014720"/>
            <a:ext cx="2571480" cy="126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where: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n: # of examples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target values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Y’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predicted values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97FB99-8EAF-4BCD-A6C6-314AB2BBDA6E}" type="slidenum">
              <a:t>16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build="p"/>
      <p:bldP spid="14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our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Selected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0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Model selection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choosing a value assignment for our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= 80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 = 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make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use of our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selected model (function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9" name="Grafik 6" descr="linear_reg_1.png"/>
          <p:cNvPicPr/>
          <p:nvPr/>
        </p:nvPicPr>
        <p:blipFill>
          <a:blip r:embed="rId2"/>
          <a:stretch/>
        </p:blipFill>
        <p:spPr>
          <a:xfrm>
            <a:off x="1500120" y="2143080"/>
            <a:ext cx="5714640" cy="3030840"/>
          </a:xfrm>
          <a:prstGeom prst="rect">
            <a:avLst/>
          </a:prstGeom>
          <a:ln w="0">
            <a:noFill/>
          </a:ln>
        </p:spPr>
      </p:pic>
      <p:sp>
        <p:nvSpPr>
          <p:cNvPr id="150" name="Textfeld 7"/>
          <p:cNvSpPr/>
          <p:nvPr/>
        </p:nvSpPr>
        <p:spPr>
          <a:xfrm>
            <a:off x="714240" y="5143680"/>
            <a:ext cx="7286400" cy="983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Important distinction: inference vs prediction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Inference: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 model to learn about data generation process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predict specific outcomes for new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points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A466B9B-9C28-45F9-A57E-D3BFA7530722}" type="slidenum">
              <a:t>17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0" build="p"/>
      <p:bldP spid="15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i="1" spc="-1">
                <a:solidFill>
                  <a:srgbClr val="003056"/>
                </a:solidFill>
                <a:latin typeface="Calibri"/>
              </a:rPr>
              <a:t>Hyper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parameters that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typically not learned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they are manually set by the user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meta-learning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does exist, e.g.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AutoML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in linear regression: using a bias or not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bias: line passes by origin (assumes data is centered)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 scikit-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learn’s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documentation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on linear regression (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fit_intercept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choose values for hyperparameters?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Hyperparameter optimization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grid search, random search (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4"/>
              </a:rPr>
              <a:t>known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 be better than grid search)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Requires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familiarity with known tricks/experience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/expert knowledge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Often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involves making assumptions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this setting worked well in the past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the search space I designed benefits all models equally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205EE7D-7E5D-4FE9-9C51-2B5EC67EFC20}" type="slidenum">
              <a:t>18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about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Classification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Logistic regression: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popular model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Essentially: linear regression with a logistic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 logistic (sigmoid)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7" name="Grafik 6" descr="sigmoid_function.png"/>
          <p:cNvPicPr/>
          <p:nvPr/>
        </p:nvPicPr>
        <p:blipFill>
          <a:blip r:embed="rId2"/>
          <a:stretch/>
        </p:blipFill>
        <p:spPr>
          <a:xfrm>
            <a:off x="1571760" y="2500200"/>
            <a:ext cx="5778000" cy="2737080"/>
          </a:xfrm>
          <a:prstGeom prst="rect">
            <a:avLst/>
          </a:prstGeom>
          <a:ln w="0">
            <a:noFill/>
          </a:ln>
        </p:spPr>
      </p:pic>
      <p:sp>
        <p:nvSpPr>
          <p:cNvPr id="158" name="Textfeld 8"/>
          <p:cNvSpPr/>
          <p:nvPr/>
        </p:nvSpPr>
        <p:spPr>
          <a:xfrm>
            <a:off x="642960" y="5286240"/>
            <a:ext cx="7286400" cy="66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Logistic function maps inputs to real interval [0,1]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Can be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interpreted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as a probability distribution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59" name="Textfeld 9"/>
          <p:cNvSpPr/>
          <p:nvPr/>
        </p:nvSpPr>
        <p:spPr>
          <a:xfrm>
            <a:off x="7215120" y="5143680"/>
            <a:ext cx="14997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AD45C8-E89F-4FF7-A392-433343B59515}" type="slidenum">
              <a:t>19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" grpId="0" build="p"/>
      <p:bldP spid="158" grpId="0"/>
      <p:bldP spid="15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Logistic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Regression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Binary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classification: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interpreted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as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probability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for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positive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= 1 -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complementary probability for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we get probabilities for both positive and negative class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do some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inference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e.g. how much more likely is one class than the other?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prediction?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decide on a threshold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&gt;=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positive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&lt;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get the following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decision boundary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1|x) = p(y = 0|x) = 0.5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Describing tasks and models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very common!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We’ll do this often, so let’s review the basic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6090C-0158-4F94-8BC4-3DF306429E79}" type="slidenum">
              <a:t>20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Theory Basics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quick refresher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later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for many things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models, e.g. what language models do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More concepts commonly used in NLP research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Today, some basic intuitions/definitions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 rule / product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Joint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Bayes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36B5C61-50CD-4EBA-9F0D-B252EA1BEE7D}" type="slidenum">
              <a:t>21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8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between events and something relevant about the events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Usually designed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according to something we want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say we are interested in average height of students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randomly select a student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space: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set of all students the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 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f(student) = height of student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9" name="Grafik 7" descr="random_variable_4.png"/>
          <p:cNvPicPr/>
          <p:nvPr/>
        </p:nvPicPr>
        <p:blipFill>
          <a:blip r:embed="rId2"/>
          <a:stretch/>
        </p:blipFill>
        <p:spPr>
          <a:xfrm>
            <a:off x="1857240" y="3338280"/>
            <a:ext cx="4680000" cy="2662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8B7D6D-16AB-40D2-948A-B8ADED43612E}" type="slidenum">
              <a:t>22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3428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 a way to describe random variables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take values as a result of some random process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 of random variable: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often may each value be observed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does a distribution describe this?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A(nother)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maps set of possible values a random variable can take to interval [0,1]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3" name="Grafik 6" descr="random_variable_5.png"/>
          <p:cNvPicPr/>
          <p:nvPr/>
        </p:nvPicPr>
        <p:blipFill>
          <a:blip r:embed="rId2"/>
          <a:stretch/>
        </p:blipFill>
        <p:spPr>
          <a:xfrm>
            <a:off x="1071360" y="3500280"/>
            <a:ext cx="711000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18B20D-2A68-4AB9-A304-A6E05CB5A271}" type="slidenum">
              <a:t>23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 of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for given event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probability of observing event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20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Written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what is the probability of observing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height of 185cm?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185cm) = 0.1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probability is 10%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Discrete distributions: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random variable can take 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mass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Continuous distributions: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take infinite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density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Bernoulli (discrete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models output of single binary 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Gaussian (continuous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normal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 our students’ height example discrete or continuous?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how to measure height, as reals or integers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6A8EC7-929F-40D1-A4DE-382270C4648B}" type="slidenum">
              <a:t>24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one event happening does not affect the probability of the other happening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wins the world cup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in 2014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loses world cup semifinal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The stock market crashed in 2008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Which of these events are dependent/independent?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B are not independent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Germany loses the semifinal, it cannot win the 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C are independent, as well as B and 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Very unlikely the 2008 crash has any impact 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the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2014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world cup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Independence perhaps best understood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708FA2-8FD9-45C2-B2CE-B4A3D4D51049}" type="slidenum">
              <a:t>25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union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events happening, e.g.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= p(A) + p(B) – p(A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П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shows number in die, relevant events are: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3”, i.e. either 3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2”,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independent?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see overlap in event spaces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 U 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subtract probability of overlapping events: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= 1/3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+ 1/6 = ½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6)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1/3 + ½ - 1/6 = 0.66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independent events, last term becomes zero: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even number”,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uneven number”, i.e. either 1, 3 or 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EC1DF26-6DE6-43F2-A010-2D980481B504}" type="slidenum">
              <a:t>26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2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Product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conjunction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happening, i.e.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 = p(A|B)p(B)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p(A,B)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joint distribution of A and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conditional distribution of A given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Side note: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 of these rules are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derived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from axioms of probability theory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more, see probability theory literature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go over joint distributions and conditional distributions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400006-CC59-4DA9-A14E-80FA1A4DDCA1}" type="slidenum">
              <a:t>27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675174" y="1143000"/>
            <a:ext cx="7766814" cy="142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1…n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random variables to interval [0,1]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all possible combinations of those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Easier to see with joint probability table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joint distribution of flipping two coins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89" name="Tabelle 6"/>
          <p:cNvGraphicFramePr/>
          <p:nvPr/>
        </p:nvGraphicFramePr>
        <p:xfrm>
          <a:off x="1643040" y="2643120"/>
          <a:ext cx="6095520" cy="11124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 / 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0" name="Textfeld 7"/>
          <p:cNvSpPr/>
          <p:nvPr/>
        </p:nvSpPr>
        <p:spPr>
          <a:xfrm>
            <a:off x="1143000" y="3929040"/>
            <a:ext cx="67863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all elements in table add up to 1, i.e. a distribution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1D1232-75E3-40A9-999C-68FDDEAB95E0}" type="slidenum">
              <a:t>28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" grpId="0" build="p"/>
      <p:bldP spid="19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derive many things from a joint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very common operation: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joint distribution of A and B, derive distribution of A or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we get distribution of coin A by summing over all possible values of B with the sum rule: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94" name="Tabelle 6"/>
          <p:cNvGraphicFramePr/>
          <p:nvPr>
            <p:extLst>
              <p:ext uri="{D42A27DB-BD31-4B8C-83A1-F6EECF244321}">
                <p14:modId xmlns:p14="http://schemas.microsoft.com/office/powerpoint/2010/main" val="3066081442"/>
              </p:ext>
            </p:extLst>
          </p:nvPr>
        </p:nvGraphicFramePr>
        <p:xfrm>
          <a:off x="1643040" y="2857320"/>
          <a:ext cx="6095520" cy="1112400"/>
        </p:xfrm>
        <a:graphic>
          <a:graphicData uri="http://schemas.openxmlformats.org/drawingml/2006/table">
            <a:tbl>
              <a:tblPr/>
              <a:tblGrid>
                <a:gridCol w="1523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A/B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i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p(A)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0.7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5" name="Textfeld 7"/>
          <p:cNvSpPr/>
          <p:nvPr/>
        </p:nvSpPr>
        <p:spPr>
          <a:xfrm>
            <a:off x="571320" y="4071960"/>
            <a:ext cx="7000560" cy="128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New column adds up to 1, i.e. a probability distribution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p(A)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marginal distribution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of A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This process is referred to as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marginalizing out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Normally expressed with sum rule: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=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p(A,B = b)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E7B6E9-D9C1-4551-9013-FC79943DB4C2}" type="slidenum">
              <a:t>29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build="p"/>
      <p:bldP spid="19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seeing event A knowing event B was already seen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p(A,B)/p(B)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Intuitively,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space of all possible events shrinks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(for dependent RVs)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Imagine we toss a die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“We observe an even number”,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“We observe a multiple of 3”, i.e. either 3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After observing A, event space for B is not {3, 6}, it is {6}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derived from joint distribution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Marginalize out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 get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you have everything you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2E70B4-6AFC-4E8D-B2E9-1EE53E1532F1}" type="slidenum">
              <a:t>30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events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given a third event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Observing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tells me something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when observing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longer says anything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 has good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person’s height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independent?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No, since children have limited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Now consider event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knowing a person’s age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independent, since height implies 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Once we have age, height gives us no new information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conditionally independent 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31345F-364F-46FA-ADDE-1E2CC1386CAD}" type="slidenum">
              <a:t>31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Bayes‘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ftr" idx="3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Apply product rule on conditional probability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 / p(B) = p(B|A) p(A) / 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we want probability of A given B,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to get it, we use marginal distribution of A,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may seem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counterintuitive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typically interpreted like so: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event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Describes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what we know/believe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about event 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p(B|A)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likelihood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Given event A, what is the likelihood that we get our data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posterior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Interpreted as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updated description of A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after considering what we originally know about A (prior), as well as our data (event B)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interpretation gives rise to the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frequentists vs bayesian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debate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with this, we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done with our probability refresher!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9180C4-62B9-42D9-829F-0D5AB1A875E9}" type="slidenum">
              <a:t>32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Probabilistic Perspective of ML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outcome of a coin tossed by your (unreliable) friend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 factors: mass distribution, position in fingers, friction,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Difficult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physically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use a probabilistic model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Abstracts away complications of physical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uncertainty of some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random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event, e.g. coin toss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relative frequency of observations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about the event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in this case: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seeing heads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when tossing the coin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Simple Model: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Bernoulli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it models outcome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single binary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{0,1}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possible outcomes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is the only parameter of model: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of seeing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get a value for this parameter so we can use our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estimate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this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parameter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could blindly guess, or we 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data for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that estimation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CDC72F0-7162-48CF-ABCB-8098046047DB}" type="slidenum">
              <a:t>33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Training Models: Parameter Estimation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ftr" idx="4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your friend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allows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 observe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ten tosses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You observe 3 out the 10 are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You can estimate the value of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this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3/10 = 0.3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chance of seeing heads in a single toss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just counted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relative frequencies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example: a single coin toss, i.e.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{heads, tails}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data: 10 coin tosses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Relevant observations: we observe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a value estimated for parameter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can make predictions!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has been trained and is ready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be used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on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a function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means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estimating its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don’t know the parameters of a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have data and use it to estimate those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 common framework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D20193B-8AC2-4FF8-A3B9-FCB07670CE13}" type="slidenum">
              <a:t>34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0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ftr" idx="4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Common approach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Otherwise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Finds model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maximizes likelihood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 observed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does likelihood mean?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Our model for the coin toss: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function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fixed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(how we predict with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instead see it as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function of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fixed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i.e.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|k)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a function of parameters 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fixed data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(assumed during training)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call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|k)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likelihood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not a probability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use it to find distributions that fit observed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use the likelihood function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want distribution with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highest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(max) probability to our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of observed data is most likely sample among all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F3BE3F4-6C02-47B2-A8EF-EE9C800A05A2}" type="slidenum">
              <a:t>35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ftr" idx="4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8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Formally,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want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max</a:t>
            </a:r>
            <a:r>
              <a:rPr lang="el-GR" sz="20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Equivalently, we want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argmax</a:t>
            </a:r>
            <a:r>
              <a:rPr lang="el-GR" sz="18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log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First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a common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assumption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examples are </a:t>
            </a:r>
            <a:r>
              <a:rPr lang="en-US" sz="2000" b="1" strike="noStrike" spc="-1" err="1">
                <a:solidFill>
                  <a:srgbClr val="003056"/>
                </a:solidFill>
                <a:latin typeface="Calibri"/>
              </a:rPr>
              <a:t>i.i.d.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stands for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independent and identically distributed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Examples are independent, belong to same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Then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apply this assumption to our coin toss setting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for a single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joint probability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observed examples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then given by: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17" name="Grafik 8" descr="iid_derivation.png"/>
          <p:cNvPicPr/>
          <p:nvPr/>
        </p:nvPicPr>
        <p:blipFill>
          <a:blip r:embed="rId2"/>
          <a:stretch/>
        </p:blipFill>
        <p:spPr>
          <a:xfrm>
            <a:off x="3071880" y="3929040"/>
            <a:ext cx="2755080" cy="1523520"/>
          </a:xfrm>
          <a:prstGeom prst="rect">
            <a:avLst/>
          </a:prstGeom>
          <a:ln w="0">
            <a:noFill/>
          </a:ln>
        </p:spPr>
      </p:pic>
      <p:sp>
        <p:nvSpPr>
          <p:cNvPr id="218" name="Textfeld 9"/>
          <p:cNvSpPr/>
          <p:nvPr/>
        </p:nvSpPr>
        <p:spPr>
          <a:xfrm>
            <a:off x="1071360" y="5631480"/>
            <a:ext cx="6357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we used the i.i.d. assumption from line 1 to line 2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A9ACB2-7130-46D1-86F9-B430886870AF}" type="slidenum">
              <a:t>36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 build="p"/>
      <p:bldP spid="2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ftr" idx="4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Finally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to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find this maximum value, we: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the first derivative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it to zero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Extract a value for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22" name="Grafik 7" descr="mle_derivation.png"/>
          <p:cNvPicPr/>
          <p:nvPr/>
        </p:nvPicPr>
        <p:blipFill>
          <a:blip r:embed="rId2"/>
          <a:stretch/>
        </p:blipFill>
        <p:spPr>
          <a:xfrm>
            <a:off x="2357280" y="2428920"/>
            <a:ext cx="4342320" cy="2475720"/>
          </a:xfrm>
          <a:prstGeom prst="rect">
            <a:avLst/>
          </a:prstGeom>
          <a:ln w="0">
            <a:noFill/>
          </a:ln>
        </p:spPr>
      </p:pic>
      <p:sp>
        <p:nvSpPr>
          <p:cNvPr id="223" name="Textfeld 8"/>
          <p:cNvSpPr/>
          <p:nvPr/>
        </p:nvSpPr>
        <p:spPr>
          <a:xfrm>
            <a:off x="642960" y="4929120"/>
            <a:ext cx="7286400" cy="12604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obtained relative frequencies, as we had done already!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 often does not have a closed-form solution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rely on numerical methods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MLE related to many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aspects of ML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cross entropy, MAP, etc.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AD79-F03C-410A-925D-4CCF5DB11F91}" type="slidenum">
              <a:t>37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0" build="p"/>
      <p:bldP spid="22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Empirical Risk Minimization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ftr" idx="4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General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goal: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estimate how model 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will work in practice by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minimizing the average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of some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loss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function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L(x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on a training set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a training example and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its corresponding label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where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is size of training set.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27" name="Grafik 6" descr="emp_risk_eq.png"/>
          <p:cNvPicPr/>
          <p:nvPr/>
        </p:nvPicPr>
        <p:blipFill>
          <a:blip r:embed="rId2"/>
          <a:stretch/>
        </p:blipFill>
        <p:spPr>
          <a:xfrm>
            <a:off x="2194175" y="2781401"/>
            <a:ext cx="4661640" cy="1130760"/>
          </a:xfrm>
          <a:prstGeom prst="rect">
            <a:avLst/>
          </a:prstGeom>
          <a:ln w="0">
            <a:noFill/>
          </a:ln>
        </p:spPr>
      </p:pic>
      <p:sp>
        <p:nvSpPr>
          <p:cNvPr id="228" name="Textfeld 8"/>
          <p:cNvSpPr/>
          <p:nvPr/>
        </p:nvSpPr>
        <p:spPr>
          <a:xfrm>
            <a:off x="583912" y="4417813"/>
            <a:ext cx="7000560" cy="6756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the most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 in ML/DL/NLP.</a:t>
            </a:r>
            <a:endParaRPr lang="en-US" sz="2000" b="0" strike="noStrike" spc="-1">
              <a:latin typeface="Arial"/>
            </a:endParaRPr>
          </a:p>
          <a:p>
            <a:pPr marL="457200" lvl="1" indent="-2159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But what is a loss function, exactly?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AF5AF44-2137-4BF9-A00C-CED3D0B2307F}" type="slidenum">
              <a:t>38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 build="p"/>
      <p:bldP spid="22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Loss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Functions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ftr" idx="4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Functions that tell us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a model performs during training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Being a cost/loss, we want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Desiderata: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Low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matches given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closer, the lower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High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does not match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farther, the higher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model 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the desired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probabilistic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models only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32" name="Grafik 6" descr="log_loss_error_on_a_single_object.png"/>
          <p:cNvPicPr/>
          <p:nvPr/>
        </p:nvPicPr>
        <p:blipFill>
          <a:blip r:embed="rId2"/>
          <a:stretch/>
        </p:blipFill>
        <p:spPr>
          <a:xfrm>
            <a:off x="4071960" y="3403080"/>
            <a:ext cx="3941640" cy="2597400"/>
          </a:xfrm>
          <a:prstGeom prst="rect">
            <a:avLst/>
          </a:prstGeom>
          <a:ln w="0">
            <a:noFill/>
          </a:ln>
        </p:spPr>
      </p:pic>
      <p:sp>
        <p:nvSpPr>
          <p:cNvPr id="233" name="Textfeld 7"/>
          <p:cNvSpPr/>
          <p:nvPr/>
        </p:nvSpPr>
        <p:spPr>
          <a:xfrm>
            <a:off x="6786720" y="592920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0251B-12A2-43E0-A4BF-7E520427D31C}" type="slidenum">
              <a:t>39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1" grpId="0" build="p"/>
      <p:bldP spid="23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Let's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Design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Objective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ftr" idx="4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Combine empirical risk minimization with 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Assume binary classification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have: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 = - 1/N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[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log(p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+ (1 -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log (1 - 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    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training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prediction for example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following: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Labels act as indicator factors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 loss means bad model predictions get punished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negate the entire expression so we can 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this is an optimization problem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one can be shown to be a form of 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 objectives: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very important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 distinguish language models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masked vs autoregressive language have different, manually designed, training objectives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4322E1A-1526-42C6-8505-E33C2FDE12C2}" type="slidenum">
              <a:t>40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6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Summary: ML Refresher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ftr" idx="4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models that perform a task well on unseen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some input to some output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Regression: real-valued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Classification: categorical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Model: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abstract, often simplified version of a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with set of assumptions, e.g. linearity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Evaluation: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given predictions, compute relevant 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Objective functions (more not covered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refresher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regularization)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All of these concepts are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 in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advanced NLP!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LLMs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trillions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LLMs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train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objective functions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Empirical risk minimization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MLE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used during training 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various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metrics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relevant to various tasks</a:t>
            </a:r>
            <a:endParaRPr lang="de-DE" sz="180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D70049D-AE80-43B7-B1D7-F583B485B30E}" type="slidenum">
              <a:t>41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Deep Learning </a:t>
            </a:r>
            <a:r>
              <a:rPr lang="en-US" sz="3600" b="1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ftr" idx="4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D1A358F-15A5-4F3E-9521-E453EE093644}" type="slidenum"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Basic Deep Learning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Backpropagation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Language Models with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ftr" idx="4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ADC538-6376-452F-96FA-456A41F751DD}" type="slidenum">
              <a:t>43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Mathematical Notation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Scalars: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a, b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Vectors: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 (by default column vectors, i.e. size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Matrices: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 product: 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Dot product: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 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(transpose because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column vector)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Matrix-vector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Matrix-matrix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ftr" idx="5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3A0A57B-C6E0-4411-933B-DFBFA6AB27AE}" type="slidenum">
              <a:t>44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an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Artificial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Neuron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ftr" idx="5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684000" y="3929040"/>
            <a:ext cx="7775640" cy="188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multiplied with weights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their products then added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common operation is this?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bias is optional, but almost always there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adds lots of flexibility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an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activation function f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applied to the result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Different activation functions determine different artificial neurons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52" name="Grafik 7" descr="artificial_neuron.png"/>
          <p:cNvPicPr/>
          <p:nvPr/>
        </p:nvPicPr>
        <p:blipFill>
          <a:blip r:embed="rId2"/>
          <a:stretch/>
        </p:blipFill>
        <p:spPr>
          <a:xfrm>
            <a:off x="1900440" y="1071720"/>
            <a:ext cx="4920480" cy="2857320"/>
          </a:xfrm>
          <a:prstGeom prst="rect">
            <a:avLst/>
          </a:prstGeom>
          <a:ln w="0">
            <a:noFill/>
          </a:ln>
        </p:spPr>
      </p:pic>
      <p:sp>
        <p:nvSpPr>
          <p:cNvPr id="253" name="Textfeld 8"/>
          <p:cNvSpPr/>
          <p:nvPr/>
        </p:nvSpPr>
        <p:spPr>
          <a:xfrm>
            <a:off x="6786720" y="36432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05422B-B1FC-4219-9978-079C4FE9AA8F}" type="slidenum">
              <a:t>45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build="p"/>
      <p:bldP spid="25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Types of Artificial Neurons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78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are mainly distinguished by their activation functions, e.g.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Linear neuron: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Logistic neuron: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(x)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(sigmoid function)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model do we obtain with a linear neuron?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Linear regression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with a logistic neuron?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Logistic regression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types: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Tanh: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maps to [-1,1]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ReLu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max(0,x)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By adjusting weights: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learn functions!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ftr" idx="5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57" name="Grafik 6" descr="artificial_neuron.png"/>
          <p:cNvPicPr/>
          <p:nvPr/>
        </p:nvPicPr>
        <p:blipFill>
          <a:blip r:embed="rId2"/>
          <a:stretch/>
        </p:blipFill>
        <p:spPr>
          <a:xfrm>
            <a:off x="3500280" y="3214800"/>
            <a:ext cx="4686120" cy="2720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91DF486-73B5-4D02-B488-1AA682F8C5E2}" type="slidenum">
              <a:t>46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5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do some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learning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use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hidden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(our data)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learned values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(learned!)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linear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Linear regression with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features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h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logistic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Logistic regression with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learned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features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h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FNNs are a framework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designing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functions (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algebraic circuits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Information flows forward (but also backward during training, more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Main restriction: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loops!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Computations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seen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directed acyclic graphs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ftr" idx="5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1" name="Grafik 7" descr="fnn_2.png"/>
          <p:cNvPicPr/>
          <p:nvPr/>
        </p:nvPicPr>
        <p:blipFill>
          <a:blip r:embed="rId2"/>
          <a:stretch/>
        </p:blipFill>
        <p:spPr>
          <a:xfrm>
            <a:off x="3860715" y="1442970"/>
            <a:ext cx="4721130" cy="338101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F91C45-C186-4D95-A31A-25FB3CE60374}" type="slidenum">
              <a:t>47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Operations in FNNs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so far: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fully-connected neural network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(useful intuition)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does it compute?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hidden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	  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has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together: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columns, each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 </a:t>
            </a:r>
            <a:r>
              <a:rPr lang="en-US" sz="1800" b="1" i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if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linear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f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 bias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+ b)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constructed as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network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exists 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no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Why do we always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hidden layers then?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ftr" idx="54"/>
          </p:nvPr>
        </p:nvSpPr>
        <p:spPr>
          <a:xfrm>
            <a:off x="684000" y="622116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5" name="Grafik 6" descr="fnn_2.png"/>
          <p:cNvPicPr/>
          <p:nvPr/>
        </p:nvPicPr>
        <p:blipFill>
          <a:blip r:embed="rId2"/>
          <a:stretch/>
        </p:blipFill>
        <p:spPr>
          <a:xfrm>
            <a:off x="3786120" y="1500120"/>
            <a:ext cx="4910400" cy="35236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0B4C8B6-DD33-4830-A62C-0C72F69F3C76}" type="slidenum">
              <a:t>48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Why use Deep Networks?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is a network deep?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well defined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Some say &gt;4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Others say &gt;2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important: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Universality theorem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Formalities about FNN limits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to approximate functions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One takeaway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no depth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needed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Why use depth then?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Hierarchical features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hidden layer is a learned feature vector,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vector to next layer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Component for designing networks: number and size of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Smaller layers force models to learn compact but useful representations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More/larger hidden layers: more freedom, more parameters,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 difficult to train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342900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More parameters -&gt; stronger model, may overfit, requires lots of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ftr" idx="5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9" name="Grafik 6" descr="fnn_3.jpg"/>
          <p:cNvPicPr/>
          <p:nvPr/>
        </p:nvPicPr>
        <p:blipFill>
          <a:blip r:embed="rId2"/>
          <a:stretch/>
        </p:blipFill>
        <p:spPr>
          <a:xfrm>
            <a:off x="4335480" y="1252425"/>
            <a:ext cx="4141440" cy="2499840"/>
          </a:xfrm>
          <a:prstGeom prst="rect">
            <a:avLst/>
          </a:prstGeom>
          <a:ln w="0">
            <a:noFill/>
          </a:ln>
        </p:spPr>
      </p:pic>
      <p:sp>
        <p:nvSpPr>
          <p:cNvPr id="270" name="Textfeld 7"/>
          <p:cNvSpPr/>
          <p:nvPr/>
        </p:nvSpPr>
        <p:spPr>
          <a:xfrm>
            <a:off x="7429680" y="3772035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598E29-353A-4219-B899-2B035E821474}" type="slidenum">
              <a:t>49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" grpId="0" build="p"/>
      <p:bldP spid="27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Regression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design a fully-connected network for regression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real number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many hidden layers?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size/type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to ensure this number of output units?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Linear layer!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Project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down to the size that you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Remember: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matrix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projects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dimensional vector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dimensional vector space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Linear transformations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everywhere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Deep Learning!</a:t>
            </a:r>
          </a:p>
        </p:txBody>
      </p:sp>
      <p:sp>
        <p:nvSpPr>
          <p:cNvPr id="273" name="PlaceHolder 3"/>
          <p:cNvSpPr>
            <a:spLocks noGrp="1"/>
          </p:cNvSpPr>
          <p:nvPr>
            <p:ph type="ftr" idx="5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4" name="Grafik 6" descr="fnn_4.png"/>
          <p:cNvPicPr/>
          <p:nvPr/>
        </p:nvPicPr>
        <p:blipFill>
          <a:blip r:embed="rId2"/>
          <a:stretch/>
        </p:blipFill>
        <p:spPr>
          <a:xfrm>
            <a:off x="4000320" y="1643040"/>
            <a:ext cx="4651560" cy="2280240"/>
          </a:xfrm>
          <a:prstGeom prst="rect">
            <a:avLst/>
          </a:prstGeom>
          <a:ln w="0">
            <a:noFill/>
          </a:ln>
        </p:spPr>
      </p:pic>
      <p:sp>
        <p:nvSpPr>
          <p:cNvPr id="275" name="Textfeld 8"/>
          <p:cNvSpPr/>
          <p:nvPr/>
        </p:nvSpPr>
        <p:spPr>
          <a:xfrm>
            <a:off x="7572240" y="385776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B99EE4B-0090-4CB8-8D2E-D1B48051CDF4}" type="slidenum">
              <a:t>50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2" grpId="0" build="p"/>
      <p:bldP spid="27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Classification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design a fully-connected network for 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one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classes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do we ensure that?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to get predictions?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layer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turns given vector into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probability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probability vector if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[0,1]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for all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(see first tutorial)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layer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linear layer for projection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Input: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 of logits;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probability vector for inference/prediction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ftr" idx="5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9" name="Grafik 6" descr="softmax_1.png"/>
          <p:cNvPicPr/>
          <p:nvPr/>
        </p:nvPicPr>
        <p:blipFill>
          <a:blip r:embed="rId2"/>
          <a:stretch/>
        </p:blipFill>
        <p:spPr>
          <a:xfrm>
            <a:off x="4058926" y="1439506"/>
            <a:ext cx="4452165" cy="3074940"/>
          </a:xfrm>
          <a:prstGeom prst="rect">
            <a:avLst/>
          </a:prstGeom>
          <a:ln w="0">
            <a:noFill/>
          </a:ln>
        </p:spPr>
      </p:pic>
      <p:sp>
        <p:nvSpPr>
          <p:cNvPr id="280" name="Textfeld 7"/>
          <p:cNvSpPr/>
          <p:nvPr/>
        </p:nvSpPr>
        <p:spPr>
          <a:xfrm>
            <a:off x="7429680" y="450072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FF33DD-5DD5-415D-874A-215BF376503B}" type="slidenum">
              <a:t>51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" grpId="0" build="p"/>
      <p:bldP spid="28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Information Flow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“Feed-forward neural networks: information flows forward”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Oversimplified! Important information flows backward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influences design, inspired creation of important components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LSTMs, residual units,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Training often done with gradient-based optimizers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SGD,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Adagrad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(briefly discussed in first tutorial)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Gradient information tells us how to update model parameters!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Forward pass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function we are learning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Backward pass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gradient information to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learn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to compute gradients of functions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 computed by FNNs?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Backpropagation!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ftr" idx="5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84" name="Grafik 6" descr="error_surface.png"/>
          <p:cNvPicPr/>
          <p:nvPr/>
        </p:nvPicPr>
        <p:blipFill>
          <a:blip r:embed="rId2"/>
          <a:stretch/>
        </p:blipFill>
        <p:spPr>
          <a:xfrm>
            <a:off x="5427720" y="3571920"/>
            <a:ext cx="3430440" cy="1928520"/>
          </a:xfrm>
          <a:prstGeom prst="rect">
            <a:avLst/>
          </a:prstGeom>
          <a:ln w="0">
            <a:noFill/>
          </a:ln>
        </p:spPr>
      </p:pic>
      <p:sp>
        <p:nvSpPr>
          <p:cNvPr id="285" name="Textfeld 7"/>
          <p:cNvSpPr/>
          <p:nvPr/>
        </p:nvSpPr>
        <p:spPr>
          <a:xfrm>
            <a:off x="7500960" y="5500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0C888C-4117-4CA0-8218-26A26EEE675D}" type="slidenum">
              <a:t>52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build="p"/>
      <p:bldP spid="28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is a derivative?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dy/dh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asks: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how much does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 when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changes?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gradient is a multidimensional derivative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vector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a function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,…,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is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the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also an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(row)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gradient vector is direction of the largest change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1800" b="1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rate of change are we interested in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much does loss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change when model parameters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change?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output of a compound parameterized function (FNN)?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 = f(y)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g(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1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layer,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2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loss)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Jacobian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matrix 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Same for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ftr" idx="5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A2B5DF-7728-4D51-A644-48E34DABF7AA}" type="slidenum">
              <a:t>53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7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propagate the change/error back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the chain rule!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 chain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g(h)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h = f(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∂y/∂h ∙ ∂h/∂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Take this computation graph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Internal nodes: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operations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Leaves: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learnable weights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	            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= d – label,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 +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want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(which rate of change?)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Chain rule: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c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 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Note that 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useful for both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Reusing gradients is common during backpropagation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ftr" idx="6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92" name="Grafik 6" descr="backprop_1.png"/>
          <p:cNvPicPr/>
          <p:nvPr/>
        </p:nvPicPr>
        <p:blipFill>
          <a:blip r:embed="rId2"/>
          <a:stretch/>
        </p:blipFill>
        <p:spPr>
          <a:xfrm>
            <a:off x="4452120" y="1571760"/>
            <a:ext cx="4334400" cy="2783160"/>
          </a:xfrm>
          <a:prstGeom prst="rect">
            <a:avLst/>
          </a:prstGeom>
          <a:ln w="0">
            <a:noFill/>
          </a:ln>
        </p:spPr>
      </p:pic>
      <p:sp>
        <p:nvSpPr>
          <p:cNvPr id="293" name="Textfeld 7"/>
          <p:cNvSpPr/>
          <p:nvPr/>
        </p:nvSpPr>
        <p:spPr>
          <a:xfrm>
            <a:off x="7715160" y="4357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714BCE4-5FEB-4823-895B-66F4C4E46409}" type="slidenum">
              <a:t>54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" grpId="0" build="p"/>
      <p:bldP spid="29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Perhaps more important, take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Here, gradient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∂c/∂w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multiplied by factor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∙ ∂d/∂c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through minus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through plus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 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operations have impact on their "input" gradients!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Important to consider when designing networks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plus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operator has no effect on gradient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Concat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operator splits gradient into two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E.g. if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either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close to zero,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will be small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other words,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get little info about how to change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improve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small gradients = slow/difficult to learn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Many challenges in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networks, e.g. vanishing gradients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Inspired solutions like LSTMs, residual connections (used in transformers)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Let’s look at a FNN for a practical NLP use case!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ftr" idx="6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E8CEEBF-4E46-4BF4-B421-9B25795CC201}" type="slidenum">
              <a:t>55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5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Recap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Predict the next word: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“Every Thursday there is a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…”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suggests: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Some words are more likely to appear than others given some context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Probabilistically: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meeting|“Every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Thursday there is 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”)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Generally: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 p(w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i="1" strike="noStrike" spc="-1" baseline="-2500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probability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given joint distribution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6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are words/tokens in some fixed vocabulary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the model can process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Such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models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can predict entire sequences with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probability chain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)… 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Useful in many NLP settings, e.g. machine translation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 good language model should identify more common phrases</a:t>
            </a:r>
            <a:endParaRPr lang="en-US" sz="180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p(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This sentence makes sense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&lt; p(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Makes sense this sentence does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/>
          </a:p>
        </p:txBody>
      </p:sp>
      <p:sp>
        <p:nvSpPr>
          <p:cNvPr id="299" name="PlaceHolder 3"/>
          <p:cNvSpPr>
            <a:spLocks noGrp="1"/>
          </p:cNvSpPr>
          <p:nvPr>
            <p:ph type="ftr" idx="6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A5F8A13-33F0-46A4-8103-6B8102E7D621}" type="slidenum">
              <a:t>56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8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Bengio et al. (2003)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proposed FNN that simultaneously learns: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“Distributed representations of words”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(more on this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“Probability function of word sequences expressed in terms of these representations”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Size of word vectors (30, 60, 100) much smaller than vocabulary (17K)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Intuition: similar words have similar feature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training sentence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The cat is walking in the bedroom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generalized to, e.g.: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cat 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running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bedroom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dog is walking in the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did they implement such a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feed-forward neural network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the first time it was done, but the first time at that scale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ftr" idx="6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5EE3BBC-1CBE-447F-9A89-8F38AA580797}" type="slidenum">
              <a:t>57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did they model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mapping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between every word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 ∈ V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Today known as an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embedding layer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get row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embedding matrix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rows, each a vector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that maps input sequence of word vectors to a probability vector of size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component is probability of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word being next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Embeddings are parameters that are learned</a:t>
            </a:r>
            <a:endParaRPr lang="de-DE" sz="2000" b="1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uses these embeddings plus additional parameters </a:t>
            </a:r>
            <a:r>
              <a:rPr lang="el-GR" sz="2000" b="1" strike="noStrike" spc="-1">
                <a:solidFill>
                  <a:srgbClr val="003056"/>
                </a:solidFill>
                <a:latin typeface="Calibri"/>
              </a:rPr>
              <a:t>ω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strike="noStrike" spc="-1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index of word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Overall, they learned 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a composition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with a FNN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C(w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),C(w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)…,C(w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 model parameters are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C,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It’s easy to see what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might look like, but what does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look like?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other words, what did their network architecture look like?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ftr" idx="6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D941F49-DB6A-4783-8726-DD2346C1C28C}" type="slidenum">
              <a:t>58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(3)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Get word vectors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Concatenate vectors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form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rd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Hidden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.)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Optional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linear layer w.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input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(dashed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lines)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5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Overall: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input to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Wx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biases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ftr" idx="6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12" name="Grafik 6" descr="bengio_2.png"/>
          <p:cNvPicPr/>
          <p:nvPr/>
        </p:nvPicPr>
        <p:blipFill>
          <a:blip r:embed="rId2"/>
          <a:stretch/>
        </p:blipFill>
        <p:spPr>
          <a:xfrm>
            <a:off x="3742080" y="1123950"/>
            <a:ext cx="4863420" cy="429076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927140E-91B5-4E50-AA9E-3D76C3FCE569}" type="slidenum">
              <a:t>59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0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(4)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did they train?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estimated </a:t>
            </a:r>
            <a:r>
              <a:rPr lang="el-GR" sz="1800" b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that maximized likelihood of training data (i.e.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MLE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Specifically: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 = 1/T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log f(w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;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+ R(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number of words in training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corpus</a:t>
            </a: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Note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 few things: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average loss over the training set (empirical risk)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Penalizing term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R(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regularization (weight decay on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5715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trained in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self-supervised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manner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yes, there are labels, but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manual labeling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required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they used sequences of length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the training corpus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each sequence, first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m-1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words are input,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target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input to model is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"The capital of Berlin is"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and target is word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"Berlin"</a:t>
            </a: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of these components still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used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in language models (LMs)!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layer, MLE,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empirical risk,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self-supervision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60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23599-26D9-0762-E247-E5F4648AC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>
            <a:extLst>
              <a:ext uri="{FF2B5EF4-FFF2-40B4-BE49-F238E27FC236}">
                <a16:creationId xmlns:a16="http://schemas.microsoft.com/office/drawing/2014/main" id="{670CC62E-7895-7C94-E87A-411FDF545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pc="-1">
                <a:solidFill>
                  <a:srgbClr val="003056"/>
                </a:solidFill>
                <a:latin typeface="Calibri"/>
              </a:rPr>
              <a:t>Visualizing LMs</a:t>
            </a: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 with FNNs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PlaceHolder 2">
            <a:extLst>
              <a:ext uri="{FF2B5EF4-FFF2-40B4-BE49-F238E27FC236}">
                <a16:creationId xmlns:a16="http://schemas.microsoft.com/office/drawing/2014/main" id="{8CDD9AC6-D0CE-2702-6F8C-F2A0302C981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This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is a toy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example with a single hidden layer: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Input matrix is of size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sequence length x hidden dimension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(here: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5 x 4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Each layer projects to chosen hidden size (here: first to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then to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distribut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ion over vocabulary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is given </a:t>
            </a:r>
            <a:r>
              <a:rPr lang="en-US" sz="1800" b="1" spc="-1">
                <a:solidFill>
                  <a:srgbClr val="FF0000"/>
                </a:solidFill>
                <a:latin typeface="Calibri"/>
              </a:rPr>
              <a:t>for each input word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Interpretation of output distribution depends on how model is trained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causal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langua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 models --&gt; next token after preceding tokens</a:t>
            </a:r>
          </a:p>
        </p:txBody>
      </p:sp>
      <p:sp>
        <p:nvSpPr>
          <p:cNvPr id="315" name="PlaceHolder 3">
            <a:extLst>
              <a:ext uri="{FF2B5EF4-FFF2-40B4-BE49-F238E27FC236}">
                <a16:creationId xmlns:a16="http://schemas.microsoft.com/office/drawing/2014/main" id="{A9081C9C-B3EC-B150-38A8-4607D6C62B95}"/>
              </a:ext>
            </a:extLst>
          </p:cNvPr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1903D8A8-0EFB-3985-3F2E-E013E36FD92F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61</a:t>
            </a:fld>
            <a:endParaRPr/>
          </a:p>
        </p:txBody>
      </p:sp>
      <p:pic>
        <p:nvPicPr>
          <p:cNvPr id="2" name="Picture 1" descr="A diagram of a machine&#10;&#10;AI-generated content may be incorrect.">
            <a:extLst>
              <a:ext uri="{FF2B5EF4-FFF2-40B4-BE49-F238E27FC236}">
                <a16:creationId xmlns:a16="http://schemas.microsoft.com/office/drawing/2014/main" id="{615DF96D-90A4-8FDA-34C7-94B91CACC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13" y="1210083"/>
            <a:ext cx="8489984" cy="26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06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Summary: DL </a:t>
            </a:r>
            <a:r>
              <a:rPr lang="en-US" sz="3000" b="1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FNNs: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framework for constructing parameterized real-valued functions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design and learn these functions (algebraic circuits)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Information flows in both directions on these circuits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Forward pass: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 expressivity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Backward pass: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 “learnability”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Backpropagation: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deep networks, chain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Important: we can learn useful features with deep models!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Hidden layers interpreted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learned representations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representations useful in other settings, i.e. transfer learning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style transfer, pre-training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Language modeling with FNNs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by Bengio et al. (2003)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Established many modeling and training components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still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used today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Later in the course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other types of FNNs relevant for NLP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RNNs, transformers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ftr" idx="6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C80696-9AE2-4886-9797-92732599FE5B}" type="slidenum">
              <a:t>62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ftr" idx="6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AB3DA2-D166-40A1-B0CA-84E38AE4FAD8}" type="slidenum">
              <a:t>63</a:t>
            </a:fld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introduce concepts and methods about static word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Sparse vs Dense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Properties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Evaluation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ftr" idx="7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36B58FD-87B4-49A4-B787-87FE2C5D62E7}" type="slidenum">
              <a:t>64</a:t>
            </a:fld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Words? I.e. strings of symbols such as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No, those are representations themselves!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do they represent?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Meaning!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map strings such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concepts (or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senses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refer to this mapping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meaning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what those words refer to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Is meaning a 1-to-1 mapping?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words can have many meanings (remember ambiguity?)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we, humans, handle word ambiguity?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Context!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“I work at a bank.”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What’s more likely?  A financial institution or by the river?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Again, context. Does the person work in Frankfurt? Are they fishermen?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So,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want to represent the relation between words and senses!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ftr" idx="7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906B34-CF09-4DEE-8D84-49355E4CAA3B}" type="slidenum">
              <a:t>65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6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do we want from such representations? Ideally usefulness, e.g.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have similar meanings, e.g. cat and dog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are antonyms, e.g. hot and cold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they have positive or negative connotations, e.g. happy or sad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“Generally, a model of word meaning should allows us to draw inferences to address meaning-related tasks like question answering.”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Martin, 2023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Perhaps we should represent senses, then, not words!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something like WordNet, expert-crafted database of senses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Databases like WordNet have not worked well in practice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Missing nuance, “good” is synonym of “proficient” only in some cases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New meanings missing,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genius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wicked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wizard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dealing with word representations works better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focus on their relation to meaning (based on context)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don’t commit to a given representation of sense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ftr" idx="7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AE1BAB9-896E-4218-9DF8-571C5D3C6477}" type="slidenum">
              <a:t>66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9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Sparse Word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Traditional approach: sparse word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one-hot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vocabulary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represent each word with vector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using one-hot encoding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given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V = {cat, dog, airplane}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[1, 0,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airplane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0, 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1: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very large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Recall Bengio’s work from 2003: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 = 17K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2: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No natural notion of similarity from such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all equally different, e.g. with a dot 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are more similar to each other than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airplane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difficult to draw inferences from such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look at another approach that addresses these issues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ftr" idx="7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38CE2-4945-4489-847E-6A46ABB8AA8A}" type="slidenum">
              <a:t>67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2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Distributed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deep learning community (Geoffrey Hinton in 1986)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Sparse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representational component maps to single represented object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feature in vector corresponds to one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Distributed (or dense)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Many-to-many relation between representational components and represented objects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word is represented with a set of (distributed)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model has freedom to use features “at will“ during learning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Less interpretable than, e.g. one-hot encoding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know what word is represented by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word is this? [0.23, 0.447, 0.02]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vectors to represent words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also has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history in linguistics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Osgood et al. (1957) represented words with 3-dimensional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dimension encoded known useful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(non-learned)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ftr" idx="7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A1A4D35-F2EF-4F42-B443-FE1A6B386F03}" type="slidenum">
              <a:t>68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5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linguistics (Joos, 1950; Harris, 1954; Firth, 1957)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the same concept!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representations !=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distributional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NLP, the latter can be seen as a special case of the former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guess what the word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means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often played in teams of 7.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divided into 3 thirds of 25 minutes each, called runs.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won by scoring 10 points.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would you guess the word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refers to? 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type of food?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sport?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country?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Distributional hypothesis: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“A word is characterized by the company that it keeps.”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(Firth, 1957)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ftr" idx="7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DC7AB89-EA24-40AB-88AE-C34751C8F884}" type="slidenum">
              <a:t>69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8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Put differently: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define the meaning of a word by its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distribution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language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by its neighboring words, grammatical environment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Words whose neighboring words are similar, have similar meanings.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use this idea to build useful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 representations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 words!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co-occurrence matrices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Given defined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, e.g. a document, a sentence, a word window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Construct matrix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of size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600" i="1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x </a:t>
            </a:r>
            <a:r>
              <a:rPr lang="en-US" sz="1600" i="1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600" i="1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is given vocabulary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Rows in matrix are words, columns are also words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denotes number of times word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appears in same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as word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(so, sparse)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Co-occurrence matrices useful in many applications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latent semantic analysis (LSA) --&gt; singular value decomposition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of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endParaRPr lang="de-DE" sz="1800" b="0" i="1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Extracts vector representations from (truncated) left–singular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 count-based methods 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embeddings: 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distributional hypothesis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to learn dense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ftr" idx="7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BEFAC89-D05D-4BC1-B876-452E531FB9DE}" type="slidenum">
              <a:t>70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1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Idea: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embed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higher dimensional vectors into lower dimensional vector space such that (some of) the relative properties of the higher dimensional space are kept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embedding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relatively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low-dimensional vector representation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Low-dimensional compared to,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Size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 LMs typically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between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500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10000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Vectors are dense (distributed)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Historically important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approach: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 err="1">
                <a:solidFill>
                  <a:srgbClr val="0000FF"/>
                </a:solidFill>
                <a:uFillTx/>
                <a:latin typeface="Calibri"/>
                <a:hlinkClick r:id="rId2"/>
              </a:rPr>
              <a:t>Mikolov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 et al. 2013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based on distributional 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Done in the context of deep learning (though this model is not deep)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0" strike="noStrike" spc="-1">
                <a:solidFill>
                  <a:srgbClr val="003056"/>
                </a:solidFill>
                <a:latin typeface="Calibri"/>
              </a:rPr>
              <a:t>Intuition: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Instead of counting words for co-occurrence, let’s train a classifier to predict whether two words are likely to appear in the same context.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approaches proposed for learning such a classifier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Skip-gram and continuous bag of words (CBOW) (we focus on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skip-gram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ftr" idx="7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9C9B694-D142-4B96-A6DC-1A02EBB0E97B}" type="slidenum">
              <a:t>71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4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The Skip-Gram Algorithm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Algorithm for learning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dense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word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Basic steps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Treat target words and neighboring context words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positive examples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Randomly sample other words in vocabulary to get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negative examples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a classifier to predict whether two given words appear together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learned weights as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 negative examples?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some tasks, negative examples often needed to avoid trivial solutions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push all vectors to same point, thus all vectors similar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training objective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poorly designed, such a solution may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"reach objective"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have a look at: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The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The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The training objective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ftr" idx="7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EB71D5E-ECDB-4887-8684-468515AC8B58}" type="slidenum">
              <a:t>72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7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Task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we have the sentence: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 known as [ramen, a Japanese dish that]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w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center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word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context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context window is plus/minus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 few words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in this case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More context --&gt; usually more useful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but not always (more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plus/minus 1 gives us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[a; ???; dish]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Plus/minus 2 gives us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[ramen; a; ???; dish; that]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assumes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no punctuation)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tuple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predict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appears in context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or not</a:t>
            </a:r>
            <a:endParaRPr lang="en-US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So, binary classification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1 -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model these probabilities?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ftr" idx="7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69BADF-696D-418D-8BD2-08A35D384586}" type="slidenum">
              <a:t>73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get probability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Key idea: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based on similarity of corresponding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a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likely to occur near a target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if their corresponding embeddings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similar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w, 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conditionally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independent given embeddings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[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1, …,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|V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]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 We have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l-GR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often omitted for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brevity)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can we represent that similarity?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Skip-gram went with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dot product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didn’t we need a probability?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Ok, then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sigmoid function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Similarly,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1 -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(-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last equality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results from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 property of the logistic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the probability of word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being in context of word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What if I want to provide more context?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More context is better, right?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ftr" idx="8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9D53AC-D6D2-47E7-81FA-9D0C3BC3FA2F}" type="slidenum">
              <a:t>74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compute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P(True|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i="1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:L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size of context window?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Assumption: context words are independent of each other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Computing joint distribution of words in context becomes much simpler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we have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		        P(True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|w,c</a:t>
            </a:r>
            <a:r>
              <a:rPr lang="en-US" sz="2000" i="1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:L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∏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i="1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∑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log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i="1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i="1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is this model parameterized?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It actually learns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two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representations for each word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One for words as targets, one for words as context (just one vocabulary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parameterized by matrices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both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 x 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hyperparameter (embedding size)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other words,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[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was this model trained?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ftr" idx="8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413BF2-AFB7-4873-A9C3-A7A9E03DFC7A}" type="slidenum">
              <a:t>75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6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with Bengio’s LM from 2003: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self-supervision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text corpus (i.e. large sequence of text)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Iterate over sequences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 = L*2 + 1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context window)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each sequence, set center word as target, other words as context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 [known as ramen, a Japanese] dish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w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2. 	… known [as ramen, a Japanese dish]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w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3. 	… known as [ramen, a Japanese dish that]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w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for sequences 1, 2 and 3, you get positive examples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(ramen, known), (ramen, as), (ramen, a), (ramen, Japanese)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(a, as), (a, ramen), (a, Japanese), (a, dish)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(Japanese, ramen), (Japanese, a), (Japanese, dish), (Japanese, that)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ftr" idx="8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B7D4D-4BDF-47A6-9683-B655317C0C9F}" type="slidenum">
              <a:t>76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also need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negative examples!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, we randomly sample words from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as candidates for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(ramen, ostrich), (ramen, the), (ramen, Alaska), 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generated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(hyperparameter) negative examples per positive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Then, given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pos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),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corresponding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neg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and cross entropy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(CE),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have: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Generally, they applied empirical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risk over all training examples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Since this is negative log likelihood (NLL), they did MLE of the training set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ftr" idx="8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64" name="Grafik 6" descr="objective_skipgram.png"/>
          <p:cNvPicPr/>
          <p:nvPr/>
        </p:nvPicPr>
        <p:blipFill>
          <a:blip r:embed="rId2"/>
          <a:stretch/>
        </p:blipFill>
        <p:spPr>
          <a:xfrm>
            <a:off x="2542325" y="2899117"/>
            <a:ext cx="4277516" cy="2451763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247BC3-9645-4765-BB61-1945E5F98004}" type="slidenum">
              <a:t>77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2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Task vs Goal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do we use that task for?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Real-world uses?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word embeddings!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Task designed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model to capture properties (distributional semantics)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Original task was different,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t+j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models have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different tasks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GPT-style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LLMs are autoregressive language models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BERT-style models are masked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Sometimes we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want to use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the model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to make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predictions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Other times, we just want their learned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ftr" idx="8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8D35312-4EC8-42D4-B14E-4DD907AF6C1B}" type="slidenum">
              <a:t>78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6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Other Types of Static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 is useful model for intuition/learning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about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was also successful and is historically important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there are other ways of learning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These are often used in practice as well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GloVe: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stands for Global Vectors (Pennington et al.,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Combines count-based models with methods like 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Constructs co-occurrence matrix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Learns matrix factorization with least squares objective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fasttext: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addresses problem of unknown words in 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new words in test that were not present in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this, they used representations based on subwords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Also 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Static embeddings have some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nice and useful properties!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 the time, they were quite impressive!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ftr" idx="8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3A24A68-0F3E-488E-8791-4FA33EC1A7BF}" type="slidenum">
              <a:t>79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9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Size of context window is important!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(Levy and Goldberg,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affects the representations we learn!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Smaller sizes tend to provide more static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immediate neighborhood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Similarity tends to be based on same parts of speech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E.g. what is similar to Hogwarts with small context window?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 fictional schools, e.g.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Tokyo Jujutsu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High 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Jujutsu Kaisen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Larger sizes tend to focus on similarity based on topic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 words with same part of speech not necessarily related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E.g. what is similar to Hogwarts with larger context window?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Dumbledore, Malfoy, half-blood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This was observed for skip-gram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methods may differ in such properties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it is safe to assume the context window has an impact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ftr" idx="8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7E3A18-0332-423E-83D4-700A3FD29BC7}" type="slidenum">
              <a:t>80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2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capture relational similarity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Parallelogram model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cognitive science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from GloVe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Skip-gram known to capture this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It’s not as smooth all the time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ftr" idx="8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77" name="Grafik 6" descr="parallelogram_analogy.png"/>
          <p:cNvPicPr/>
          <p:nvPr/>
        </p:nvPicPr>
        <p:blipFill>
          <a:blip r:embed="rId2"/>
          <a:stretch/>
        </p:blipFill>
        <p:spPr>
          <a:xfrm>
            <a:off x="5929200" y="1101960"/>
            <a:ext cx="2748960" cy="1612440"/>
          </a:xfrm>
          <a:prstGeom prst="rect">
            <a:avLst/>
          </a:prstGeom>
          <a:ln w="0">
            <a:noFill/>
          </a:ln>
        </p:spPr>
      </p:pic>
      <p:pic>
        <p:nvPicPr>
          <p:cNvPr id="378" name="Grafik 7" descr="glove_relational_meaning.png"/>
          <p:cNvPicPr/>
          <p:nvPr/>
        </p:nvPicPr>
        <p:blipFill>
          <a:blip r:embed="rId3"/>
          <a:stretch/>
        </p:blipFill>
        <p:spPr>
          <a:xfrm>
            <a:off x="4357800" y="2928960"/>
            <a:ext cx="4142880" cy="32360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77B0E0-08E6-49B7-998A-C97AEFD3FBE4}" type="slidenum">
              <a:t>81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1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5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Evaluating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Intrinsic evaluation: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Correlation between similarities of representations with expert-given similarity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WordSim353 (2002): 353 noun pairs,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(plane, car)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SimLex-999 (2015): more difficult,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(cup, mug)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Another approach: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analogy task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(e.g. 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man + woman – king = queen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 used this in their original 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Most important evaluation: extrinsic!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using the representations in NLP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downstream tasks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see if performance improves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downstream task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can be many things, e.g. question answering, machine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translation, summarization, part-of-speech (POS) tagging, etc. 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ftr" idx="8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5A05020-319E-461B-9744-05E1CC22E40E}" type="slidenum">
              <a:t>82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0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Summary: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Sparse vs dense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(distributed) representations</a:t>
            </a: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PROs and CONs to each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methods to learn them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(each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 different task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Distributional semantics</a:t>
            </a:r>
            <a:endParaRPr lang="en-US" sz="2200" b="1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Important principle</a:t>
            </a: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Commonly used to learn word embeddings, language models</a:t>
            </a: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Spoiler: also used when training LLMs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Classic way to learn dense word representations: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the skip-gram task, model and training objective</a:t>
            </a: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Resulting learned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representations have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nice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properties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the future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other tasks for other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masked and autoregressive 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ftr" idx="8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0AF182-5B02-4CFE-9C19-4327ED354AC6}" type="slidenum">
              <a:t>83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3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ftr" idx="9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Natural Language Processing: A Machine Learning Perspective, Zhang et al, 2018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Chapters 2, 3, 4 and 13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et al., 2023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Chapter 3,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Natural Language Processing, Eisenstein, 2018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Chapter 14</a:t>
            </a: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2200" spc="-1">
                <a:solidFill>
                  <a:srgbClr val="003056"/>
                </a:solidFill>
                <a:latin typeface="Calibri"/>
              </a:rPr>
              <a:t>                        </a:t>
            </a:r>
            <a:r>
              <a:rPr lang="en-GB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D9AA3A-4365-4AC7-8856-26803D1B730C}" type="slidenum">
              <a:t>84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5AF3C983-04EA-8384-1257-7CCE7E778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3567392"/>
            <a:ext cx="2000250" cy="933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84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84</vt:i4>
      </vt:variant>
    </vt:vector>
  </HeadingPairs>
  <TitlesOfParts>
    <vt:vector size="86" baseType="lpstr">
      <vt:lpstr>Office Theme</vt:lpstr>
      <vt:lpstr>Office Theme</vt:lpstr>
      <vt:lpstr>Advanced Methods in Text Analytics</vt:lpstr>
      <vt:lpstr>What are representations? (1)</vt:lpstr>
      <vt:lpstr>What are representations? (2)</vt:lpstr>
      <vt:lpstr>Can we learn useful representations?</vt:lpstr>
      <vt:lpstr>Word Embeddings</vt:lpstr>
      <vt:lpstr>Challenges</vt:lpstr>
      <vt:lpstr>Outline</vt:lpstr>
      <vt:lpstr>PowerPoint Presentation</vt:lpstr>
      <vt:lpstr>About this Section</vt:lpstr>
      <vt:lpstr>What is Machine Learning? (1)</vt:lpstr>
      <vt:lpstr>What is Machine Learning? (2)</vt:lpstr>
      <vt:lpstr>What is a Task?</vt:lpstr>
      <vt:lpstr>What is a Model?</vt:lpstr>
      <vt:lpstr>What are Parameters?</vt:lpstr>
      <vt:lpstr>What is Generalization?</vt:lpstr>
      <vt:lpstr>How do we Evaluate a Model?</vt:lpstr>
      <vt:lpstr>How do we Use our Selected Model?</vt:lpstr>
      <vt:lpstr>What are Hyperparameters?</vt:lpstr>
      <vt:lpstr>What about Classification?</vt:lpstr>
      <vt:lpstr>How do we Use Logistic Regression?</vt:lpstr>
      <vt:lpstr>Probability Theory Basics</vt:lpstr>
      <vt:lpstr>Random Variables</vt:lpstr>
      <vt:lpstr>Probability Distributions (1)</vt:lpstr>
      <vt:lpstr>Probability Distributions (2)</vt:lpstr>
      <vt:lpstr>Independence of events</vt:lpstr>
      <vt:lpstr>Sum Rule</vt:lpstr>
      <vt:lpstr>Product Rule</vt:lpstr>
      <vt:lpstr>Joint Distributions (1)</vt:lpstr>
      <vt:lpstr>Joint Distributions (2)</vt:lpstr>
      <vt:lpstr>Conditional Probability</vt:lpstr>
      <vt:lpstr>Conditional Independence</vt:lpstr>
      <vt:lpstr>Bayes‘ Rule</vt:lpstr>
      <vt:lpstr>A Probabilistic Perspective of ML</vt:lpstr>
      <vt:lpstr>Training Models: Parameter Estimation</vt:lpstr>
      <vt:lpstr>Maximum Likelihood Estimation (1)</vt:lpstr>
      <vt:lpstr>Maximum Likelihood Estimation (2)</vt:lpstr>
      <vt:lpstr>Maximum Likelihood Estimation (3)</vt:lpstr>
      <vt:lpstr>Empirical Risk Minimization</vt:lpstr>
      <vt:lpstr>What are Loss Functions?</vt:lpstr>
      <vt:lpstr>Let's Design a Training Objective</vt:lpstr>
      <vt:lpstr>Summary: ML Refresher</vt:lpstr>
      <vt:lpstr>PowerPoint Presentation</vt:lpstr>
      <vt:lpstr>About this Section</vt:lpstr>
      <vt:lpstr>Mathematical Notation</vt:lpstr>
      <vt:lpstr>What is an Artificial Neuron?</vt:lpstr>
      <vt:lpstr>Types of Artificial Neurons</vt:lpstr>
      <vt:lpstr>Feed-forward Neural Networks</vt:lpstr>
      <vt:lpstr>Operations in FNNs</vt:lpstr>
      <vt:lpstr>Why use Deep Networks?</vt:lpstr>
      <vt:lpstr>FNNs for Regression</vt:lpstr>
      <vt:lpstr>FNNs for Classification</vt:lpstr>
      <vt:lpstr>Information Flow</vt:lpstr>
      <vt:lpstr>Backpropagation (1)</vt:lpstr>
      <vt:lpstr>Backpropagation (2)</vt:lpstr>
      <vt:lpstr>Backpropagation (3)</vt:lpstr>
      <vt:lpstr>Language Modeling Recap</vt:lpstr>
      <vt:lpstr>Language Modeling with FNNs (1) </vt:lpstr>
      <vt:lpstr>Language Modeling with FNNs (2) </vt:lpstr>
      <vt:lpstr>Language Modeling with FNNs (3) </vt:lpstr>
      <vt:lpstr>Language Modeling with FNNs (4) </vt:lpstr>
      <vt:lpstr>Visualizing LMs with FNNs</vt:lpstr>
      <vt:lpstr>Summary: DL Basics</vt:lpstr>
      <vt:lpstr>PowerPoint Presentation</vt:lpstr>
      <vt:lpstr>About this Section</vt:lpstr>
      <vt:lpstr>What do we want to represent? (1) </vt:lpstr>
      <vt:lpstr>What do we want to represent? (2) </vt:lpstr>
      <vt:lpstr>Sparse Word Representations</vt:lpstr>
      <vt:lpstr>Distributed Representations</vt:lpstr>
      <vt:lpstr>Distributional Semantics (1)</vt:lpstr>
      <vt:lpstr>Distributional Semantics (2)</vt:lpstr>
      <vt:lpstr>Word Embeddings</vt:lpstr>
      <vt:lpstr>The Skip-Gram Algorithm</vt:lpstr>
      <vt:lpstr>Skip-Gram: The Task</vt:lpstr>
      <vt:lpstr>Skip-Gram: The Model (1)</vt:lpstr>
      <vt:lpstr>Skip-Gram: The Model (2)</vt:lpstr>
      <vt:lpstr>Skip-Gram: The Training Objective (1)</vt:lpstr>
      <vt:lpstr>Skip-Gram: The Training Objective (2)</vt:lpstr>
      <vt:lpstr>Task vs Goal</vt:lpstr>
      <vt:lpstr>Other Types of Static Embeddings</vt:lpstr>
      <vt:lpstr>Properties of Word Embeddings (1)</vt:lpstr>
      <vt:lpstr>Properties of Word Embeddings (2)</vt:lpstr>
      <vt:lpstr>Evaluating Word Embeddings</vt:lpstr>
      <vt:lpstr>Summary: Word Embeddings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106</cp:revision>
  <dcterms:created xsi:type="dcterms:W3CDTF">2018-06-20T08:14:01Z</dcterms:created>
  <dcterms:modified xsi:type="dcterms:W3CDTF">2026-05-26T14:02:18Z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84</vt:i4>
  </property>
</Properties>
</file>