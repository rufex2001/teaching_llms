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  <p:sldId id="299" r:id="rId46"/>
    <p:sldId id="300" r:id="rId47"/>
    <p:sldId id="301" r:id="rId48"/>
    <p:sldId id="302" r:id="rId49"/>
    <p:sldId id="303" r:id="rId50"/>
    <p:sldId id="304" r:id="rId51"/>
    <p:sldId id="305" r:id="rId52"/>
    <p:sldId id="306" r:id="rId53"/>
    <p:sldId id="307" r:id="rId54"/>
    <p:sldId id="308" r:id="rId55"/>
    <p:sldId id="309" r:id="rId56"/>
    <p:sldId id="310" r:id="rId57"/>
    <p:sldId id="311" r:id="rId58"/>
    <p:sldId id="313" r:id="rId59"/>
    <p:sldId id="314" r:id="rId60"/>
    <p:sldId id="315" r:id="rId61"/>
    <p:sldId id="316" r:id="rId62"/>
    <p:sldId id="340" r:id="rId63"/>
    <p:sldId id="317" r:id="rId64"/>
    <p:sldId id="318" r:id="rId65"/>
    <p:sldId id="319" r:id="rId66"/>
    <p:sldId id="320" r:id="rId67"/>
    <p:sldId id="321" r:id="rId68"/>
    <p:sldId id="322" r:id="rId69"/>
    <p:sldId id="323" r:id="rId70"/>
    <p:sldId id="324" r:id="rId71"/>
    <p:sldId id="325" r:id="rId72"/>
    <p:sldId id="326" r:id="rId73"/>
    <p:sldId id="327" r:id="rId74"/>
    <p:sldId id="328" r:id="rId75"/>
    <p:sldId id="329" r:id="rId76"/>
    <p:sldId id="330" r:id="rId77"/>
    <p:sldId id="331" r:id="rId78"/>
    <p:sldId id="332" r:id="rId79"/>
    <p:sldId id="333" r:id="rId80"/>
    <p:sldId id="334" r:id="rId81"/>
    <p:sldId id="335" r:id="rId82"/>
    <p:sldId id="336" r:id="rId83"/>
    <p:sldId id="337" r:id="rId84"/>
    <p:sldId id="338" r:id="rId85"/>
    <p:sldId id="339" r:id="rId86"/>
  </p:sldIdLst>
  <p:sldSz cx="9144000" cy="6858000" type="screen4x3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46F8414-208B-3DAB-50DF-502CAEF45EE8}" v="3" dt="2026-02-24T12:53:56.990"/>
    <p1510:client id="{A1AE0FFE-0D1B-84E1-A187-8ACB01E85335}" v="114" dt="2026-02-23T17:20:44.149"/>
    <p1510:client id="{AA04C08A-1504-6365-C0C7-EF7CE48E9841}" v="295" dt="2026-02-24T12:48:59.288"/>
    <p1510:client id="{BD158DFA-E179-9697-0406-4A0728BBC947}" v="202" dt="2026-02-24T14:45:59.94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84" Type="http://schemas.openxmlformats.org/officeDocument/2006/relationships/slide" Target="slides/slide82.xml"/><Relationship Id="rId89" Type="http://schemas.openxmlformats.org/officeDocument/2006/relationships/theme" Target="theme/theme1.xml"/><Relationship Id="rId16" Type="http://schemas.openxmlformats.org/officeDocument/2006/relationships/slide" Target="slides/slide14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74" Type="http://schemas.openxmlformats.org/officeDocument/2006/relationships/slide" Target="slides/slide72.xml"/><Relationship Id="rId79" Type="http://schemas.openxmlformats.org/officeDocument/2006/relationships/slide" Target="slides/slide77.xml"/><Relationship Id="rId5" Type="http://schemas.openxmlformats.org/officeDocument/2006/relationships/slide" Target="slides/slide3.xml"/><Relationship Id="rId90" Type="http://schemas.openxmlformats.org/officeDocument/2006/relationships/tableStyles" Target="tableStyles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77" Type="http://schemas.openxmlformats.org/officeDocument/2006/relationships/slide" Target="slides/slide75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80" Type="http://schemas.openxmlformats.org/officeDocument/2006/relationships/slide" Target="slides/slide78.xml"/><Relationship Id="rId85" Type="http://schemas.openxmlformats.org/officeDocument/2006/relationships/slide" Target="slides/slide83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slide" Target="slides/slide65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slide" Target="slides/slide68.xml"/><Relationship Id="rId75" Type="http://schemas.openxmlformats.org/officeDocument/2006/relationships/slide" Target="slides/slide73.xml"/><Relationship Id="rId83" Type="http://schemas.openxmlformats.org/officeDocument/2006/relationships/slide" Target="slides/slide81.xml"/><Relationship Id="rId88" Type="http://schemas.openxmlformats.org/officeDocument/2006/relationships/viewProps" Target="viewProps.xml"/><Relationship Id="rId91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slide" Target="slides/slide71.xml"/><Relationship Id="rId78" Type="http://schemas.openxmlformats.org/officeDocument/2006/relationships/slide" Target="slides/slide76.xml"/><Relationship Id="rId81" Type="http://schemas.openxmlformats.org/officeDocument/2006/relationships/slide" Target="slides/slide79.xml"/><Relationship Id="rId86" Type="http://schemas.openxmlformats.org/officeDocument/2006/relationships/slide" Target="slides/slide84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slide" Target="slides/slide74.xml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4" Type="http://schemas.openxmlformats.org/officeDocument/2006/relationships/slide" Target="slides/slide22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66" Type="http://schemas.openxmlformats.org/officeDocument/2006/relationships/slide" Target="slides/slide64.xml"/><Relationship Id="rId87" Type="http://schemas.openxmlformats.org/officeDocument/2006/relationships/presProps" Target="presProps.xml"/><Relationship Id="rId61" Type="http://schemas.openxmlformats.org/officeDocument/2006/relationships/slide" Target="slides/slide59.xml"/><Relationship Id="rId82" Type="http://schemas.openxmlformats.org/officeDocument/2006/relationships/slide" Target="slides/slide80.xml"/><Relationship Id="rId19" Type="http://schemas.openxmlformats.org/officeDocument/2006/relationships/slide" Target="slides/slide1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85BCBE45-F869-46E9-8143-87BA8F3E31E6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subTitle"/>
          </p:nvPr>
        </p:nvSpPr>
        <p:spPr>
          <a:xfrm>
            <a:off x="684000" y="198252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AA9D09CD-7FBB-4039-8152-1CA1A1C20300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BCB94A06-C487-4D9D-BBCE-DFD9119F1B54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F3DF9CF0-28FE-4E69-9AB7-5C3C692A6E65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3FEE168B-668B-4FBC-9E5F-CF0D1993F8C7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subTitle"/>
          </p:nvPr>
        </p:nvSpPr>
        <p:spPr>
          <a:xfrm>
            <a:off x="684000" y="584640"/>
            <a:ext cx="5478840" cy="5289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341748A5-DACA-4AA7-9A80-99984340E9AE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/>
          </p:nvPr>
        </p:nvSpPr>
        <p:spPr>
          <a:xfrm>
            <a:off x="68400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5621E835-E5A5-4EDB-B8B1-F417F6A94F7E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/>
          </p:nvPr>
        </p:nvSpPr>
        <p:spPr>
          <a:xfrm>
            <a:off x="466848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53CF5C9D-E44E-4834-B245-65280C62B372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/>
          </p:nvPr>
        </p:nvSpPr>
        <p:spPr>
          <a:xfrm>
            <a:off x="684000" y="3985200"/>
            <a:ext cx="77756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E2926DC5-B954-4892-B260-7BE44B94A785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77756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/>
          </p:nvPr>
        </p:nvSpPr>
        <p:spPr>
          <a:xfrm>
            <a:off x="684000" y="3985200"/>
            <a:ext cx="77756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01DBF802-25B3-4532-B8C8-51C8D79D3B6B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8400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848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C9F21367-AA2A-4621-BCAC-0FBEABB9200D}" type="slidenum"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/>
          </p:nvPr>
        </p:nvSpPr>
        <p:spPr>
          <a:xfrm>
            <a:off x="3313080" y="198252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/>
          </p:nvPr>
        </p:nvSpPr>
        <p:spPr>
          <a:xfrm>
            <a:off x="5942160" y="198252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/>
          </p:nvPr>
        </p:nvSpPr>
        <p:spPr>
          <a:xfrm>
            <a:off x="684000" y="398520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41" name="PlaceHolder 6"/>
          <p:cNvSpPr>
            <a:spLocks noGrp="1"/>
          </p:cNvSpPr>
          <p:nvPr>
            <p:ph/>
          </p:nvPr>
        </p:nvSpPr>
        <p:spPr>
          <a:xfrm>
            <a:off x="3313080" y="398520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42" name="PlaceHolder 7"/>
          <p:cNvSpPr>
            <a:spLocks noGrp="1"/>
          </p:cNvSpPr>
          <p:nvPr>
            <p:ph/>
          </p:nvPr>
        </p:nvSpPr>
        <p:spPr>
          <a:xfrm>
            <a:off x="5942160" y="398520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208C6881-CD1F-4F08-80EE-39A6DE548299}" type="slidenum"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73F28F9-DAE7-49EF-96E6-39E9B4E70FC2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subTitle"/>
          </p:nvPr>
        </p:nvSpPr>
        <p:spPr>
          <a:xfrm>
            <a:off x="684000" y="198252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CD060D6F-3F72-4005-A2EF-74F69213AF8F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6A47426-FE83-4193-BD67-B19CE36FEA92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EFC58B4-D93D-44C5-8D27-FBD77BBC4179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3C91419-A9D3-410D-A0CF-6214484013F8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subTitle"/>
          </p:nvPr>
        </p:nvSpPr>
        <p:spPr>
          <a:xfrm>
            <a:off x="684000" y="584640"/>
            <a:ext cx="5478840" cy="5289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2E134AA3-2812-4EA6-9F11-B1495ED42130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1" name="PlaceHolder 4"/>
          <p:cNvSpPr>
            <a:spLocks noGrp="1"/>
          </p:cNvSpPr>
          <p:nvPr>
            <p:ph/>
          </p:nvPr>
        </p:nvSpPr>
        <p:spPr>
          <a:xfrm>
            <a:off x="68400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804ADCF-1EE5-4AA0-9450-EC70B6EEC300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4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5" name="PlaceHolder 4"/>
          <p:cNvSpPr>
            <a:spLocks noGrp="1"/>
          </p:cNvSpPr>
          <p:nvPr>
            <p:ph/>
          </p:nvPr>
        </p:nvSpPr>
        <p:spPr>
          <a:xfrm>
            <a:off x="466848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01779E28-4677-43A5-8002-95353C164BCC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/>
          </p:nvPr>
        </p:nvSpPr>
        <p:spPr>
          <a:xfrm>
            <a:off x="684000" y="3985200"/>
            <a:ext cx="77756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CD06436E-91DD-481C-BB43-CF819FE0A331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77756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684000" y="3985200"/>
            <a:ext cx="77756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9FDE6562-14CA-484C-AA40-085A2069209E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76" name="PlaceHolder 4"/>
          <p:cNvSpPr>
            <a:spLocks noGrp="1"/>
          </p:cNvSpPr>
          <p:nvPr>
            <p:ph/>
          </p:nvPr>
        </p:nvSpPr>
        <p:spPr>
          <a:xfrm>
            <a:off x="68400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77" name="PlaceHolder 5"/>
          <p:cNvSpPr>
            <a:spLocks noGrp="1"/>
          </p:cNvSpPr>
          <p:nvPr>
            <p:ph/>
          </p:nvPr>
        </p:nvSpPr>
        <p:spPr>
          <a:xfrm>
            <a:off x="466848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9991201-0106-4425-8145-B2726A5BC53A}" type="slidenum"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80" name="PlaceHolder 3"/>
          <p:cNvSpPr>
            <a:spLocks noGrp="1"/>
          </p:cNvSpPr>
          <p:nvPr>
            <p:ph/>
          </p:nvPr>
        </p:nvSpPr>
        <p:spPr>
          <a:xfrm>
            <a:off x="3313080" y="198252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81" name="PlaceHolder 4"/>
          <p:cNvSpPr>
            <a:spLocks noGrp="1"/>
          </p:cNvSpPr>
          <p:nvPr>
            <p:ph/>
          </p:nvPr>
        </p:nvSpPr>
        <p:spPr>
          <a:xfrm>
            <a:off x="5942160" y="198252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82" name="PlaceHolder 5"/>
          <p:cNvSpPr>
            <a:spLocks noGrp="1"/>
          </p:cNvSpPr>
          <p:nvPr>
            <p:ph/>
          </p:nvPr>
        </p:nvSpPr>
        <p:spPr>
          <a:xfrm>
            <a:off x="684000" y="398520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83" name="PlaceHolder 6"/>
          <p:cNvSpPr>
            <a:spLocks noGrp="1"/>
          </p:cNvSpPr>
          <p:nvPr>
            <p:ph/>
          </p:nvPr>
        </p:nvSpPr>
        <p:spPr>
          <a:xfrm>
            <a:off x="3313080" y="398520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84" name="PlaceHolder 7"/>
          <p:cNvSpPr>
            <a:spLocks noGrp="1"/>
          </p:cNvSpPr>
          <p:nvPr>
            <p:ph/>
          </p:nvPr>
        </p:nvSpPr>
        <p:spPr>
          <a:xfrm>
            <a:off x="5942160" y="398520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2026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43C31503-9F4F-4B3A-93E0-8146C868717F}" type="slidenum"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jpe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e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8"/>
          <p:cNvPicPr/>
          <p:nvPr/>
        </p:nvPicPr>
        <p:blipFill>
          <a:blip r:embed="rId14"/>
          <a:stretch/>
        </p:blipFill>
        <p:spPr>
          <a:xfrm>
            <a:off x="6678000" y="352800"/>
            <a:ext cx="2008800" cy="928440"/>
          </a:xfrm>
          <a:prstGeom prst="rect">
            <a:avLst/>
          </a:prstGeom>
          <a:ln w="0">
            <a:noFill/>
          </a:ln>
        </p:spPr>
      </p:pic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46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Titelmasterformat durch Klicken bearbeiten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" name="PlaceHolder 2"/>
          <p:cNvSpPr>
            <a:spLocks noGrp="1"/>
          </p:cNvSpPr>
          <p:nvPr>
            <p:ph type="dt" idx="1"/>
          </p:nvPr>
        </p:nvSpPr>
        <p:spPr>
          <a:xfrm>
            <a:off x="683640" y="6386400"/>
            <a:ext cx="213336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&lt;date/time&gt;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3" name="PlaceHolder 3"/>
          <p:cNvSpPr>
            <a:spLocks noGrp="1"/>
          </p:cNvSpPr>
          <p:nvPr>
            <p:ph type="ftr" idx="2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4" name="PlaceHolder 4"/>
          <p:cNvSpPr>
            <a:spLocks noGrp="1"/>
          </p:cNvSpPr>
          <p:nvPr>
            <p:ph type="sldNum" idx="3"/>
          </p:nvPr>
        </p:nvSpPr>
        <p:spPr>
          <a:xfrm>
            <a:off x="7405920" y="6134400"/>
            <a:ext cx="105408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r"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1A4E0B92-B712-423F-9FD8-6F38BBB1D21C}" type="slidenum">
              <a:rPr lang="de-DE" sz="1200" b="0" strike="noStrike" spc="-1">
                <a:solidFill>
                  <a:srgbClr val="003056"/>
                </a:solidFill>
                <a:latin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pic>
        <p:nvPicPr>
          <p:cNvPr id="5" name="Grafik 7"/>
          <p:cNvPicPr/>
          <p:nvPr/>
        </p:nvPicPr>
        <p:blipFill>
          <a:blip r:embed="rId15"/>
          <a:srcRect t="12590" b="25700"/>
          <a:stretch/>
        </p:blipFill>
        <p:spPr>
          <a:xfrm>
            <a:off x="0" y="2058840"/>
            <a:ext cx="9143640" cy="3761640"/>
          </a:xfrm>
          <a:prstGeom prst="rect">
            <a:avLst/>
          </a:prstGeom>
          <a:ln w="0">
            <a:noFill/>
          </a:ln>
        </p:spPr>
      </p:pic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400" b="0" strike="noStrike" spc="-1">
                <a:solidFill>
                  <a:srgbClr val="003056"/>
                </a:solidFill>
                <a:latin typeface="Calibri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strike="noStrike" spc="-1">
                <a:solidFill>
                  <a:srgbClr val="003056"/>
                </a:solidFill>
                <a:latin typeface="Calibri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600" b="0" strike="noStrike" spc="-1">
                <a:solidFill>
                  <a:srgbClr val="003056"/>
                </a:solidFill>
                <a:latin typeface="Calibri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600" b="0" strike="noStrike" spc="-1">
                <a:solidFill>
                  <a:srgbClr val="003056"/>
                </a:solidFill>
                <a:latin typeface="Calibri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strike="noStrike" spc="-1">
                <a:solidFill>
                  <a:srgbClr val="003056"/>
                </a:solidFill>
                <a:latin typeface="Calibri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strike="noStrike" spc="-1">
                <a:solidFill>
                  <a:srgbClr val="003056"/>
                </a:solidFill>
                <a:latin typeface="Calibri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strike="noStrike" spc="-1">
                <a:solidFill>
                  <a:srgbClr val="003056"/>
                </a:solidFill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Grafik 8"/>
          <p:cNvPicPr/>
          <p:nvPr/>
        </p:nvPicPr>
        <p:blipFill>
          <a:blip r:embed="rId14"/>
          <a:stretch/>
        </p:blipFill>
        <p:spPr>
          <a:xfrm>
            <a:off x="6678000" y="352800"/>
            <a:ext cx="2008800" cy="928440"/>
          </a:xfrm>
          <a:prstGeom prst="rect">
            <a:avLst/>
          </a:prstGeom>
          <a:ln w="0">
            <a:noFill/>
          </a:ln>
        </p:spPr>
      </p:pic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Titelmasterformat durch Klicken bearbeiten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684000" y="198252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479"/>
              </a:spcBef>
              <a:buClr>
                <a:srgbClr val="003056"/>
              </a:buClr>
              <a:buFont typeface="Arial"/>
              <a:buChar char="•"/>
            </a:pPr>
            <a:r>
              <a:rPr lang="de-DE" sz="2400" b="0" strike="noStrike" spc="-1">
                <a:solidFill>
                  <a:srgbClr val="003056"/>
                </a:solidFill>
                <a:latin typeface="Calibri"/>
              </a:rPr>
              <a:t>Formatvorlagen des Textmasters bearbeiten</a:t>
            </a:r>
          </a:p>
          <a:p>
            <a:pPr marL="743040" lvl="1" indent="-28584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–"/>
            </a:pPr>
            <a:r>
              <a:rPr lang="de-DE" sz="2000" b="0" strike="noStrike" spc="-1">
                <a:solidFill>
                  <a:srgbClr val="003056"/>
                </a:solidFill>
                <a:latin typeface="Calibri"/>
              </a:rPr>
              <a:t>Zweite Ebene</a:t>
            </a:r>
          </a:p>
          <a:p>
            <a:pPr marL="1143000" lvl="2" indent="-2286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de-DE" sz="1800" b="0" strike="noStrike" spc="-1">
                <a:solidFill>
                  <a:srgbClr val="003056"/>
                </a:solidFill>
                <a:latin typeface="Calibri"/>
              </a:rPr>
              <a:t>Dritte Ebene</a:t>
            </a:r>
          </a:p>
          <a:p>
            <a:pPr marL="1600200" lvl="3" indent="-2286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–"/>
            </a:pPr>
            <a:r>
              <a:rPr lang="de-DE" sz="1600" b="0" strike="noStrike" spc="-1">
                <a:solidFill>
                  <a:srgbClr val="003056"/>
                </a:solidFill>
                <a:latin typeface="Calibri"/>
              </a:rPr>
              <a:t>Vierte Ebene</a:t>
            </a:r>
          </a:p>
          <a:p>
            <a:pPr marL="2057400" lvl="4" indent="-2286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»"/>
            </a:pPr>
            <a:r>
              <a:rPr lang="de-DE" sz="1600" b="0" strike="noStrike" spc="-1">
                <a:solidFill>
                  <a:srgbClr val="003056"/>
                </a:solidFill>
                <a:latin typeface="Calibri"/>
              </a:rPr>
              <a:t>Fünfte Ebene</a:t>
            </a:r>
          </a:p>
        </p:txBody>
      </p:sp>
      <p:sp>
        <p:nvSpPr>
          <p:cNvPr id="46" name="PlaceHolder 3"/>
          <p:cNvSpPr>
            <a:spLocks noGrp="1"/>
          </p:cNvSpPr>
          <p:nvPr>
            <p:ph type="dt" idx="4"/>
          </p:nvPr>
        </p:nvSpPr>
        <p:spPr>
          <a:xfrm>
            <a:off x="683640" y="6386400"/>
            <a:ext cx="213336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&lt;date/time&gt;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ftr" idx="5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sldNum" idx="6"/>
          </p:nvPr>
        </p:nvSpPr>
        <p:spPr>
          <a:xfrm>
            <a:off x="7405920" y="6134400"/>
            <a:ext cx="105408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r"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6537AA06-5FD6-4D5A-BB12-855956BB8460}" type="slidenum">
              <a:rPr lang="de-DE" sz="1200" b="0" strike="noStrike" spc="-1">
                <a:solidFill>
                  <a:srgbClr val="003056"/>
                </a:solidFill>
                <a:latin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towardsdatascience.com/a-guide-to-word-embeddings-8a23817ab60f" TargetMode="Externa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sphweb.bumc.bu.edu/otlt/MPH-Modules/BS/BS704-EP713_MultivariableMethods/" TargetMode="External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generated/sklearn.linear_model.LinearRegression.html" TargetMode="External"/><Relationship Id="rId2" Type="http://schemas.openxmlformats.org/officeDocument/2006/relationships/hyperlink" Target="https://en.wikipedia.org/wiki/Automated_machine_learning" TargetMode="Externa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www.jmlr.org/papers/volume13/bergstra12a/bergstra12a.pdf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eksforgeeks.org/understanding-logistic-regression/" TargetMode="Externa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3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dasha.ai/en-us/blog/log-loss-function" TargetMode="Externa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hvidberrrg.github.io/deep_learning/activation_functions_in_artificial_neural_networks.html" TargetMode="External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3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buffml.com/neural-network-from-scratch/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13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@rajatgupta310198/getting-started-with-neural-network-for-regression-and-tensorflow-58ad3bd75223" TargetMode="External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3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esearchgate.net/figure/Softmax-layer-with-neural-network-31_fig2_349823091" TargetMode="External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3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hyperlink" Target="https://towardsdatascience.com/coding-deep-learning-for-beginners-linear-regression-gradient-descent-fcd5e0fc077d" TargetMode="External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3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hyperlink" Target="https://blog.paperspace.com/pytorch-101-understanding-graphs-and-automatic-differentiation/" TargetMode="External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3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jmlr.org/papers/volume3/bengio03a/bengio03a.pdf" TargetMode="External"/><Relationship Id="rId1" Type="http://schemas.openxmlformats.org/officeDocument/2006/relationships/slideLayout" Target="../slideLayouts/slideLayout13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3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3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1310.4546.pdf" TargetMode="External"/><Relationship Id="rId2" Type="http://schemas.openxmlformats.org/officeDocument/2006/relationships/hyperlink" Target="https://arxiv.org/pdf/1301.3781.pdf" TargetMode="External"/><Relationship Id="rId1" Type="http://schemas.openxmlformats.org/officeDocument/2006/relationships/slideLayout" Target="../slideLayouts/slideLayout13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3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3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46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2400" b="1" strike="noStrike" spc="-1">
                <a:solidFill>
                  <a:srgbClr val="003056"/>
                </a:solidFill>
                <a:latin typeface="Calibri"/>
              </a:rPr>
              <a:t>Advanced Methods in Text Analytics</a:t>
            </a:r>
            <a:endParaRPr lang="de-DE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 type="subTitle"/>
          </p:nvPr>
        </p:nvSpPr>
        <p:spPr>
          <a:xfrm>
            <a:off x="684000" y="1051200"/>
            <a:ext cx="5478840" cy="395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Word Representations</a:t>
            </a:r>
            <a:endParaRPr lang="en-US" sz="3000" b="0" strike="noStrike" spc="-1">
              <a:latin typeface="Arial"/>
            </a:endParaRPr>
          </a:p>
        </p:txBody>
      </p:sp>
      <p:sp>
        <p:nvSpPr>
          <p:cNvPr id="87" name="PlaceHolder 3"/>
          <p:cNvSpPr>
            <a:spLocks noGrp="1"/>
          </p:cNvSpPr>
          <p:nvPr>
            <p:ph type="ftr" idx="7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D1CA51C5-D7BA-4E37-8FB0-1C3F16491004}" type="slidenum">
              <a:t>1</a:t>
            </a:fld>
            <a:endParaRPr/>
          </a:p>
        </p:txBody>
      </p:sp>
      <p:pic>
        <p:nvPicPr>
          <p:cNvPr id="2" name="Picture 1" descr="A grey and black sign with a person in a circle&#10;&#10;AI-generated content may be incorrect.">
            <a:extLst>
              <a:ext uri="{FF2B5EF4-FFF2-40B4-BE49-F238E27FC236}">
                <a16:creationId xmlns:a16="http://schemas.microsoft.com/office/drawing/2014/main" id="{A6EB16EE-C50D-9D48-8E6B-5D8EC6E31B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4309" y="5976378"/>
            <a:ext cx="1342465" cy="485775"/>
          </a:xfrm>
          <a:prstGeom prst="rect">
            <a:avLst/>
          </a:prstGeom>
        </p:spPr>
      </p:pic>
      <p:sp>
        <p:nvSpPr>
          <p:cNvPr id="4" name="TextBox 5">
            <a:extLst>
              <a:ext uri="{FF2B5EF4-FFF2-40B4-BE49-F238E27FC236}">
                <a16:creationId xmlns:a16="http://schemas.microsoft.com/office/drawing/2014/main" id="{22682AD7-232E-1FE6-8B66-ED09608E2651}"/>
              </a:ext>
            </a:extLst>
          </p:cNvPr>
          <p:cNvSpPr txBox="1"/>
          <p:nvPr/>
        </p:nvSpPr>
        <p:spPr>
          <a:xfrm>
            <a:off x="3999178" y="6089113"/>
            <a:ext cx="4143858" cy="276999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spc="-1">
                <a:solidFill>
                  <a:srgbClr val="003056"/>
                </a:solidFill>
                <a:latin typeface="Calibri"/>
                <a:hlinkClick r:id="rId3"/>
              </a:rPr>
              <a:t>Licensed under Creative Commons Attribution 4.0 International</a:t>
            </a:r>
            <a:endParaRPr lang="en-US" sz="1200" spc="-1">
              <a:solidFill>
                <a:srgbClr val="003056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What are representations? (1)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ftr" idx="8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Let’s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represent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 hypothetical country called Countryland!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What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features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should we use?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Area size? E.g. 400.000 km</a:t>
            </a:r>
            <a:r>
              <a:rPr lang="en-US" sz="1800" b="0" strike="noStrike" spc="-1" baseline="30000">
                <a:solidFill>
                  <a:srgbClr val="003056"/>
                </a:solidFill>
                <a:latin typeface="Calibri"/>
              </a:rPr>
              <a:t>2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Population size? E.g. 20M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Continent? E.g. Europe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,Sans-Serif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  <a:cs typeface="Arial"/>
              </a:rPr>
              <a:t>Let’s group those features as a single 3D </a:t>
            </a:r>
            <a:r>
              <a:rPr lang="en-US" sz="2000" b="1" spc="-1">
                <a:solidFill>
                  <a:srgbClr val="003056"/>
                </a:solidFill>
                <a:latin typeface="Calibri"/>
                <a:cs typeface="Arial"/>
              </a:rPr>
              <a:t>feature vector </a:t>
            </a: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Font typeface="Arial,Sans-Serif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Countryland: (400.000; 20M; ‘Central Europe’)</a:t>
            </a:r>
            <a:endParaRPr lang="en-US" sz="1800"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Features can have different types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Real or integer numbers, e.g. population size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Categorical, e.g. the continents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We refer to that vector as a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representation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of ‘Countryland’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Is that useful for, say, inferring size of the economy?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B767C53-A7C0-4094-9C6C-3FD9304F3137}" type="slidenum">
              <a:t>2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0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What are representations? (2)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 type="ftr" idx="9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How about the following features then?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GDP? E.g. 50 billion USD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Interest rate? E.g. 2.2%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Inflation rate? E.g. 7.2%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This gives us a different representation of Countryland: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(50B; 2.2; 7.2)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Manually constructing representations: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feature engineering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Often requires expertise in the area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E.g. ‘government debt to GDP’ is a common metric in Economics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Feature vectors: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most typical form of input to machine learning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 (ML)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methods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2BCA9A04-84BE-4785-BB82-A9E2900728CF}" type="slidenum">
              <a:t>3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Can we </a:t>
            </a:r>
            <a:r>
              <a:rPr lang="de-DE" sz="3000" b="1" i="1" strike="noStrike" spc="-1">
                <a:solidFill>
                  <a:srgbClr val="003056"/>
                </a:solidFill>
                <a:latin typeface="Calibri"/>
              </a:rPr>
              <a:t>learn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 useful representations?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 type="ftr" idx="10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96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Can we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learn useful features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Then no more feature engineering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We may not even need an Economics degree to get useful features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Yes!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Deep Learning (DL) methods are useful for this.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But ML/DL is mostly engineering, so back to square one?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No! These methods are applicable to any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domain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e.g.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economics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applied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mathematics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etc.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The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learned representations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may be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generally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useful, e.g. word representations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Potentially useful for any application with text as input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69860CDB-7641-4784-ABC9-1DEDE14C72BE}" type="slidenum">
              <a:t>4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9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9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9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9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4" dur="500"/>
                                        <p:tgtEl>
                                          <p:spTgt spid="9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9" dur="500"/>
                                        <p:tgtEl>
                                          <p:spTgt spid="9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2" dur="500"/>
                                        <p:tgtEl>
                                          <p:spTgt spid="9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Word Embeddings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8" name="PlaceHolder 2"/>
          <p:cNvSpPr>
            <a:spLocks noGrp="1"/>
          </p:cNvSpPr>
          <p:nvPr>
            <p:ph type="ftr" idx="11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99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1285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Learned vector representations of words/tokens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Can be learned in several different ways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Classic example: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word2vec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00" name="Textfeld 7"/>
          <p:cNvSpPr/>
          <p:nvPr/>
        </p:nvSpPr>
        <p:spPr>
          <a:xfrm>
            <a:off x="1000080" y="2214720"/>
            <a:ext cx="721476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indent="-216000">
              <a:lnSpc>
                <a:spcPct val="100000"/>
              </a:lnSpc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Useful geometrical properties between related word vectors</a:t>
            </a:r>
            <a:endParaRPr lang="en-US" sz="1800" b="0" strike="noStrike" spc="-1">
              <a:latin typeface="Arial"/>
            </a:endParaRPr>
          </a:p>
        </p:txBody>
      </p:sp>
      <p:sp>
        <p:nvSpPr>
          <p:cNvPr id="101" name="Textfeld 8"/>
          <p:cNvSpPr/>
          <p:nvPr/>
        </p:nvSpPr>
        <p:spPr>
          <a:xfrm>
            <a:off x="6858000" y="5786280"/>
            <a:ext cx="1285560" cy="302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400" b="0" u="sng" strike="noStrike" spc="-1">
                <a:solidFill>
                  <a:srgbClr val="0000FF"/>
                </a:solidFill>
                <a:uFillTx/>
                <a:latin typeface="Calibri"/>
                <a:hlinkClick r:id="rId2"/>
              </a:rPr>
              <a:t>Image source</a:t>
            </a:r>
            <a:endParaRPr lang="en-US" sz="1400" b="0" strike="noStrike" spc="-1">
              <a:latin typeface="Arial"/>
            </a:endParaRPr>
          </a:p>
        </p:txBody>
      </p:sp>
      <p:pic>
        <p:nvPicPr>
          <p:cNvPr id="102" name="Grafik 9" descr="word_embeddings.png"/>
          <p:cNvPicPr/>
          <p:nvPr/>
        </p:nvPicPr>
        <p:blipFill>
          <a:blip r:embed="rId3"/>
          <a:stretch/>
        </p:blipFill>
        <p:spPr>
          <a:xfrm>
            <a:off x="785880" y="2857320"/>
            <a:ext cx="7768080" cy="300816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CBE98F2D-435E-475F-96B4-642AE38F9BBC}" type="slidenum">
              <a:t>5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10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20" presetID="3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22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6" dur="500"/>
                                        <p:tgtEl>
                                          <p:spTgt spid="1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9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Challenges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4" name="PlaceHolder 2"/>
          <p:cNvSpPr>
            <a:spLocks noGrp="1"/>
          </p:cNvSpPr>
          <p:nvPr>
            <p:ph type="ftr" idx="12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05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Not straightforward as previous examples suggest!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Vector spaces with hundreds or thousands of dimensions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Variety in methods for learning word representations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Thus, many challenges!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Here's some examples of those challenges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Interpretability: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Learned features often not interpretable (real numbers)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Geometric properties of space not straightforward (high-dimensional space)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Cost: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Train on terabytes of text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Latest LLMs have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trillions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of parameters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GPU memory limited</a:t>
            </a:r>
          </a:p>
          <a:p>
            <a:pPr marL="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This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fixed (static) word -&gt; vector </a:t>
            </a:r>
            <a:r>
              <a:rPr lang="en-US" sz="2000" b="1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mapping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seldom used 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anymore</a:t>
            </a:r>
          </a:p>
          <a:p>
            <a:pPr marL="74295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But still part of architectures, relevant to understand representations</a:t>
            </a:r>
          </a:p>
          <a:p>
            <a:pPr marL="74295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>
              <a:solidFill>
                <a:srgbClr val="003056"/>
              </a:solidFill>
              <a:latin typeface="Calibri"/>
            </a:endParaRPr>
          </a:p>
          <a:p>
            <a:pPr marL="74295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1600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CC22FC92-7BBC-4039-A7FD-8D589B99981A}" type="slidenum">
              <a:t>6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5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Outline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7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79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2400" b="0" strike="noStrike" spc="-1">
                <a:solidFill>
                  <a:srgbClr val="003056"/>
                </a:solidFill>
                <a:latin typeface="Calibri"/>
              </a:rPr>
              <a:t>Machine Learning </a:t>
            </a:r>
            <a:r>
              <a:rPr lang="en-US" sz="2400" spc="-1">
                <a:solidFill>
                  <a:srgbClr val="003056"/>
                </a:solidFill>
                <a:latin typeface="Calibri"/>
              </a:rPr>
              <a:t>Refresher</a:t>
            </a:r>
            <a:endParaRPr lang="de-DE" sz="2400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79"/>
              </a:spcBef>
              <a:buClr>
                <a:srgbClr val="003056"/>
              </a:buClr>
              <a:buAutoNum type="arabicPeriod"/>
            </a:pPr>
            <a:endParaRPr lang="en-US" sz="2400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79"/>
              </a:spcBef>
              <a:buClr>
                <a:srgbClr val="003056"/>
              </a:buClr>
              <a:buAutoNum type="arabicPeriod"/>
            </a:pPr>
            <a:endParaRPr lang="en-US" sz="2400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79"/>
              </a:spcBef>
              <a:buClr>
                <a:srgbClr val="003056"/>
              </a:buClr>
              <a:buAutoNum type="arabicPeriod"/>
            </a:pPr>
            <a:r>
              <a:rPr lang="en-US" sz="2400" spc="-1">
                <a:solidFill>
                  <a:srgbClr val="003056"/>
                </a:solidFill>
                <a:latin typeface="Calibri"/>
              </a:rPr>
              <a:t>Deep</a:t>
            </a:r>
            <a:r>
              <a:rPr lang="en-US" sz="2400" b="0" strike="noStrike" spc="-1">
                <a:solidFill>
                  <a:srgbClr val="003056"/>
                </a:solidFill>
                <a:latin typeface="Calibri"/>
              </a:rPr>
              <a:t> Learning </a:t>
            </a:r>
            <a:r>
              <a:rPr lang="en-US" sz="2400" spc="-1">
                <a:solidFill>
                  <a:srgbClr val="003056"/>
                </a:solidFill>
                <a:latin typeface="Calibri"/>
              </a:rPr>
              <a:t>Basics</a:t>
            </a: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79"/>
              </a:spcBef>
              <a:buClr>
                <a:srgbClr val="003056"/>
              </a:buClr>
              <a:buAutoNum type="arabicPeriod"/>
              <a:tabLst>
                <a:tab pos="0" algn="l"/>
              </a:tabLst>
            </a:pPr>
            <a:endParaRPr lang="en-US" sz="2400" spc="-1">
              <a:solidFill>
                <a:srgbClr val="003056"/>
              </a:solidFill>
              <a:latin typeface="DejaVu Sans"/>
              <a:ea typeface="Calibri"/>
              <a:cs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79"/>
              </a:spcBef>
              <a:buClr>
                <a:srgbClr val="003056"/>
              </a:buClr>
              <a:buAutoNum type="arabicPeriod"/>
              <a:tabLst>
                <a:tab pos="0" algn="l"/>
              </a:tabLst>
            </a:pPr>
            <a:endParaRPr lang="en-US" sz="2400" spc="-1">
              <a:solidFill>
                <a:srgbClr val="003056"/>
              </a:solidFill>
              <a:latin typeface="DejaVu Sans"/>
              <a:ea typeface="Calibri"/>
              <a:cs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79"/>
              </a:spcBef>
              <a:buClr>
                <a:srgbClr val="003056"/>
              </a:buClr>
              <a:buAutoNum type="arabicPeriod"/>
              <a:tabLst>
                <a:tab pos="0" algn="l"/>
              </a:tabLst>
            </a:pPr>
            <a:r>
              <a:rPr lang="en-US" sz="24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Word Embeddings</a:t>
            </a:r>
          </a:p>
          <a:p>
            <a:pPr marL="0" indent="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en-US" sz="2400" spc="-1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856615" indent="-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08" name="PlaceHolder 3"/>
          <p:cNvSpPr>
            <a:spLocks noGrp="1"/>
          </p:cNvSpPr>
          <p:nvPr>
            <p:ph type="ftr" idx="13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40892CA-4057-4036-A92D-D163574F958A}" type="slidenum">
              <a:t>7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0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479"/>
              </a:spcBef>
              <a:buNone/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79"/>
              </a:spcBef>
              <a:buNone/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 algn="ctr">
              <a:lnSpc>
                <a:spcPct val="100000"/>
              </a:lnSpc>
              <a:spcBef>
                <a:spcPts val="720"/>
              </a:spcBef>
              <a:buNone/>
              <a:tabLst>
                <a:tab pos="0" algn="l"/>
              </a:tabLst>
            </a:pPr>
            <a:r>
              <a:rPr lang="en-US" sz="3600" b="1" strike="noStrike" spc="-1">
                <a:solidFill>
                  <a:srgbClr val="003056"/>
                </a:solidFill>
                <a:latin typeface="Calibri"/>
              </a:rPr>
              <a:t>Machine Learning Refresher</a:t>
            </a:r>
            <a:endParaRPr lang="de-DE" sz="36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11" name="PlaceHolder 3"/>
          <p:cNvSpPr>
            <a:spLocks noGrp="1"/>
          </p:cNvSpPr>
          <p:nvPr>
            <p:ph type="ftr" idx="14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26DEDC5-511C-4E1E-84D5-00BF659917DF}" type="slidenum">
              <a:t>8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About this Section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3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Goal: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discuss basic concepts and terms that will be useful for the entire course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Outline: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716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Basic Machine Learning Concepts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716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Probability Theory Refresher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716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Maximum Likelihood Estimation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716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Summary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14" name="PlaceHolder 3"/>
          <p:cNvSpPr>
            <a:spLocks noGrp="1"/>
          </p:cNvSpPr>
          <p:nvPr>
            <p:ph type="ftr" idx="15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E603E340-2B23-4B4F-8609-50906DBE7E0C}" type="slidenum">
              <a:t>9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What is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Machine Learning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? (1)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6" name="PlaceHolder 2"/>
          <p:cNvSpPr>
            <a:spLocks noGrp="1"/>
          </p:cNvSpPr>
          <p:nvPr>
            <p:ph type="ftr" idx="16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17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Methods for developing algorithms by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learning from data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 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 contrast to manually coding knowledge we already have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Example: flying a helicopter (how many situations must we consider?)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Umbrella term encompassing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many families of methods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E.g. Inductive Logic Programming, Deep Learning, etc.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Related (umbrella) terms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Artificial Intelligence: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solutions that show intelligent behavior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Data Mining: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extract value from data (ML usually part of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that pipeline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Machine learning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in this course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Mostly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deep learning and related methods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AFB4C55E-ADA9-43FE-9089-05ADC0F075DE}" type="slidenum">
              <a:t>10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1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1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1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6" dur="500"/>
                                        <p:tgtEl>
                                          <p:spTgt spid="11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9" dur="500"/>
                                        <p:tgtEl>
                                          <p:spTgt spid="11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2" dur="500"/>
                                        <p:tgtEl>
                                          <p:spTgt spid="11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7" dur="500"/>
                                        <p:tgtEl>
                                          <p:spTgt spid="11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0" dur="500"/>
                                        <p:tgtEl>
                                          <p:spTgt spid="11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What is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Machine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Learning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? (2)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9" name="PlaceHolder 2"/>
          <p:cNvSpPr>
            <a:spLocks noGrp="1"/>
          </p:cNvSpPr>
          <p:nvPr>
            <p:ph type="ftr" idx="17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20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Classic definition: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“A computer program is said to learn from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experience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E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with respect to some class of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tasks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T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and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performance measure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if its performance, as measured by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improves with experience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.”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2514600" indent="-2286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r>
              <a:rPr lang="en-US" sz="1800" b="0" strike="noStrike" spc="-1">
                <a:solidFill>
                  <a:srgbClr val="000000"/>
                </a:solidFill>
                <a:latin typeface="Calibri"/>
              </a:rPr>
              <a:t>			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Tom Mitchell, Machine Learning, 1997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Experience: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data in some format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 our case, text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 (that needs to be processed so models can "read" it)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Tasks: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depends on perspective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ML: classification, regression, etc.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NLP: machine translation, question answering, etc.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Performance measure: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depends on task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E.g. F1 score for classification tasks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, ROUGE scores for summarization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066281D-3BC5-4AD4-96F4-28BF62064C08}" type="slidenum">
              <a:t>11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0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What is a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Task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?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2" name="PlaceHolder 2"/>
          <p:cNvSpPr>
            <a:spLocks noGrp="1"/>
          </p:cNvSpPr>
          <p:nvPr>
            <p:ph type="ftr" idx="18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23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2428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Task: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predict weight of a person (regression, supervised)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Data: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How do we represent a person?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Let’s go with a simple 2D vector: (height, weight)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We might see a linear relation between input and target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Input: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1D feature vector (usually denoted by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1800" b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here: height)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Target: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weight (usually denoted by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y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here: real number)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24" name="Textfeld 6"/>
          <p:cNvSpPr/>
          <p:nvPr/>
        </p:nvSpPr>
        <p:spPr>
          <a:xfrm>
            <a:off x="5743440" y="5873337"/>
            <a:ext cx="1714320" cy="302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400" b="0" u="sng" strike="noStrike" spc="-1">
                <a:solidFill>
                  <a:srgbClr val="0000FF"/>
                </a:solidFill>
                <a:uFillTx/>
                <a:latin typeface="Calibri"/>
                <a:hlinkClick r:id="rId2"/>
              </a:rPr>
              <a:t>Example source</a:t>
            </a:r>
            <a:endParaRPr lang="en-US" sz="1400" b="0" strike="noStrike" spc="-1">
              <a:latin typeface="Arial"/>
            </a:endParaRPr>
          </a:p>
        </p:txBody>
      </p:sp>
      <p:pic>
        <p:nvPicPr>
          <p:cNvPr id="125" name="Grafik 7" descr="linear_reg_0.png"/>
          <p:cNvPicPr/>
          <p:nvPr/>
        </p:nvPicPr>
        <p:blipFill>
          <a:blip r:embed="rId3"/>
          <a:stretch/>
        </p:blipFill>
        <p:spPr>
          <a:xfrm>
            <a:off x="1857240" y="3286080"/>
            <a:ext cx="4983480" cy="264276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CD4E18C7-59F1-452C-A998-D3F571525B68}" type="slidenum">
              <a:t>12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3" grpId="0" build="p"/>
      <p:bldP spid="12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What is a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Model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?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 type="ftr" idx="19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28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Family of methods that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we choose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Each comes with a set of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assumptions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E.g. 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based on observed data, assume linear relation between height and weight</a:t>
            </a:r>
            <a:endParaRPr lang="en-US" sz="1800" b="1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Thus, we choose a </a:t>
            </a:r>
            <a:r>
              <a:rPr lang="en-US" sz="1800" strike="noStrike" spc="-1">
                <a:solidFill>
                  <a:srgbClr val="003056"/>
                </a:solidFill>
                <a:latin typeface="Calibri"/>
              </a:rPr>
              <a:t>linear regression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model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Linear regression:</a:t>
            </a:r>
            <a:endParaRPr lang="de-DE" sz="2000" b="1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Main assumption: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linear relation between inputs and output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Formally: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learn function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f(x) = y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 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Here: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f(height) = weight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This model comes from statistics, studied more formally, e.g. more assumptions, ML more "relaxed", focuses on learning (generalizing)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How exactly do we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learn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 function?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To get there, we need to talk about parameters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042DF7CF-A31F-40F7-AD6F-63E7D55D72CE}" type="slidenum">
              <a:t>13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8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What are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Parameters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?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 type="ftr" idx="20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2285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We can describe assumption in linear regression with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equation of a line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y = mx + b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where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m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is slope and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b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is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y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-intercept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 our case: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weight = m height + b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Thus, we have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two parameters: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m, b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Each value assignment of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m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b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: different member of linear regression family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132" name="Grafik 7" descr="linear_reg_2.png"/>
          <p:cNvPicPr/>
          <p:nvPr/>
        </p:nvPicPr>
        <p:blipFill>
          <a:blip r:embed="rId2"/>
          <a:stretch/>
        </p:blipFill>
        <p:spPr>
          <a:xfrm>
            <a:off x="3429000" y="3429000"/>
            <a:ext cx="5143320" cy="2727720"/>
          </a:xfrm>
          <a:prstGeom prst="rect">
            <a:avLst/>
          </a:prstGeom>
          <a:ln w="0">
            <a:noFill/>
          </a:ln>
        </p:spPr>
      </p:pic>
      <p:sp>
        <p:nvSpPr>
          <p:cNvPr id="133" name="Textfeld 8"/>
          <p:cNvSpPr/>
          <p:nvPr/>
        </p:nvSpPr>
        <p:spPr>
          <a:xfrm>
            <a:off x="1143000" y="3500280"/>
            <a:ext cx="2214360" cy="175287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indent="-215900">
              <a:buClr>
                <a:srgbClr val="000000"/>
              </a:buClr>
              <a:buFont typeface="Arial"/>
              <a:buChar char="•"/>
            </a:pPr>
            <a:r>
              <a:rPr lang="en-US" spc="-1">
                <a:solidFill>
                  <a:srgbClr val="000000"/>
                </a:solidFill>
                <a:latin typeface="Calibri"/>
              </a:rPr>
              <a:t> 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Which one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fits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the data better?</a:t>
            </a:r>
            <a:endParaRPr lang="en-US" sz="1800" b="0" strike="noStrike" spc="-1">
              <a:latin typeface="Arial"/>
            </a:endParaRPr>
          </a:p>
          <a:p>
            <a:pPr indent="-215900">
              <a:buClr>
                <a:srgbClr val="003056"/>
              </a:buClr>
              <a:buFont typeface="Arial"/>
              <a:buChar char="•"/>
            </a:pPr>
            <a:r>
              <a:rPr lang="en-US" spc="-1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f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or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f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?</a:t>
            </a:r>
            <a:endParaRPr lang="en-US" sz="1800" b="0" strike="noStrike" spc="-1">
              <a:latin typeface="Arial"/>
            </a:endParaRPr>
          </a:p>
          <a:p>
            <a:pPr indent="-215900">
              <a:buClr>
                <a:srgbClr val="003056"/>
              </a:buClr>
              <a:buFont typeface="Arial"/>
              <a:buChar char="•"/>
            </a:pPr>
            <a:r>
              <a:rPr lang="en-US" spc="-1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How do you know?</a:t>
            </a:r>
            <a:r>
              <a:rPr lang="en-US" spc="-1">
                <a:solidFill>
                  <a:srgbClr val="003056"/>
                </a:solidFill>
                <a:latin typeface="Calibri"/>
              </a:rPr>
              <a:t> Depends on the goal</a:t>
            </a:r>
            <a:endParaRPr lang="en-US" sz="18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499EEB7B-B9DE-4871-8AD4-327CEBB4D4BE}" type="slidenum">
              <a:t>14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1" grpId="0" build="p"/>
      <p:bldP spid="133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What is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Generalization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?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5" name="PlaceHolder 2"/>
          <p:cNvSpPr>
            <a:spLocks noGrp="1"/>
          </p:cNvSpPr>
          <p:nvPr>
            <p:ph type="ftr" idx="21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36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207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Goal of ML: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 model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should perform well at the task on new data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Not just data it was trained on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Thus, goal of training a model: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generalize to unseen data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For example, which function did you say fits our data best?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f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or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f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What if we collect more data?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137" name="Grafik 9" descr="linear_reg_4.png"/>
          <p:cNvPicPr/>
          <p:nvPr/>
        </p:nvPicPr>
        <p:blipFill>
          <a:blip r:embed="rId2"/>
          <a:stretch/>
        </p:blipFill>
        <p:spPr>
          <a:xfrm>
            <a:off x="3882539" y="3341408"/>
            <a:ext cx="4983480" cy="2642760"/>
          </a:xfrm>
          <a:prstGeom prst="rect">
            <a:avLst/>
          </a:prstGeom>
          <a:ln w="0">
            <a:noFill/>
          </a:ln>
        </p:spPr>
      </p:pic>
      <p:sp>
        <p:nvSpPr>
          <p:cNvPr id="138" name="Textfeld 10"/>
          <p:cNvSpPr/>
          <p:nvPr/>
        </p:nvSpPr>
        <p:spPr>
          <a:xfrm>
            <a:off x="1071360" y="3214800"/>
            <a:ext cx="2857320" cy="713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indent="-2160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0000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Before,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f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2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seemed best</a:t>
            </a:r>
            <a:endParaRPr lang="en-US" sz="1800" b="0" strike="noStrike" spc="-1">
              <a:latin typeface="Arial"/>
            </a:endParaRPr>
          </a:p>
          <a:p>
            <a:pPr indent="-216000">
              <a:lnSpc>
                <a:spcPct val="100000"/>
              </a:lnSpc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With more data,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f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strike="noStrike" spc="-1" baseline="-2500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is best</a:t>
            </a:r>
            <a:endParaRPr lang="en-US" sz="1800" b="0" strike="noStrike" spc="-1">
              <a:latin typeface="Arial"/>
            </a:endParaRPr>
          </a:p>
        </p:txBody>
      </p:sp>
      <p:sp>
        <p:nvSpPr>
          <p:cNvPr id="139" name="Textfeld 13"/>
          <p:cNvSpPr/>
          <p:nvPr/>
        </p:nvSpPr>
        <p:spPr>
          <a:xfrm>
            <a:off x="571320" y="3857760"/>
            <a:ext cx="3397060" cy="236842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indent="-215900"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How do we train for generalization?</a:t>
            </a:r>
            <a:endParaRPr lang="en-US" sz="2000" b="0" strike="noStrike" spc="-1">
              <a:latin typeface="Arial"/>
            </a:endParaRPr>
          </a:p>
          <a:p>
            <a:pPr lvl="1" indent="-215900">
              <a:buClr>
                <a:srgbClr val="003056"/>
              </a:buClr>
              <a:buFont typeface="Arial"/>
              <a:buChar char="•"/>
            </a:pPr>
            <a:r>
              <a:rPr lang="en-US" spc="-1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We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evaluate models on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held-out </a:t>
            </a:r>
            <a:r>
              <a:rPr lang="en-US" b="1" spc="-1">
                <a:solidFill>
                  <a:srgbClr val="003056"/>
                </a:solidFill>
                <a:latin typeface="Calibri"/>
              </a:rPr>
              <a:t>evaluation data</a:t>
            </a:r>
            <a:r>
              <a:rPr lang="en-US" spc="-1">
                <a:solidFill>
                  <a:srgbClr val="003056"/>
                </a:solidFill>
                <a:latin typeface="Calibri"/>
              </a:rPr>
              <a:t>,</a:t>
            </a:r>
            <a:r>
              <a:rPr lang="en-US" b="1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pc="-1">
                <a:solidFill>
                  <a:srgbClr val="003056"/>
                </a:solidFill>
                <a:latin typeface="Calibri"/>
              </a:rPr>
              <a:t>represents unseen data</a:t>
            </a:r>
            <a:endParaRPr lang="en-US" sz="1800" strike="noStrike" spc="-1">
              <a:solidFill>
                <a:srgbClr val="000000"/>
              </a:solidFill>
              <a:latin typeface="Arial"/>
            </a:endParaRPr>
          </a:p>
          <a:p>
            <a:pPr lvl="1" indent="-215900">
              <a:buClr>
                <a:srgbClr val="003056"/>
              </a:buClr>
              <a:buFont typeface="Arial"/>
              <a:buChar char="•"/>
            </a:pPr>
            <a:r>
              <a:rPr lang="en-US" spc="-1">
                <a:solidFill>
                  <a:srgbClr val="003056"/>
                </a:solidFill>
                <a:latin typeface="Calibri"/>
              </a:rPr>
              <a:t>Train and eval data assumed from same distribution</a:t>
            </a:r>
            <a:endParaRPr lang="en-US" sz="1800" b="0" strike="noStrike" spc="-1">
              <a:solidFill>
                <a:srgbClr val="003056"/>
              </a:solidFill>
              <a:latin typeface="Calibri"/>
            </a:endParaRPr>
          </a:p>
          <a:p>
            <a:endParaRPr lang="en-US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F619F0E0-8FC1-4FC4-95DB-217C95173175}" type="slidenum">
              <a:t>15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6" grpId="0" build="p"/>
      <p:bldP spid="138" grpId="0"/>
      <p:bldP spid="139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How do we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Evaluate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 a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Model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?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1" name="PlaceHolder 2"/>
          <p:cNvSpPr>
            <a:spLocks noGrp="1"/>
          </p:cNvSpPr>
          <p:nvPr>
            <p:ph type="ftr" idx="22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42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271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How can we tell which member of the family is more suitable for our task? 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We need to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select a model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from the many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possible family members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Performance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metric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metric we choose to evaluate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how good a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model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is at a task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For example: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mean squared error (MSE)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143" name="Grafik 6" descr="linear_reg_3.png"/>
          <p:cNvPicPr/>
          <p:nvPr/>
        </p:nvPicPr>
        <p:blipFill>
          <a:blip r:embed="rId2"/>
          <a:stretch/>
        </p:blipFill>
        <p:spPr>
          <a:xfrm>
            <a:off x="3714840" y="3357720"/>
            <a:ext cx="5102280" cy="2781720"/>
          </a:xfrm>
          <a:prstGeom prst="rect">
            <a:avLst/>
          </a:prstGeom>
          <a:ln w="0">
            <a:noFill/>
          </a:ln>
        </p:spPr>
      </p:pic>
      <p:pic>
        <p:nvPicPr>
          <p:cNvPr id="144" name="Grafik 12" descr="mse_eq.png"/>
          <p:cNvPicPr/>
          <p:nvPr/>
        </p:nvPicPr>
        <p:blipFill>
          <a:blip r:embed="rId3"/>
          <a:stretch/>
        </p:blipFill>
        <p:spPr>
          <a:xfrm>
            <a:off x="1143000" y="3357720"/>
            <a:ext cx="2450520" cy="642600"/>
          </a:xfrm>
          <a:prstGeom prst="rect">
            <a:avLst/>
          </a:prstGeom>
          <a:ln w="0">
            <a:noFill/>
          </a:ln>
        </p:spPr>
      </p:pic>
      <p:sp>
        <p:nvSpPr>
          <p:cNvPr id="145" name="Textfeld 13"/>
          <p:cNvSpPr/>
          <p:nvPr/>
        </p:nvSpPr>
        <p:spPr>
          <a:xfrm>
            <a:off x="1071360" y="4014720"/>
            <a:ext cx="2571480" cy="1261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Calibri"/>
              </a:rPr>
              <a:t>where:</a:t>
            </a:r>
            <a:endParaRPr lang="en-US" sz="1800" b="0" strike="noStrike" spc="-1">
              <a:latin typeface="Arial"/>
            </a:endParaRPr>
          </a:p>
          <a:p>
            <a:pPr indent="-2160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0000"/>
                </a:solidFill>
                <a:latin typeface="Calibri"/>
              </a:rPr>
              <a:t> n: # of examples</a:t>
            </a:r>
            <a:endParaRPr lang="en-US" sz="1800" b="0" strike="noStrike" spc="-1">
              <a:latin typeface="Arial"/>
            </a:endParaRPr>
          </a:p>
          <a:p>
            <a:pPr indent="-2160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0000"/>
                </a:solidFill>
                <a:latin typeface="Calibri"/>
              </a:rPr>
              <a:t> </a:t>
            </a:r>
            <a:r>
              <a:rPr lang="en-US" sz="1800" b="0" i="1" strike="noStrike" spc="-1">
                <a:solidFill>
                  <a:srgbClr val="000000"/>
                </a:solidFill>
                <a:latin typeface="Calibri"/>
              </a:rPr>
              <a:t>Y</a:t>
            </a:r>
            <a:r>
              <a:rPr lang="en-US" sz="1800" b="0" i="1" strike="noStrike" spc="-1" baseline="-25000">
                <a:solidFill>
                  <a:srgbClr val="000000"/>
                </a:solidFill>
                <a:latin typeface="Calibri"/>
              </a:rPr>
              <a:t>i</a:t>
            </a:r>
            <a:r>
              <a:rPr lang="en-US" sz="1800" b="0" strike="noStrike" spc="-1">
                <a:solidFill>
                  <a:srgbClr val="000000"/>
                </a:solidFill>
                <a:latin typeface="Calibri"/>
              </a:rPr>
              <a:t>: target values</a:t>
            </a:r>
            <a:endParaRPr lang="en-US" sz="1800" b="0" strike="noStrike" spc="-1">
              <a:latin typeface="Arial"/>
            </a:endParaRPr>
          </a:p>
          <a:p>
            <a:pPr indent="-2160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0000"/>
                </a:solidFill>
                <a:latin typeface="Calibri"/>
              </a:rPr>
              <a:t> </a:t>
            </a:r>
            <a:r>
              <a:rPr lang="en-US" sz="1800" b="0" i="1" strike="noStrike" spc="-1">
                <a:solidFill>
                  <a:srgbClr val="000000"/>
                </a:solidFill>
                <a:latin typeface="Calibri"/>
              </a:rPr>
              <a:t>Y’</a:t>
            </a:r>
            <a:r>
              <a:rPr lang="en-US" sz="1800" b="0" i="1" strike="noStrike" spc="-1" baseline="-25000">
                <a:solidFill>
                  <a:srgbClr val="000000"/>
                </a:solidFill>
                <a:latin typeface="Calibri"/>
              </a:rPr>
              <a:t>i</a:t>
            </a:r>
            <a:r>
              <a:rPr lang="en-US" sz="1800" b="0" strike="noStrike" spc="-1">
                <a:solidFill>
                  <a:srgbClr val="000000"/>
                </a:solidFill>
                <a:latin typeface="Calibri"/>
              </a:rPr>
              <a:t>: predicted values</a:t>
            </a:r>
            <a:endParaRPr lang="en-US" sz="18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1297FB99-8EAF-4BCD-A6C6-314AB2BBDA6E}" type="slidenum">
              <a:t>16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2" grpId="0" build="p"/>
      <p:bldP spid="14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How do we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Use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 our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Selected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Model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?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7" name="PlaceHolder 2"/>
          <p:cNvSpPr>
            <a:spLocks noGrp="1"/>
          </p:cNvSpPr>
          <p:nvPr>
            <p:ph type="ftr" idx="23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48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10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Model selection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choosing a value assignment for our parameters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E.g.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m = 80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b = 2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To make a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prediction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, we make use of our 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selected model (function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149" name="Grafik 6" descr="linear_reg_1.png"/>
          <p:cNvPicPr/>
          <p:nvPr/>
        </p:nvPicPr>
        <p:blipFill>
          <a:blip r:embed="rId2"/>
          <a:stretch/>
        </p:blipFill>
        <p:spPr>
          <a:xfrm>
            <a:off x="1500120" y="2143080"/>
            <a:ext cx="5714640" cy="3030840"/>
          </a:xfrm>
          <a:prstGeom prst="rect">
            <a:avLst/>
          </a:prstGeom>
          <a:ln w="0">
            <a:noFill/>
          </a:ln>
        </p:spPr>
      </p:pic>
      <p:sp>
        <p:nvSpPr>
          <p:cNvPr id="150" name="Textfeld 7"/>
          <p:cNvSpPr/>
          <p:nvPr/>
        </p:nvSpPr>
        <p:spPr>
          <a:xfrm>
            <a:off x="714240" y="5143680"/>
            <a:ext cx="7286400" cy="98343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indent="-215900">
              <a:buClr>
                <a:srgbClr val="000000"/>
              </a:buClr>
              <a:buFont typeface="Arial"/>
              <a:buChar char="•"/>
            </a:pPr>
            <a:r>
              <a:rPr lang="en-US" spc="-1">
                <a:solidFill>
                  <a:srgbClr val="000000"/>
                </a:solidFill>
                <a:latin typeface="Calibri"/>
              </a:rPr>
              <a:t> 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Important distinction: inference vs prediction</a:t>
            </a:r>
            <a:endParaRPr lang="en-US" sz="2000" b="0" strike="noStrike" spc="-1">
              <a:latin typeface="Arial"/>
            </a:endParaRPr>
          </a:p>
          <a:p>
            <a:pPr lvl="1" indent="-215900"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Inference: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use model to learn about data generation process</a:t>
            </a:r>
            <a:endParaRPr lang="en-US" sz="1800" b="0" strike="noStrike" spc="-1">
              <a:latin typeface="Arial"/>
            </a:endParaRPr>
          </a:p>
          <a:p>
            <a:pPr lvl="1" indent="-215900">
              <a:buClr>
                <a:srgbClr val="003056"/>
              </a:buClr>
              <a:buFont typeface="Arial"/>
              <a:buChar char="•"/>
            </a:pPr>
            <a:r>
              <a:rPr lang="en-US" spc="-1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Prediction: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predict specific outcomes for new </a:t>
            </a:r>
            <a:r>
              <a:rPr lang="en-US" spc="-1">
                <a:solidFill>
                  <a:srgbClr val="003056"/>
                </a:solidFill>
                <a:latin typeface="Calibri"/>
              </a:rPr>
              <a:t>input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points</a:t>
            </a:r>
            <a:endParaRPr lang="en-US" sz="18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3A466B9B-9C28-45F9-A57E-D3BFA7530722}" type="slidenum">
              <a:t>17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8" grpId="0" build="p"/>
      <p:bldP spid="150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What are </a:t>
            </a:r>
            <a:r>
              <a:rPr lang="de-DE" sz="3000" b="1" i="1" spc="-1">
                <a:solidFill>
                  <a:srgbClr val="003056"/>
                </a:solidFill>
                <a:latin typeface="Calibri"/>
              </a:rPr>
              <a:t>Hyper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parameters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?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2" name="PlaceHolder 2"/>
          <p:cNvSpPr>
            <a:spLocks noGrp="1"/>
          </p:cNvSpPr>
          <p:nvPr>
            <p:ph type="ftr" idx="24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53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Other parameters that are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typically not learned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Instead, they are manually set by the user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Note that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meta-learning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does exist, e.g. </a:t>
            </a:r>
            <a:r>
              <a:rPr lang="en-US" sz="1800" b="0" u="sng" strike="noStrike" spc="-1">
                <a:solidFill>
                  <a:srgbClr val="0000FF"/>
                </a:solidFill>
                <a:uFillTx/>
                <a:latin typeface="Calibri"/>
                <a:hlinkClick r:id="rId2"/>
              </a:rPr>
              <a:t>AutoML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Example in linear regression: using a bias or not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No bias: line passes by origin (assumes data is centered)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See scikit-</a:t>
            </a:r>
            <a:r>
              <a:rPr lang="en-US" sz="1800" b="0" strike="noStrike" spc="-1" err="1">
                <a:solidFill>
                  <a:srgbClr val="003056"/>
                </a:solidFill>
                <a:latin typeface="Calibri"/>
              </a:rPr>
              <a:t>learn’s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u="sng" strike="noStrike" spc="-1">
                <a:solidFill>
                  <a:srgbClr val="0000FF"/>
                </a:solidFill>
                <a:uFillTx/>
                <a:latin typeface="Calibri"/>
                <a:hlinkClick r:id="rId3"/>
              </a:rPr>
              <a:t>documentation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on linear regression (</a:t>
            </a:r>
            <a:r>
              <a:rPr lang="en-US" sz="1800" b="0" strike="noStrike" spc="-1" err="1">
                <a:solidFill>
                  <a:srgbClr val="003056"/>
                </a:solidFill>
                <a:latin typeface="Calibri"/>
              </a:rPr>
              <a:t>fit_intercept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How do we choose values for hyperparameters?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Hyperparameter optimization methods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E.g. grid search, random search (</a:t>
            </a:r>
            <a:r>
              <a:rPr lang="en-US" sz="1800" b="0" u="sng" strike="noStrike" spc="-1">
                <a:solidFill>
                  <a:srgbClr val="0000FF"/>
                </a:solidFill>
                <a:uFillTx/>
                <a:latin typeface="Calibri"/>
                <a:hlinkClick r:id="rId4"/>
              </a:rPr>
              <a:t>known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to be better than grid search)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Requires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familiarity with known tricks/experience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/expert knowledge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Often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involves making assumptions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E.g. this setting worked well in the past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E.g. the search space I designed benefits all models equally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5205EE7D-7E5D-4FE9-9C51-2B5EC67EFC20}" type="slidenum">
              <a:t>18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3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What about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Classification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?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5" name="PlaceHolder 2"/>
          <p:cNvSpPr>
            <a:spLocks noGrp="1"/>
          </p:cNvSpPr>
          <p:nvPr>
            <p:ph type="ftr" idx="25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56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135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Logistic regression: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popular model for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classification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Main assumption: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linear relation between inputs and output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Essentially: linear regression with a logistic function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y = 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σ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(m x + b)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where 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σ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is the logistic (sigmoid) function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157" name="Grafik 6" descr="sigmoid_function.png"/>
          <p:cNvPicPr/>
          <p:nvPr/>
        </p:nvPicPr>
        <p:blipFill>
          <a:blip r:embed="rId2"/>
          <a:stretch/>
        </p:blipFill>
        <p:spPr>
          <a:xfrm>
            <a:off x="1571760" y="2500200"/>
            <a:ext cx="5778000" cy="2737080"/>
          </a:xfrm>
          <a:prstGeom prst="rect">
            <a:avLst/>
          </a:prstGeom>
          <a:ln w="0">
            <a:noFill/>
          </a:ln>
        </p:spPr>
      </p:pic>
      <p:sp>
        <p:nvSpPr>
          <p:cNvPr id="158" name="Textfeld 8"/>
          <p:cNvSpPr/>
          <p:nvPr/>
        </p:nvSpPr>
        <p:spPr>
          <a:xfrm>
            <a:off x="642960" y="5286240"/>
            <a:ext cx="7286400" cy="668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indent="-2160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0000"/>
                </a:solidFill>
                <a:latin typeface="Calibri"/>
              </a:rPr>
              <a:t>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Logistic function maps inputs to real interval [0,1]</a:t>
            </a:r>
            <a:endParaRPr lang="en-US" sz="2000" b="0" strike="noStrike" spc="-1">
              <a:latin typeface="Arial"/>
            </a:endParaRPr>
          </a:p>
          <a:p>
            <a:pPr marL="457200" lvl="1" indent="-216000">
              <a:lnSpc>
                <a:spcPct val="100000"/>
              </a:lnSpc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Can be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interpreted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 as a probability distribution</a:t>
            </a:r>
            <a:endParaRPr lang="en-US" sz="1800" b="0" strike="noStrike" spc="-1">
              <a:latin typeface="Arial"/>
            </a:endParaRPr>
          </a:p>
        </p:txBody>
      </p:sp>
      <p:sp>
        <p:nvSpPr>
          <p:cNvPr id="159" name="Textfeld 9"/>
          <p:cNvSpPr/>
          <p:nvPr/>
        </p:nvSpPr>
        <p:spPr>
          <a:xfrm>
            <a:off x="7215120" y="5143680"/>
            <a:ext cx="1499760" cy="302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400" b="0" u="sng" strike="noStrike" spc="-1">
                <a:solidFill>
                  <a:srgbClr val="0000FF"/>
                </a:solidFill>
                <a:uFillTx/>
                <a:latin typeface="Calibri"/>
                <a:hlinkClick r:id="rId3"/>
              </a:rPr>
              <a:t>Image source</a:t>
            </a:r>
            <a:endParaRPr lang="en-US" sz="14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1DAD45C8-E89F-4FF7-A392-433343B59515}" type="slidenum">
              <a:t>19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6" grpId="0" build="p"/>
      <p:bldP spid="158" grpId="0"/>
      <p:bldP spid="159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How do we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Use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Logistic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Regression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?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1" name="PlaceHolder 2"/>
          <p:cNvSpPr>
            <a:spLocks noGrp="1"/>
          </p:cNvSpPr>
          <p:nvPr>
            <p:ph type="ftr" idx="26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62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Binary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classification: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P(y = 1) = 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σ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(m x + b)</a:t>
            </a:r>
            <a:r>
              <a:rPr lang="en-US" sz="1800" i="1" spc="-1">
                <a:solidFill>
                  <a:srgbClr val="003056"/>
                </a:solidFill>
                <a:latin typeface="Calibri"/>
              </a:rPr>
              <a:t> --&gt; </a:t>
            </a:r>
            <a:r>
              <a:rPr lang="de-DE" sz="1800" spc="-1" err="1">
                <a:solidFill>
                  <a:srgbClr val="003056"/>
                </a:solidFill>
                <a:latin typeface="Calibri"/>
              </a:rPr>
              <a:t>interpreted</a:t>
            </a:r>
            <a:r>
              <a:rPr lang="de-DE" sz="1800" spc="-1">
                <a:solidFill>
                  <a:srgbClr val="003056"/>
                </a:solidFill>
                <a:latin typeface="Calibri"/>
              </a:rPr>
              <a:t> </a:t>
            </a:r>
            <a:r>
              <a:rPr lang="de-DE" sz="1800" spc="-1" err="1">
                <a:solidFill>
                  <a:srgbClr val="003056"/>
                </a:solidFill>
                <a:latin typeface="Calibri"/>
              </a:rPr>
              <a:t>as</a:t>
            </a:r>
            <a:r>
              <a:rPr lang="de-DE" sz="1800" spc="-1">
                <a:solidFill>
                  <a:srgbClr val="003056"/>
                </a:solidFill>
                <a:latin typeface="Calibri"/>
              </a:rPr>
              <a:t> </a:t>
            </a:r>
            <a:r>
              <a:rPr lang="de-DE" sz="1800" spc="-1" err="1">
                <a:solidFill>
                  <a:srgbClr val="003056"/>
                </a:solidFill>
                <a:latin typeface="Calibri"/>
              </a:rPr>
              <a:t>probability</a:t>
            </a:r>
            <a:r>
              <a:rPr lang="de-DE" sz="1800" spc="-1">
                <a:solidFill>
                  <a:srgbClr val="003056"/>
                </a:solidFill>
                <a:latin typeface="Calibri"/>
              </a:rPr>
              <a:t> </a:t>
            </a:r>
            <a:r>
              <a:rPr lang="de-DE" sz="1800" spc="-1" err="1">
                <a:solidFill>
                  <a:srgbClr val="003056"/>
                </a:solidFill>
                <a:latin typeface="Calibri"/>
              </a:rPr>
              <a:t>for</a:t>
            </a:r>
            <a:r>
              <a:rPr lang="de-DE" sz="1800" spc="-1">
                <a:solidFill>
                  <a:srgbClr val="003056"/>
                </a:solidFill>
                <a:latin typeface="Calibri"/>
              </a:rPr>
              <a:t> positive </a:t>
            </a:r>
            <a:r>
              <a:rPr lang="de-DE" sz="1800" spc="-1" err="1">
                <a:solidFill>
                  <a:srgbClr val="003056"/>
                </a:solidFill>
                <a:latin typeface="Calibri"/>
              </a:rPr>
              <a:t>class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P(y = 0) = 1 - 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σ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(m x + b)</a:t>
            </a:r>
            <a:r>
              <a:rPr lang="en-US" sz="1800" i="1" spc="-1">
                <a:solidFill>
                  <a:srgbClr val="003056"/>
                </a:solidFill>
                <a:latin typeface="Calibri"/>
              </a:rPr>
              <a:t> --&gt;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complementary probability for negative class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That is, we get probabilities for both positive and negative class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We can do some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inference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, e.g. how much more likely is one class than the other?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But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prediction?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Prediction: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we decide on a threshold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p(y = 1) &gt;= 0.5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we predict positive class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p(y = 0) &lt; 0.5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we predict negative class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We get the following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decision boundary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p(y = 1|x) = p(y = 0|x) = 0.5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Describing tasks and models with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probability theory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is very common!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We’ll do this often, so let’s review the basic concepts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C046090C-0158-4F94-8BC4-3DF306429E79}" type="slidenum">
              <a:t>20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2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Probability Theory Basics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4" name="PlaceHolder 2"/>
          <p:cNvSpPr>
            <a:spLocks noGrp="1"/>
          </p:cNvSpPr>
          <p:nvPr>
            <p:ph type="ftr" idx="27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65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This is a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quick refresher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about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probability theory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This is later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useful for many things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Describing tasks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Describing models, e.g. what language models do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More concepts commonly used in NLP research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Today, some basic intuitions/definitions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Random variables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Probability distributions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Independence of events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Sum rule / product rule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Joint distributions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Conditional probability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Conditional independence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Bayes rule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536B5C61-50CD-4EBA-9F0D-B252EA1BEE7D}" type="slidenum">
              <a:t>21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5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Random Variables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7" name="PlaceHolder 2"/>
          <p:cNvSpPr>
            <a:spLocks noGrp="1"/>
          </p:cNvSpPr>
          <p:nvPr>
            <p:ph type="ftr" idx="28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68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1785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Function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between events and something relevant about the events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Usually designed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according to something we want to model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Example: say we are interested in average height of students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Event: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randomly select a student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Event space: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set of all students the course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Random variable X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: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f(student) = height of student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169" name="Grafik 7" descr="random_variable_4.png"/>
          <p:cNvPicPr/>
          <p:nvPr/>
        </p:nvPicPr>
        <p:blipFill>
          <a:blip r:embed="rId2"/>
          <a:stretch/>
        </p:blipFill>
        <p:spPr>
          <a:xfrm>
            <a:off x="1857240" y="3338280"/>
            <a:ext cx="4680000" cy="266220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F58B7D6D-16AB-40D2-948A-B8ADED43612E}" type="slidenum">
              <a:t>22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8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Probability Distributions (1)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1" name="PlaceHolder 2"/>
          <p:cNvSpPr>
            <a:spLocks noGrp="1"/>
          </p:cNvSpPr>
          <p:nvPr>
            <p:ph type="ftr" idx="29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72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3428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Essentially a way to describe random variables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Random variables: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take values as a result of some random process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Distribution of random variable: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how often may each value be observed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How does a distribution describe this?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A(nother) function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maps set of possible values a random variable can take to interval [0,1]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173" name="Grafik 6" descr="random_variable_5.png"/>
          <p:cNvPicPr/>
          <p:nvPr/>
        </p:nvPicPr>
        <p:blipFill>
          <a:blip r:embed="rId2"/>
          <a:stretch/>
        </p:blipFill>
        <p:spPr>
          <a:xfrm>
            <a:off x="1071360" y="3500280"/>
            <a:ext cx="7110000" cy="264276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1218B20D-2A68-4AB9-A304-A6E05CB5A271}" type="slidenum">
              <a:t>23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2" grpId="0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Probability Distributions (2)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5" name="PlaceHolder 2"/>
          <p:cNvSpPr>
            <a:spLocks noGrp="1"/>
          </p:cNvSpPr>
          <p:nvPr>
            <p:ph type="ftr" idx="30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76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Output of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p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 for given event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a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probability of observing event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a</a:t>
            </a:r>
            <a:endParaRPr lang="de-DE" sz="2000" b="0" i="1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Written as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=a)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Example: what is the probability of observing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 a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height of 185cm?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= 185cm) = 0.1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i.e.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probability is 10%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Discrete distributions: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random variable can take finite set of values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usually referred to as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probability mass function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Continuous distributions: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strike="noStrike" spc="-1" err="1">
                <a:solidFill>
                  <a:srgbClr val="003056"/>
                </a:solidFill>
                <a:latin typeface="Calibri"/>
              </a:rPr>
              <a:t>r.v.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can take infinite set of values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usually referred to as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probability density function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Examples: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Bernoulli (discrete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): models output of single binary experiment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Gaussian (continuous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): normal distribution</a:t>
            </a:r>
            <a:endParaRPr lang="en-US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Is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in our students’ height example discrete or continuous?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Depends on how to measure height, as reals or integers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ED6A8EC7-929F-40D1-A4DE-382270C4648B}" type="slidenum">
              <a:t>24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6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Independence of events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8" name="PlaceHolder 2"/>
          <p:cNvSpPr>
            <a:spLocks noGrp="1"/>
          </p:cNvSpPr>
          <p:nvPr>
            <p:ph type="ftr" idx="31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79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Events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A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and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B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are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independent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when one event happening does not affect the probability of the other happening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For example: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Event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A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: Germany wins the world cup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 in 2014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Event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B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: Germany loses world cup semifinal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Event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C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: The stock market crashed in 2008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Which of these events are dependent/independent?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 and B are not independent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If Germany loses the semifinal, it cannot win the final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 and C are independent, as well as B and C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Very unlikely the 2008 crash has any impact on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 the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2014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world cup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Independence perhaps best understood with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sum rule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5A708FA2-8FD9-45C2-B2CE-B4A3D4D51049}" type="slidenum">
              <a:t>25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9" grpId="0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Sum Rule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81" name="PlaceHolder 2"/>
          <p:cNvSpPr>
            <a:spLocks noGrp="1"/>
          </p:cNvSpPr>
          <p:nvPr>
            <p:ph type="ftr" idx="32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82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Probability of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union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of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n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events happening, e.g. A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OR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B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Formally: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p(A U B) = p(A) + p(B) – p(A </a:t>
            </a:r>
            <a:r>
              <a:rPr lang="az-Cyrl-AZ" sz="1800" b="0" i="1" strike="noStrike" spc="-1">
                <a:solidFill>
                  <a:srgbClr val="003056"/>
                </a:solidFill>
                <a:latin typeface="Calibri"/>
              </a:rPr>
              <a:t>П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B)</a:t>
            </a:r>
            <a:endParaRPr lang="de-DE" sz="1800" b="0" i="1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For example: </a:t>
            </a:r>
            <a:r>
              <a:rPr lang="en-US" sz="2000" b="0" strike="noStrike" spc="-1" err="1">
                <a:solidFill>
                  <a:srgbClr val="003056"/>
                </a:solidFill>
                <a:latin typeface="Calibri"/>
              </a:rPr>
              <a:t>r.v.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Y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shows number in die, relevant events are: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A: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“We observe a multiple of 3”, i.e. either 3 or 6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B: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“We observe a multiple of 2”, i.e. either 2, 4 or 6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Are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A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and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B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independent?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No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, see overlap in event spaces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For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p(A U B)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we subtract probability of overlapping events: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p(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Y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=6)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p(A)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= 1/6 + 1/6 = 1/3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p(B)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= 1/6 + 1/6 + 1/6 = ½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p(y = 6)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= 1/6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p(A U B)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= 1/3 + ½ - 1/6 = 0.66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With independent events, last term becomes zero: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Event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A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: “We observe an even number”, i.e. either 2, 4 or 6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Event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B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: “We observe an uneven number”, i.e. either 1, 3 or 5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FEC1DF26-6DE6-43F2-A010-2D980481B504}" type="slidenum">
              <a:t>26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2" grpId="0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Product Rule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84" name="PlaceHolder 2"/>
          <p:cNvSpPr>
            <a:spLocks noGrp="1"/>
          </p:cNvSpPr>
          <p:nvPr>
            <p:ph type="ftr" idx="33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85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Probability of conjunction of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n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events happening, i.e. A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AND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B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Formally: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p(A,B) = p(A|B)p(B)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p(A,B)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= joint distribution of A and B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p(A|B)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= conditional distribution of A given B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Side note: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All of these rules are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derived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from axioms of probability theory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For more, see probability theory literature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Let’s go over joint distributions and conditional distributions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E5400006-CC59-4DA9-A14E-80FA1A4DDCA1}" type="slidenum">
              <a:t>27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5" grpId="0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Joint Distributions (1)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87" name="PlaceHolder 2"/>
          <p:cNvSpPr>
            <a:spLocks noGrp="1"/>
          </p:cNvSpPr>
          <p:nvPr>
            <p:ph type="ftr" idx="34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88" name="PlaceHolder 3"/>
          <p:cNvSpPr>
            <a:spLocks noGrp="1"/>
          </p:cNvSpPr>
          <p:nvPr>
            <p:ph/>
          </p:nvPr>
        </p:nvSpPr>
        <p:spPr>
          <a:xfrm>
            <a:off x="675174" y="1143000"/>
            <a:ext cx="7766814" cy="142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Function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p(X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1…n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)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from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n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random variables to interval [0,1]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Distribution of all possible combinations of those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n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random variables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Easier to see with joint probability table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For example, joint distribution of flipping two coins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A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and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B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graphicFrame>
        <p:nvGraphicFramePr>
          <p:cNvPr id="189" name="Tabelle 6"/>
          <p:cNvGraphicFramePr/>
          <p:nvPr/>
        </p:nvGraphicFramePr>
        <p:xfrm>
          <a:off x="1643040" y="2643120"/>
          <a:ext cx="6095520" cy="1112400"/>
        </p:xfrm>
        <a:graphic>
          <a:graphicData uri="http://schemas.openxmlformats.org/drawingml/2006/table">
            <a:tbl>
              <a:tblPr/>
              <a:tblGrid>
                <a:gridCol w="203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1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US" sz="1800" b="1" strike="noStrike" spc="-1">
                          <a:solidFill>
                            <a:srgbClr val="FFFFFF"/>
                          </a:solidFill>
                          <a:latin typeface="Calibri"/>
                        </a:rPr>
                        <a:t>A / B</a:t>
                      </a:r>
                      <a:endParaRPr lang="en-US" sz="1800" b="0" strike="noStrike" spc="-1"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US" sz="1800" b="1" strike="noStrike" spc="-1">
                          <a:solidFill>
                            <a:srgbClr val="FFFFFF"/>
                          </a:solidFill>
                          <a:latin typeface="Calibri"/>
                        </a:rPr>
                        <a:t>Heads</a:t>
                      </a:r>
                      <a:endParaRPr lang="en-US" sz="1800" b="0" strike="noStrike" spc="-1"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US" sz="1800" b="1" strike="noStrike" spc="-1">
                          <a:solidFill>
                            <a:srgbClr val="FFFFFF"/>
                          </a:solidFill>
                          <a:latin typeface="Calibri"/>
                        </a:rPr>
                        <a:t>Tails</a:t>
                      </a:r>
                      <a:endParaRPr lang="en-US" sz="1800" b="0" strike="noStrike" spc="-1"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rgbClr val="4F81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US" sz="1800" b="0" strike="noStrike" spc="-1">
                          <a:solidFill>
                            <a:srgbClr val="000000"/>
                          </a:solidFill>
                          <a:latin typeface="Calibri"/>
                        </a:rPr>
                        <a:t>Heads</a:t>
                      </a:r>
                      <a:endParaRPr lang="en-US" sz="1800" b="0" strike="noStrike" spc="-1"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38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US" sz="1800" b="0" strike="noStrike" spc="-1">
                          <a:solidFill>
                            <a:srgbClr val="000000"/>
                          </a:solidFill>
                          <a:latin typeface="Calibri"/>
                        </a:rPr>
                        <a:t>0.1</a:t>
                      </a:r>
                      <a:endParaRPr lang="en-US" sz="1800" b="0" strike="noStrike" spc="-1"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38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US" sz="1800" b="0" strike="noStrike" spc="-1">
                          <a:solidFill>
                            <a:srgbClr val="000000"/>
                          </a:solidFill>
                          <a:latin typeface="Calibri"/>
                        </a:rPr>
                        <a:t>0.2</a:t>
                      </a:r>
                      <a:endParaRPr lang="en-US" sz="1800" b="0" strike="noStrike" spc="-1"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38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D0D8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US" sz="1800" b="0" strike="noStrike" spc="-1">
                          <a:solidFill>
                            <a:srgbClr val="000000"/>
                          </a:solidFill>
                          <a:latin typeface="Calibri"/>
                        </a:rPr>
                        <a:t>Tails</a:t>
                      </a:r>
                      <a:endParaRPr lang="en-US" sz="1800" b="0" strike="noStrike" spc="-1"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US" sz="1800" b="0" strike="noStrike" spc="-1">
                          <a:solidFill>
                            <a:srgbClr val="000000"/>
                          </a:solidFill>
                          <a:latin typeface="Calibri"/>
                        </a:rPr>
                        <a:t>0.3</a:t>
                      </a:r>
                      <a:endParaRPr lang="en-US" sz="1800" b="0" strike="noStrike" spc="-1"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US" sz="1800" b="0" strike="noStrike" spc="-1">
                          <a:solidFill>
                            <a:srgbClr val="000000"/>
                          </a:solidFill>
                          <a:latin typeface="Calibri"/>
                        </a:rPr>
                        <a:t>0.4</a:t>
                      </a:r>
                      <a:endParaRPr lang="en-US" sz="1800" b="0" strike="noStrike" spc="-1"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9EC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90" name="Textfeld 7"/>
          <p:cNvSpPr/>
          <p:nvPr/>
        </p:nvSpPr>
        <p:spPr>
          <a:xfrm>
            <a:off x="1143000" y="3929040"/>
            <a:ext cx="678636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indent="-2160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0000"/>
                </a:solidFill>
                <a:latin typeface="Calibri"/>
              </a:rPr>
              <a:t>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Note that all elements in table add up to 1, i.e. a distribution</a:t>
            </a:r>
            <a:endParaRPr lang="en-US" sz="20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D1D1232-75E3-40A9-999C-68FDDEAB95E0}" type="slidenum">
              <a:t>28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8" grpId="0" build="p"/>
      <p:bldP spid="190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Joint Distributions (2)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2" name="PlaceHolder 2"/>
          <p:cNvSpPr>
            <a:spLocks noGrp="1"/>
          </p:cNvSpPr>
          <p:nvPr>
            <p:ph type="ftr" idx="35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93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1714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We can derive many things from a joint distribution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 very common operation: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marginalization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Given joint distribution of A and B, derive distribution of A or B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For example, we get distribution of coin A by summing over all possible values of B with the sum rule: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graphicFrame>
        <p:nvGraphicFramePr>
          <p:cNvPr id="194" name="Tabelle 6"/>
          <p:cNvGraphicFramePr/>
          <p:nvPr>
            <p:extLst>
              <p:ext uri="{D42A27DB-BD31-4B8C-83A1-F6EECF244321}">
                <p14:modId xmlns:p14="http://schemas.microsoft.com/office/powerpoint/2010/main" val="3066081442"/>
              </p:ext>
            </p:extLst>
          </p:nvPr>
        </p:nvGraphicFramePr>
        <p:xfrm>
          <a:off x="1643040" y="2857320"/>
          <a:ext cx="6095520" cy="1112400"/>
        </p:xfrm>
        <a:graphic>
          <a:graphicData uri="http://schemas.openxmlformats.org/drawingml/2006/table">
            <a:tbl>
              <a:tblPr/>
              <a:tblGrid>
                <a:gridCol w="1523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3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3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23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US" sz="1800" b="1" strike="noStrike" spc="-1">
                          <a:solidFill>
                            <a:srgbClr val="FFFFFF"/>
                          </a:solidFill>
                          <a:latin typeface="Calibri"/>
                        </a:rPr>
                        <a:t>A/B</a:t>
                      </a:r>
                      <a:endParaRPr lang="en-US" sz="1800" b="0" strike="noStrike" spc="-1"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US" sz="1800" b="1" strike="noStrike" spc="-1">
                          <a:solidFill>
                            <a:srgbClr val="FFFFFF"/>
                          </a:solidFill>
                          <a:latin typeface="Calibri"/>
                        </a:rPr>
                        <a:t>Heads</a:t>
                      </a:r>
                      <a:endParaRPr lang="en-US" sz="1800" b="0" strike="noStrike" spc="-1"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US" sz="1800" b="1" strike="noStrike" spc="-1">
                          <a:solidFill>
                            <a:srgbClr val="FFFFFF"/>
                          </a:solidFill>
                          <a:latin typeface="Calibri"/>
                        </a:rPr>
                        <a:t>Tails</a:t>
                      </a:r>
                      <a:endParaRPr lang="en-US" sz="1800" b="0" strike="noStrike" spc="-1"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US" sz="1800" b="1" i="1" strike="noStrike" spc="-1">
                          <a:solidFill>
                            <a:srgbClr val="FFFFFF"/>
                          </a:solidFill>
                          <a:latin typeface="Calibri"/>
                        </a:rPr>
                        <a:t>p(A)</a:t>
                      </a:r>
                      <a:endParaRPr lang="en-US" sz="1800" b="0" strike="noStrike" spc="-1"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rgbClr val="4F81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US" sz="1800" b="0" strike="noStrike" spc="-1">
                          <a:solidFill>
                            <a:srgbClr val="000000"/>
                          </a:solidFill>
                          <a:latin typeface="Calibri"/>
                        </a:rPr>
                        <a:t>Heads</a:t>
                      </a:r>
                      <a:endParaRPr lang="en-US" sz="1800" b="0" strike="noStrike" spc="-1"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38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US" sz="1800" b="0" strike="noStrike" spc="-1">
                          <a:solidFill>
                            <a:srgbClr val="000000"/>
                          </a:solidFill>
                          <a:latin typeface="Calibri"/>
                        </a:rPr>
                        <a:t>0.1</a:t>
                      </a:r>
                      <a:endParaRPr lang="en-US" sz="1800" b="0" strike="noStrike" spc="-1"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38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US" sz="1800" b="0" strike="noStrike" spc="-1">
                          <a:solidFill>
                            <a:srgbClr val="000000"/>
                          </a:solidFill>
                          <a:latin typeface="Calibri"/>
                        </a:rPr>
                        <a:t>0.2</a:t>
                      </a:r>
                      <a:endParaRPr lang="en-US" sz="1800" b="0" strike="noStrike" spc="-1"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38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US" sz="1800" b="0" strike="noStrike" spc="-1">
                          <a:solidFill>
                            <a:srgbClr val="000000"/>
                          </a:solidFill>
                          <a:latin typeface="Calibri"/>
                        </a:rPr>
                        <a:t>= 0.3</a:t>
                      </a:r>
                      <a:endParaRPr lang="en-US" sz="1800" b="0" strike="noStrike" spc="-1"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38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D0D8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US" sz="1800" b="0" strike="noStrike" spc="-1">
                          <a:solidFill>
                            <a:srgbClr val="000000"/>
                          </a:solidFill>
                          <a:latin typeface="Calibri"/>
                        </a:rPr>
                        <a:t>Tails</a:t>
                      </a:r>
                      <a:endParaRPr lang="en-US" sz="1800" b="0" strike="noStrike" spc="-1"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US" sz="1800" b="0" strike="noStrike" spc="-1">
                          <a:solidFill>
                            <a:srgbClr val="000000"/>
                          </a:solidFill>
                          <a:latin typeface="Calibri"/>
                        </a:rPr>
                        <a:t>0.3</a:t>
                      </a:r>
                      <a:endParaRPr lang="en-US" sz="1800" b="0" strike="noStrike" spc="-1"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US" sz="1800" b="0" strike="noStrike" spc="-1">
                          <a:solidFill>
                            <a:srgbClr val="000000"/>
                          </a:solidFill>
                          <a:latin typeface="Calibri"/>
                        </a:rPr>
                        <a:t>0.4</a:t>
                      </a:r>
                      <a:endParaRPr lang="en-US" sz="1800" b="0" strike="noStrike" spc="-1"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US" sz="1800" b="0" strike="noStrike" spc="-1">
                          <a:solidFill>
                            <a:srgbClr val="000000"/>
                          </a:solidFill>
                          <a:latin typeface="Calibri"/>
                        </a:rPr>
                        <a:t>= 0.7</a:t>
                      </a:r>
                      <a:endParaRPr lang="en-US" sz="1800" b="0" strike="noStrike" spc="-1"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9EC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95" name="Textfeld 7"/>
          <p:cNvSpPr/>
          <p:nvPr/>
        </p:nvSpPr>
        <p:spPr>
          <a:xfrm>
            <a:off x="571320" y="4071960"/>
            <a:ext cx="7000560" cy="1285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indent="-2160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0000"/>
                </a:solidFill>
                <a:latin typeface="Calibri"/>
              </a:rPr>
              <a:t>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New column adds up to 1, i.e. a probability distribution</a:t>
            </a:r>
            <a:endParaRPr lang="en-US" sz="2000" b="0" strike="noStrike" spc="-1">
              <a:latin typeface="Arial"/>
            </a:endParaRPr>
          </a:p>
          <a:p>
            <a:pPr marL="457200" lvl="1" indent="-216000">
              <a:lnSpc>
                <a:spcPct val="100000"/>
              </a:lnSpc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p(A) known as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marginal distribution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of A</a:t>
            </a:r>
            <a:endParaRPr lang="en-US" sz="1800" b="0" strike="noStrike" spc="-1">
              <a:latin typeface="Arial"/>
            </a:endParaRPr>
          </a:p>
          <a:p>
            <a:pPr indent="-216000">
              <a:lnSpc>
                <a:spcPct val="100000"/>
              </a:lnSpc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This process is referred to as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marginalizing out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B</a:t>
            </a:r>
            <a:endParaRPr lang="en-US" sz="2000" b="0" strike="noStrike" spc="-1">
              <a:latin typeface="Arial"/>
            </a:endParaRPr>
          </a:p>
          <a:p>
            <a:pPr marL="457200" lvl="1" indent="-216000">
              <a:lnSpc>
                <a:spcPct val="100000"/>
              </a:lnSpc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Normally expressed with sum rule: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p(A) = ∑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b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p(A,B = b)</a:t>
            </a:r>
            <a:endParaRPr lang="en-US" sz="18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4E7B6E9-D9C1-4551-9013-FC79943DB4C2}" type="slidenum">
              <a:t>29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3" grpId="0" build="p"/>
      <p:bldP spid="19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Conditional Probability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7" name="PlaceHolder 2"/>
          <p:cNvSpPr>
            <a:spLocks noGrp="1"/>
          </p:cNvSpPr>
          <p:nvPr>
            <p:ph type="ftr" idx="36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98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Probability of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seeing event A knowing event B was already seen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Formally,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p(A|B) = p(A,B)/p(B)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Intuitively,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space of all possible events shrinks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(for dependent RVs)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Imagine we toss a die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A: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“We observe an even number”, i.e. either 2, 4 or 6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B: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“We observe a multiple of 3”, i.e. either 3 or 6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After observing A, event space for B is not {3, 6}, it is {6}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Note that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p(A|B)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can be derived from joint distribution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p(A,B)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Marginalize out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A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to get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p(B)</a:t>
            </a:r>
            <a:endParaRPr lang="de-DE" sz="1800" b="0" i="1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Then you have everything you need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462E70B4-6AFC-4E8D-B2E9-1EE53E1532F1}" type="slidenum">
              <a:t>30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8" grpId="0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Conditional Independence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0" name="PlaceHolder 2"/>
          <p:cNvSpPr>
            <a:spLocks noGrp="1"/>
          </p:cNvSpPr>
          <p:nvPr>
            <p:ph type="ftr" idx="37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201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Two events are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independent given a third event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Observing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A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tells me something about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B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But when observing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 C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A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no longer says anything about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B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For example: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Event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A: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knowing a person has good vocabulary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Event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B: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knowing a person’s height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Are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A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and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B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independent?	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No, since children have limited vocabulary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Now consider event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C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: knowing a person’s age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Given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C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 A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and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B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are independent, since height implies age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Once we have age, height gives us no new information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Thus,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A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and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B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are conditionally independent given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C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831345F-364F-46FA-ADDE-1E2CC1386CAD}" type="slidenum">
              <a:t>31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1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Bayes‘ Rule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3" name="PlaceHolder 2"/>
          <p:cNvSpPr>
            <a:spLocks noGrp="1"/>
          </p:cNvSpPr>
          <p:nvPr>
            <p:ph type="ftr" idx="38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204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Apply product rule on conditional probability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That is,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p(A|B) = p(A,B) / p(B) = p(B|A) p(A) / p(B)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Note that we want probability of A given B, i.e.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p(A|B)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And to get it, we use marginal distribution of A, i.e.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p(A)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This may seem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counterintuitive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This is typically interpreted like so: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p(A)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known as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prior probability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distribution of event A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1143000" lvl="2" indent="-2286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Describes </a:t>
            </a:r>
            <a:r>
              <a:rPr lang="en-US" sz="1600" b="1" strike="noStrike" spc="-1">
                <a:solidFill>
                  <a:srgbClr val="003056"/>
                </a:solidFill>
                <a:latin typeface="Calibri"/>
              </a:rPr>
              <a:t>what we know/believe </a:t>
            </a: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about event A</a:t>
            </a:r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p(B|A)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known as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likelihood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1143000" lvl="2" indent="-2286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Given event A, what is the likelihood that we get our data</a:t>
            </a:r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p(A|B)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known as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posterior probability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of A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1143000" lvl="2" indent="-2286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Interpreted as </a:t>
            </a:r>
            <a:r>
              <a:rPr lang="en-US" sz="1600" b="1" strike="noStrike" spc="-1">
                <a:solidFill>
                  <a:srgbClr val="003056"/>
                </a:solidFill>
                <a:latin typeface="Calibri"/>
              </a:rPr>
              <a:t>updated description of A </a:t>
            </a: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after considering what we originally know about A (prior), as well as our data (event B)</a:t>
            </a:r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This interpretation gives rise to the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frequentists vs bayesian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debate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And with this, we are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done with our probability refresher!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059180C4-62B9-42D9-829F-0D5AB1A875E9}" type="slidenum">
              <a:t>32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4" grpId="0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A Probabilistic Perspective of ML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6" name="PlaceHolder 2"/>
          <p:cNvSpPr>
            <a:spLocks noGrp="1"/>
          </p:cNvSpPr>
          <p:nvPr>
            <p:ph type="ftr" idx="39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207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Task: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predict outcome of a coin tossed by your (unreliable) friend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Many factors: mass distribution, position in fingers, friction, etc.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Difficult to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model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physically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Let’s use a probabilistic model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Abstracts away complications of physical model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Probability: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uncertainty of some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random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event, e.g. coin toss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 practice: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relative frequency of observations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about the event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Event in this case: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seeing heads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when tossing the coin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Simple Model: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Bernoulli distribution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Intuition: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it models outcome of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single binary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experiment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Formally: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p(k|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 = 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 baseline="30000">
                <a:solidFill>
                  <a:srgbClr val="003056"/>
                </a:solidFill>
                <a:latin typeface="Calibri"/>
              </a:rPr>
              <a:t>k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(1-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</a:t>
            </a:r>
            <a:r>
              <a:rPr lang="en-US" sz="1800" b="0" i="1" strike="noStrike" spc="-1" baseline="30000">
                <a:solidFill>
                  <a:srgbClr val="003056"/>
                </a:solidFill>
                <a:latin typeface="Calibri"/>
              </a:rPr>
              <a:t>1-k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where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k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in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{0,1}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is possible outcomes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l-GR" sz="1800" b="1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is the only parameter of model: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probability of seeing heads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How do we get a value for this parameter so we can use our model?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We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could 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estimate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 this 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parameter</a:t>
            </a:r>
            <a:endParaRPr lang="de-DE" sz="1800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We could blindly guess, or we could 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use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 data for 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that estimation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!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0CDC72F0-7162-48CF-ABCB-8098046047DB}" type="slidenum">
              <a:t>33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7" grpId="0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Training Models: Parameter Estimation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9" name="PlaceHolder 2"/>
          <p:cNvSpPr>
            <a:spLocks noGrp="1"/>
          </p:cNvSpPr>
          <p:nvPr>
            <p:ph type="ftr" idx="40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210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Say your friend 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allows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you 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to observe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ten tosses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You observe 3 out the 10 are heads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You can estimate the value of </a:t>
            </a:r>
            <a:r>
              <a:rPr lang="el-GR" sz="20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from this data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= 3/10 = 0.3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chance of seeing heads in a single toss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We just counted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relative frequencies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Training example: a single coin toss, i.e. </a:t>
            </a:r>
            <a:r>
              <a:rPr lang="en-US" sz="1800" b="0" i="1" strike="noStrike" spc="-1" err="1">
                <a:solidFill>
                  <a:srgbClr val="003056"/>
                </a:solidFill>
                <a:latin typeface="Calibri"/>
              </a:rPr>
              <a:t>y</a:t>
            </a:r>
            <a:r>
              <a:rPr lang="en-US" sz="1800" b="0" i="1" strike="noStrike" spc="-1" baseline="-2500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in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{heads, tails}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Training data: 10 coin tosses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Relevant observations: we observe heads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With a value estimated for parameter </a:t>
            </a:r>
            <a:r>
              <a:rPr lang="el-GR" sz="20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, we can make predictions!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Our model has been trained and is ready to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be used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on unseen data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Thus,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learning a function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means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estimating its parameters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We don’t know the parameters of a model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Instead, we have data and use it to estimate those parameters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Let’s look at a common framework for parameter estimation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5D20193B-8AC2-4FF8-A3B9-FCB07670CE13}" type="slidenum">
              <a:t>34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0" grpId="0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Maximum Likelihood Estimation (1)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2" name="PlaceHolder 2"/>
          <p:cNvSpPr>
            <a:spLocks noGrp="1"/>
          </p:cNvSpPr>
          <p:nvPr>
            <p:ph type="ftr" idx="41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213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Common approach for parameter estimation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Otherwise known as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MLE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Finds model that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maximizes likelihood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of observed data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But what does likelihood mean?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Our model for the coin toss: 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p(k|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 = 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 baseline="30000">
                <a:solidFill>
                  <a:srgbClr val="003056"/>
                </a:solidFill>
                <a:latin typeface="Calibri"/>
              </a:rPr>
              <a:t>k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(1-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</a:t>
            </a:r>
            <a:r>
              <a:rPr lang="en-US" sz="1800" b="0" i="1" strike="noStrike" spc="-1" baseline="30000">
                <a:solidFill>
                  <a:srgbClr val="003056"/>
                </a:solidFill>
                <a:latin typeface="Calibri"/>
              </a:rPr>
              <a:t>1-k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is a function of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k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with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fixed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 (how we predict with it)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Let’s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instead see it as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function of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with fixed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k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i.e.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L(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|k) = 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 baseline="30000">
                <a:solidFill>
                  <a:srgbClr val="003056"/>
                </a:solidFill>
                <a:latin typeface="Calibri"/>
              </a:rPr>
              <a:t>k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(1-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</a:t>
            </a:r>
            <a:r>
              <a:rPr lang="en-US" sz="1800" b="0" i="1" strike="noStrike" spc="-1" baseline="30000">
                <a:solidFill>
                  <a:srgbClr val="003056"/>
                </a:solidFill>
                <a:latin typeface="Calibri"/>
              </a:rPr>
              <a:t>1-k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That is, a function of parameters given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fixed data</a:t>
            </a:r>
            <a:r>
              <a:rPr lang="en-US" sz="1800" i="1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(assumed during training)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We call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L(</a:t>
            </a:r>
            <a:r>
              <a:rPr lang="el-GR" sz="2000" b="1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|k)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the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likelihood function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It is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not a probability distribution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Instead, we use it to find distributions that fit observed data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How do we use the likelihood function during training?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We want distribution with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highest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(max) probability to our data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Assumption: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set of observed data is most likely sample among all data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F3BE3F4-6C02-47B2-A8EF-EE9C800A05A2}" type="slidenum">
              <a:t>35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3" grpId="0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Maximum Likelihood Estimation (2)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5" name="PlaceHolder 2"/>
          <p:cNvSpPr>
            <a:spLocks noGrp="1"/>
          </p:cNvSpPr>
          <p:nvPr>
            <p:ph type="ftr" idx="42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216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278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Formally, we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want </a:t>
            </a:r>
            <a:r>
              <a:rPr lang="el-GR" sz="20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 = max</a:t>
            </a:r>
            <a:r>
              <a:rPr lang="el-GR" sz="2000" b="0" i="1" strike="noStrike" spc="-1" baseline="-25000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L(</a:t>
            </a:r>
            <a:r>
              <a:rPr lang="el-GR" sz="20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|k)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Equivalently, we want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= argmax</a:t>
            </a:r>
            <a:r>
              <a:rPr lang="el-GR" sz="1800" b="0" i="1" strike="noStrike" spc="-1" baseline="-25000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log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p(k|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First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, we make a common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assumption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: examples are </a:t>
            </a:r>
            <a:r>
              <a:rPr lang="en-US" sz="2000" b="1" strike="noStrike" spc="-1" err="1">
                <a:solidFill>
                  <a:srgbClr val="003056"/>
                </a:solidFill>
                <a:latin typeface="Calibri"/>
              </a:rPr>
              <a:t>i.i.d.</a:t>
            </a:r>
            <a:endParaRPr lang="de-DE" sz="2000" b="0" strike="noStrike" spc="-1" err="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This stands for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independent and identically distributed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Examples are independent, belong to same distribution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Then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, we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apply this assumption to our coin toss setting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Our model for a single example: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p(k|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 = 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 baseline="30000">
                <a:solidFill>
                  <a:srgbClr val="003056"/>
                </a:solidFill>
                <a:latin typeface="Calibri"/>
              </a:rPr>
              <a:t>k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(1-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</a:t>
            </a:r>
            <a:r>
              <a:rPr lang="en-US" sz="1800" b="0" i="1" strike="noStrike" spc="-1" baseline="30000">
                <a:solidFill>
                  <a:srgbClr val="003056"/>
                </a:solidFill>
                <a:latin typeface="Calibri"/>
              </a:rPr>
              <a:t>1-k</a:t>
            </a:r>
            <a:r>
              <a:rPr lang="en-US" sz="1800" i="1" spc="-1">
                <a:solidFill>
                  <a:srgbClr val="003056"/>
                </a:solidFill>
                <a:latin typeface="Calibri"/>
              </a:rPr>
              <a:t> 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The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joint probability of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N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 observed examples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is then given by: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217" name="Grafik 8" descr="iid_derivation.png"/>
          <p:cNvPicPr/>
          <p:nvPr/>
        </p:nvPicPr>
        <p:blipFill>
          <a:blip r:embed="rId2"/>
          <a:stretch/>
        </p:blipFill>
        <p:spPr>
          <a:xfrm>
            <a:off x="3071880" y="3929040"/>
            <a:ext cx="2755080" cy="1523520"/>
          </a:xfrm>
          <a:prstGeom prst="rect">
            <a:avLst/>
          </a:prstGeom>
          <a:ln w="0">
            <a:noFill/>
          </a:ln>
        </p:spPr>
      </p:pic>
      <p:sp>
        <p:nvSpPr>
          <p:cNvPr id="218" name="Textfeld 9"/>
          <p:cNvSpPr/>
          <p:nvPr/>
        </p:nvSpPr>
        <p:spPr>
          <a:xfrm>
            <a:off x="1071360" y="5631480"/>
            <a:ext cx="635760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indent="-2160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0000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Here we used the i.i.d. assumption from line 1 to line 2</a:t>
            </a:r>
            <a:endParaRPr lang="en-US" sz="18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7A9ACB2-7130-46D1-86F9-B430886870AF}" type="slidenum">
              <a:t>36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6" grpId="0" build="p"/>
      <p:bldP spid="218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Maximum Likelihood Estimation (3)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20" name="PlaceHolder 2"/>
          <p:cNvSpPr>
            <a:spLocks noGrp="1"/>
          </p:cNvSpPr>
          <p:nvPr>
            <p:ph type="ftr" idx="43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221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135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Finally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, to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find this maximum value, we: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Compute the first derivative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Set it to zero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Extract a value for 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222" name="Grafik 7" descr="mle_derivation.png"/>
          <p:cNvPicPr/>
          <p:nvPr/>
        </p:nvPicPr>
        <p:blipFill>
          <a:blip r:embed="rId2"/>
          <a:stretch/>
        </p:blipFill>
        <p:spPr>
          <a:xfrm>
            <a:off x="2357280" y="2428920"/>
            <a:ext cx="4342320" cy="2475720"/>
          </a:xfrm>
          <a:prstGeom prst="rect">
            <a:avLst/>
          </a:prstGeom>
          <a:ln w="0">
            <a:noFill/>
          </a:ln>
        </p:spPr>
      </p:pic>
      <p:sp>
        <p:nvSpPr>
          <p:cNvPr id="223" name="Textfeld 8"/>
          <p:cNvSpPr/>
          <p:nvPr/>
        </p:nvSpPr>
        <p:spPr>
          <a:xfrm>
            <a:off x="642960" y="4929120"/>
            <a:ext cx="7286400" cy="126043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indent="-215900">
              <a:buClr>
                <a:srgbClr val="000000"/>
              </a:buClr>
              <a:buFont typeface="Arial"/>
              <a:buChar char="•"/>
            </a:pPr>
            <a:r>
              <a:rPr lang="en-US" sz="2000" spc="-1">
                <a:solidFill>
                  <a:srgbClr val="000000"/>
                </a:solidFill>
                <a:latin typeface="Calibri"/>
              </a:rPr>
              <a:t> 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We obtained relative frequencies, as we had done already!</a:t>
            </a:r>
            <a:endParaRPr lang="en-US" sz="2000" b="0" strike="noStrike" spc="-1">
              <a:latin typeface="Arial"/>
            </a:endParaRPr>
          </a:p>
          <a:p>
            <a:pPr lvl="1" indent="-215900">
              <a:buClr>
                <a:srgbClr val="000000"/>
              </a:buClr>
              <a:buFont typeface="Arial"/>
              <a:buChar char="•"/>
            </a:pPr>
            <a:r>
              <a:rPr lang="en-US" spc="-1">
                <a:solidFill>
                  <a:srgbClr val="000000"/>
                </a:solidFill>
                <a:latin typeface="Calibri"/>
              </a:rPr>
              <a:t> 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 practice,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MLE often does not have a closed-form solution</a:t>
            </a:r>
            <a:endParaRPr lang="en-US" sz="1800" b="0" strike="noStrike" spc="-1">
              <a:latin typeface="Arial"/>
            </a:endParaRPr>
          </a:p>
          <a:p>
            <a:pPr lvl="1" indent="-215900">
              <a:buClr>
                <a:srgbClr val="003056"/>
              </a:buClr>
              <a:buFont typeface="Arial"/>
              <a:buChar char="•"/>
            </a:pPr>
            <a:r>
              <a:rPr lang="en-US" spc="-1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Instead,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we rely on numerical methods</a:t>
            </a:r>
            <a:endParaRPr lang="en-US" sz="1800" b="0" strike="noStrike" spc="-1">
              <a:latin typeface="Arial"/>
            </a:endParaRPr>
          </a:p>
          <a:p>
            <a:pPr indent="-215900"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MLE related to many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 aspects of ML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: cross entropy, MAP, etc.</a:t>
            </a:r>
            <a:endParaRPr lang="en-US" sz="20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AFB4AD79-F03C-410A-925D-4CCF5DB11F91}" type="slidenum">
              <a:t>37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1" grpId="0" build="p"/>
      <p:bldP spid="223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Empirical Risk Minimization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25" name="PlaceHolder 2"/>
          <p:cNvSpPr>
            <a:spLocks noGrp="1"/>
          </p:cNvSpPr>
          <p:nvPr>
            <p:ph type="ftr" idx="44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226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135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General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training approach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Main goal: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estimate how a model will work in practice by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minimizing the average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of some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loss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 function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L(x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2000" b="0" i="1" strike="noStrike" spc="-1" err="1">
                <a:solidFill>
                  <a:srgbClr val="003056"/>
                </a:solidFill>
                <a:latin typeface="Calibri"/>
              </a:rPr>
              <a:t>y</a:t>
            </a:r>
            <a:r>
              <a:rPr lang="en-US" sz="2000" b="0" i="1" strike="noStrike" spc="-1" baseline="-2500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)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on a training set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 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Here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is a training example and </a:t>
            </a:r>
            <a:r>
              <a:rPr lang="en-US" sz="1800" b="0" i="1" strike="noStrike" spc="-1" err="1">
                <a:solidFill>
                  <a:srgbClr val="003056"/>
                </a:solidFill>
                <a:latin typeface="Calibri"/>
              </a:rPr>
              <a:t>y</a:t>
            </a:r>
            <a:r>
              <a:rPr lang="en-US" sz="1800" b="0" i="1" strike="noStrike" spc="-1" baseline="-2500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its corresponding label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Formally: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 marL="457200" lvl="1" indent="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None/>
            </a:pP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where </a:t>
            </a:r>
            <a:r>
              <a:rPr lang="en-US" sz="1800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n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is size of training set.</a:t>
            </a:r>
            <a:endParaRPr lang="en-US" sz="1800" spc="-1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227" name="Grafik 6" descr="emp_risk_eq.png"/>
          <p:cNvPicPr/>
          <p:nvPr/>
        </p:nvPicPr>
        <p:blipFill>
          <a:blip r:embed="rId2"/>
          <a:stretch/>
        </p:blipFill>
        <p:spPr>
          <a:xfrm>
            <a:off x="2194175" y="2781401"/>
            <a:ext cx="4661640" cy="1130760"/>
          </a:xfrm>
          <a:prstGeom prst="rect">
            <a:avLst/>
          </a:prstGeom>
          <a:ln w="0">
            <a:noFill/>
          </a:ln>
        </p:spPr>
      </p:pic>
      <p:sp>
        <p:nvSpPr>
          <p:cNvPr id="228" name="Textfeld 8"/>
          <p:cNvSpPr/>
          <p:nvPr/>
        </p:nvSpPr>
        <p:spPr>
          <a:xfrm>
            <a:off x="583912" y="4417813"/>
            <a:ext cx="7000560" cy="67565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indent="-215900"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This is the most 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common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training approach in ML/DL/NLP.</a:t>
            </a:r>
            <a:endParaRPr lang="en-US" sz="2000" b="0" strike="noStrike" spc="-1">
              <a:latin typeface="Arial"/>
            </a:endParaRPr>
          </a:p>
          <a:p>
            <a:pPr marL="457200" lvl="1" indent="-215900">
              <a:lnSpc>
                <a:spcPct val="100000"/>
              </a:lnSpc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But what is a loss function, exactly?</a:t>
            </a:r>
            <a:endParaRPr lang="en-US" sz="18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1AF5AF44-2137-4BF9-A00C-CED3D0B2307F}" type="slidenum">
              <a:t>38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6" grpId="0" build="p"/>
      <p:bldP spid="228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What are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Loss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Functions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?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30" name="PlaceHolder 2"/>
          <p:cNvSpPr>
            <a:spLocks noGrp="1"/>
          </p:cNvSpPr>
          <p:nvPr>
            <p:ph type="ftr" idx="45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231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Functions that tell us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how a model performs during training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Being a cost/loss, we want to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minimize it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Desiderata: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Low loss: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when model prediction matches given label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1143000" lvl="2" indent="-2286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The closer, the lower the loss/cost</a:t>
            </a:r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High loss: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when model prediction does not match label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1143000" lvl="2" indent="-2286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The farther, the higher the loss/cost</a:t>
            </a:r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Example: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log loss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Here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a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is model prediction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Note the desired behavior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Works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with probabilistic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 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indent="-28575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    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 models only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232" name="Grafik 6" descr="log_loss_error_on_a_single_object.png"/>
          <p:cNvPicPr/>
          <p:nvPr/>
        </p:nvPicPr>
        <p:blipFill>
          <a:blip r:embed="rId2"/>
          <a:stretch/>
        </p:blipFill>
        <p:spPr>
          <a:xfrm>
            <a:off x="4071960" y="3403080"/>
            <a:ext cx="3941640" cy="2597400"/>
          </a:xfrm>
          <a:prstGeom prst="rect">
            <a:avLst/>
          </a:prstGeom>
          <a:ln w="0">
            <a:noFill/>
          </a:ln>
        </p:spPr>
      </p:pic>
      <p:sp>
        <p:nvSpPr>
          <p:cNvPr id="233" name="Textfeld 7"/>
          <p:cNvSpPr/>
          <p:nvPr/>
        </p:nvSpPr>
        <p:spPr>
          <a:xfrm>
            <a:off x="6786720" y="5929200"/>
            <a:ext cx="1285560" cy="302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400" b="0" u="sng" strike="noStrike" spc="-1">
                <a:solidFill>
                  <a:srgbClr val="0000FF"/>
                </a:solidFill>
                <a:uFillTx/>
                <a:latin typeface="Calibri"/>
                <a:hlinkClick r:id="rId3"/>
              </a:rPr>
              <a:t>Image source</a:t>
            </a:r>
            <a:endParaRPr lang="en-US" sz="14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5EE0251B-12A2-43E0-A4BF-7E520427D31C}" type="slidenum">
              <a:t>39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1" grpId="0" build="p"/>
      <p:bldP spid="233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>
                <a:solidFill>
                  <a:srgbClr val="003056"/>
                </a:solidFill>
                <a:latin typeface="Calibri"/>
              </a:rPr>
              <a:t>Let's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Design 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a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Training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Objective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35" name="PlaceHolder 2"/>
          <p:cNvSpPr>
            <a:spLocks noGrp="1"/>
          </p:cNvSpPr>
          <p:nvPr>
            <p:ph type="ftr" idx="46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236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Combine empirical risk minimization with log loss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Assume binary classification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We have: 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J = - 1/N ∑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n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i="1" spc="-1">
                <a:solidFill>
                  <a:srgbClr val="003056"/>
                </a:solidFill>
                <a:latin typeface="Calibri"/>
              </a:rPr>
              <a:t>[ </a:t>
            </a:r>
            <a:r>
              <a:rPr lang="en-US" sz="1800" b="0" i="1" strike="noStrike" spc="-1" err="1">
                <a:solidFill>
                  <a:srgbClr val="003056"/>
                </a:solidFill>
                <a:latin typeface="Calibri"/>
              </a:rPr>
              <a:t>y</a:t>
            </a:r>
            <a:r>
              <a:rPr lang="en-US" sz="1800" b="0" i="1" strike="noStrike" spc="-1" baseline="-2500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log(p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 + (1 - </a:t>
            </a:r>
            <a:r>
              <a:rPr lang="en-US" sz="1800" b="0" i="1" strike="noStrike" spc="-1" err="1">
                <a:solidFill>
                  <a:srgbClr val="003056"/>
                </a:solidFill>
                <a:latin typeface="Calibri"/>
              </a:rPr>
              <a:t>y</a:t>
            </a:r>
            <a:r>
              <a:rPr lang="en-US" sz="1800" b="0" i="1" strike="noStrike" spc="-1" baseline="-2500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 log (1 - p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 </a:t>
            </a:r>
            <a:r>
              <a:rPr lang="en-US" sz="1800" i="1" spc="-1">
                <a:solidFill>
                  <a:srgbClr val="003056"/>
                </a:solidFill>
                <a:latin typeface="Calibri"/>
              </a:rPr>
              <a:t>]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indent="-28575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    where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N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is size of training and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is prediction for example </a:t>
            </a:r>
            <a:r>
              <a:rPr lang="en-US" sz="1800" b="0" i="1" strike="noStrike" spc="-1" err="1">
                <a:solidFill>
                  <a:srgbClr val="003056"/>
                </a:solidFill>
                <a:latin typeface="Calibri"/>
              </a:rPr>
              <a:t>i</a:t>
            </a:r>
            <a:endParaRPr lang="de-DE" sz="1800" b="0" strike="noStrike" spc="-1" err="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Note the following:	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Labels act as indicator factors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Log loss means bad model predictions get punished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We negate the entire expression so we can minimize it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Thus, this is an optimization problem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This one can be shown to be a form of maximum likelihood estimation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Training objectives: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very important 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to distinguish language models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E.g. masked vs autoregressive language have different, manually designed, training objectives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14322E1A-1526-42C6-8505-E33C2FDE12C2}" type="slidenum">
              <a:t>40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6" grpId="0" build="p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Summary: ML Refresher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38" name="PlaceHolder 2"/>
          <p:cNvSpPr>
            <a:spLocks noGrp="1"/>
          </p:cNvSpPr>
          <p:nvPr>
            <p:ph type="ftr" idx="47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239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Goal: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learn models that perform a task well on unseen data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Task: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from some input to some output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Regression: real-valued output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Classification: categorical output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Model: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abstract, often simplified version of a task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Comes with set of assumptions, e.g. linearity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Evaluation: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given predictions, compute relevant metric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Training: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parameter estimation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Objective functions (more not covered in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refresher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e.g. regularization)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All of these concepts are 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common in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advanced NLP!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E.g. LLMs are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models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with trillions of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parameters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Different LLMs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train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on different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objective functions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for different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tasks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>
                <a:solidFill>
                  <a:srgbClr val="003056"/>
                </a:solidFill>
                <a:latin typeface="Calibri"/>
              </a:rPr>
              <a:t>Empirical risk minimization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and 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MLE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used during training </a:t>
            </a: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They are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evaluated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on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various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metrics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relevant to various tasks</a:t>
            </a:r>
            <a:endParaRPr lang="de-DE" sz="180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0D70049D-AE80-43B7-B1D7-F583B485B30E}" type="slidenum">
              <a:t>41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9" grpId="0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41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479"/>
              </a:spcBef>
              <a:buNone/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79"/>
              </a:spcBef>
              <a:buNone/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 algn="ctr">
              <a:lnSpc>
                <a:spcPct val="100000"/>
              </a:lnSpc>
              <a:spcBef>
                <a:spcPts val="720"/>
              </a:spcBef>
              <a:buNone/>
              <a:tabLst>
                <a:tab pos="0" algn="l"/>
              </a:tabLst>
            </a:pPr>
            <a:r>
              <a:rPr lang="en-US" sz="3600" b="1" strike="noStrike" spc="-1">
                <a:solidFill>
                  <a:srgbClr val="003056"/>
                </a:solidFill>
                <a:latin typeface="Calibri"/>
              </a:rPr>
              <a:t>Deep Learning </a:t>
            </a:r>
            <a:r>
              <a:rPr lang="en-US" sz="3600" b="1" spc="-1">
                <a:solidFill>
                  <a:srgbClr val="003056"/>
                </a:solidFill>
                <a:latin typeface="Calibri"/>
              </a:rPr>
              <a:t>Basics</a:t>
            </a:r>
            <a:endParaRPr lang="de-DE" sz="36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42" name="PlaceHolder 3"/>
          <p:cNvSpPr>
            <a:spLocks noGrp="1"/>
          </p:cNvSpPr>
          <p:nvPr>
            <p:ph type="ftr" idx="48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3D1A358F-15A5-4F3E-9521-E453EE093644}" type="slidenum">
              <a:t>42</a:t>
            </a:fld>
            <a:endParaRPr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About this Section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44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Goal: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discuss basic concepts and terms that will be useful for the entire course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Outline: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Basic Deep Learning Concepts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Backpropagation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Language Models with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Feed-forward Neural Networks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45" name="PlaceHolder 3"/>
          <p:cNvSpPr>
            <a:spLocks noGrp="1"/>
          </p:cNvSpPr>
          <p:nvPr>
            <p:ph type="ftr" idx="49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ACADC538-6376-452F-96FA-456A41F751DD}" type="slidenum">
              <a:t>43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4" grpId="0" build="p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Mathematical Notation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47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Scalars: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a, b 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Vectors: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,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 y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 (by default column vectors, i.e. size is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n x 1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Matrices: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Y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Scalar product: a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x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Dot product: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2000" b="0" strike="noStrike" spc="-1" baseline="30000">
                <a:solidFill>
                  <a:srgbClr val="003056"/>
                </a:solidFill>
                <a:latin typeface="Calibri"/>
              </a:rPr>
              <a:t>T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w 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(transpose because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x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is column vector)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Matrix-vector product: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 Xy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Matrix-matrix product: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 XY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48" name="PlaceHolder 3"/>
          <p:cNvSpPr>
            <a:spLocks noGrp="1"/>
          </p:cNvSpPr>
          <p:nvPr>
            <p:ph type="ftr" idx="50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23A0A57B-C6E0-4411-933B-DFBFA6AB27AE}" type="slidenum">
              <a:t>44</a:t>
            </a:fld>
            <a:endParaRPr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What is an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Artificial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Neuron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?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0" name="PlaceHolder 2"/>
          <p:cNvSpPr>
            <a:spLocks noGrp="1"/>
          </p:cNvSpPr>
          <p:nvPr>
            <p:ph type="ftr" idx="51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251" name="PlaceHolder 3"/>
          <p:cNvSpPr>
            <a:spLocks noGrp="1"/>
          </p:cNvSpPr>
          <p:nvPr>
            <p:ph/>
          </p:nvPr>
        </p:nvSpPr>
        <p:spPr>
          <a:xfrm>
            <a:off x="684000" y="3929040"/>
            <a:ext cx="7775640" cy="1887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Input is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n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-dimensional vector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x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Features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multiplied with weights </a:t>
            </a:r>
            <a:r>
              <a:rPr lang="en-US" sz="2000" b="0" i="1" strike="noStrike" spc="-1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 baseline="-2500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, their products then added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What common operation is this?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 bias is optional, but almost always there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, adds lots of flexibility to model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Then an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activation function f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is applied to the result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Different activation functions determine different artificial neurons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252" name="Grafik 7" descr="artificial_neuron.png"/>
          <p:cNvPicPr/>
          <p:nvPr/>
        </p:nvPicPr>
        <p:blipFill>
          <a:blip r:embed="rId2"/>
          <a:stretch/>
        </p:blipFill>
        <p:spPr>
          <a:xfrm>
            <a:off x="1900440" y="1071720"/>
            <a:ext cx="4920480" cy="2857320"/>
          </a:xfrm>
          <a:prstGeom prst="rect">
            <a:avLst/>
          </a:prstGeom>
          <a:ln w="0">
            <a:noFill/>
          </a:ln>
        </p:spPr>
      </p:pic>
      <p:sp>
        <p:nvSpPr>
          <p:cNvPr id="253" name="Textfeld 8"/>
          <p:cNvSpPr/>
          <p:nvPr/>
        </p:nvSpPr>
        <p:spPr>
          <a:xfrm>
            <a:off x="6786720" y="3643200"/>
            <a:ext cx="1213920" cy="302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400" b="0" u="sng" strike="noStrike" spc="-1">
                <a:solidFill>
                  <a:srgbClr val="0000FF"/>
                </a:solidFill>
                <a:uFillTx/>
                <a:latin typeface="Calibri"/>
                <a:hlinkClick r:id="rId3"/>
              </a:rPr>
              <a:t>Image source</a:t>
            </a:r>
            <a:endParaRPr lang="en-US" sz="14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2705422B-B1FC-4219-9978-079C4FE9AA8F}" type="slidenum">
              <a:t>45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1" grpId="0" build="p"/>
      <p:bldP spid="253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Types of Artificial Neurons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5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4785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They are mainly distinguished by their activation functions, e.g.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Linear neuron: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f(x) = x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Logistic neuron: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f(x) = 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σ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(x)</a:t>
            </a:r>
            <a:r>
              <a:rPr lang="en-US" sz="1800" i="1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(sigmoid function)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What model do we obtain with a linear neuron?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Linear regression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And with a logistic neuron?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Logistic regression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More types: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Tanh: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maps to [-1,1]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err="1">
                <a:solidFill>
                  <a:srgbClr val="003056"/>
                </a:solidFill>
                <a:latin typeface="Calibri"/>
              </a:rPr>
              <a:t>ReLu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f(x) = max(0,x)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Etc.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By adjusting weights: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We learn functions!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56" name="PlaceHolder 3"/>
          <p:cNvSpPr>
            <a:spLocks noGrp="1"/>
          </p:cNvSpPr>
          <p:nvPr>
            <p:ph type="ftr" idx="52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pic>
        <p:nvPicPr>
          <p:cNvPr id="257" name="Grafik 6" descr="artificial_neuron.png"/>
          <p:cNvPicPr/>
          <p:nvPr/>
        </p:nvPicPr>
        <p:blipFill>
          <a:blip r:embed="rId2"/>
          <a:stretch/>
        </p:blipFill>
        <p:spPr>
          <a:xfrm>
            <a:off x="3500280" y="3214800"/>
            <a:ext cx="4686120" cy="272088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91DF486-73B5-4D02-B488-1AA682F8C5E2}" type="slidenum">
              <a:t>46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5" grpId="0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Feed-forward Neural Networks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9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Let’s do some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feature learning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!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We use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hidden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layers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Input to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: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x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(our data)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: learned values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Input to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y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: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 h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(learned!)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If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y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is linear neuron: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Linear regression with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 </a:t>
            </a:r>
            <a:endParaRPr lang="de-DE" sz="1800" spc="-1">
              <a:solidFill>
                <a:srgbClr val="003056"/>
              </a:solidFill>
              <a:latin typeface="Calibri"/>
            </a:endParaRPr>
          </a:p>
          <a:p>
            <a:pPr marL="856615" indent="-457200">
              <a:lnSpc>
                <a:spcPct val="100000"/>
              </a:lnSpc>
              <a:spcBef>
                <a:spcPts val="360"/>
              </a:spcBef>
              <a:buNone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	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learned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input features 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h</a:t>
            </a:r>
            <a:endParaRPr lang="de-DE" sz="1800" b="1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If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y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is logistic neuron: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Logistic regression with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indent="-4572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	learned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input features 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h</a:t>
            </a:r>
            <a:endParaRPr lang="de-DE" sz="1800" b="1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Thus, FNNs are a framework for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designing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functions (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algebraic circuits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Information flows forward (but also backward during training, more later)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Main restriction: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no loops!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 Computations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seen as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directed acyclic graphs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60" name="PlaceHolder 3"/>
          <p:cNvSpPr>
            <a:spLocks noGrp="1"/>
          </p:cNvSpPr>
          <p:nvPr>
            <p:ph type="ftr" idx="53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pic>
        <p:nvPicPr>
          <p:cNvPr id="261" name="Grafik 7" descr="fnn_2.png"/>
          <p:cNvPicPr/>
          <p:nvPr/>
        </p:nvPicPr>
        <p:blipFill>
          <a:blip r:embed="rId2"/>
          <a:stretch/>
        </p:blipFill>
        <p:spPr>
          <a:xfrm>
            <a:off x="3860715" y="1442970"/>
            <a:ext cx="4721130" cy="3381015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EDF91C45-C186-4D95-A31A-25FB3CE60374}" type="slidenum">
              <a:t>47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9" grpId="0" build="p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Operations in FNNs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63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485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Example so far: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fully-connected neural network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(useful intuition)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What does it compute?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: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n x 1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input vector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: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m x 1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hidden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 </a:t>
            </a:r>
            <a:endParaRPr lang="de-DE" sz="2000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None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	   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representation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i="1" strike="noStrike" spc="-1" err="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2000" b="0" i="1" strike="noStrike" spc="-1" baseline="-25000" err="1">
                <a:solidFill>
                  <a:srgbClr val="003056"/>
                </a:solidFill>
                <a:latin typeface="Calibri"/>
              </a:rPr>
              <a:t>k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has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n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i="1" strike="noStrike" spc="-1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 baseline="-2500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, together: </a:t>
            </a:r>
            <a:r>
              <a:rPr lang="en-US" sz="2000" b="1" i="1" strike="noStrike" spc="-1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 baseline="-25000" err="1">
                <a:solidFill>
                  <a:srgbClr val="003056"/>
                </a:solidFill>
                <a:latin typeface="Calibri"/>
              </a:rPr>
              <a:t>k</a:t>
            </a:r>
            <a:endParaRPr lang="de-DE" sz="2000" b="0" strike="noStrike" spc="-1" err="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Let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be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n x m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matrix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m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columns, each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a </a:t>
            </a:r>
            <a:r>
              <a:rPr lang="en-US" sz="1800" b="1" i="1" spc="-1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i="1" spc="-1" baseline="-25000" err="1">
                <a:solidFill>
                  <a:srgbClr val="003056"/>
                </a:solidFill>
                <a:latin typeface="Calibri"/>
              </a:rPr>
              <a:t>i</a:t>
            </a:r>
            <a:endParaRPr lang="de-DE" sz="1800" b="0" strike="noStrike" spc="-1" err="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Then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2000" b="1" i="1" strike="noStrike" spc="-1" baseline="-2500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=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2000" b="0" i="1" strike="noStrike" spc="-1" baseline="30000">
                <a:solidFill>
                  <a:srgbClr val="003056"/>
                </a:solidFill>
                <a:latin typeface="Calibri"/>
              </a:rPr>
              <a:t>T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if </a:t>
            </a:r>
            <a:r>
              <a:rPr lang="en-US" sz="2000" b="0" i="1" strike="noStrike" spc="-1" err="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2000" b="0" i="1" strike="noStrike" spc="-1" baseline="-25000" err="1">
                <a:solidFill>
                  <a:srgbClr val="003056"/>
                </a:solidFill>
                <a:latin typeface="Calibri"/>
              </a:rPr>
              <a:t>k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linear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= f(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i="1" strike="noStrike" spc="-1" baseline="30000">
                <a:solidFill>
                  <a:srgbClr val="003056"/>
                </a:solidFill>
                <a:latin typeface="Calibri"/>
              </a:rPr>
              <a:t>T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w.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 err="1">
                <a:solidFill>
                  <a:srgbClr val="003056"/>
                </a:solidFill>
                <a:latin typeface="Calibri"/>
              </a:rPr>
              <a:t>activ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.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f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= f(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i="1" strike="noStrike" spc="-1" baseline="30000">
                <a:solidFill>
                  <a:srgbClr val="003056"/>
                </a:solidFill>
                <a:latin typeface="Calibri"/>
              </a:rPr>
              <a:t>T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x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+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b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w. bias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Similarly: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y = f(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2000" b="0" i="1" strike="noStrike" spc="-1" baseline="30000">
                <a:solidFill>
                  <a:srgbClr val="003056"/>
                </a:solidFill>
                <a:latin typeface="Calibri"/>
              </a:rPr>
              <a:t>T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h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+ b)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where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is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m x 1,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constructed as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1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Note network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y =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3</a:t>
            </a:r>
            <a:r>
              <a:rPr lang="en-US" sz="1800" b="0" i="1" strike="noStrike" spc="-1" baseline="30000">
                <a:solidFill>
                  <a:srgbClr val="003056"/>
                </a:solidFill>
                <a:latin typeface="Calibri"/>
              </a:rPr>
              <a:t>T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x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+ b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exists with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3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=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2,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i.e. no hidden layers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Why do we always 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use hidden layers then?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64" name="PlaceHolder 3"/>
          <p:cNvSpPr>
            <a:spLocks noGrp="1"/>
          </p:cNvSpPr>
          <p:nvPr>
            <p:ph type="ftr" idx="54"/>
          </p:nvPr>
        </p:nvSpPr>
        <p:spPr>
          <a:xfrm>
            <a:off x="684000" y="622116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pic>
        <p:nvPicPr>
          <p:cNvPr id="265" name="Grafik 6" descr="fnn_2.png"/>
          <p:cNvPicPr/>
          <p:nvPr/>
        </p:nvPicPr>
        <p:blipFill>
          <a:blip r:embed="rId2"/>
          <a:stretch/>
        </p:blipFill>
        <p:spPr>
          <a:xfrm>
            <a:off x="3786120" y="1500120"/>
            <a:ext cx="4910400" cy="352368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B0B4C8B6-DD33-4830-A62C-0C72F69F3C76}" type="slidenum">
              <a:t>48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3" grpId="0" build="p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Why use Deep Networks?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67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When is a network deep?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Not well defined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Some say &gt;4 hidden layers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Others say &gt;2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More important: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why?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Universality theorem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Formalities about FNN limits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 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indent="-4572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	to approximate functions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One takeaway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: no depth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needed</a:t>
            </a:r>
            <a:endParaRPr lang="de-DE" sz="1800" b="0" i="1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Why use depth then?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Hierarchical features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!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Each hidden layer is a learned feature vector,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input vector to next layer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Component for designing networks: number and size of hidden layers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1257300" lvl="2" indent="-4572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Smaller layers force models to learn compact but useful representations</a:t>
            </a:r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  <a:p>
            <a:pPr marL="1257300" lvl="2" indent="-4572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More/larger hidden layers: more freedom, more parameters,</a:t>
            </a:r>
            <a:r>
              <a:rPr lang="en-US" sz="1600" spc="-1">
                <a:solidFill>
                  <a:srgbClr val="003056"/>
                </a:solidFill>
                <a:latin typeface="Calibri"/>
              </a:rPr>
              <a:t> difficult to train</a:t>
            </a:r>
            <a:endParaRPr lang="de-DE" sz="1600" spc="-1">
              <a:solidFill>
                <a:srgbClr val="003056"/>
              </a:solidFill>
              <a:latin typeface="Calibri"/>
            </a:endParaRPr>
          </a:p>
          <a:p>
            <a:pPr marL="342900" indent="-4572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More parameters -&gt; stronger model, may overfit, requires lots of data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68" name="PlaceHolder 3"/>
          <p:cNvSpPr>
            <a:spLocks noGrp="1"/>
          </p:cNvSpPr>
          <p:nvPr>
            <p:ph type="ftr" idx="55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pic>
        <p:nvPicPr>
          <p:cNvPr id="269" name="Grafik 6" descr="fnn_3.jpg"/>
          <p:cNvPicPr/>
          <p:nvPr/>
        </p:nvPicPr>
        <p:blipFill>
          <a:blip r:embed="rId2"/>
          <a:stretch/>
        </p:blipFill>
        <p:spPr>
          <a:xfrm>
            <a:off x="4335480" y="1252425"/>
            <a:ext cx="4141440" cy="2499840"/>
          </a:xfrm>
          <a:prstGeom prst="rect">
            <a:avLst/>
          </a:prstGeom>
          <a:ln w="0">
            <a:noFill/>
          </a:ln>
        </p:spPr>
      </p:pic>
      <p:sp>
        <p:nvSpPr>
          <p:cNvPr id="270" name="Textfeld 7"/>
          <p:cNvSpPr/>
          <p:nvPr/>
        </p:nvSpPr>
        <p:spPr>
          <a:xfrm>
            <a:off x="7429680" y="3772035"/>
            <a:ext cx="1285560" cy="302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400" b="0" u="sng" strike="noStrike" spc="-1">
                <a:solidFill>
                  <a:srgbClr val="0000FF"/>
                </a:solidFill>
                <a:uFillTx/>
                <a:latin typeface="Calibri"/>
                <a:hlinkClick r:id="rId3"/>
              </a:rPr>
              <a:t>Image source</a:t>
            </a:r>
            <a:endParaRPr lang="en-US" sz="14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E598E29-353A-4219-B899-2B035E821474}" type="slidenum">
              <a:t>49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7" grpId="0" build="p"/>
      <p:bldP spid="270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FNNs for Regression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72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Let’s design a fully-connected network for regression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Input: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n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-dimensional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x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Output: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real number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y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So, how many input units?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What type of units?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How many output units?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What type of units?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How many hidden layers?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What size/type of units?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How to ensure this number of output units?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Linear layer! 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Project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down to the size that you need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Remember: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y = </a:t>
            </a:r>
            <a:r>
              <a:rPr lang="en-US" sz="1800" b="1" i="1" strike="noStrike" spc="-1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 err="1">
                <a:solidFill>
                  <a:srgbClr val="003056"/>
                </a:solidFill>
                <a:latin typeface="Calibri"/>
              </a:rPr>
              <a:t>k</a:t>
            </a:r>
            <a:r>
              <a:rPr lang="en-US" sz="1800" b="0" i="1" strike="noStrike" spc="-1" baseline="30000" err="1">
                <a:solidFill>
                  <a:srgbClr val="003056"/>
                </a:solidFill>
                <a:latin typeface="Calibri"/>
              </a:rPr>
              <a:t>T</a:t>
            </a:r>
            <a:r>
              <a:rPr lang="en-US" sz="1800" b="1" i="1" strike="noStrike" spc="-1" err="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+ b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where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1" i="1" strike="noStrike" spc="-1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 err="1">
                <a:solidFill>
                  <a:srgbClr val="003056"/>
                </a:solidFill>
                <a:latin typeface="Calibri"/>
              </a:rPr>
              <a:t>k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is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m x n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matrix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i="1" strike="noStrike" spc="-1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 err="1">
                <a:solidFill>
                  <a:srgbClr val="003056"/>
                </a:solidFill>
                <a:latin typeface="Calibri"/>
              </a:rPr>
              <a:t>k</a:t>
            </a:r>
            <a:r>
              <a:rPr lang="en-US" sz="1800" b="0" i="1" strike="noStrike" spc="-1" baseline="30000" err="1">
                <a:solidFill>
                  <a:srgbClr val="003056"/>
                </a:solidFill>
                <a:latin typeface="Calibri"/>
              </a:rPr>
              <a:t>T</a:t>
            </a:r>
            <a:r>
              <a:rPr lang="en-US" sz="1800" b="0" i="1" strike="noStrike" spc="-1" baseline="3000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projects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n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dimensional vector to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m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dimensional vector space</a:t>
            </a:r>
          </a:p>
          <a:p>
            <a:pPr marL="399415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Linear transformations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 are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everywhere 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in Deep Learning!</a:t>
            </a:r>
          </a:p>
        </p:txBody>
      </p:sp>
      <p:sp>
        <p:nvSpPr>
          <p:cNvPr id="273" name="PlaceHolder 3"/>
          <p:cNvSpPr>
            <a:spLocks noGrp="1"/>
          </p:cNvSpPr>
          <p:nvPr>
            <p:ph type="ftr" idx="56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pic>
        <p:nvPicPr>
          <p:cNvPr id="274" name="Grafik 6" descr="fnn_4.png"/>
          <p:cNvPicPr/>
          <p:nvPr/>
        </p:nvPicPr>
        <p:blipFill>
          <a:blip r:embed="rId2"/>
          <a:stretch/>
        </p:blipFill>
        <p:spPr>
          <a:xfrm>
            <a:off x="4000320" y="1643040"/>
            <a:ext cx="4651560" cy="2280240"/>
          </a:xfrm>
          <a:prstGeom prst="rect">
            <a:avLst/>
          </a:prstGeom>
          <a:ln w="0">
            <a:noFill/>
          </a:ln>
        </p:spPr>
      </p:pic>
      <p:sp>
        <p:nvSpPr>
          <p:cNvPr id="275" name="Textfeld 8"/>
          <p:cNvSpPr/>
          <p:nvPr/>
        </p:nvSpPr>
        <p:spPr>
          <a:xfrm>
            <a:off x="7572240" y="3857760"/>
            <a:ext cx="1285560" cy="302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400" b="0" u="sng" strike="noStrike" spc="-1">
                <a:solidFill>
                  <a:srgbClr val="0000FF"/>
                </a:solidFill>
                <a:uFillTx/>
                <a:latin typeface="Calibri"/>
                <a:hlinkClick r:id="rId3"/>
              </a:rPr>
              <a:t>Image source</a:t>
            </a:r>
            <a:endParaRPr lang="en-US" sz="14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FB99EE4B-0090-4CB8-8D2E-D1B48051CDF4}" type="slidenum">
              <a:t>50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2" grpId="0" build="p"/>
      <p:bldP spid="275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FNNs for Classification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77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Let’s design a fully-connected network for classification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Input: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n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-dimensional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x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Output: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one of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K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classes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So, how many input units?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What type of units?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How many output units?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How do we ensure that?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What type of units?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How to get predictions?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err="1">
                <a:solidFill>
                  <a:srgbClr val="003056"/>
                </a:solidFill>
                <a:latin typeface="Calibri"/>
              </a:rPr>
              <a:t>Softmax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 layer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err="1">
                <a:solidFill>
                  <a:srgbClr val="003056"/>
                </a:solidFill>
                <a:latin typeface="Calibri"/>
              </a:rPr>
              <a:t>Softmax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function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: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turns given vector into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probability vector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is a probability vector if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az-Cyrl-AZ" sz="1800" b="0" i="1" strike="noStrike" spc="-1">
                <a:solidFill>
                  <a:srgbClr val="003056"/>
                </a:solidFill>
                <a:latin typeface="Calibri"/>
              </a:rPr>
              <a:t>Є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[0,1]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for all </a:t>
            </a:r>
            <a:r>
              <a:rPr lang="en-US" sz="1800" b="0" i="1" strike="noStrike" spc="-1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and 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Σ</a:t>
            </a:r>
            <a:r>
              <a:rPr lang="en-US" sz="1800" b="0" i="1" strike="noStrike" spc="-1" baseline="-2500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x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= 1</a:t>
            </a:r>
            <a:r>
              <a:rPr lang="en-US" sz="1800" i="1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(see first tutorial)</a:t>
            </a:r>
            <a:endParaRPr lang="de-DE" sz="1800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err="1">
                <a:solidFill>
                  <a:srgbClr val="003056"/>
                </a:solidFill>
                <a:latin typeface="Calibri"/>
              </a:rPr>
              <a:t>Softmax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layer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: linear layer for projection + </a:t>
            </a:r>
            <a:r>
              <a:rPr lang="en-US" sz="2000" b="0" strike="noStrike" spc="-1" err="1">
                <a:solidFill>
                  <a:srgbClr val="003056"/>
                </a:solidFill>
                <a:latin typeface="Calibri"/>
              </a:rPr>
              <a:t>softmax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function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Input: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vector of logits;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Output: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probability vector for inference/prediction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78" name="PlaceHolder 3"/>
          <p:cNvSpPr>
            <a:spLocks noGrp="1"/>
          </p:cNvSpPr>
          <p:nvPr>
            <p:ph type="ftr" idx="57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pic>
        <p:nvPicPr>
          <p:cNvPr id="279" name="Grafik 6" descr="softmax_1.png"/>
          <p:cNvPicPr/>
          <p:nvPr/>
        </p:nvPicPr>
        <p:blipFill>
          <a:blip r:embed="rId2"/>
          <a:stretch/>
        </p:blipFill>
        <p:spPr>
          <a:xfrm>
            <a:off x="4058926" y="1439506"/>
            <a:ext cx="4452165" cy="3074940"/>
          </a:xfrm>
          <a:prstGeom prst="rect">
            <a:avLst/>
          </a:prstGeom>
          <a:ln w="0">
            <a:noFill/>
          </a:ln>
        </p:spPr>
      </p:pic>
      <p:sp>
        <p:nvSpPr>
          <p:cNvPr id="280" name="Textfeld 7"/>
          <p:cNvSpPr/>
          <p:nvPr/>
        </p:nvSpPr>
        <p:spPr>
          <a:xfrm>
            <a:off x="7429680" y="4500720"/>
            <a:ext cx="1213920" cy="302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400" b="0" u="sng" strike="noStrike" spc="-1">
                <a:solidFill>
                  <a:srgbClr val="0000FF"/>
                </a:solidFill>
                <a:uFillTx/>
                <a:latin typeface="Calibri"/>
                <a:hlinkClick r:id="rId3"/>
              </a:rPr>
              <a:t>Image source</a:t>
            </a:r>
            <a:endParaRPr lang="en-US" sz="14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BFF33DD-5DD5-415D-874A-215BF376503B}" type="slidenum">
              <a:t>51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7" grpId="0" build="p"/>
      <p:bldP spid="280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Information Flow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2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“Feed-forward neural networks: information flows forward”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Oversimplified! Important information flows backward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during training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This influences design, inspired creation of important components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E.g. LSTMs, residual units, etc.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Training often done with gradient-based optimizers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E.g. SGD, </a:t>
            </a:r>
            <a:r>
              <a:rPr lang="en-US" sz="1800" b="0" strike="noStrike" spc="-1" err="1">
                <a:solidFill>
                  <a:srgbClr val="003056"/>
                </a:solidFill>
                <a:latin typeface="Calibri"/>
              </a:rPr>
              <a:t>Adagrad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etc.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(briefly discussed in first tutorial)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Gradient information tells us how to update model parameters!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Forward pass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Compute function we are learning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Backward pass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Compute gradient information to 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indent="-4572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	learn parameters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How to compute gradients of functions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indent="-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 computed by FNNs?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Backpropagation!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83" name="PlaceHolder 3"/>
          <p:cNvSpPr>
            <a:spLocks noGrp="1"/>
          </p:cNvSpPr>
          <p:nvPr>
            <p:ph type="ftr" idx="58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pic>
        <p:nvPicPr>
          <p:cNvPr id="284" name="Grafik 6" descr="error_surface.png"/>
          <p:cNvPicPr/>
          <p:nvPr/>
        </p:nvPicPr>
        <p:blipFill>
          <a:blip r:embed="rId2"/>
          <a:stretch/>
        </p:blipFill>
        <p:spPr>
          <a:xfrm>
            <a:off x="5427720" y="3571920"/>
            <a:ext cx="3430440" cy="1928520"/>
          </a:xfrm>
          <a:prstGeom prst="rect">
            <a:avLst/>
          </a:prstGeom>
          <a:ln w="0">
            <a:noFill/>
          </a:ln>
        </p:spPr>
      </p:pic>
      <p:sp>
        <p:nvSpPr>
          <p:cNvPr id="285" name="Textfeld 7"/>
          <p:cNvSpPr/>
          <p:nvPr/>
        </p:nvSpPr>
        <p:spPr>
          <a:xfrm>
            <a:off x="7500960" y="5500800"/>
            <a:ext cx="1213920" cy="302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400" b="0" u="sng" strike="noStrike" spc="-1">
                <a:solidFill>
                  <a:srgbClr val="0000FF"/>
                </a:solidFill>
                <a:uFillTx/>
                <a:latin typeface="Calibri"/>
                <a:hlinkClick r:id="rId3"/>
              </a:rPr>
              <a:t>Image source</a:t>
            </a:r>
            <a:endParaRPr lang="en-US" sz="14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1D0C888C-4117-4CA0-8218-26A26EEE675D}" type="slidenum">
              <a:t>52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2" grpId="0" build="p"/>
      <p:bldP spid="285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Backpropagation (1)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7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What is a derivative?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Let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y = f(h)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dy/dh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asks: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how much does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y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change when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h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changes?</a:t>
            </a:r>
            <a:endParaRPr lang="de-DE" sz="1800" b="1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 gradient is a multidimensional derivative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Let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be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n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-dimensional vector and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y = f(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) a function from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R</a:t>
            </a:r>
            <a:r>
              <a:rPr lang="en-US" sz="1800" b="0" i="1" strike="noStrike" spc="-1" baseline="30000">
                <a:solidFill>
                  <a:srgbClr val="003056"/>
                </a:solidFill>
                <a:latin typeface="Calibri"/>
              </a:rPr>
              <a:t>n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to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R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∂y/∂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= (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∂y/∂h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∂y/∂h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,…,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∂y/∂h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n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) is gradient of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y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w.r.t.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x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I.e. the gradient of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y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w.r.t.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is also an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n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-dimensional (row) vector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Geometrically,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gradient vector is direction of the largest change of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y</a:t>
            </a:r>
            <a:endParaRPr lang="de-DE" sz="1800" b="1" i="1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What rate of change are we interested in during training?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How much does loss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L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change when model parameters </a:t>
            </a:r>
            <a:r>
              <a:rPr lang="el-GR" sz="1800" b="1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change?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I.e.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∂L/∂</a:t>
            </a:r>
            <a:r>
              <a:rPr lang="el-GR" sz="1800" b="1" i="1" strike="noStrike" spc="-1">
                <a:solidFill>
                  <a:srgbClr val="003056"/>
                </a:solidFill>
                <a:latin typeface="Calibri"/>
              </a:rPr>
              <a:t>Θ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What if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L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is output of a compound parameterized function (FNN)?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E.g.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L = f(y)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where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y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= g(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|</a:t>
            </a:r>
            <a:r>
              <a:rPr lang="el-GR" sz="1800" b="1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),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=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z(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|</a:t>
            </a:r>
            <a:r>
              <a:rPr lang="el-GR" sz="1800" b="1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(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z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is 1</a:t>
            </a:r>
            <a:r>
              <a:rPr lang="en-US" sz="1800" b="0" strike="noStrike" spc="-1" baseline="30000">
                <a:solidFill>
                  <a:srgbClr val="003056"/>
                </a:solidFill>
                <a:latin typeface="Calibri"/>
              </a:rPr>
              <a:t>st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layer,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g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is 2</a:t>
            </a:r>
            <a:r>
              <a:rPr lang="en-US" sz="1800" b="0" strike="noStrike" spc="-1" baseline="30000">
                <a:solidFill>
                  <a:srgbClr val="003056"/>
                </a:solidFill>
                <a:latin typeface="Calibri"/>
              </a:rPr>
              <a:t>nd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f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is loss)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Here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∂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y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/∂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h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is a Jacobian (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m x n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matrix where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m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is size of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y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n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size of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Same for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∂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/∂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x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88" name="PlaceHolder 3"/>
          <p:cNvSpPr>
            <a:spLocks noGrp="1"/>
          </p:cNvSpPr>
          <p:nvPr>
            <p:ph type="ftr" idx="59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DA2B5DF-7728-4D51-A644-48E34DABF7AA}" type="slidenum">
              <a:t>53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7" grpId="0" build="p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Backpropagation (2)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90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We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propagate the change/error back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using the chain rule!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Recall chain rule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Let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y = g(h)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and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h = f(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∂y/∂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= ∂y/∂h ∙ ∂h/∂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Take this computation graph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Internal nodes: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operations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Leaves: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learnable weights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indent="-4572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		             input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a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Here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L = d – label,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d = w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3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b + w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4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c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We want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∂L/∂w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4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(which rate of change?)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Chain rule: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 ∂L/∂w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4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 = ∂L/∂d ∙ ∂d/∂w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4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Similarly,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∂L/∂w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 = ∂L/∂d ∙ ∂d/∂c ∙ ∂c/∂w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2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where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 c = w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a</a:t>
            </a:r>
            <a:r>
              <a:rPr lang="en-US" sz="2000" i="1" spc="-1">
                <a:solidFill>
                  <a:srgbClr val="003056"/>
                </a:solidFill>
                <a:latin typeface="Calibri"/>
              </a:rPr>
              <a:t> </a:t>
            </a:r>
            <a:endParaRPr lang="en-US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2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Note that ∂L/∂d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is useful for both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∂L/∂w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4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and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∂L/∂w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2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2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Reusing gradients is common during backpropagation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91" name="PlaceHolder 3"/>
          <p:cNvSpPr>
            <a:spLocks noGrp="1"/>
          </p:cNvSpPr>
          <p:nvPr>
            <p:ph type="ftr" idx="60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pic>
        <p:nvPicPr>
          <p:cNvPr id="292" name="Grafik 6" descr="backprop_1.png"/>
          <p:cNvPicPr/>
          <p:nvPr/>
        </p:nvPicPr>
        <p:blipFill>
          <a:blip r:embed="rId2"/>
          <a:stretch/>
        </p:blipFill>
        <p:spPr>
          <a:xfrm>
            <a:off x="4452120" y="1571760"/>
            <a:ext cx="4334400" cy="2783160"/>
          </a:xfrm>
          <a:prstGeom prst="rect">
            <a:avLst/>
          </a:prstGeom>
          <a:ln w="0">
            <a:noFill/>
          </a:ln>
        </p:spPr>
      </p:pic>
      <p:sp>
        <p:nvSpPr>
          <p:cNvPr id="293" name="Textfeld 7"/>
          <p:cNvSpPr/>
          <p:nvPr/>
        </p:nvSpPr>
        <p:spPr>
          <a:xfrm>
            <a:off x="7715160" y="4357800"/>
            <a:ext cx="1213920" cy="302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400" b="0" u="sng" strike="noStrike" spc="-1">
                <a:solidFill>
                  <a:srgbClr val="0000FF"/>
                </a:solidFill>
                <a:uFillTx/>
                <a:latin typeface="Calibri"/>
                <a:hlinkClick r:id="rId3"/>
              </a:rPr>
              <a:t>Image source</a:t>
            </a:r>
            <a:endParaRPr lang="en-US" sz="14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714BCE4-5FEB-4823-895B-66F4C4E46409}" type="slidenum">
              <a:t>54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0" grpId="0" build="p"/>
      <p:bldP spid="293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Backpropagation (3)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95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19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Perhaps more important, take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∂L/∂w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 = ∂L/∂d ∙ ∂d/∂c ∙ ∂c/∂w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2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Here, gradient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∂c/∂w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2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is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multiplied by factor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∂L/∂d ∙ ∂d/∂c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∂L/∂d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comes from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passing gradient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through minus operator in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L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∂d/∂c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comes from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passing gradient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through plus operator in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d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,Sans-Serif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Thus, </a:t>
            </a:r>
            <a:r>
              <a:rPr lang="en-US" sz="2000" b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operations have impact on their "input" gradients!</a:t>
            </a:r>
            <a:endParaRPr lang="de-DE" sz="2000" spc="-1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Font typeface="Arial,Sans-Serif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Important to consider when designing networks</a:t>
            </a:r>
            <a:endParaRPr lang="de-DE" sz="1800" spc="-1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Font typeface="Arial,Sans-Serif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E.g. </a:t>
            </a:r>
            <a:r>
              <a:rPr lang="en-US" sz="1800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plus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 operator has no effect on gradient</a:t>
            </a:r>
            <a:endParaRPr lang="de-DE" sz="1800" spc="-1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Font typeface="Arial,Sans-Serif"/>
              <a:buChar char="•"/>
            </a:pPr>
            <a:r>
              <a:rPr lang="en-US" sz="1800" i="1" spc="-1" err="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Concat</a:t>
            </a:r>
            <a:r>
              <a:rPr lang="en-US" sz="1800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 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operator splits gradient into two</a:t>
            </a:r>
            <a:endParaRPr lang="de-DE" sz="1800" spc="-1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E.g. if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either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∂d/∂c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or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 ∂L/∂d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are close to zero,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∂L/∂w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2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will be small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In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other words,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we get little info about how to change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to improve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L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Generally, small gradients = slow/difficult to learn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Many challenges in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training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deep networks, e.g. vanishing gradients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Inspired solutions like LSTMs, residual connections (used in transformers)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Let’s look at a FNN for a practical NLP use case!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79"/>
              </a:spcBef>
              <a:buNone/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96" name="PlaceHolder 3"/>
          <p:cNvSpPr>
            <a:spLocks noGrp="1"/>
          </p:cNvSpPr>
          <p:nvPr>
            <p:ph type="ftr" idx="61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CE8CEEBF-4E46-4BF4-B421-9B25795CC201}" type="slidenum">
              <a:t>55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5" grpId="0" build="p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Language Modeling Recap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98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Predict the next word: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“Every Thursday there is a </a:t>
            </a:r>
            <a:r>
              <a:rPr lang="en-US" sz="1800" b="0" strike="noStrike" spc="-1" err="1">
                <a:solidFill>
                  <a:srgbClr val="003056"/>
                </a:solidFill>
                <a:latin typeface="Calibri"/>
              </a:rPr>
              <a:t>Schneckenhof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…”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This suggests: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Some words are more likely to appear than others given some context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39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Probabilistically: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 </a:t>
            </a:r>
            <a:endParaRPr lang="de-DE" sz="22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</a:t>
            </a:r>
            <a:r>
              <a:rPr lang="en-US" sz="1800" b="0" i="1" strike="noStrike" spc="-1" err="1">
                <a:solidFill>
                  <a:srgbClr val="003056"/>
                </a:solidFill>
                <a:latin typeface="Calibri"/>
              </a:rPr>
              <a:t>meeting|“Every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Thursday there is a </a:t>
            </a:r>
            <a:r>
              <a:rPr lang="en-US" sz="1800" b="0" i="1" strike="noStrike" spc="-1" err="1">
                <a:solidFill>
                  <a:srgbClr val="003056"/>
                </a:solidFill>
                <a:latin typeface="Calibri"/>
              </a:rPr>
              <a:t>Schneckenhof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”)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Generally: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 p(w</a:t>
            </a:r>
            <a:r>
              <a:rPr lang="en-US" sz="2000" b="1" i="1" strike="noStrike" spc="-1" baseline="-25000">
                <a:solidFill>
                  <a:srgbClr val="003056"/>
                </a:solidFill>
                <a:latin typeface="Calibri"/>
              </a:rPr>
              <a:t>n+1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|w</a:t>
            </a:r>
            <a:r>
              <a:rPr lang="en-US" sz="2000" b="1" i="1" strike="noStrike" spc="-1" baseline="-2500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,w</a:t>
            </a:r>
            <a:r>
              <a:rPr lang="en-US" sz="2000" b="1" i="1" strike="noStrike" spc="-1" baseline="-2500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,…,</a:t>
            </a:r>
            <a:r>
              <a:rPr lang="en-US" sz="2000" b="1" i="1" strike="noStrike" spc="-1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1" i="1" strike="noStrike" spc="-1" baseline="-25000" err="1">
                <a:solidFill>
                  <a:srgbClr val="003056"/>
                </a:solidFill>
                <a:latin typeface="Calibri"/>
              </a:rPr>
              <a:t>n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Conditional probability of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n+1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given joint distribution of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,w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,…,</a:t>
            </a:r>
            <a:r>
              <a:rPr lang="en-US" sz="1800" b="0" i="1" strike="noStrike" spc="-1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 err="1">
                <a:solidFill>
                  <a:srgbClr val="003056"/>
                </a:solidFill>
                <a:latin typeface="Calibri"/>
              </a:rPr>
              <a:t>n</a:t>
            </a:r>
            <a:r>
              <a:rPr lang="en-US" sz="1800" i="1" spc="-1">
                <a:solidFill>
                  <a:srgbClr val="003056"/>
                </a:solidFill>
                <a:latin typeface="Calibri"/>
              </a:rPr>
              <a:t> 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i="1" spc="-1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600" i="1" spc="-1" baseline="-2500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i="1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are words/tokens in some fixed vocabulary </a:t>
            </a:r>
            <a:r>
              <a:rPr lang="en-US" sz="1800" i="1" spc="-1">
                <a:solidFill>
                  <a:srgbClr val="003056"/>
                </a:solidFill>
                <a:latin typeface="Calibri"/>
              </a:rPr>
              <a:t>V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the model can process</a:t>
            </a: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Such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models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 can predict entire sequences with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probability chain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 rule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,w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,…,</a:t>
            </a:r>
            <a:r>
              <a:rPr lang="en-US" sz="1800" b="0" i="1" strike="noStrike" spc="-1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 err="1">
                <a:solidFill>
                  <a:srgbClr val="003056"/>
                </a:solidFill>
                <a:latin typeface="Calibri"/>
              </a:rPr>
              <a:t>n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 = p(w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)p(w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|w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 p(w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3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|w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,w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)… p(w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n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|w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,w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,…,w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n-1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</a:t>
            </a:r>
          </a:p>
          <a:p>
            <a:pPr marL="399415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Useful in many NLP settings, e.g. machine translation</a:t>
            </a:r>
            <a:endParaRPr lang="de-DE" sz="2000" spc="-1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A good language model should identify more common phrases</a:t>
            </a:r>
            <a:endParaRPr lang="en-US" sz="1800">
              <a:solidFill>
                <a:srgbClr val="000000"/>
              </a:solidFill>
              <a:latin typeface="Arial"/>
              <a:ea typeface="Calibri"/>
              <a:cs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p(</a:t>
            </a:r>
            <a:r>
              <a:rPr lang="en-US" sz="1800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This sentence makes sense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) &lt; p(</a:t>
            </a:r>
            <a:r>
              <a:rPr lang="en-US" sz="1800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Makes sense this sentence does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)</a:t>
            </a:r>
            <a:endParaRPr lang="en-US"/>
          </a:p>
        </p:txBody>
      </p:sp>
      <p:sp>
        <p:nvSpPr>
          <p:cNvPr id="299" name="PlaceHolder 3"/>
          <p:cNvSpPr>
            <a:spLocks noGrp="1"/>
          </p:cNvSpPr>
          <p:nvPr>
            <p:ph type="ftr" idx="62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A5F8A13-33F0-46A4-8103-6B8102E7D621}" type="slidenum">
              <a:t>56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8" grpId="0" build="p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Language Modeling with FNNs (1) 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04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u="sng" strike="noStrike" spc="-1">
                <a:solidFill>
                  <a:srgbClr val="0000FF"/>
                </a:solidFill>
                <a:uFillTx/>
                <a:latin typeface="Calibri"/>
                <a:hlinkClick r:id="rId2"/>
              </a:rPr>
              <a:t>Bengio et al. (2003)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proposed FNN that simultaneously learns: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“Distributed representations of words”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 (more on this later)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“Probability function of word sequences expressed in terms of these representations”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Size of word vectors (30, 60, 100) much smaller than vocabulary (17K)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Intuition: similar words have similar feature vectors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Thus, training sentence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The cat is walking in the bedroom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can be generalized to, e.g.: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A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dog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is walking in a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room</a:t>
            </a:r>
            <a:endParaRPr lang="de-DE" sz="1800" b="0" i="1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The cat is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running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 a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room</a:t>
            </a:r>
            <a:endParaRPr lang="de-DE" sz="1800" b="0" i="1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A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dog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is walking in a bedroom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The dog is walking in the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room</a:t>
            </a:r>
            <a:endParaRPr lang="de-DE" sz="1800" b="0" i="1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How did they implement such a model?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A feed-forward neural network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Not the first time it was done, but the first time at that scale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05" name="PlaceHolder 3"/>
          <p:cNvSpPr>
            <a:spLocks noGrp="1"/>
          </p:cNvSpPr>
          <p:nvPr>
            <p:ph type="ftr" idx="64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5EE3BBC-1CBE-447F-9A89-8F38AA580797}" type="slidenum">
              <a:t>57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4" grpId="0" build="p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Language Modeling with FNNs (2) 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07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lvl="1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How did they model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m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|w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,w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…,w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m-1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2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 mapping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C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between every word </a:t>
            </a:r>
            <a:r>
              <a:rPr lang="en-US" sz="1800" b="0" i="1" strike="noStrike" spc="-1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 err="1">
                <a:solidFill>
                  <a:srgbClr val="003056"/>
                </a:solidFill>
                <a:latin typeface="Calibri"/>
              </a:rPr>
              <a:t>i</a:t>
            </a:r>
            <a:r>
              <a:rPr lang="pl-PL" sz="1800" b="0" i="1" strike="noStrike" spc="-1">
                <a:solidFill>
                  <a:srgbClr val="003056"/>
                </a:solidFill>
                <a:latin typeface="Calibri"/>
              </a:rPr>
              <a:t> ∈ V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to a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m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-dimensional vector </a:t>
            </a:r>
            <a:r>
              <a:rPr lang="en-US" sz="1800" b="1" i="1" strike="noStrike" spc="-1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 err="1">
                <a:solidFill>
                  <a:srgbClr val="003056"/>
                </a:solidFill>
                <a:latin typeface="Calibri"/>
              </a:rPr>
              <a:t>i</a:t>
            </a:r>
            <a:endParaRPr lang="de-DE" sz="1800" b="0" strike="noStrike" spc="-1" err="1">
              <a:solidFill>
                <a:srgbClr val="003056"/>
              </a:solidFill>
              <a:latin typeface="Calibri"/>
            </a:endParaRPr>
          </a:p>
          <a:p>
            <a:pPr marL="1313815" indent="-4572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Today known as an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embedding layer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.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1313815" indent="-4572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Given </a:t>
            </a:r>
            <a:r>
              <a:rPr lang="en-US" sz="1800" b="0" i="1" strike="noStrike" spc="-1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get row </a:t>
            </a:r>
            <a:r>
              <a:rPr lang="en-US" sz="1800" b="0" i="1" strike="noStrike" spc="-1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in embedding matrix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C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(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V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rows, each a vector </a:t>
            </a:r>
            <a:r>
              <a:rPr lang="en-US" sz="1800" b="1" spc="-1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spc="-1" baseline="-2500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)</a:t>
            </a:r>
            <a:endParaRPr lang="de-DE" sz="1800" spc="-1">
              <a:solidFill>
                <a:srgbClr val="003056"/>
              </a:solidFill>
              <a:latin typeface="Calibri"/>
            </a:endParaRPr>
          </a:p>
          <a:p>
            <a:pPr marL="856615" lvl="2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AutoNum type="arabicPeriod"/>
              <a:tabLst>
                <a:tab pos="0" algn="l"/>
              </a:tabLst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Function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g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that maps input sequence of word vectors to a probability vector of size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|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V</a:t>
            </a:r>
            <a:r>
              <a:rPr lang="en-US" sz="1800" i="1" spc="-1">
                <a:solidFill>
                  <a:srgbClr val="003056"/>
                </a:solidFill>
                <a:latin typeface="Calibri"/>
              </a:rPr>
              <a:t>|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,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strike="noStrike" spc="-1" err="1">
                <a:solidFill>
                  <a:srgbClr val="003056"/>
                </a:solidFill>
                <a:latin typeface="Calibri"/>
              </a:rPr>
              <a:t>-th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component is probability of </a:t>
            </a:r>
            <a:r>
              <a:rPr lang="en-US" sz="1800" b="0" i="1" strike="noStrike" spc="-1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strike="noStrike" spc="-1" err="1">
                <a:solidFill>
                  <a:srgbClr val="003056"/>
                </a:solidFill>
                <a:latin typeface="Calibri"/>
              </a:rPr>
              <a:t>-th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word being next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lvl="1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Embeddings are parameters that are learned</a:t>
            </a:r>
            <a:endParaRPr lang="de-DE" sz="2000" b="1" strike="noStrike" spc="-1">
              <a:solidFill>
                <a:srgbClr val="003056"/>
              </a:solidFill>
              <a:latin typeface="Calibri"/>
            </a:endParaRPr>
          </a:p>
          <a:p>
            <a:pPr marL="457200" lvl="1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Function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g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uses these embeddings plus additional parameters </a:t>
            </a:r>
            <a:r>
              <a:rPr lang="el-GR" sz="2000" b="1" strike="noStrike" spc="-1">
                <a:solidFill>
                  <a:srgbClr val="003056"/>
                </a:solidFill>
                <a:latin typeface="Calibri"/>
              </a:rPr>
              <a:t>ω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2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|w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,w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…,w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m-1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 = g(</a:t>
            </a:r>
            <a:r>
              <a:rPr lang="en-US" sz="1800" b="0" i="1" strike="noStrike" spc="-1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,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…,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m-1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|</a:t>
            </a:r>
            <a:r>
              <a:rPr lang="el-GR" sz="1800" b="1" strike="noStrike" spc="-1">
                <a:solidFill>
                  <a:srgbClr val="003056"/>
                </a:solidFill>
                <a:latin typeface="Calibri"/>
              </a:rPr>
              <a:t>ω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where </a:t>
            </a:r>
            <a:r>
              <a:rPr lang="en-US" sz="1800" b="0" i="1" strike="noStrike" spc="-1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is index of word </a:t>
            </a:r>
            <a:r>
              <a:rPr lang="en-US" sz="1800" b="0" i="1" strike="noStrike" spc="-1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 err="1">
                <a:solidFill>
                  <a:srgbClr val="003056"/>
                </a:solidFill>
                <a:latin typeface="Calibri"/>
              </a:rPr>
              <a:t>i</a:t>
            </a:r>
            <a:endParaRPr lang="de-DE" sz="1800" b="0" strike="noStrike" spc="-1" err="1">
              <a:solidFill>
                <a:srgbClr val="003056"/>
              </a:solidFill>
              <a:latin typeface="Calibri"/>
            </a:endParaRPr>
          </a:p>
          <a:p>
            <a:pPr marL="457200" lvl="1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Overall, they learned function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f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, a composition of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C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and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g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, with a FNN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2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f(</a:t>
            </a:r>
            <a:r>
              <a:rPr lang="en-US" sz="1800" b="0" i="1" strike="noStrike" spc="-1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, 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,w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…,w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m-1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 = g(</a:t>
            </a:r>
            <a:r>
              <a:rPr lang="en-US" sz="1800" b="0" i="1" strike="noStrike" spc="-1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, C(w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),C(w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)…,C(w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m-1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)|</a:t>
            </a:r>
            <a:r>
              <a:rPr lang="el-GR" sz="1800" b="1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2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All model parameters are </a:t>
            </a:r>
            <a:r>
              <a:rPr lang="el-GR" sz="1800" b="1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= (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C,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l-GR" sz="1800" b="1" i="1" strike="noStrike" spc="-1">
                <a:solidFill>
                  <a:srgbClr val="003056"/>
                </a:solidFill>
                <a:latin typeface="Calibri"/>
              </a:rPr>
              <a:t>ω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lvl="1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It’s easy to see what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C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might look like, but what does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g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look like?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2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 other words, what did their network architecture look like?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08" name="PlaceHolder 3"/>
          <p:cNvSpPr>
            <a:spLocks noGrp="1"/>
          </p:cNvSpPr>
          <p:nvPr>
            <p:ph type="ftr" idx="65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4D941F49-DB6A-4783-8726-DD2346C1C28C}" type="slidenum">
              <a:t>58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" grpId="0" build="p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Language Modeling with FNNs (3) 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0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1</a:t>
            </a:r>
            <a:r>
              <a:rPr lang="en-US" sz="2000" b="1" strike="noStrike" spc="-1" baseline="30000">
                <a:solidFill>
                  <a:srgbClr val="003056"/>
                </a:solidFill>
                <a:latin typeface="Calibri"/>
              </a:rPr>
              <a:t>st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: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Get word vectors </a:t>
            </a:r>
            <a:r>
              <a:rPr lang="en-US" sz="2000" b="1" i="1" strike="noStrike" spc="-1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 baseline="-25000" err="1">
                <a:solidFill>
                  <a:srgbClr val="003056"/>
                </a:solidFill>
                <a:latin typeface="Calibri"/>
              </a:rPr>
              <a:t>i</a:t>
            </a:r>
            <a:endParaRPr lang="de-DE" sz="2000" b="0" strike="noStrike" spc="-1" err="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2</a:t>
            </a:r>
            <a:r>
              <a:rPr lang="en-US" sz="2000" b="1" strike="noStrike" spc="-1" baseline="30000">
                <a:solidFill>
                  <a:srgbClr val="003056"/>
                </a:solidFill>
                <a:latin typeface="Calibri"/>
              </a:rPr>
              <a:t>nd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Concatenate vectors to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 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	form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x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3</a:t>
            </a:r>
            <a:r>
              <a:rPr lang="en-US" sz="2000" b="1" strike="noStrike" spc="-1" baseline="30000">
                <a:solidFill>
                  <a:srgbClr val="003056"/>
                </a:solidFill>
                <a:latin typeface="Calibri"/>
              </a:rPr>
              <a:t>rd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Hidden layer (matrix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 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	transform. +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tanh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strike="noStrike" spc="-1" err="1">
                <a:solidFill>
                  <a:srgbClr val="003056"/>
                </a:solidFill>
                <a:latin typeface="Calibri"/>
              </a:rPr>
              <a:t>activ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.)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4</a:t>
            </a:r>
            <a:r>
              <a:rPr lang="en-US" sz="2000" b="1" strike="noStrike" spc="-1" baseline="30000">
                <a:solidFill>
                  <a:srgbClr val="003056"/>
                </a:solidFill>
                <a:latin typeface="Calibri"/>
              </a:rPr>
              <a:t>th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Optional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linear layer w.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 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	matrix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from input to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 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	</a:t>
            </a:r>
            <a:r>
              <a:rPr lang="en-US" sz="2000" b="0" strike="noStrike" spc="-1" err="1">
                <a:solidFill>
                  <a:srgbClr val="003056"/>
                </a:solidFill>
                <a:latin typeface="Calibri"/>
              </a:rPr>
              <a:t>softmax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layer (dashed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 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	lines)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5</a:t>
            </a:r>
            <a:r>
              <a:rPr lang="en-US" sz="2000" b="1" strike="noStrike" spc="-1" baseline="30000">
                <a:solidFill>
                  <a:srgbClr val="003056"/>
                </a:solidFill>
                <a:latin typeface="Calibri"/>
              </a:rPr>
              <a:t>th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strike="noStrike" spc="-1" err="1">
                <a:solidFill>
                  <a:srgbClr val="003056"/>
                </a:solidFill>
                <a:latin typeface="Calibri"/>
              </a:rPr>
              <a:t>Softmax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layer (matrix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U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 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	transform. + </a:t>
            </a:r>
            <a:r>
              <a:rPr lang="en-US" sz="2000" b="0" strike="noStrike" spc="-1" err="1">
                <a:solidFill>
                  <a:srgbClr val="003056"/>
                </a:solidFill>
                <a:latin typeface="Calibri"/>
              </a:rPr>
              <a:t>softmax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Overall: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input to </a:t>
            </a:r>
            <a:r>
              <a:rPr lang="en-US" sz="2000" b="0" strike="noStrike" spc="-1" err="1">
                <a:solidFill>
                  <a:srgbClr val="003056"/>
                </a:solidFill>
                <a:latin typeface="Calibri"/>
              </a:rPr>
              <a:t>softmax</a:t>
            </a:r>
            <a:endParaRPr lang="de-DE" sz="2000" b="0" strike="noStrike" spc="-1" err="1">
              <a:solidFill>
                <a:srgbClr val="003056"/>
              </a:solidFill>
              <a:latin typeface="Calibri"/>
            </a:endParaRPr>
          </a:p>
          <a:p>
            <a:pPr marL="856615" lvl="2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y =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b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+ </a:t>
            </a:r>
            <a:r>
              <a:rPr lang="en-US" sz="1800" b="1" i="1" strike="noStrike" spc="-1" err="1">
                <a:solidFill>
                  <a:srgbClr val="003056"/>
                </a:solidFill>
                <a:latin typeface="Calibri"/>
              </a:rPr>
              <a:t>Wx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+ </a:t>
            </a:r>
            <a:r>
              <a:rPr lang="en-US" sz="1800" b="1" i="1" strike="noStrike" spc="-1" err="1">
                <a:solidFill>
                  <a:srgbClr val="003056"/>
                </a:solidFill>
                <a:latin typeface="Calibri"/>
              </a:rPr>
              <a:t>U</a:t>
            </a:r>
            <a:r>
              <a:rPr lang="en-US" sz="1800" b="0" i="1" strike="noStrike" spc="-1" err="1">
                <a:solidFill>
                  <a:srgbClr val="003056"/>
                </a:solidFill>
                <a:latin typeface="Calibri"/>
              </a:rPr>
              <a:t>tanh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(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d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+ </a:t>
            </a:r>
            <a:r>
              <a:rPr lang="en-US" sz="1800" b="1" i="1" strike="noStrike" spc="-1" err="1">
                <a:solidFill>
                  <a:srgbClr val="003056"/>
                </a:solidFill>
                <a:latin typeface="Calibri"/>
              </a:rPr>
              <a:t>Hx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where </a:t>
            </a:r>
            <a:r>
              <a:rPr lang="en-US" sz="1800" b="1" i="1" strike="noStrike" spc="-1" err="1">
                <a:solidFill>
                  <a:srgbClr val="003056"/>
                </a:solidFill>
                <a:latin typeface="Calibri"/>
              </a:rPr>
              <a:t>b</a:t>
            </a:r>
            <a:r>
              <a:rPr lang="en-US" sz="1800" b="0" i="1" strike="noStrike" spc="-1" err="1">
                <a:solidFill>
                  <a:srgbClr val="003056"/>
                </a:solidFill>
                <a:latin typeface="Calibri"/>
              </a:rPr>
              <a:t>,</a:t>
            </a:r>
            <a:r>
              <a:rPr lang="en-US" sz="1800" b="1" i="1" strike="noStrike" spc="-1" err="1">
                <a:solidFill>
                  <a:srgbClr val="003056"/>
                </a:solidFill>
                <a:latin typeface="Calibri"/>
              </a:rPr>
              <a:t>d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are biases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lvl="1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Then </a:t>
            </a:r>
            <a:r>
              <a:rPr lang="el-GR" sz="2000" b="1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= (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b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d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U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C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11" name="PlaceHolder 3"/>
          <p:cNvSpPr>
            <a:spLocks noGrp="1"/>
          </p:cNvSpPr>
          <p:nvPr>
            <p:ph type="ftr" idx="66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pic>
        <p:nvPicPr>
          <p:cNvPr id="312" name="Grafik 6" descr="bengio_2.png"/>
          <p:cNvPicPr/>
          <p:nvPr/>
        </p:nvPicPr>
        <p:blipFill>
          <a:blip r:embed="rId2"/>
          <a:stretch/>
        </p:blipFill>
        <p:spPr>
          <a:xfrm>
            <a:off x="3742080" y="1123950"/>
            <a:ext cx="4863420" cy="4290765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B927140E-91B5-4E50-AA9E-3D76C3FCE569}" type="slidenum">
              <a:t>59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0" grpId="0" build="p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Language Modeling with FNNs (4) 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4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lvl="1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How did they train?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2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They estimated </a:t>
            </a:r>
            <a:r>
              <a:rPr lang="el-GR" sz="1800" b="1" strike="noStrike" spc="-1" dirty="0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that maximized likelihood of training data (i.e.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MLE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)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lvl="1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Specifically: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2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L = 1/T ∑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m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log f(w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,w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…,w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m-1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; </a:t>
            </a:r>
            <a:r>
              <a:rPr lang="el-GR" sz="1800" b="1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 + R(</a:t>
            </a:r>
            <a:r>
              <a:rPr lang="el-GR" sz="1800" b="1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</a:t>
            </a:r>
            <a:r>
              <a:rPr lang="en-US" sz="1800" i="1" spc="-1">
                <a:solidFill>
                  <a:srgbClr val="003056"/>
                </a:solidFill>
                <a:latin typeface="Calibri"/>
              </a:rPr>
              <a:t> 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2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Here,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T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is number of words in training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corpus</a:t>
            </a:r>
            <a:endParaRPr lang="en-US" sz="1800" spc="-1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457200" lvl="1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Note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a few things: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2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They average loss over the training set (empirical risk)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2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Penalizing term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1800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R(</a:t>
            </a:r>
            <a:r>
              <a:rPr lang="el-GR" sz="1800" b="1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Θ</a:t>
            </a:r>
            <a:r>
              <a:rPr lang="en-US" sz="1800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)</a:t>
            </a:r>
            <a:r>
              <a:rPr lang="en-US" sz="1800" spc="-1" dirty="0">
                <a:solidFill>
                  <a:srgbClr val="003056"/>
                </a:solidFill>
                <a:latin typeface="DejaVu Sans"/>
                <a:ea typeface="Calibri"/>
                <a:cs typeface="Calibri"/>
              </a:rPr>
              <a:t> 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is regularization (weight decay on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C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U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5715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They trained in a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self-supervised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manner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2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I.e.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yes, there are labels, but 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no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manual labeling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required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2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Instead, they used sequences of length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m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 the training corpus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2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For each sequence, first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m-1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words are input, word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m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is target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2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E.g. input to model is 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"The capital of Berlin is"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 and target is word 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"Berlin"</a:t>
            </a:r>
          </a:p>
          <a:p>
            <a:pPr marL="457200" lvl="1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Many of these components still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used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in language models (LMs)!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2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 err="1">
                <a:solidFill>
                  <a:srgbClr val="003056"/>
                </a:solidFill>
                <a:latin typeface="Calibri"/>
              </a:rPr>
              <a:t>Softmax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layer, MLE,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empirical risk,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self-supervision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15" name="PlaceHolder 3"/>
          <p:cNvSpPr>
            <a:spLocks noGrp="1"/>
          </p:cNvSpPr>
          <p:nvPr>
            <p:ph type="ftr" idx="67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73E8F76-ACBD-414D-8B8F-415865E5F12F}" type="slidenum">
              <a:t>60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4" grpId="0" build="p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23599-26D9-0762-E247-E5F4648AC5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PlaceHolder 1">
            <a:extLst>
              <a:ext uri="{FF2B5EF4-FFF2-40B4-BE49-F238E27FC236}">
                <a16:creationId xmlns:a16="http://schemas.microsoft.com/office/drawing/2014/main" id="{670CC62E-7895-7C94-E87A-411FDF545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3000" b="1" spc="-1">
                <a:solidFill>
                  <a:srgbClr val="003056"/>
                </a:solidFill>
                <a:latin typeface="Calibri"/>
              </a:rPr>
              <a:t>Visualizing LMs</a:t>
            </a: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 with FNNs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4" name="PlaceHolder 2">
            <a:extLst>
              <a:ext uri="{FF2B5EF4-FFF2-40B4-BE49-F238E27FC236}">
                <a16:creationId xmlns:a16="http://schemas.microsoft.com/office/drawing/2014/main" id="{8CDD9AC6-D0CE-2702-6F8C-F2A0302C9813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lvl="1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 marL="457200" lvl="1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 marL="457200" lvl="1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 marL="457200" lvl="1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 marL="457200" lvl="1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 marL="457200" lvl="1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 marL="457200" lvl="1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 marL="457200" lvl="1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 marL="457200" lvl="1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This 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is a toy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 example with a single hidden layer:</a:t>
            </a:r>
          </a:p>
          <a:p>
            <a:pPr marL="914400" lvl="2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Input matrix is of size </a:t>
            </a:r>
            <a:r>
              <a:rPr lang="en-US" sz="1800" i="1" spc="-1">
                <a:solidFill>
                  <a:srgbClr val="003056"/>
                </a:solidFill>
                <a:latin typeface="Calibri"/>
              </a:rPr>
              <a:t>sequence length x hidden dimension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(here: </a:t>
            </a:r>
            <a:r>
              <a:rPr lang="en-US" sz="1800" i="1" spc="-1">
                <a:solidFill>
                  <a:srgbClr val="003056"/>
                </a:solidFill>
                <a:latin typeface="Calibri"/>
              </a:rPr>
              <a:t>5 x 4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)</a:t>
            </a:r>
          </a:p>
          <a:p>
            <a:pPr marL="914400" lvl="2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Each layer projects to chosen hidden size (here: first to </a:t>
            </a:r>
            <a:r>
              <a:rPr lang="en-US" sz="1800" i="1" spc="-1">
                <a:solidFill>
                  <a:srgbClr val="003056"/>
                </a:solidFill>
                <a:latin typeface="Calibri"/>
              </a:rPr>
              <a:t>3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, then to 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|V|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)</a:t>
            </a:r>
          </a:p>
          <a:p>
            <a:pPr marL="914400" lvl="2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Output </a:t>
            </a:r>
            <a:r>
              <a:rPr lang="en-US" sz="1800" spc="-1" err="1">
                <a:solidFill>
                  <a:srgbClr val="003056"/>
                </a:solidFill>
                <a:latin typeface="Calibri"/>
              </a:rPr>
              <a:t>distribut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ion over vocabulary </a:t>
            </a:r>
            <a:r>
              <a:rPr lang="en-US" sz="1800" i="1" spc="-1">
                <a:solidFill>
                  <a:srgbClr val="003056"/>
                </a:solidFill>
                <a:latin typeface="Calibri"/>
              </a:rPr>
              <a:t>V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is given </a:t>
            </a:r>
            <a:r>
              <a:rPr lang="en-US" sz="1800" b="1" spc="-1">
                <a:solidFill>
                  <a:srgbClr val="FF0000"/>
                </a:solidFill>
                <a:latin typeface="Calibri"/>
              </a:rPr>
              <a:t>for each input word</a:t>
            </a:r>
          </a:p>
          <a:p>
            <a:pPr marL="914400" lvl="2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Interpretation of output distribution depends on how model is trained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914400" lvl="2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E.g. causal </a:t>
            </a:r>
            <a:r>
              <a:rPr lang="en-US" sz="1800" spc="-1" dirty="0" err="1">
                <a:solidFill>
                  <a:srgbClr val="003056"/>
                </a:solidFill>
                <a:latin typeface="Calibri"/>
              </a:rPr>
              <a:t>langua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ge models --&gt; next token after preceding tokens</a:t>
            </a:r>
          </a:p>
        </p:txBody>
      </p:sp>
      <p:sp>
        <p:nvSpPr>
          <p:cNvPr id="315" name="PlaceHolder 3">
            <a:extLst>
              <a:ext uri="{FF2B5EF4-FFF2-40B4-BE49-F238E27FC236}">
                <a16:creationId xmlns:a16="http://schemas.microsoft.com/office/drawing/2014/main" id="{A9081C9C-B3EC-B150-38A8-4607D6C62B95}"/>
              </a:ext>
            </a:extLst>
          </p:cNvPr>
          <p:cNvSpPr>
            <a:spLocks noGrp="1"/>
          </p:cNvSpPr>
          <p:nvPr>
            <p:ph type="ftr" idx="67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1903D8A8-0EFB-3985-3F2E-E013E36FD92F}"/>
              </a:ext>
            </a:extLst>
          </p:cNvPr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73E8F76-ACBD-414D-8B8F-415865E5F12F}" type="slidenum">
              <a:t>61</a:t>
            </a:fld>
            <a:endParaRPr/>
          </a:p>
        </p:txBody>
      </p:sp>
      <p:pic>
        <p:nvPicPr>
          <p:cNvPr id="2" name="Picture 1" descr="A diagram of a machine&#10;&#10;AI-generated content may be incorrect.">
            <a:extLst>
              <a:ext uri="{FF2B5EF4-FFF2-40B4-BE49-F238E27FC236}">
                <a16:creationId xmlns:a16="http://schemas.microsoft.com/office/drawing/2014/main" id="{615DF96D-90A4-8FDA-34C7-94B91CACCC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513" y="1210083"/>
            <a:ext cx="8489984" cy="2677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38065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4" grpId="0" build="p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Summary: DL </a:t>
            </a:r>
            <a:r>
              <a:rPr lang="en-US" sz="3000" b="1" spc="-1">
                <a:solidFill>
                  <a:srgbClr val="003056"/>
                </a:solidFill>
                <a:latin typeface="Calibri"/>
              </a:rPr>
              <a:t>Basics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7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FNNs: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framework for constructing parameterized real-valued functions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We design and learn these functions (algebraic circuits)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Information flows in both directions on these circuits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Forward pass: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model expressivity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Backward pass: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model “learnability”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Backpropagation: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training deep networks, chain rule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Important: we can learn useful features with deep models!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Hidden layers interpreted as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learned representations</a:t>
            </a:r>
            <a:endParaRPr lang="de-DE" sz="1800" b="0" i="1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Learned representations useful in other settings, i.e. transfer learning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E.g. style transfer, pre-training word representations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Language modeling with FNNs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by Bengio et al. (2003)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Established many modeling and training components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still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used today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Later in the course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, other types of FNNs relevant for NLP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RNNs, transformers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18" name="PlaceHolder 3"/>
          <p:cNvSpPr>
            <a:spLocks noGrp="1"/>
          </p:cNvSpPr>
          <p:nvPr>
            <p:ph type="ftr" idx="68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5C80696-9AE2-4886-9797-92732599FE5B}" type="slidenum">
              <a:t>62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7" grpId="0" build="p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0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479"/>
              </a:spcBef>
              <a:buNone/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79"/>
              </a:spcBef>
              <a:buNone/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 algn="ctr">
              <a:lnSpc>
                <a:spcPct val="100000"/>
              </a:lnSpc>
              <a:spcBef>
                <a:spcPts val="720"/>
              </a:spcBef>
              <a:buNone/>
              <a:tabLst>
                <a:tab pos="0" algn="l"/>
              </a:tabLst>
            </a:pPr>
            <a:r>
              <a:rPr lang="en-US" sz="3600" b="1" strike="noStrike" spc="-1">
                <a:solidFill>
                  <a:srgbClr val="003056"/>
                </a:solidFill>
                <a:latin typeface="Calibri"/>
              </a:rPr>
              <a:t>Word Embeddings</a:t>
            </a:r>
            <a:endParaRPr lang="de-DE" sz="36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21" name="PlaceHolder 3"/>
          <p:cNvSpPr>
            <a:spLocks noGrp="1"/>
          </p:cNvSpPr>
          <p:nvPr>
            <p:ph type="ftr" idx="69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40AB3DA2-D166-40A1-B0CA-84E38AE4FAD8}" type="slidenum">
              <a:t>63</a:t>
            </a:fld>
            <a:endParaRPr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About this Section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3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Goal: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introduce concepts and methods about static word embeddings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Outline: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716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Sparse vs Dense Word Representations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716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Word2Vec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716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Properties of Word Vectors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716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Evaluation of Word Vectors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24" name="PlaceHolder 3"/>
          <p:cNvSpPr>
            <a:spLocks noGrp="1"/>
          </p:cNvSpPr>
          <p:nvPr>
            <p:ph type="ftr" idx="70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A36B58FD-87B4-49A4-B787-87FE2C5D62E7}" type="slidenum">
              <a:t>64</a:t>
            </a:fld>
            <a:endParaRPr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0236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What do we want to represent? (1) 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6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485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Words? I.e. strings of symbols such as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cat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or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dog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No, those are representations themselves!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What do they represent?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Meaning!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We map strings such as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cat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or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dog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to concepts (or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senses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We refer to this mapping as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meaning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what those words refer to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Is meaning a 1-to-1 mapping?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No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words can have many meanings (remember ambiguity?)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How do we, humans, handle word ambiguity?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Context!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“I work at a bank.”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What’s more likely?  A financial institution or by the river?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Again, context. Does the person work in Frankfurt? Are they fishermen?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So,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we want to represent the relation between words and senses!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27" name="PlaceHolder 3"/>
          <p:cNvSpPr>
            <a:spLocks noGrp="1"/>
          </p:cNvSpPr>
          <p:nvPr>
            <p:ph type="ftr" idx="71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67906B34-CF09-4DEE-8D84-49355E4CAA3B}" type="slidenum">
              <a:t>65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6" grpId="0" build="p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0236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What do we want to represent? (2) 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9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What do we want from such representations? Ideally usefulness, e.g.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Tell us if words have similar meanings, e.g. cat and dog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Tell us if words are antonyms, e.g. hot and cold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Tell us if they have positive or negative connotations, e.g. happy or sad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“Generally, a model of word meaning should allows us to draw inferences to address meaning-related tasks like question answering.” </a:t>
            </a:r>
            <a:r>
              <a:rPr lang="en-US" sz="2000" b="0" strike="noStrike" spc="-1" err="1">
                <a:solidFill>
                  <a:srgbClr val="003056"/>
                </a:solidFill>
                <a:latin typeface="Calibri"/>
              </a:rPr>
              <a:t>Jurafsky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and Martin, 2023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Perhaps we should represent senses, then, not words!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Use something like WordNet, expert-crafted database of senses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Databases like WordNet have not worked well in practice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Missing nuance, “good” is synonym of “proficient” only in some cases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New meanings missing, e.g.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genius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wicked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wizard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In practice,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dealing with word representations works better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We focus on their relation to meaning (based on context)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We don’t commit to a given representation of sense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30" name="PlaceHolder 3"/>
          <p:cNvSpPr>
            <a:spLocks noGrp="1"/>
          </p:cNvSpPr>
          <p:nvPr>
            <p:ph type="ftr" idx="72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CAE1BAB9-896E-4218-9DF8-571C5D3C6477}" type="slidenum">
              <a:t>66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9" grpId="0" build="p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Sparse Word Representations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2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Traditional approach: sparse word vectors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Example: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one-hot vectors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716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Given vocabulary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V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represent each word with vector of size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|V|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using one-hot encoding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For example, given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V = {cat, dog, airplane}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716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V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cat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= [1, 0, 0]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716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V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dog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= [0, 1, 0]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716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V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airplane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= [0, 0, 1]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Problem 1: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|V|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can be very large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716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Recall Bengio’s work from 2003: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|V| = 17K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Problem 2: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No natural notion of similarity from such vectors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716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They are all equally different, e.g. with a dot product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716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But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cat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and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dog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are more similar to each other than to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airplane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Generally,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difficult to draw inferences from such representations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716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Let’s look at another approach that addresses these issues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33" name="PlaceHolder 3"/>
          <p:cNvSpPr>
            <a:spLocks noGrp="1"/>
          </p:cNvSpPr>
          <p:nvPr>
            <p:ph type="ftr" idx="73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5EE38CE2-4945-4489-847E-6A46ABB8AA8A}" type="slidenum">
              <a:t>67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2" grpId="0" build="p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Distributed Representations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5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Idea from deep learning community (Geoffrey Hinton in 1986)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Sparse representations: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Each representational component maps to single represented object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E.g. each feature in vector corresponds to one word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Distributed (or dense) representations: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Many-to-many relation between representational components and represented objects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E.g. each word is represented with a set of (distributed) features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PROs: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model has freedom to use features “at will“ during learning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CONs: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Less interpretable than, e.g. one-hot encoding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Given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V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we know what word is represented by [0, 1, 0]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But what word is this? [0.23, 0.447, 0.02]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Using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vectors to represent words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also has a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history in linguistics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Osgood et al. (1957) represented words with 3-dimensional vectors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Each dimension encoded known useful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(non-learned)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features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36" name="PlaceHolder 3"/>
          <p:cNvSpPr>
            <a:spLocks noGrp="1"/>
          </p:cNvSpPr>
          <p:nvPr>
            <p:ph type="ftr" idx="74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BA1A4D35-F2EF-4F42-B443-FE1A6B386F03}" type="slidenum">
              <a:t>68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5" grpId="0" build="p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Distributional Semantics (1)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8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Idea from linguistics (Joos, 1950; Harris, 1954; Firth, 1957)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Not the same concept!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Distributed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representations !=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distributional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semantics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 NLP, the latter can be seen as a special case of the former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39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Let’s guess what the word </a:t>
            </a:r>
            <a:r>
              <a:rPr lang="en-US" sz="2000" b="0" i="1" strike="noStrike" spc="-1" err="1">
                <a:solidFill>
                  <a:srgbClr val="003056"/>
                </a:solidFill>
                <a:latin typeface="Calibri"/>
              </a:rPr>
              <a:t>foobar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means</a:t>
            </a:r>
            <a:endParaRPr lang="de-DE" sz="22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i="1" strike="noStrike" spc="-1" err="1">
                <a:solidFill>
                  <a:srgbClr val="003056"/>
                </a:solidFill>
                <a:latin typeface="Calibri"/>
              </a:rPr>
              <a:t>Foobar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is often played in teams of 7.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 </a:t>
            </a:r>
            <a:r>
              <a:rPr lang="en-US" sz="1800" b="0" i="1" strike="noStrike" spc="-1" err="1">
                <a:solidFill>
                  <a:srgbClr val="003056"/>
                </a:solidFill>
                <a:latin typeface="Calibri"/>
              </a:rPr>
              <a:t>foobar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match is divided into 3 thirds of 25 minutes each, called runs.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 </a:t>
            </a:r>
            <a:r>
              <a:rPr lang="en-US" sz="1800" b="0" i="1" strike="noStrike" spc="-1" err="1">
                <a:solidFill>
                  <a:srgbClr val="003056"/>
                </a:solidFill>
                <a:latin typeface="Calibri"/>
              </a:rPr>
              <a:t>foobar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match is won by scoring 10 points.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What would you guess the word </a:t>
            </a:r>
            <a:r>
              <a:rPr lang="en-US" sz="2000" b="1" i="1" strike="noStrike" spc="-1" err="1">
                <a:solidFill>
                  <a:srgbClr val="003056"/>
                </a:solidFill>
                <a:latin typeface="Calibri"/>
              </a:rPr>
              <a:t>foobar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 refers to? Why?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 type of food?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 sport?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country?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39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Distributional hypothesis: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“A word is characterized by the company that it keeps.”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(Firth, 1957)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39" name="PlaceHolder 3"/>
          <p:cNvSpPr>
            <a:spLocks noGrp="1"/>
          </p:cNvSpPr>
          <p:nvPr>
            <p:ph type="ftr" idx="75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DC7AB89-EA24-40AB-88AE-C34751C8F884}" type="slidenum">
              <a:t>69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8" grpId="0" build="p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Distributional Semantics (2)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41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Put differently: 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We define the meaning of a word by its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distribution</a:t>
            </a:r>
            <a:r>
              <a:rPr lang="en-US" sz="1800" i="1" spc="-1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in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a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language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I.e. by its neighboring words, grammatical environment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Words whose neighboring words are similar, have similar meanings.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We can use this idea to build useful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vector representations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of words!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For example: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co-occurrence matrices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Given defined </a:t>
            </a:r>
            <a:r>
              <a:rPr lang="en-US" sz="1600" b="0" i="1" strike="noStrike" spc="-1">
                <a:solidFill>
                  <a:srgbClr val="003056"/>
                </a:solidFill>
                <a:latin typeface="Calibri"/>
              </a:rPr>
              <a:t>context</a:t>
            </a: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, e.g. a document, a sentence, a word window</a:t>
            </a:r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Construct matrix </a:t>
            </a:r>
            <a:r>
              <a:rPr lang="en-US" sz="1600" b="0" i="1" strike="noStrike" spc="-1">
                <a:solidFill>
                  <a:srgbClr val="003056"/>
                </a:solidFill>
                <a:latin typeface="Calibri"/>
              </a:rPr>
              <a:t>C </a:t>
            </a: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of size </a:t>
            </a:r>
            <a:r>
              <a:rPr lang="en-US" sz="1600" b="0" i="1" strike="noStrike" spc="-1">
                <a:solidFill>
                  <a:srgbClr val="003056"/>
                </a:solidFill>
                <a:latin typeface="Calibri"/>
              </a:rPr>
              <a:t>V x V </a:t>
            </a: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where </a:t>
            </a:r>
            <a:r>
              <a:rPr lang="en-US" sz="1600" b="0" i="1" strike="noStrike" spc="-1">
                <a:solidFill>
                  <a:srgbClr val="003056"/>
                </a:solidFill>
                <a:latin typeface="Calibri"/>
              </a:rPr>
              <a:t>V </a:t>
            </a: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is given vocabulary</a:t>
            </a:r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Rows in matrix are words, columns are also words</a:t>
            </a:r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i="1" strike="noStrike" spc="-1" err="1">
                <a:solidFill>
                  <a:srgbClr val="003056"/>
                </a:solidFill>
                <a:latin typeface="Calibri"/>
              </a:rPr>
              <a:t>m</a:t>
            </a:r>
            <a:r>
              <a:rPr lang="en-US" sz="1600" b="0" i="1" strike="noStrike" spc="-1" baseline="-25000" err="1">
                <a:solidFill>
                  <a:srgbClr val="003056"/>
                </a:solidFill>
                <a:latin typeface="Calibri"/>
              </a:rPr>
              <a:t>ij</a:t>
            </a: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 denotes number of times word </a:t>
            </a:r>
            <a:r>
              <a:rPr lang="en-US" sz="1600" b="0" i="1" strike="noStrike" spc="-1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 appears in same </a:t>
            </a:r>
            <a:r>
              <a:rPr lang="en-US" sz="1600" b="0" i="1" strike="noStrike" spc="-1">
                <a:solidFill>
                  <a:srgbClr val="003056"/>
                </a:solidFill>
                <a:latin typeface="Calibri"/>
              </a:rPr>
              <a:t>context</a:t>
            </a: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 as word </a:t>
            </a:r>
            <a:r>
              <a:rPr lang="en-US" sz="1600" b="0" i="1" strike="noStrike" spc="-1">
                <a:solidFill>
                  <a:srgbClr val="003056"/>
                </a:solidFill>
                <a:latin typeface="Calibri"/>
              </a:rPr>
              <a:t>j</a:t>
            </a:r>
            <a:r>
              <a:rPr lang="en-US" sz="1600" i="1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600" spc="-1">
                <a:solidFill>
                  <a:srgbClr val="003056"/>
                </a:solidFill>
                <a:latin typeface="Calibri"/>
              </a:rPr>
              <a:t>(so, sparse)</a:t>
            </a:r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Co-occurrence matrices useful in many applications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E.g. latent semantic analysis (LSA) --&gt; singular value decomposition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 of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C</a:t>
            </a:r>
            <a:endParaRPr lang="de-DE" sz="1800" b="0" i="1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Extracts vector representations from (truncated) left–singular vectors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Similar count-based methods covered in basic Text Analytics course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Word embeddings: 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distributional hypothesis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 to learn dense vectors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42" name="PlaceHolder 3"/>
          <p:cNvSpPr>
            <a:spLocks noGrp="1"/>
          </p:cNvSpPr>
          <p:nvPr>
            <p:ph type="ftr" idx="76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BEFAC89-D05D-4BC1-B876-452E531FB9DE}" type="slidenum">
              <a:t>70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1" grpId="0" build="p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Word Embeddings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44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lvl="1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Idea: </a:t>
            </a:r>
            <a:r>
              <a:rPr lang="en-US" sz="2000" i="1" spc="-1">
                <a:solidFill>
                  <a:srgbClr val="003056"/>
                </a:solidFill>
                <a:latin typeface="Calibri"/>
              </a:rPr>
              <a:t>embed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higher dimensional vectors into lower dimensional vector space such that (some of) the relative properties of the higher dimensional space are kept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2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Hence,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embedding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--&gt;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(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relatively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)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 low-dimensional vector representation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Low-dimensional compared to, e.g.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|V|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Size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in LMs typically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between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 500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and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10000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dimensions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Vectors are dense (distributed) representations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Historically important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approach: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word2vec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(</a:t>
            </a:r>
            <a:r>
              <a:rPr lang="en-US" sz="2000" b="0" u="sng" strike="noStrike" spc="-1" err="1">
                <a:solidFill>
                  <a:srgbClr val="0000FF"/>
                </a:solidFill>
                <a:uFillTx/>
                <a:latin typeface="Calibri"/>
                <a:hlinkClick r:id="rId2"/>
              </a:rPr>
              <a:t>Mikolov</a:t>
            </a:r>
            <a:r>
              <a:rPr lang="en-US" sz="2000" b="0" u="sng" strike="noStrike" spc="-1">
                <a:solidFill>
                  <a:srgbClr val="0000FF"/>
                </a:solidFill>
                <a:uFillTx/>
                <a:latin typeface="Calibri"/>
                <a:hlinkClick r:id="rId2"/>
              </a:rPr>
              <a:t> et al. 2013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Training based on distributional semantics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Done in the context of deep learning (though this model is not deep)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39"/>
              </a:spcBef>
              <a:buClr>
                <a:srgbClr val="003056"/>
              </a:buClr>
              <a:buFont typeface="Arial"/>
              <a:buChar char="•"/>
            </a:pPr>
            <a:r>
              <a:rPr lang="en-US" sz="2200" b="0" strike="noStrike" spc="-1">
                <a:solidFill>
                  <a:srgbClr val="003056"/>
                </a:solidFill>
                <a:latin typeface="Calibri"/>
              </a:rPr>
              <a:t>Intuition:</a:t>
            </a:r>
            <a:endParaRPr lang="de-DE" sz="22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Instead of counting words for co-occurrence, let’s train a classifier to predict whether two words are likely to appear in the same context.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Two approaches proposed for learning such a classifier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Skip-gram and continuous bag of words (CBOW) (we focus on </a:t>
            </a:r>
            <a:r>
              <a:rPr lang="en-US" sz="1800" b="0" u="sng" strike="noStrike" spc="-1">
                <a:solidFill>
                  <a:srgbClr val="0000FF"/>
                </a:solidFill>
                <a:uFillTx/>
                <a:latin typeface="Calibri"/>
                <a:hlinkClick r:id="rId3"/>
              </a:rPr>
              <a:t>skip-gram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39"/>
              </a:spcBef>
              <a:buNone/>
            </a:pPr>
            <a:endParaRPr lang="de-DE" sz="22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39"/>
              </a:spcBef>
              <a:buNone/>
            </a:pPr>
            <a:endParaRPr lang="de-DE" sz="2200" b="0" strike="noStrike" spc="-1">
              <a:solidFill>
                <a:srgbClr val="003056"/>
              </a:solidFill>
              <a:latin typeface="Calibri"/>
            </a:endParaRPr>
          </a:p>
          <a:p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45" name="PlaceHolder 3"/>
          <p:cNvSpPr>
            <a:spLocks noGrp="1"/>
          </p:cNvSpPr>
          <p:nvPr>
            <p:ph type="ftr" idx="77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39C9B694-D142-4B96-A6DC-1A02EBB0E97B}" type="slidenum">
              <a:t>71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4" grpId="0" build="p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The Skip-Gram Algorithm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47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Algorithm for learning 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dense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word vectors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Basic steps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Treat target words and neighboring context words as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positive examples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Randomly sample other words in vocabulary to get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negative examples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Train a classifier to predict whether two given words appear together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Use learned weights as word embeddings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Why negative examples?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 some tasks, negative examples often needed to avoid trivial solutions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E.g. push all vectors to same point, thus all vectors similar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If training objective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is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poorly designed, such a solution may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"reach objective"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Let’s have a look at: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The task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The model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The training objective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48" name="PlaceHolder 3"/>
          <p:cNvSpPr>
            <a:spLocks noGrp="1"/>
          </p:cNvSpPr>
          <p:nvPr>
            <p:ph type="ftr" idx="78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1EB71D5E-ECDB-4887-8684-468515AC8B58}" type="slidenum">
              <a:t>72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7" grpId="0" build="p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Skip-Gram: The Task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0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Say we have the sentence: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… known as [ramen, a Japanese dish that] has recently become…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indent="-4572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			</a:t>
            </a:r>
            <a:r>
              <a:rPr lang="en-US" sz="1800" i="1" spc="-1">
                <a:solidFill>
                  <a:srgbClr val="003056"/>
                </a:solidFill>
                <a:latin typeface="Calibri"/>
              </a:rPr>
              <a:t>       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c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i="1" spc="-1">
                <a:solidFill>
                  <a:srgbClr val="003056"/>
                </a:solidFill>
                <a:latin typeface="Calibri"/>
              </a:rPr>
              <a:t>     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c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1800" i="1" spc="-1">
                <a:solidFill>
                  <a:srgbClr val="003056"/>
                </a:solidFill>
                <a:latin typeface="Calibri"/>
              </a:rPr>
              <a:t>       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w</a:t>
            </a:r>
            <a:r>
              <a:rPr lang="en-US" sz="1800" i="1" spc="-1">
                <a:solidFill>
                  <a:srgbClr val="003056"/>
                </a:solidFill>
                <a:latin typeface="Calibri"/>
              </a:rPr>
              <a:t>        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c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3</a:t>
            </a:r>
            <a:r>
              <a:rPr lang="en-US" sz="1800" i="1" spc="-1">
                <a:solidFill>
                  <a:srgbClr val="003056"/>
                </a:solidFill>
                <a:latin typeface="Calibri"/>
              </a:rPr>
              <a:t>    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c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4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Here,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denotes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center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 word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and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c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denotes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context words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I.e. context window is plus/minus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a few words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in this case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More context --&gt; usually more useful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, not always, more later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E.g. plus/minus 1 gives us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[a; ???; dish]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Plus/minus 2 gives us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[ramen; a; ???; dish; that]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(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assumes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no punctuation)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Task: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given tuple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(</a:t>
            </a:r>
            <a:r>
              <a:rPr lang="en-US" sz="2000" b="0" i="1" strike="noStrike" spc="-1" err="1">
                <a:solidFill>
                  <a:srgbClr val="003056"/>
                </a:solidFill>
                <a:latin typeface="Calibri"/>
              </a:rPr>
              <a:t>w,c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)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, predict 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if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c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appears in context of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i="1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or not</a:t>
            </a:r>
            <a:endParaRPr lang="en-US" sz="2000" b="0" strike="noStrike" spc="-1">
              <a:solidFill>
                <a:srgbClr val="003056"/>
              </a:solidFill>
              <a:latin typeface="Calibri"/>
            </a:endParaRPr>
          </a:p>
          <a:p>
            <a:pPr marL="914400" lvl="1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So, binary classification</a:t>
            </a: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Probabilistically,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P(</a:t>
            </a:r>
            <a:r>
              <a:rPr lang="en-US" sz="2000" b="0" i="1" strike="noStrike" spc="-1" err="1">
                <a:solidFill>
                  <a:srgbClr val="003056"/>
                </a:solidFill>
                <a:latin typeface="Calibri"/>
              </a:rPr>
              <a:t>True|w,c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Similarly,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</a:t>
            </a:r>
            <a:r>
              <a:rPr lang="en-US" sz="1800" b="0" i="1" strike="noStrike" spc="-1" err="1">
                <a:solidFill>
                  <a:srgbClr val="003056"/>
                </a:solidFill>
                <a:latin typeface="Calibri"/>
              </a:rPr>
              <a:t>False|w,c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 = 1 -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</a:t>
            </a:r>
            <a:r>
              <a:rPr lang="en-US" sz="1800" b="0" i="1" strike="noStrike" spc="-1" err="1">
                <a:solidFill>
                  <a:srgbClr val="003056"/>
                </a:solidFill>
                <a:latin typeface="Calibri"/>
              </a:rPr>
              <a:t>True|w,c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How can we model these probabilities?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51" name="PlaceHolder 3"/>
          <p:cNvSpPr>
            <a:spLocks noGrp="1"/>
          </p:cNvSpPr>
          <p:nvPr>
            <p:ph type="ftr" idx="79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2869BADF-696D-418D-8BD2-08A35D384586}" type="slidenum">
              <a:t>73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0" grpId="0" build="p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Skip-Gram: The Model (1)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3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lvl="1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How to get probability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P(</a:t>
            </a:r>
            <a:r>
              <a:rPr lang="en-US" sz="2000" b="0" i="1" strike="noStrike" spc="-1" err="1">
                <a:solidFill>
                  <a:srgbClr val="003056"/>
                </a:solidFill>
                <a:latin typeface="Calibri"/>
              </a:rPr>
              <a:t>True|w,c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)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Key idea: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based on similarity of corresponding word embeddings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I.e. a word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c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is likely to occur near a target word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if their corresponding embeddings </a:t>
            </a:r>
            <a:r>
              <a:rPr lang="en-US" sz="1800" b="1" i="1" strike="noStrike" spc="-1" err="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1800" b="0" i="1" strike="noStrike" spc="-1" baseline="-25000" err="1">
                <a:solidFill>
                  <a:srgbClr val="003056"/>
                </a:solidFill>
                <a:latin typeface="Calibri"/>
              </a:rPr>
              <a:t>c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and </a:t>
            </a:r>
            <a:r>
              <a:rPr lang="en-US" sz="1800" b="1" i="1" strike="noStrike" spc="-1" err="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1800" b="0" i="1" strike="noStrike" spc="-1" baseline="-25000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are similar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Probabilistically,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and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c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are independent given their embeddings </a:t>
            </a:r>
            <a:r>
              <a:rPr lang="en-US" sz="1800" b="1" i="1" strike="noStrike" spc="-1" err="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1800" b="0" i="1" strike="noStrike" spc="-1" baseline="-25000" err="1">
                <a:solidFill>
                  <a:srgbClr val="003056"/>
                </a:solidFill>
                <a:latin typeface="Calibri"/>
              </a:rPr>
              <a:t>c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1" i="1" strike="noStrike" spc="-1" err="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1800" b="0" i="1" strike="noStrike" spc="-1" baseline="-25000" err="1">
                <a:solidFill>
                  <a:srgbClr val="003056"/>
                </a:solidFill>
                <a:latin typeface="Calibri"/>
              </a:rPr>
              <a:t>w</a:t>
            </a:r>
            <a:endParaRPr lang="de-DE" sz="1800" b="0" strike="noStrike" spc="-1" err="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Let </a:t>
            </a:r>
            <a:r>
              <a:rPr lang="el-GR" sz="1800" b="1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= [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1, …, </a:t>
            </a:r>
            <a:r>
              <a:rPr lang="en-US" sz="1800" b="1" i="1" strike="noStrike" spc="-1" err="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1800" b="0" i="1" strike="noStrike" spc="-1" baseline="-25000" err="1">
                <a:solidFill>
                  <a:srgbClr val="003056"/>
                </a:solidFill>
                <a:latin typeface="Calibri"/>
              </a:rPr>
              <a:t>|V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|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]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. We have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</a:t>
            </a:r>
            <a:r>
              <a:rPr lang="en-US" sz="1800" b="0" i="1" strike="noStrike" spc="-1" err="1">
                <a:solidFill>
                  <a:srgbClr val="003056"/>
                </a:solidFill>
                <a:latin typeface="Calibri"/>
              </a:rPr>
              <a:t>True|w,c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,</a:t>
            </a:r>
            <a:r>
              <a:rPr lang="el-GR" sz="1800" b="1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(</a:t>
            </a:r>
            <a:r>
              <a:rPr lang="el-GR" sz="1800" b="1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Θ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 often omitted for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brevity)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How can we represent that similarity?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Skip-gram went with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 dot product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i.e. </a:t>
            </a:r>
            <a:r>
              <a:rPr lang="en-US" sz="1800" b="1" i="1" strike="noStrike" spc="-1" err="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1800" b="0" i="1" strike="noStrike" spc="-1" baseline="-25000" err="1">
                <a:solidFill>
                  <a:srgbClr val="003056"/>
                </a:solidFill>
                <a:latin typeface="Calibri"/>
              </a:rPr>
              <a:t>c</a:t>
            </a:r>
            <a:r>
              <a:rPr lang="en-US" sz="1800" b="0" i="1" strike="noStrike" spc="-1" baseline="30000" err="1">
                <a:solidFill>
                  <a:srgbClr val="003056"/>
                </a:solidFill>
                <a:latin typeface="Calibri"/>
              </a:rPr>
              <a:t>T</a:t>
            </a:r>
            <a:r>
              <a:rPr lang="en-US" sz="1800" b="1" i="1" strike="noStrike" spc="-1" err="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1800" b="0" i="1" strike="noStrike" spc="-1" baseline="-25000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But didn’t we need a probability?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Ok, then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</a:t>
            </a:r>
            <a:r>
              <a:rPr lang="en-US" sz="1800" b="0" i="1" strike="noStrike" spc="-1" err="1">
                <a:solidFill>
                  <a:srgbClr val="003056"/>
                </a:solidFill>
                <a:latin typeface="Calibri"/>
              </a:rPr>
              <a:t>True|w,c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 = 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σ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(</a:t>
            </a:r>
            <a:r>
              <a:rPr lang="en-US" sz="1800" b="1" i="1" strike="noStrike" spc="-1" err="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1800" b="0" i="1" strike="noStrike" spc="-1" baseline="-25000" err="1">
                <a:solidFill>
                  <a:srgbClr val="003056"/>
                </a:solidFill>
                <a:latin typeface="Calibri"/>
              </a:rPr>
              <a:t>c</a:t>
            </a:r>
            <a:r>
              <a:rPr lang="en-US" sz="1800" b="0" i="1" strike="noStrike" spc="-1" baseline="30000" err="1">
                <a:solidFill>
                  <a:srgbClr val="003056"/>
                </a:solidFill>
                <a:latin typeface="Calibri"/>
              </a:rPr>
              <a:t>T</a:t>
            </a:r>
            <a:r>
              <a:rPr lang="en-US" sz="1800" b="1" i="1" strike="noStrike" spc="-1" err="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1800" b="0" i="1" strike="noStrike" spc="-1" baseline="-25000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where 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σ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is the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sigmoid function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Similarly,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</a:t>
            </a:r>
            <a:r>
              <a:rPr lang="en-US" sz="1800" b="0" i="1" strike="noStrike" spc="-1" err="1">
                <a:solidFill>
                  <a:srgbClr val="003056"/>
                </a:solidFill>
                <a:latin typeface="Calibri"/>
              </a:rPr>
              <a:t>False|w,c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 = 1 - 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σ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(</a:t>
            </a:r>
            <a:r>
              <a:rPr lang="en-US" sz="1800" b="1" i="1" strike="noStrike" spc="-1" err="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1800" b="0" i="1" strike="noStrike" spc="-1" baseline="-25000" err="1">
                <a:solidFill>
                  <a:srgbClr val="003056"/>
                </a:solidFill>
                <a:latin typeface="Calibri"/>
              </a:rPr>
              <a:t>c</a:t>
            </a:r>
            <a:r>
              <a:rPr lang="en-US" sz="1800" b="0" i="1" strike="noStrike" spc="-1" baseline="30000" err="1">
                <a:solidFill>
                  <a:srgbClr val="003056"/>
                </a:solidFill>
                <a:latin typeface="Calibri"/>
              </a:rPr>
              <a:t>T</a:t>
            </a:r>
            <a:r>
              <a:rPr lang="en-US" sz="1800" b="1" i="1" strike="noStrike" spc="-1" err="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1800" b="0" i="1" strike="noStrike" spc="-1" baseline="-25000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 = 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σ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(-</a:t>
            </a:r>
            <a:r>
              <a:rPr lang="en-US" sz="1800" b="1" i="1" strike="noStrike" spc="-1" err="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1800" b="0" i="1" strike="noStrike" spc="-1" baseline="-25000" err="1">
                <a:solidFill>
                  <a:srgbClr val="003056"/>
                </a:solidFill>
                <a:latin typeface="Calibri"/>
              </a:rPr>
              <a:t>c</a:t>
            </a:r>
            <a:r>
              <a:rPr lang="en-US" sz="1800" b="0" i="1" strike="noStrike" spc="-1" baseline="30000" err="1">
                <a:solidFill>
                  <a:srgbClr val="003056"/>
                </a:solidFill>
                <a:latin typeface="Calibri"/>
              </a:rPr>
              <a:t>T</a:t>
            </a:r>
            <a:r>
              <a:rPr lang="en-US" sz="1800" b="1" i="1" strike="noStrike" spc="-1" err="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1800" b="0" i="1" strike="noStrike" spc="-1" baseline="-25000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The last equality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 results from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a property of the logistic function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This is the probability of word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c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being in context of word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.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What if I want to provide more context?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More context is better, right?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54" name="PlaceHolder 3"/>
          <p:cNvSpPr>
            <a:spLocks noGrp="1"/>
          </p:cNvSpPr>
          <p:nvPr>
            <p:ph type="ftr" idx="80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659D53AC-D6D2-47E7-81FA-9D0C3BC3FA2F}" type="slidenum">
              <a:t>74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3" grpId="0" build="p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Skip-Gram: The Model (2)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6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How do we compute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P(True|w,c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1:L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)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where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L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is size of context window?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 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Assumption: context words are independent of each other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Computing joint distribution of words in context becomes much simpler</a:t>
            </a: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Thus, we have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		        P(True|w,c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1:L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) = ∏</a:t>
            </a:r>
            <a:r>
              <a:rPr lang="en-US" sz="2000" b="0" i="1" strike="noStrike" spc="-1" baseline="-2500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 in L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l-GR" sz="2000" b="0" i="1" strike="noStrike" spc="-1">
                <a:solidFill>
                  <a:srgbClr val="003056"/>
                </a:solidFill>
                <a:latin typeface="Calibri"/>
              </a:rPr>
              <a:t>σ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(</a:t>
            </a:r>
            <a:r>
              <a:rPr lang="en-US" sz="2000" b="1" i="1" strike="noStrike" spc="-1" err="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2000" b="0" i="1" strike="noStrike" spc="-1" baseline="-2500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i="1" strike="noStrike" spc="-1" baseline="30000" err="1">
                <a:solidFill>
                  <a:srgbClr val="003056"/>
                </a:solidFill>
                <a:latin typeface="Calibri"/>
              </a:rPr>
              <a:t>T</a:t>
            </a:r>
            <a:r>
              <a:rPr lang="en-US" sz="2000" b="1" i="1" strike="noStrike" spc="-1" err="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2000" b="0" i="1" strike="noStrike" spc="-1" baseline="-25000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) = ∑</a:t>
            </a:r>
            <a:r>
              <a:rPr lang="en-US" sz="2000" b="0" i="1" strike="noStrike" spc="-1" baseline="-2500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 in L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 log </a:t>
            </a:r>
            <a:r>
              <a:rPr lang="el-GR" sz="2000" b="0" i="1" strike="noStrike" spc="-1">
                <a:solidFill>
                  <a:srgbClr val="003056"/>
                </a:solidFill>
                <a:latin typeface="Calibri"/>
              </a:rPr>
              <a:t>σ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(</a:t>
            </a:r>
            <a:r>
              <a:rPr lang="en-US" sz="2000" b="1" i="1" strike="noStrike" spc="-1" err="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2000" b="0" i="1" strike="noStrike" spc="-1" baseline="-2500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i="1" strike="noStrike" spc="-1" baseline="30000" err="1">
                <a:solidFill>
                  <a:srgbClr val="003056"/>
                </a:solidFill>
                <a:latin typeface="Calibri"/>
              </a:rPr>
              <a:t>T</a:t>
            </a:r>
            <a:r>
              <a:rPr lang="en-US" sz="2000" b="1" i="1" strike="noStrike" spc="-1" err="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2000" b="0" i="1" strike="noStrike" spc="-1" baseline="-25000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).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How is this model parameterized?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It actually learns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two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representations for each word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One for words as targets, one for words as context (just one vocabulary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V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Thus, parameterized by matrices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and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C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both of size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|V| x d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where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d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is a hyperparameter (embedding size)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 other words,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l-GR" sz="1800" b="1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=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[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,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 C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]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How was this model trained?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57" name="PlaceHolder 3"/>
          <p:cNvSpPr>
            <a:spLocks noGrp="1"/>
          </p:cNvSpPr>
          <p:nvPr>
            <p:ph type="ftr" idx="81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22413BF2-AFB7-4873-A9C3-A7A9E03DFC7A}" type="slidenum">
              <a:t>75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6" grpId="0" build="p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Skip-Gram: The Training Objective (1)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9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As with Bengio’s LM from 2003: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self-supervision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Given text corpus (i.e. large sequence of text)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716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Iterate over sequences of size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n = L*2 + 1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(L is size of context window)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716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For each sequence, set center word as target, other words as context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For example: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716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… [known as ramen, a Japanese] dish that has recently become…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7160" indent="-4572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		        c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     c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    w      c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3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      c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4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7160" indent="-4572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2. 	… known [as ramen, a Japanese dish] that has recently become…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7160" indent="-4572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			c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    c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     w       c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3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        c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4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7160" indent="-4572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3. 	… known as [ramen, a Japanese dish that] has recently become…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7160" indent="-4572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			        c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     c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       w         c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3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    c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4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Thus,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for sequences 1, 2 and 3, you get positive examples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(w,c)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716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(ramen, known), (ramen, as), (ramen, a), (ramen, Japanese)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716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(a, as), (a, ramen), (a, Japanese), (a, dish)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716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(Japanese, ramen), (Japanese, a), (Japanese, dish), (Japanese, that)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60" name="PlaceHolder 3"/>
          <p:cNvSpPr>
            <a:spLocks noGrp="1"/>
          </p:cNvSpPr>
          <p:nvPr>
            <p:ph type="ftr" idx="82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C04B7D4D-4BDF-47A6-9683-B655317C0C9F}" type="slidenum">
              <a:t>76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9" grpId="0" build="p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Skip-Gram: The Training Objective (2)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2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We also need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negative examples!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Given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, we randomly sample words from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V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 as candidates for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c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For example: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(ramen, ostrich), (ramen, the), (ramen, Alaska), …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They generated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k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(hyperparameter) negative examples per positive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Then, given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(</a:t>
            </a:r>
            <a:r>
              <a:rPr lang="en-US" sz="2000" b="0" i="1" strike="noStrike" spc="-1" err="1">
                <a:solidFill>
                  <a:srgbClr val="003056"/>
                </a:solidFill>
                <a:latin typeface="Calibri"/>
              </a:rPr>
              <a:t>w,c</a:t>
            </a:r>
            <a:r>
              <a:rPr lang="en-US" sz="2000" b="0" i="1" strike="noStrike" spc="-1" baseline="-25000" err="1">
                <a:solidFill>
                  <a:srgbClr val="003056"/>
                </a:solidFill>
                <a:latin typeface="Calibri"/>
              </a:rPr>
              <a:t>pos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),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corresponding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(</a:t>
            </a:r>
            <a:r>
              <a:rPr lang="en-US" sz="2000" b="0" i="1" strike="noStrike" spc="-1" err="1">
                <a:solidFill>
                  <a:srgbClr val="003056"/>
                </a:solidFill>
                <a:latin typeface="Calibri"/>
              </a:rPr>
              <a:t>w,c</a:t>
            </a:r>
            <a:r>
              <a:rPr lang="en-US" sz="2000" b="0" i="1" strike="noStrike" spc="-1" baseline="-25000" err="1">
                <a:solidFill>
                  <a:srgbClr val="003056"/>
                </a:solidFill>
                <a:latin typeface="Calibri"/>
              </a:rPr>
              <a:t>neg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i="1" strike="noStrike" spc="-1" baseline="-2500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)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, and cross entropy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 (CE),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we have: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39"/>
              </a:spcBef>
              <a:buNone/>
            </a:pPr>
            <a:endParaRPr lang="de-DE" sz="22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Generally, they applied empirical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risk over all training examples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Since this is negative log likelihood (NLL), they did MLE of the training set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indent="-4572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63" name="PlaceHolder 3"/>
          <p:cNvSpPr>
            <a:spLocks noGrp="1"/>
          </p:cNvSpPr>
          <p:nvPr>
            <p:ph type="ftr" idx="83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pic>
        <p:nvPicPr>
          <p:cNvPr id="364" name="Grafik 6" descr="objective_skipgram.png"/>
          <p:cNvPicPr/>
          <p:nvPr/>
        </p:nvPicPr>
        <p:blipFill>
          <a:blip r:embed="rId2"/>
          <a:stretch/>
        </p:blipFill>
        <p:spPr>
          <a:xfrm>
            <a:off x="2542325" y="2899117"/>
            <a:ext cx="4277516" cy="2451763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6247BC3-9645-4765-BB61-1945E5F98004}" type="slidenum">
              <a:t>77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21" dur="500"/>
                                        <p:tgtEl>
                                          <p:spTgt spid="3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2" grpId="0" build="p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Task vs Goal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6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Task: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P(</a:t>
            </a:r>
            <a:r>
              <a:rPr lang="en-US" sz="2000" b="0" i="1" strike="noStrike" spc="-1" err="1">
                <a:solidFill>
                  <a:srgbClr val="003056"/>
                </a:solidFill>
                <a:latin typeface="Calibri"/>
              </a:rPr>
              <a:t>True|w,c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What do we use that task for?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Real-world uses?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Goal: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learn word embeddings!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Task designed to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"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force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"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model to capture properties (distributional semantics)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Original task was different,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</a:t>
            </a:r>
            <a:r>
              <a:rPr lang="en-US" sz="1800" b="0" i="1" strike="noStrike" spc="-1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 err="1">
                <a:solidFill>
                  <a:srgbClr val="003056"/>
                </a:solidFill>
                <a:latin typeface="Calibri"/>
              </a:rPr>
              <a:t>t+j</a:t>
            </a:r>
            <a:r>
              <a:rPr lang="en-US" sz="1800" b="0" i="1" strike="noStrike" spc="-1" err="1">
                <a:solidFill>
                  <a:srgbClr val="003056"/>
                </a:solidFill>
                <a:latin typeface="Calibri"/>
              </a:rPr>
              <a:t>|w</a:t>
            </a:r>
            <a:r>
              <a:rPr lang="en-US" sz="1800" b="0" i="1" strike="noStrike" spc="-1" baseline="-25000" err="1">
                <a:solidFill>
                  <a:srgbClr val="003056"/>
                </a:solidFill>
                <a:latin typeface="Calibri"/>
              </a:rPr>
              <a:t>t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Other models have tasks and goals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E.g. GPT-style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LLMs are autoregressive language models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BERT-style models are masked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language models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Sometimes we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want to use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 the model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 to make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 predictions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Other times, we just want their learned weights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67" name="PlaceHolder 3"/>
          <p:cNvSpPr>
            <a:spLocks noGrp="1"/>
          </p:cNvSpPr>
          <p:nvPr>
            <p:ph type="ftr" idx="84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E8D35312-4EC8-42D4-B14E-4DD907AF6C1B}" type="slidenum">
              <a:t>78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6" grpId="0" build="p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Other Types of Static Embeddings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9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Word2vec is useful model for intuition/learning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 about embeddings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It was also successful and is historically important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But there are other ways of learning word embeddings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These are often used in practice as well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GloVe: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stands for Global Vectors (Pennington et al., 2014)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Combines count-based models with methods like word2vec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Constructs co-occurrence matrix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Learns matrix factorization with least squares objective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Covered in basic Text Analytics course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fasttext: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addresses problem of unknown words in word2vec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That is, new words in test that were not present in training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For this, they used representations based on subwords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Also covered in basic Text Analytics course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Static embeddings have some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nice and useful properties!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At the time, they were quite impressive!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70" name="PlaceHolder 3"/>
          <p:cNvSpPr>
            <a:spLocks noGrp="1"/>
          </p:cNvSpPr>
          <p:nvPr>
            <p:ph type="ftr" idx="85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F3A24A68-0F3E-488E-8791-4FA33EC1A7BF}" type="slidenum">
              <a:t>79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9" grpId="0" build="p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Properties of Word Embeddings (1)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2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Size of context window is important!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(Levy and Goldberg, 2014)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It affects the representations we learn!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Smaller sizes tend to provide more static embeddings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Depends on immediate neighborhood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Similarity tends to be based on same parts of speech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E.g. what is similar to Hogwarts with small context window?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Other fictional schools, e.g.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Tokyo Jujutsu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High (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from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Jujutsu Kaisen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Larger sizes tend to focus on similarity based on topic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So words with same part of speech not necessarily related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E.g. what is similar to Hogwarts with larger context window?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Dumbledore, Malfoy, half-blood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This was observed for skip-gram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Different methods may differ in such properties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But it is safe to assume the context window has an impact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73" name="PlaceHolder 3"/>
          <p:cNvSpPr>
            <a:spLocks noGrp="1"/>
          </p:cNvSpPr>
          <p:nvPr>
            <p:ph type="ftr" idx="86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F57E3A18-0332-423E-83D4-700A3FD29BC7}" type="slidenum">
              <a:t>80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2" grpId="0" build="p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Properties of Word Embeddings (2)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5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They capture relational similarity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Parallelogram model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from cognitive science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Example from GloVe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Skip-gram known to capture this</a:t>
            </a:r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It’s not as smooth all the time</a:t>
            </a:r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76" name="PlaceHolder 3"/>
          <p:cNvSpPr>
            <a:spLocks noGrp="1"/>
          </p:cNvSpPr>
          <p:nvPr>
            <p:ph type="ftr" idx="87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pic>
        <p:nvPicPr>
          <p:cNvPr id="377" name="Grafik 6" descr="parallelogram_analogy.png"/>
          <p:cNvPicPr/>
          <p:nvPr/>
        </p:nvPicPr>
        <p:blipFill>
          <a:blip r:embed="rId2"/>
          <a:stretch/>
        </p:blipFill>
        <p:spPr>
          <a:xfrm>
            <a:off x="5929200" y="1101960"/>
            <a:ext cx="2748960" cy="1612440"/>
          </a:xfrm>
          <a:prstGeom prst="rect">
            <a:avLst/>
          </a:prstGeom>
          <a:ln w="0">
            <a:noFill/>
          </a:ln>
        </p:spPr>
      </p:pic>
      <p:pic>
        <p:nvPicPr>
          <p:cNvPr id="378" name="Grafik 7" descr="glove_relational_meaning.png"/>
          <p:cNvPicPr/>
          <p:nvPr/>
        </p:nvPicPr>
        <p:blipFill>
          <a:blip r:embed="rId3"/>
          <a:stretch/>
        </p:blipFill>
        <p:spPr>
          <a:xfrm>
            <a:off x="4357800" y="2928960"/>
            <a:ext cx="4142880" cy="323604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0577B0E0-08E6-49B7-998A-C97AEFD3FBE4}" type="slidenum">
              <a:t>81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11" dur="500"/>
                                        <p:tgtEl>
                                          <p:spTgt spid="3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22" dur="500"/>
                                        <p:tgtEl>
                                          <p:spTgt spid="3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5" grpId="0" build="p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Evaluating Word Embeddings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80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Intrinsic evaluation: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Correlation between similarities of representations with expert-given similarity scores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Examples: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WordSim353 (2002): 353 noun pairs, e.g.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(plane, car)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SimLex-999 (2015): more difficult, e.g.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(cup, mug)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Another approach: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analogy task 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(e.g. </a:t>
            </a:r>
            <a:r>
              <a:rPr lang="en-US" sz="2000" i="1" spc="-1">
                <a:solidFill>
                  <a:srgbClr val="003056"/>
                </a:solidFill>
                <a:latin typeface="Calibri"/>
              </a:rPr>
              <a:t>man + woman – king = queen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)</a:t>
            </a:r>
            <a:endParaRPr lang="de-DE" sz="200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Word2vec used this in their original work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Most important evaluation: extrinsic!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I.e. using the representations in NLP </a:t>
            </a:r>
            <a:r>
              <a:rPr lang="en-US" sz="1800" i="1" spc="-1">
                <a:solidFill>
                  <a:srgbClr val="003056"/>
                </a:solidFill>
                <a:latin typeface="Calibri"/>
              </a:rPr>
              <a:t>downstream tasks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and see if performance improves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81" name="PlaceHolder 3"/>
          <p:cNvSpPr>
            <a:spLocks noGrp="1"/>
          </p:cNvSpPr>
          <p:nvPr>
            <p:ph type="ftr" idx="88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15A05020-319E-461B-9744-05E1CC22E40E}" type="slidenum">
              <a:t>82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0" grpId="0" build="p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Summary: Word Embeddings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83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Vector representations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of words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Sparse vs dense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 (distributed) representations</a:t>
            </a:r>
          </a:p>
          <a:p>
            <a:pPr marL="914400" lvl="1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PROs and CONs to each</a:t>
            </a:r>
            <a:endParaRPr lang="de-DE" sz="1600" spc="-1">
              <a:solidFill>
                <a:srgbClr val="003056"/>
              </a:solidFill>
              <a:latin typeface="Calibri"/>
            </a:endParaRPr>
          </a:p>
          <a:p>
            <a:pPr marL="914400" lvl="1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Different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methods to learn them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 (each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a different task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99415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Distributional semantics</a:t>
            </a:r>
            <a:endParaRPr lang="en-US" sz="2200" b="1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Important principle</a:t>
            </a: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Commonly used to learn word embeddings, language models</a:t>
            </a: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Spoiler: also used when training LLMs</a:t>
            </a: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Classic way to learn dense word representations: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word2vec</a:t>
            </a:r>
            <a:endParaRPr lang="de-DE" sz="2000" b="1" spc="-1">
              <a:solidFill>
                <a:srgbClr val="003056"/>
              </a:solidFill>
              <a:latin typeface="Calibri"/>
            </a:endParaRPr>
          </a:p>
          <a:p>
            <a:pPr marL="914400" lvl="1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Specifically, the skip-gram task, model and training objective</a:t>
            </a:r>
          </a:p>
          <a:p>
            <a:pPr marL="914400" lvl="1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Resulting learned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representations have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nice 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properties</a:t>
            </a:r>
            <a:endParaRPr lang="de-DE" sz="1800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In the future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, other tasks for other goals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E.g. masked and autoregressive language models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84" name="PlaceHolder 3"/>
          <p:cNvSpPr>
            <a:spLocks noGrp="1"/>
          </p:cNvSpPr>
          <p:nvPr>
            <p:ph type="ftr" idx="89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240AF182-5B02-4CFE-9C19-4327ED354AC6}" type="slidenum">
              <a:t>83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3" grpId="0" build="p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References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86" name="PlaceHolder 2"/>
          <p:cNvSpPr>
            <a:spLocks noGrp="1"/>
          </p:cNvSpPr>
          <p:nvPr>
            <p:ph type="ftr" idx="90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2026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387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74295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Natural Language Processing: A Machine Learning Perspective, Zhang et al, 2018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1143000" lvl="2" indent="-2286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Chapters 2, 3, 4 and 13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Speech and Language Processing, </a:t>
            </a:r>
            <a:r>
              <a:rPr lang="en-US" sz="2000" b="0" strike="noStrike" spc="-1" err="1">
                <a:solidFill>
                  <a:srgbClr val="003056"/>
                </a:solidFill>
                <a:latin typeface="Calibri"/>
              </a:rPr>
              <a:t>Jurafsky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et al., 2023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1143000" lvl="2" indent="-2286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Chapter 3, 6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Natural Language Processing, Eisenstein, 2018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1143000" lvl="2" indent="-2286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Chapter 14</a:t>
            </a:r>
          </a:p>
          <a:p>
            <a:pPr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2200" spc="-1">
              <a:solidFill>
                <a:srgbClr val="003056"/>
              </a:solidFill>
              <a:latin typeface="Calibri"/>
            </a:endParaRPr>
          </a:p>
          <a:p>
            <a:pPr marL="457200" lvl="1" indent="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None/>
            </a:pPr>
            <a:r>
              <a:rPr lang="en-US" sz="2200" spc="-1">
                <a:solidFill>
                  <a:srgbClr val="003056"/>
                </a:solidFill>
                <a:latin typeface="Calibri"/>
              </a:rPr>
              <a:t>                        </a:t>
            </a:r>
            <a:r>
              <a:rPr lang="en-GB" sz="20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© University of Mannheim</a:t>
            </a:r>
          </a:p>
          <a:p>
            <a:pPr marL="457200" lvl="1" indent="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None/>
            </a:pPr>
            <a:endParaRPr lang="en-US" sz="2200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E6D9AA3A-4365-4AC7-8856-26803D1B730C}" type="slidenum">
              <a:t>84</a:t>
            </a:fld>
            <a:endParaRPr/>
          </a:p>
        </p:txBody>
      </p:sp>
      <p:pic>
        <p:nvPicPr>
          <p:cNvPr id="2" name="Picture 1" descr="A logo for a university&#10;&#10;AI-generated content may be incorrect.">
            <a:extLst>
              <a:ext uri="{FF2B5EF4-FFF2-40B4-BE49-F238E27FC236}">
                <a16:creationId xmlns:a16="http://schemas.microsoft.com/office/drawing/2014/main" id="{5AF3C983-04EA-8384-1257-7CCE7E7783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4596" y="3567392"/>
            <a:ext cx="2000250" cy="9334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Application>Microsoft Office PowerPoint</Application>
  <PresentationFormat>On-screen Show (4:3)</PresentationFormat>
  <Slides>84</Slides>
  <Notes>0</Notes>
  <HiddenSlides>0</HiddenSlides>
  <ScaleCrop>false</ScaleCrop>
  <HeadingPairs>
    <vt:vector size="4" baseType="variant">
      <vt:variant>
        <vt:lpstr>Theme</vt:lpstr>
      </vt:variant>
      <vt:variant>
        <vt:i4>2</vt:i4>
      </vt:variant>
      <vt:variant>
        <vt:lpstr>Slide Titles</vt:lpstr>
      </vt:variant>
      <vt:variant>
        <vt:i4>84</vt:i4>
      </vt:variant>
    </vt:vector>
  </HeadingPairs>
  <TitlesOfParts>
    <vt:vector size="86" baseType="lpstr">
      <vt:lpstr>Office Theme</vt:lpstr>
      <vt:lpstr>Office Theme</vt:lpstr>
      <vt:lpstr>Advanced Methods in Text Analytics</vt:lpstr>
      <vt:lpstr>What are representations? (1)</vt:lpstr>
      <vt:lpstr>What are representations? (2)</vt:lpstr>
      <vt:lpstr>Can we learn useful representations?</vt:lpstr>
      <vt:lpstr>Word Embeddings</vt:lpstr>
      <vt:lpstr>Challenges</vt:lpstr>
      <vt:lpstr>Outline</vt:lpstr>
      <vt:lpstr>PowerPoint Presentation</vt:lpstr>
      <vt:lpstr>About this Section</vt:lpstr>
      <vt:lpstr>What is Machine Learning? (1)</vt:lpstr>
      <vt:lpstr>What is Machine Learning? (2)</vt:lpstr>
      <vt:lpstr>What is a Task?</vt:lpstr>
      <vt:lpstr>What is a Model?</vt:lpstr>
      <vt:lpstr>What are Parameters?</vt:lpstr>
      <vt:lpstr>What is Generalization?</vt:lpstr>
      <vt:lpstr>How do we Evaluate a Model?</vt:lpstr>
      <vt:lpstr>How do we Use our Selected Model?</vt:lpstr>
      <vt:lpstr>What are Hyperparameters?</vt:lpstr>
      <vt:lpstr>What about Classification?</vt:lpstr>
      <vt:lpstr>How do we Use Logistic Regression?</vt:lpstr>
      <vt:lpstr>Probability Theory Basics</vt:lpstr>
      <vt:lpstr>Random Variables</vt:lpstr>
      <vt:lpstr>Probability Distributions (1)</vt:lpstr>
      <vt:lpstr>Probability Distributions (2)</vt:lpstr>
      <vt:lpstr>Independence of events</vt:lpstr>
      <vt:lpstr>Sum Rule</vt:lpstr>
      <vt:lpstr>Product Rule</vt:lpstr>
      <vt:lpstr>Joint Distributions (1)</vt:lpstr>
      <vt:lpstr>Joint Distributions (2)</vt:lpstr>
      <vt:lpstr>Conditional Probability</vt:lpstr>
      <vt:lpstr>Conditional Independence</vt:lpstr>
      <vt:lpstr>Bayes‘ Rule</vt:lpstr>
      <vt:lpstr>A Probabilistic Perspective of ML</vt:lpstr>
      <vt:lpstr>Training Models: Parameter Estimation</vt:lpstr>
      <vt:lpstr>Maximum Likelihood Estimation (1)</vt:lpstr>
      <vt:lpstr>Maximum Likelihood Estimation (2)</vt:lpstr>
      <vt:lpstr>Maximum Likelihood Estimation (3)</vt:lpstr>
      <vt:lpstr>Empirical Risk Minimization</vt:lpstr>
      <vt:lpstr>What are Loss Functions?</vt:lpstr>
      <vt:lpstr>Let's Design a Training Objective</vt:lpstr>
      <vt:lpstr>Summary: ML Refresher</vt:lpstr>
      <vt:lpstr>PowerPoint Presentation</vt:lpstr>
      <vt:lpstr>About this Section</vt:lpstr>
      <vt:lpstr>Mathematical Notation</vt:lpstr>
      <vt:lpstr>What is an Artificial Neuron?</vt:lpstr>
      <vt:lpstr>Types of Artificial Neurons</vt:lpstr>
      <vt:lpstr>Feed-forward Neural Networks</vt:lpstr>
      <vt:lpstr>Operations in FNNs</vt:lpstr>
      <vt:lpstr>Why use Deep Networks?</vt:lpstr>
      <vt:lpstr>FNNs for Regression</vt:lpstr>
      <vt:lpstr>FNNs for Classification</vt:lpstr>
      <vt:lpstr>Information Flow</vt:lpstr>
      <vt:lpstr>Backpropagation (1)</vt:lpstr>
      <vt:lpstr>Backpropagation (2)</vt:lpstr>
      <vt:lpstr>Backpropagation (3)</vt:lpstr>
      <vt:lpstr>Language Modeling Recap</vt:lpstr>
      <vt:lpstr>Language Modeling with FNNs (1) </vt:lpstr>
      <vt:lpstr>Language Modeling with FNNs (2) </vt:lpstr>
      <vt:lpstr>Language Modeling with FNNs (3) </vt:lpstr>
      <vt:lpstr>Language Modeling with FNNs (4) </vt:lpstr>
      <vt:lpstr>Visualizing LMs with FNNs</vt:lpstr>
      <vt:lpstr>Summary: DL Basics</vt:lpstr>
      <vt:lpstr>PowerPoint Presentation</vt:lpstr>
      <vt:lpstr>About this Section</vt:lpstr>
      <vt:lpstr>What do we want to represent? (1) </vt:lpstr>
      <vt:lpstr>What do we want to represent? (2) </vt:lpstr>
      <vt:lpstr>Sparse Word Representations</vt:lpstr>
      <vt:lpstr>Distributed Representations</vt:lpstr>
      <vt:lpstr>Distributional Semantics (1)</vt:lpstr>
      <vt:lpstr>Distributional Semantics (2)</vt:lpstr>
      <vt:lpstr>Word Embeddings</vt:lpstr>
      <vt:lpstr>The Skip-Gram Algorithm</vt:lpstr>
      <vt:lpstr>Skip-Gram: The Task</vt:lpstr>
      <vt:lpstr>Skip-Gram: The Model (1)</vt:lpstr>
      <vt:lpstr>Skip-Gram: The Model (2)</vt:lpstr>
      <vt:lpstr>Skip-Gram: The Training Objective (1)</vt:lpstr>
      <vt:lpstr>Skip-Gram: The Training Objective (2)</vt:lpstr>
      <vt:lpstr>Task vs Goal</vt:lpstr>
      <vt:lpstr>Other Types of Static Embeddings</vt:lpstr>
      <vt:lpstr>Properties of Word Embeddings (1)</vt:lpstr>
      <vt:lpstr>Properties of Word Embeddings (2)</vt:lpstr>
      <vt:lpstr>Evaluating Word Embeddings</vt:lpstr>
      <vt:lpstr>Summary: Word Embeddings</vt:lpstr>
      <vt:lpstr>References</vt:lpstr>
    </vt:vector>
  </TitlesOfParts>
  <Company>Uni-Mannheim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subject/>
  <dc:creator>Koschorreck, Maartje</dc:creator>
  <dc:description/>
  <cp:revision>63</cp:revision>
  <dcterms:created xsi:type="dcterms:W3CDTF">2018-06-20T08:14:01Z</dcterms:created>
  <dcterms:modified xsi:type="dcterms:W3CDTF">2026-02-24T14:46:37Z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Bildschirmpräsentation (4:3)</vt:lpwstr>
  </property>
  <property fmtid="{D5CDD505-2E9C-101B-9397-08002B2CF9AE}" pid="3" name="Slides">
    <vt:i4>84</vt:i4>
  </property>
</Properties>
</file>