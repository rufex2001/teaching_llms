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87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9" r:id="rId33"/>
    <p:sldId id="290" r:id="rId34"/>
    <p:sldId id="285" r:id="rId35"/>
    <p:sldId id="288" r:id="rId36"/>
    <p:sldId id="286" r:id="rId37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D22C5A-452D-C561-45E7-00A67D7BA382}" v="231" dt="2026-03-17T12:37:01.7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CFC3136-9EB3-4F92-BBC0-FBCC2B4795D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823245F-13E0-4EA2-8547-C016672FFEA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21149CE-8790-4EF0-9D77-76EE4D55648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B0AFF47-A613-4AD4-8709-E6FB8D44531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342FD9B-9DA9-4577-91B7-A03DA30A6B2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8BA856D-BB37-4986-87A8-E8A0C53A31D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09C7EE7-3FBC-4E80-B370-0CCAA72E0D4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2D5871A-3409-4E1D-A922-23F5D052278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C200855-B0F1-4E05-9058-C1E1B01F34A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B7EB0DD-DFCA-4257-AE6A-42797DDE95C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0095FB3-FA80-493D-89B6-D41426A6FA4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0E6E15-24AE-4A45-A7DF-6FBE4474F20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07F3E5-67BA-4004-8917-4FE2EE7C33F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995B019-3BEF-4571-BBDD-2F44379EFA1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F7E1E6-1828-4782-8819-994966A2413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68FCC56-1535-4601-9864-98AC688A456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E37D601-E309-4AD9-AE92-8644202A440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B35A048-900D-4CFE-BF97-47576817DD9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EBDAB41-8684-483E-B9DD-AA041B9A649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0B318FF-0487-467F-AAA0-4B36BDF8DBE8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6BB5312-E086-4294-B9DF-FCF8E0B7EED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616962F-F712-40F5-9591-65D1051D057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F1096E-A061-4675-8DD7-9D7CA5AD1CDB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E32FAB-BC0C-47AE-A726-AEB31D84A07E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74C143E-6237-4F72-A38B-0520E408C469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0D2306-9F9C-4E0C-856B-EB9B711048E3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neurips.cc/paper_files/paper/2024/file/c2ce2f2701c10a2b2f2ea0bfa43cfaa3-Paper-Conference.pdf" TargetMode="External"/><Relationship Id="rId2" Type="http://schemas.openxmlformats.org/officeDocument/2006/relationships/hyperlink" Target="https://arxiv.org/abs/2312.00752" TargetMode="Externa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409.0473.pdf" TargetMode="Externa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proceedings.neurips.cc/paper_files/paper/2017/file/3f5ee243547dee91fbd053c1c4a845aa-Paper.pdf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hyperlink" Target="https://blog.research.google/2017/08/transformer-novel-neural-network.html" TargetMode="Externa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2.04745.pdf" TargetMode="External"/><Relationship Id="rId2" Type="http://schemas.openxmlformats.org/officeDocument/2006/relationships/hyperlink" Target="https://arxiv.org/pdf/1607.06450" TargetMode="Externa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512.03385" TargetMode="Externa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ytorch/pytorch/blob/1eba9b3aa3c43f86f4a2c807ac8e12c4a7767340/torch/nn/modules/dropout.py#L35" TargetMode="External"/><Relationship Id="rId2" Type="http://schemas.openxmlformats.org/officeDocument/2006/relationships/hyperlink" Target="https://jmlr.org/papers/volume15/srivastava14a/srivastava14a.pdf" TargetMode="Externa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6924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Transformers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78A2266-F34C-47F6-BEA5-1DDF729F4A51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8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 Transformers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Most successful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commonly used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deep learning architecture in NLP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By far!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Resilient technology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RNNs improved over FNNs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LSTMs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improved over vanilla RNNs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Attention improved over vanilla encoder-decoder architectures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Transformer proposed in 2017/2018, still largely unchanged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Alternative architectures do exist/are proposed, e.g.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Mamba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LSTMs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But transformers difficult to replace, lots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infrastructure in place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Improvements must be worth the effort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Main advantages over RNNs (previous state-of-the-art models)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over arbitrarily large inputs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no recurrent connections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Flexible/powerful attention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mechanism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Scalable!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Parallelizable, important contrast to RNN-based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1DFA7F-63F6-4CAA-B80A-D78D7100038F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Recap: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Attention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>
                <a:solidFill>
                  <a:srgbClr val="003056"/>
                </a:solidFill>
                <a:latin typeface="Calibri"/>
              </a:rPr>
              <a:t>Self-Attention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The</a:t>
            </a:r>
            <a:r>
              <a:rPr lang="en-US" sz="2400" b="0" strike="noStrike" spc="-1" dirty="0">
                <a:solidFill>
                  <a:srgbClr val="003056"/>
                </a:solidFill>
                <a:latin typeface="Calibri"/>
              </a:rPr>
              <a:t> Transformer Architecture</a:t>
            </a:r>
            <a:endParaRPr lang="de-DE" sz="24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155FC2E-7EFE-4E7F-BF22-A275CD066A33}" type="slidenum">
              <a:t>3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Recap: Attention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29FA59D-40D6-43C2-9D35-38023AB1D827}" type="slidenum">
              <a:t>4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Encoder-Decoder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3286080"/>
            <a:ext cx="7775640" cy="27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create contextually appropriate sequence of arbitrary length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Known as seq2seq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Components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Encoder: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typically, an RNN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produced by encoder (typically last hidden state in RNN)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Decoder: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RNN, produces task-dependent output based on context vector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Thus, input sequence represented entirely by context vector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Common applications: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machine translation, dialogue systems, etc.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00" name="Grafik 8" descr="encoder_decoder_1.png"/>
          <p:cNvPicPr/>
          <p:nvPr/>
        </p:nvPicPr>
        <p:blipFill>
          <a:blip r:embed="rId2"/>
          <a:stretch/>
        </p:blipFill>
        <p:spPr>
          <a:xfrm>
            <a:off x="1214280" y="1114920"/>
            <a:ext cx="6571800" cy="20995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4CADD3-DBD2-442F-8CBE-2BFCE1FFB0CB}" type="slidenum">
              <a:t>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4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7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5" dur="500"/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Seminal work in machine translation: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Bahdanau et al. (2015)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Recall: RNNs have a hard time using information far back in time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may not encode everything we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LSTMs somewhat address this, but…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 not allow decoder to access input sequence?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encoder-decoder architecture: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 accesses input via hidden states of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now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weighted sum of hidden states in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context vector dependent on decoder state!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model “attends to” different parts of input to produce different parts of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all of this in more detail!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082695-9E04-4CE8-BB46-DC086F2261A3}" type="slidenum">
              <a:t>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is context vector for output 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defined as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 = 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Σ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j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cs typeface="Arial"/>
              </a:rPr>
              <a:t>=1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cs typeface="Arial"/>
              </a:rPr>
              <a:t>n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cs typeface="Arial"/>
              </a:rPr>
              <a:t> </a:t>
            </a:r>
            <a:r>
              <a:rPr lang="el-GR" sz="2000" i="1" spc="-1" dirty="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α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</a:t>
            </a:r>
            <a:r>
              <a:rPr lang="en-US" sz="1800" b="1" i="1" spc="-1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h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j</a:t>
            </a:r>
            <a:r>
              <a:rPr lang="en-US" sz="1800" i="1" spc="-1" baseline="30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e</a:t>
            </a:r>
            <a:endParaRPr lang="en-US" sz="1800" b="0" i="1" strike="noStrike" spc="-1" baseline="30000">
              <a:solidFill>
                <a:srgbClr val="003056"/>
              </a:solidFill>
              <a:latin typeface="Calibri"/>
              <a:ea typeface="+mn-lt"/>
              <a:cs typeface="Calibri"/>
            </a:endParaRPr>
          </a:p>
          <a:p>
            <a:pPr marL="742950" lvl="1" indent="-285750" algn="just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That is,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is a weighted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sum of encoder hidden states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Coefficients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known as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weights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Encode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how much attention is paid to input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i</a:t>
            </a:r>
            <a:endParaRPr lang="en-US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Decoder output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– 1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12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necessary, encodes output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- 1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(dashed lines)</a:t>
            </a:r>
            <a:endParaRPr lang="en-US" sz="1800" b="0" strike="noStrike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7" name="Grafik 6" descr="encoder_decoder_with_attention_1.png"/>
          <p:cNvPicPr/>
          <p:nvPr/>
        </p:nvPicPr>
        <p:blipFill>
          <a:blip r:embed="rId2"/>
          <a:stretch/>
        </p:blipFill>
        <p:spPr>
          <a:xfrm>
            <a:off x="1214280" y="2913875"/>
            <a:ext cx="6699240" cy="31492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DF470E6-82A8-49E0-AB2D-B29E00C71894}" type="slidenum">
              <a:t>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331596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Entry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i,j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corresponds to attention weight for 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given target token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can see most words are translated 1-to-1, i.e. look at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 input word to produce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 output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some are not so simple!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produce word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européenne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 7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output word, model looks at 5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word, the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actual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relevant one!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Relevant input can be far!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“Ich habe heute Abend Bratwurst mit Bröt und Kartoffeln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gegessen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.”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“Tonight I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ate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…”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1" name="Grafik 6" descr="attention_example_machine_translation.png"/>
          <p:cNvPicPr/>
          <p:nvPr/>
        </p:nvPicPr>
        <p:blipFill>
          <a:blip r:embed="rId2"/>
          <a:stretch/>
        </p:blipFill>
        <p:spPr>
          <a:xfrm>
            <a:off x="3891240" y="1285920"/>
            <a:ext cx="4823640" cy="47858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3C8CFE-5A0D-47CB-AAC0-27D0D6CDA078}" type="slidenum">
              <a:t>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to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Compute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Attention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Weights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Two steps: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Combine attention scores to produce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scores: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relevant each input is to encoder’s last state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input -&gt; hidden states in encoder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output -&gt; decoder hidden states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Common approach: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dot-product 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Used to compute 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+ 1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Relevance seen as similarity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Similarities computed between each input token and last decoder state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still don’t know the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relative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relevance across input words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weights: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encode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relative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relevance across input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(score(output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input j))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mass of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w.r.t.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all other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'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C1B31C7-7029-4EB0-8498-08EA2D47BA1A}" type="slidenum">
              <a:t>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Attention: In Short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i+1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attention scores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using last hidden state of decoder’s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with dot-product attention: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attention weights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using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across all attention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 linear combination of encoder hidden states, where coefficients are attention weights, i.e.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along with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i+1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attention allows a seq2seq model to see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dynamic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representation of input at each output step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operations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can be used to compute scores and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8" name="Grafik 6" descr="attention_decoder_1.png"/>
          <p:cNvPicPr/>
          <p:nvPr/>
        </p:nvPicPr>
        <p:blipFill>
          <a:blip r:embed="rId2"/>
          <a:stretch/>
        </p:blipFill>
        <p:spPr>
          <a:xfrm>
            <a:off x="3059640" y="3474720"/>
            <a:ext cx="3440880" cy="16686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9CC5D1-E427-4986-9D51-8098BF3BD874}" type="slidenum">
              <a:t>10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Self-Attention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C541FCE-EE8B-4FFD-87CF-B9B3D295F9B8}" type="slidenum">
              <a:t>11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Heart of Transformers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Transformers were introduced by 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Vaswani et al.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in 2017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Virtually all of state-of-the-art NLP is based on transformers, e.g.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BERT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other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masked language models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that provide word representations (covered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GPT family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of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text-generating language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models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(covered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State-of-the-art text encoders used for retrieval (see our IR course)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Deep architecture with many components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Key component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of the transformer architecture: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proposed to drop the RNNs and “simply” focus on 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reality, more components aside from 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self-attention is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main innovation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allowed for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flexible and scalable attention over long sequences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on this later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First, let’s focus on self-attention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on the overall architecture of the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06B33EC-A569-4785-BDDA-876DD59D69FD}" type="slidenum">
              <a:t>12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as Information Retrieval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Useful intuition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about attention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comes from information retrieval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you open YouTube and input 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query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“cats dressed as Batman”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search system represents each video with a set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keys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Think attributes, class properties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title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description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channel_name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publication_date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any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query-key match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the system finds, it returns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value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this case, values are relevant videos, e.g. those with text similar to your query in the title, description,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see attention as such a query-keys-values system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attention score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 state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query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encoder state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key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represents retrieved values, but as linear combination?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Yes, so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again used as values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attention can be seen as a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soft-retrieval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system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returns relevant values, but each weighted by how relevant they are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D65DAE-BDF3-4141-AECF-09D4ED27D237}" type="slidenum">
              <a:t>13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compare item of interest to collection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other items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a way that reveals their relevance in the current context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encoder-decoder architecture, item of interest 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decoder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state, i.e. output sequence so far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Collection of other items is hidden states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encoder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input sequence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Self-attention: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compare each token in given sequence, to all other tokens in the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same sequence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i.e. item of interest is in same collection of items to compare with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we use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representations from the same sequence as queries, keys and values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600" b="0" strike="noStrike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6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6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6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(score(input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, input j))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6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i="1" spc="-1" baseline="30000" dirty="0">
                <a:solidFill>
                  <a:srgbClr val="003056"/>
                </a:solidFill>
                <a:latin typeface="Calibri"/>
              </a:rPr>
              <a:t> 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representations of given sequence, 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representations after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attention, i.e.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C299BA-5459-4CEB-B35B-78E784AC4A33}" type="slidenum">
              <a:t>14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Representations</a:t>
            </a:r>
            <a:endParaRPr lang="de-DE" sz="3000" b="1" strike="noStrike" spc="-1" dirty="0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Again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to produce each output token we compute (potentially) different context vectors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get different representations from encoders at each output step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These representations depend on context, i.e. output produced so far and other tokens in input sequence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Hence,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contextualized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representations (unlike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static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word embeddings)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C299BA-5459-4CEB-B35B-78E784AC4A33}" type="slidenum">
              <a:t>15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41BFAE-0062-4AA3-E69A-2D63DB4F9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461" y="3147214"/>
            <a:ext cx="6398846" cy="286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1533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4" dur="500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contextualized tokens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Layer 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parameterized by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matrices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a linear transformation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applied to input tokens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Each transformation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is applied when tokens are used in the different roles: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queries, keys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values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4" name="Grafik 6" descr="self_attention_layer_1.png"/>
          <p:cNvPicPr/>
          <p:nvPr/>
        </p:nvPicPr>
        <p:blipFill>
          <a:blip r:embed="rId2"/>
          <a:stretch/>
        </p:blipFill>
        <p:spPr>
          <a:xfrm>
            <a:off x="1785960" y="1928880"/>
            <a:ext cx="567504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17DC875-C5A4-420A-A7A7-4B6B68D59626}" type="slidenum">
              <a:t>16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the contrast to attention so far, which was not parameterized!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 scores: dot-product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 weights: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Before, model had to learn token representations that could be combined to provide useful context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parameters in self-attention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allow for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more flexible attention mechanism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Specifically,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j) = 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endParaRPr lang="de-DE" sz="1600" b="0" strike="noStrike" spc="-1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6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i="1" spc="-1" baseline="-2500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(score(input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, input j))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6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endParaRPr lang="de-DE" sz="16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for dot product attention, we require that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Q,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20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DxD</a:t>
            </a:r>
            <a:r>
              <a:rPr lang="en-US" sz="2000" i="1" spc="-1" baseline="30000">
                <a:solidFill>
                  <a:srgbClr val="003056"/>
                </a:solidFill>
                <a:latin typeface="Calibri"/>
              </a:rPr>
              <a:t>'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general,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can be of any size allowed by the required computations for scores and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A04D685-FE7C-4F1C-8BE3-65E1E82019E0}" type="slidenum">
              <a:t>17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1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28159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Here, model attends only to previous 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Design choice, depends on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Note: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Transformations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Dot products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with one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q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each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compute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compute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Linear combination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with each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contextualized representation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1" name="Grafik 6" descr="self_attention_computation_1.png"/>
          <p:cNvPicPr/>
          <p:nvPr/>
        </p:nvPicPr>
        <p:blipFill>
          <a:blip r:embed="rId2"/>
          <a:stretch/>
        </p:blipFill>
        <p:spPr>
          <a:xfrm>
            <a:off x="3500280" y="1285920"/>
            <a:ext cx="5092560" cy="46288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6F8E5C-DBE6-47F4-9D26-5BBC15A66BBB}" type="slidenum">
              <a:t>18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(4)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 original model actually used scaled dot-product 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j)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/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√D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keys and query vectors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Done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avoid numerical stability issues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when using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softmax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can represent the computation for all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as matrix products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 the matrix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tokens of size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Then: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'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'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V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All relevant dot products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i.e. attention scores,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in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NxN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Apply row-wise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attention weights: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 √D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NxN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multiply by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get final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stacked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contextualized representations 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All together: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Self-Attention(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20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| √D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Cost: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each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computed independently, thus highly parallelizable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attention quadratic in input size (every item with every other item)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size of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sequence a fundamental limitation of this architecture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Runtime increases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quadratically with size of input sequence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B00799-8C14-4988-9315-FDBBAD910489}" type="slidenum">
              <a:t>19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The Transformer Architecture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26914D-ABD4-4AD6-92E9-FC72B6A99AC5}" type="slidenum">
              <a:t>20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Transformer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5306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Originally an encoder-decoder architecture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Encoder: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multi-head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endParaRPr lang="en-US" sz="18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Plus additional components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Decoder: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multi-head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Plus additional components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Interaction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between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encoder/decoder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Multi-head </a:t>
            </a: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Hence the name: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is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All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you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Need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Multi-head attention: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multiple self-attention layers (discussed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Additionally,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other components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Positional encoding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Layer normalization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Residual connections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FNN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Let’s look at them in more detail, but first…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1" name="Grafik 6" descr="transformer_1.png"/>
          <p:cNvPicPr/>
          <p:nvPr/>
        </p:nvPicPr>
        <p:blipFill>
          <a:blip r:embed="rId2"/>
          <a:stretch/>
        </p:blipFill>
        <p:spPr>
          <a:xfrm>
            <a:off x="5214960" y="1214280"/>
            <a:ext cx="3270240" cy="4788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12C13C2-3F7F-42CA-96A2-B0919EB25DB9}" type="slidenum">
              <a:t>21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8" dur="500"/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63" dur="500"/>
                                        <p:tgtEl>
                                          <p:spTgt spid="15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Animated Transformer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883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From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Google’s blog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here’s now representations are built/interact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3 encoder layers are stacked for depth (still deep learning)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3 decoder layers are also stacked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5" name="Grafik 7" descr="transform20fps.gif"/>
          <p:cNvPicPr/>
          <p:nvPr/>
        </p:nvPicPr>
        <p:blipFill>
          <a:blip r:embed="rId3"/>
          <a:stretch/>
        </p:blipFill>
        <p:spPr>
          <a:xfrm>
            <a:off x="2314080" y="2179800"/>
            <a:ext cx="4400640" cy="38919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A91525D-58C9-4C3C-8327-8789678F481D}" type="slidenum">
              <a:t>22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Single-head attention: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self-attention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Multi-head attention: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multiple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independent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self-attention layers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concatenated, then projected down to input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9" name="Grafik 7" descr="mutihead_attention_1.png"/>
          <p:cNvPicPr/>
          <p:nvPr/>
        </p:nvPicPr>
        <p:blipFill>
          <a:blip r:embed="rId2"/>
          <a:stretch/>
        </p:blipFill>
        <p:spPr>
          <a:xfrm>
            <a:off x="1143000" y="2143080"/>
            <a:ext cx="6643440" cy="3949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CD0A1E-4235-4414-8C20-92BDDBE194B4}" type="slidenum">
              <a:t>23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Specifically, each attention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head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has parameters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Since we have a projection layer at the end, dimensions of queries, keys and values can more freely change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denote size of queries and keys by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(the same because dot product)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denote size of values by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input tokens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As before, stack inputs of size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 form 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thus have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Self-Attention(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Outputs of each head is concatenated, projected down to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via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O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MultiHeadAttention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(+)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head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(+)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…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(+) 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where (+)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denotes concatenation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32A547-1864-4621-B218-A6F1E73389E4}" type="slidenum">
              <a:t>24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83540" y="1140701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Perhaps more important: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why?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is 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intuition behind this?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How can we think about multi-head attention?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words in a sentence relate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to each other in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ways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“They happily played Mario Kart until the sun came out.”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“Mario Kart”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the object of verb played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“Mario Kart”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described further by indirect complement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“until the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…”,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 single-head attention must capture all of these dependencies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multi-head attention splits the workload into independent heads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Think of tasking a set of people to do one job, e.g. memorize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book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multi-head attention is more powerful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more difficult to train (more parameters)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Additional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intuition: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multiple convolution filters in convolution layer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 principle: many patterns to capture, multiple filters allows model to capture different patterns using different filters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764DCE-0BCC-4DC3-8ED1-70C61CB8A36E}" type="slidenum">
              <a:t>25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Positional Encoding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the transition from RNNs to transformers, we lost something!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 no longer “see” relative positions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(order)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of each token in the input sequence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token attends to each other token, wherever they are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Think about a self-attention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produces contextualized representations for each input token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we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shuffle the input sequence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 output of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linear combination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produces contextualized representations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still the same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But relative position of tokens matters in a sequence!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Solution: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modify input embeddings to encode position before applying 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example, learn position embeddings just as you do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embedding for position 1, 2,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combine embeddings of positions with words before multi-head attention, e.g. by adding them up -&gt;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the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27EF94C-7DAC-45F8-A624-9A6232462696}" type="slidenum">
              <a:t>26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Positional Encoding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Other types of positional encodings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e.g. non-parameterized ones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We’ll see some in detail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 tutorials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2" name="Grafik 6" descr="positional_encodings_1.png"/>
          <p:cNvPicPr/>
          <p:nvPr/>
        </p:nvPicPr>
        <p:blipFill>
          <a:blip r:embed="rId2"/>
          <a:stretch/>
        </p:blipFill>
        <p:spPr>
          <a:xfrm>
            <a:off x="1458000" y="1105920"/>
            <a:ext cx="6042600" cy="41083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911863-C0CC-44FA-BB41-828369113AD8}" type="slidenum">
              <a:t>27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Layer Normalization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684000" y="1143001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normalize output of any layer in a network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Not exclusive to transformers, commonly used in deep learning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Improves gradient-based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It’s a form of centering the data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Given output vector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some hidden layer, compute its mean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μ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standard deviation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σ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center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x’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= (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-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μ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 /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σ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Final value is actually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γ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x’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</a:t>
            </a:r>
            <a:r>
              <a:rPr lang="el-GR" sz="2000" b="0" strike="noStrike" spc="-1" dirty="0">
                <a:solidFill>
                  <a:srgbClr val="003056"/>
                </a:solidFill>
                <a:latin typeface="Calibri"/>
              </a:rPr>
              <a:t>β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Both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γ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β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learnable parameters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Layer normalization can play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important role during training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First proposed by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Ba et al. (2016)</a:t>
            </a:r>
            <a:r>
              <a:rPr lang="en-US" sz="1600" b="1" spc="-1" dirty="0">
                <a:solidFill>
                  <a:srgbClr val="003056"/>
                </a:solidFill>
                <a:latin typeface="Calibri"/>
              </a:rPr>
              <a:t> 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Subsequent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studies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have focused on its impacts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Recent architectures include more layer normalization in other parts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after input embeddings, before and after self-attention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More on this when discussing LLMs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B909994-C152-445B-A259-6C56658FD5BC}" type="slidenum">
              <a:t>28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Residual Connections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Recall the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vanishing gradient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problem: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Most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operators have impact 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gradient that flows backward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during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Generally,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input gradients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multiplied by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 operator-specific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Jacobian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This factor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can make output gradient smaller than input gradient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With depth, gradients can thus vanish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Residual connections designed to address this issue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He et al. 2015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idea: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given operator, add its input back to its output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Addition operator has no impact on gradient, passes it backward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unchanged!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(Details in a future tutorial.)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Also not exclusive to transformers, commonly done in deep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transformers,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z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Self-Attention(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whatever impact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Self-Attention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has on the gradient, the full gradient is still preserved by the additive term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during backpropagation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We discuss this in a bit more detail in tutorials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29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Projection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FNN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and Cross-Attention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684001" y="1143000"/>
            <a:ext cx="4340379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Often described as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MLP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FNN used to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transform output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of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multihead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-attention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reality, two linear projections, usually project up, then back down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ReLU (non-linear) activation between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Unclear exactly why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more soon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cross-attention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Attention across different sequences</a:t>
            </a: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Note two attention layers in decoder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One attends to output of encoder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Different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transformer architectures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Encoder-decoder</a:t>
            </a: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Encoder-only, decoder-only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More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lecture on LLMs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2" name="Grafik 6" descr="transformer_1.png"/>
          <p:cNvPicPr/>
          <p:nvPr/>
        </p:nvPicPr>
        <p:blipFill>
          <a:blip r:embed="rId2"/>
          <a:stretch/>
        </p:blipFill>
        <p:spPr>
          <a:xfrm>
            <a:off x="5134320" y="1143000"/>
            <a:ext cx="3366360" cy="4928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899913-4C60-4208-A9A8-B81942148FBE}" type="slidenum">
              <a:t>30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495C8-737D-D239-6E59-DED0A2EB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1E8FC39E-E286-C8A5-301B-0F408D54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Dropout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67F840B1-D81C-C916-76B8-0C88B454365B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76964B07-82A5-6D70-542A-A01799C7188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Proposed by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Srivastava et al. (2014)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Idea: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randomly drop units in network (along with their connections)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It’s a form of regularization, thus, only applied during training, not at inference time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Intuitively, network is dynamic during training</a:t>
            </a:r>
            <a:endParaRPr lang="en-US" sz="18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Prevents model from relying too much on static architecture by introducing variability, promoting generalization</a:t>
            </a:r>
            <a:endParaRPr lang="en-US"/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practice, each units "zeroed" with probability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(hyperparameter)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see implementation in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PyTorch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Original transformer used dropout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two places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before applying layer normalization and residual connection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z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LayerNorm(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+ Dropout(Self-Attention(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)))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Also after adding positional embeddings, i.e.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= Dropout(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)</a:t>
            </a:r>
            <a:endParaRPr lang="en-US" sz="1800" i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Dropout still very common regularization method in LLMs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44A9AA1-60A7-B11E-68AB-0E467D601612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8593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3699-DF49-8D80-115E-29703CEC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7252D04C-56F2-9954-D015-FAD242DAE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Inductive Bias in Transformers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BBE2367F-615F-B301-6A3C-1BBB350D1209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A00990AD-F3CF-CD12-E273-68F381C5BD6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Inductive bias: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set of assumptions made by a learning model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Common story: self-attention is main innovation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many more components in transformers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1" spc="-1">
                <a:solidFill>
                  <a:srgbClr val="003056"/>
                </a:solidFill>
                <a:latin typeface="Calibri"/>
              </a:rPr>
              <a:t>Transformer block: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Two main components: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self-attention and MLP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With corresponding layer normalizations and residual connections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Let's see the role of each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Self-attention: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Linear operations between different input tokens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there 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"inter-token"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communication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Linearities useful for parallelization, but not expressive for learning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MLP: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Transformations applied at each token independently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"Intra-token"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phase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Non-linearities introduced here for expressivity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BC365FC-5E07-3548-A755-540BB2CED5FF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028850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Ablation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1018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There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 fundamental theory behind the design of deep learning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 way to accurately predict how a model will behave given its architecture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 equation that tells us exactly which components a model should have to perform a given task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Thus, ablation studies are essential!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Ablation: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remove one component of the model at a time to test its impact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E.g. remove normalization layer, run model again, how does performance change?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Or remove/change positional encodings. What impact does this have in performance?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ablation, we may gain some understanding of why a model works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6" name="Grafik 6" descr="transformer_1.png"/>
          <p:cNvPicPr/>
          <p:nvPr/>
        </p:nvPicPr>
        <p:blipFill>
          <a:blip r:embed="rId2"/>
          <a:stretch/>
        </p:blipFill>
        <p:spPr>
          <a:xfrm>
            <a:off x="5134320" y="1143000"/>
            <a:ext cx="3366360" cy="4928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99DAAB-97D1-4DE6-B2F7-55B0494A7E10}" type="slidenum">
              <a:t>33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62993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Self-attention: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main innovation in transformer architecture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Each input token contextualized based on entire input sequence</a:t>
            </a:r>
            <a:endParaRPr lang="en-US" sz="14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Architecture has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many components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Self-attention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Positional encodings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Layer normalization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FNN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Architectures are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normally deep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(stacked transformer blocks)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Different flavors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Encoder-decoder, decoder-only, etc.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Large language models (LLMs)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based on transformers, with variations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layer normalizations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 positional embeddings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Etc.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4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99DAAB-97D1-4DE6-B2F7-55B0494A7E10}" type="slidenum"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599169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et al.,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2024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10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References linked in corresponding slides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                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C88BD5-2498-4F22-8701-C538D8678AF6}" type="slidenum">
              <a:t>35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04F24041-18CF-CE77-4E67-D7DB4C7B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2251542"/>
            <a:ext cx="2000250" cy="94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35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37" baseType="lpstr">
      <vt:lpstr>Office Theme</vt:lpstr>
      <vt:lpstr>Office Theme</vt:lpstr>
      <vt:lpstr>Advanced Methods in Text Analytics</vt:lpstr>
      <vt:lpstr>Why Transformers?</vt:lpstr>
      <vt:lpstr>Outline</vt:lpstr>
      <vt:lpstr>PowerPoint Presentation</vt:lpstr>
      <vt:lpstr>Encoder-Decoder Architecture</vt:lpstr>
      <vt:lpstr>Attention (1)</vt:lpstr>
      <vt:lpstr>Attention (2)</vt:lpstr>
      <vt:lpstr>Attention (3)</vt:lpstr>
      <vt:lpstr>How to Compute Attention Weights?</vt:lpstr>
      <vt:lpstr>Attention: In Short</vt:lpstr>
      <vt:lpstr>PowerPoint Presentation</vt:lpstr>
      <vt:lpstr>The Heart of Transformers</vt:lpstr>
      <vt:lpstr>Attention as Information Retrieval</vt:lpstr>
      <vt:lpstr>Self-Attention </vt:lpstr>
      <vt:lpstr>Contextualized Representations</vt:lpstr>
      <vt:lpstr>Self-Attention Layer (1)</vt:lpstr>
      <vt:lpstr>Self-Attention Layer (2)</vt:lpstr>
      <vt:lpstr>Self-Attention Layer (3)</vt:lpstr>
      <vt:lpstr>Self-Attention Layer (4)</vt:lpstr>
      <vt:lpstr>PowerPoint Presentation</vt:lpstr>
      <vt:lpstr>The Transformer Architecture</vt:lpstr>
      <vt:lpstr>The Animated Transformer</vt:lpstr>
      <vt:lpstr>Multi-Head Attention (1)</vt:lpstr>
      <vt:lpstr>Multi-Head Attention (2)</vt:lpstr>
      <vt:lpstr>Multi-Head Attention (3)</vt:lpstr>
      <vt:lpstr>Positional Encoding (1)</vt:lpstr>
      <vt:lpstr>Positional Encoding (2)</vt:lpstr>
      <vt:lpstr>Layer Normalization</vt:lpstr>
      <vt:lpstr>Residual Connections</vt:lpstr>
      <vt:lpstr>Projection FNN and Cross-Attention</vt:lpstr>
      <vt:lpstr>Dropout</vt:lpstr>
      <vt:lpstr>Inductive Bias in Transformers</vt:lpstr>
      <vt:lpstr>Ablation</vt:lpstr>
      <vt:lpstr>Summary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382</cp:revision>
  <dcterms:created xsi:type="dcterms:W3CDTF">2018-06-20T08:14:01Z</dcterms:created>
  <dcterms:modified xsi:type="dcterms:W3CDTF">2026-03-17T12:37:15Z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31</vt:i4>
  </property>
</Properties>
</file>